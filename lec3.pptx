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8"/>
  </p:notesMasterIdLst>
  <p:sldIdLst>
    <p:sldId id="358" r:id="rId2"/>
    <p:sldId id="766" r:id="rId3"/>
    <p:sldId id="765" r:id="rId4"/>
    <p:sldId id="360" r:id="rId5"/>
    <p:sldId id="362" r:id="rId6"/>
    <p:sldId id="361" r:id="rId7"/>
    <p:sldId id="767" r:id="rId8"/>
    <p:sldId id="363" r:id="rId9"/>
    <p:sldId id="768" r:id="rId10"/>
    <p:sldId id="364" r:id="rId11"/>
    <p:sldId id="770" r:id="rId12"/>
    <p:sldId id="769" r:id="rId13"/>
    <p:sldId id="365" r:id="rId14"/>
    <p:sldId id="366" r:id="rId15"/>
    <p:sldId id="367" r:id="rId16"/>
    <p:sldId id="771" r:id="rId17"/>
    <p:sldId id="368" r:id="rId18"/>
    <p:sldId id="772" r:id="rId19"/>
    <p:sldId id="369" r:id="rId20"/>
    <p:sldId id="773" r:id="rId21"/>
    <p:sldId id="764" r:id="rId22"/>
    <p:sldId id="775" r:id="rId23"/>
    <p:sldId id="776" r:id="rId24"/>
    <p:sldId id="370" r:id="rId25"/>
    <p:sldId id="777" r:id="rId26"/>
    <p:sldId id="377" r:id="rId27"/>
    <p:sldId id="778" r:id="rId28"/>
    <p:sldId id="371" r:id="rId29"/>
    <p:sldId id="780" r:id="rId30"/>
    <p:sldId id="378" r:id="rId31"/>
    <p:sldId id="787" r:id="rId32"/>
    <p:sldId id="788" r:id="rId33"/>
    <p:sldId id="379" r:id="rId34"/>
    <p:sldId id="380" r:id="rId35"/>
    <p:sldId id="789" r:id="rId36"/>
    <p:sldId id="381" r:id="rId37"/>
    <p:sldId id="790" r:id="rId38"/>
    <p:sldId id="791" r:id="rId39"/>
    <p:sldId id="794" r:id="rId40"/>
    <p:sldId id="372" r:id="rId41"/>
    <p:sldId id="781" r:id="rId42"/>
    <p:sldId id="373" r:id="rId43"/>
    <p:sldId id="374" r:id="rId44"/>
    <p:sldId id="375" r:id="rId45"/>
    <p:sldId id="376" r:id="rId46"/>
    <p:sldId id="782" r:id="rId47"/>
    <p:sldId id="784" r:id="rId48"/>
    <p:sldId id="783" r:id="rId49"/>
    <p:sldId id="785" r:id="rId50"/>
    <p:sldId id="786" r:id="rId51"/>
    <p:sldId id="465" r:id="rId52"/>
    <p:sldId id="792" r:id="rId53"/>
    <p:sldId id="466" r:id="rId54"/>
    <p:sldId id="467" r:id="rId55"/>
    <p:sldId id="793" r:id="rId56"/>
    <p:sldId id="382" r:id="rId5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cture 3" id="{4A703468-0322-45A6-A8CD-2A0142553125}">
          <p14:sldIdLst>
            <p14:sldId id="358"/>
            <p14:sldId id="766"/>
            <p14:sldId id="765"/>
            <p14:sldId id="360"/>
            <p14:sldId id="362"/>
            <p14:sldId id="361"/>
            <p14:sldId id="767"/>
            <p14:sldId id="363"/>
            <p14:sldId id="768"/>
            <p14:sldId id="364"/>
            <p14:sldId id="770"/>
            <p14:sldId id="769"/>
            <p14:sldId id="365"/>
            <p14:sldId id="366"/>
            <p14:sldId id="367"/>
            <p14:sldId id="771"/>
            <p14:sldId id="368"/>
            <p14:sldId id="772"/>
            <p14:sldId id="369"/>
            <p14:sldId id="773"/>
            <p14:sldId id="764"/>
            <p14:sldId id="775"/>
            <p14:sldId id="776"/>
            <p14:sldId id="370"/>
            <p14:sldId id="777"/>
            <p14:sldId id="377"/>
            <p14:sldId id="778"/>
            <p14:sldId id="371"/>
            <p14:sldId id="780"/>
            <p14:sldId id="378"/>
            <p14:sldId id="787"/>
            <p14:sldId id="788"/>
            <p14:sldId id="379"/>
            <p14:sldId id="380"/>
            <p14:sldId id="789"/>
            <p14:sldId id="381"/>
            <p14:sldId id="790"/>
            <p14:sldId id="791"/>
            <p14:sldId id="794"/>
            <p14:sldId id="372"/>
            <p14:sldId id="781"/>
            <p14:sldId id="373"/>
            <p14:sldId id="374"/>
            <p14:sldId id="375"/>
            <p14:sldId id="376"/>
            <p14:sldId id="782"/>
            <p14:sldId id="784"/>
            <p14:sldId id="783"/>
            <p14:sldId id="785"/>
            <p14:sldId id="786"/>
            <p14:sldId id="465"/>
            <p14:sldId id="792"/>
            <p14:sldId id="466"/>
            <p14:sldId id="467"/>
            <p14:sldId id="793"/>
            <p14:sldId id="3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050CA2F-AC26-4EC5-9E91-5C75103A3194}" type="datetimeFigureOut">
              <a:rPr lang="ru-RU" smtClean="0"/>
              <a:pPr/>
              <a:t>09.04.2026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1EBC7F8A-34CC-40CD-8A63-D4B9F71BEB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8642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2BF225-D2EE-EB7C-B779-121990164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27716A-73CA-26FC-2A53-0FE4AF382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9B8D85-B995-0798-F573-64D27B84C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7FA36-A154-4EC5-BE9A-6DA7AA6BF20C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C15A96-2F43-D8F3-427A-13446666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A4AEF8-C800-9F91-E365-BBA7A799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122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EF0A5A-C9C0-995E-9B37-3D4F1AC1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F1EF9F-24A6-D3A3-D8A3-18585F3B2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250BB0-D9FD-6580-ED9F-E5E2BF8AE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561E-D219-46E7-8AD2-A071AC1DFD6D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033179-F281-C3E5-D5E6-678D48D59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15BFC4-5ACE-0B67-C9B4-76623E10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534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787C6-F3FD-BF30-F10C-CC1658759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7BB8CA-B167-2961-465D-9AF4E192E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3E0F58-923D-D5F3-C3A2-ACDEBECB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388BD-AFDB-4C00-88F0-DBE3218F60FF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DBCF39-E75C-2D15-8C7A-AD41214B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CA7F4B-586A-E8B9-818E-233D2D4B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809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80FD9A-DA9E-39E1-A7A0-EDB6C401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B2794D-1350-30C5-B6E8-5D63353EA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8309B6-31D8-BD05-376E-135C6A192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2BFB74-215A-75AB-AF30-42F50BE62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2D939-B236-4D2B-A404-2ADD67CB8D45}" type="datetime1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AC3379-F6BC-F537-7F41-CAF7FD9C5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FC30B3-57EE-1849-B83C-4A1C824F7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92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11A1A7-F7DD-CF63-B380-7B1D1D2A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A7905C-95AD-7391-9734-4EF7DB468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503001-0F8E-D713-EC06-942F37A51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BF3BA94-46AC-9C75-27D0-7124BFB3CF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915186D-175D-6127-9D55-BEFA5C86D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2006AB-57AE-D7D0-928C-2303FB084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D4E9D-684C-4E89-8DA8-E4AA32FB214D}" type="datetime1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50C4646-1C7F-BA80-0E6D-41AD43C9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6479D9-4541-8CD2-BD94-E1D13DC3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64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1B1DB9-AEF4-2DF4-59DF-B54795464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F4DDF1-04DA-672D-C923-56B56A2DB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5BB97-11FC-404E-9C46-1E8C55B032AD}" type="datetime1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F1C9690-2D32-652A-4655-319183792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25B005-1B52-D927-3818-B0BF8C0CE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85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3FE0A99-ACBC-D0F0-F324-1344925D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D9978-5586-4162-92C9-CD2D27D0FCB5}" type="datetime1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3A21C9D-E46B-4E98-6078-46C10D677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04EE56-C599-06A7-F121-CA505A3C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97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06CC9-052D-D7DE-52BD-59CDA7BEC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725DAD-D6F6-9219-2695-D4817DF08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BF91A6-E7E0-7815-8862-1818DECBB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E406140-7CBF-3557-D937-19BBD08F7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A83E5-9430-41EA-88DA-2CF7CCCC4E4A}" type="datetime1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2F5F58-CAAD-FAAA-1163-A0665821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BC8266-5344-28D1-851F-D36D04D42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43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4C09B-2D4A-213D-5F10-FC9270146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5A36B5-F910-9A16-E7A6-CE6CA6BE2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C525B6-4D41-0025-06A2-008B84942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8E5527-0752-658E-8986-701A1CF6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D0B42-2C09-4438-8CDC-4B636876985E}" type="datetime1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606DE1-01D6-49BD-9902-FD8E85097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F8C4BC-6727-68DF-F2C2-668AC8BC2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321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A331B1-FA88-DFF2-9C57-C91B41402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176593-456C-524E-8F1D-8EBD63F22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0DF404-9A8E-E388-1435-CF19FFED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E61EB-01B0-43DD-BA2E-03D7286FC2D9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45B458-78B2-E4C5-E73E-8EF186A6C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0C2616-E15B-3D7D-B13D-6D80A262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706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0B4229C-DA46-3E78-0183-AD2EDE3B03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C356A5-29CD-C451-E309-AB7463146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E56A2B-C859-6794-5D5D-F30A81E8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38F60-2143-4141-AE41-D046C5086FBD}" type="datetime1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00115F-5B20-6BE4-0515-9A08BE84B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9AE740-4277-EAE1-DDF3-0FDC98C2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22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5907DD-A3E8-E953-4D00-632AC0E9F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B36002-AA5A-8D9B-FB61-CBEB030E9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5EBB5C-1D4D-D33F-CC4B-B16872D05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30CDD04-3957-416A-9251-9D3EB20D586A}" type="datetime1">
              <a:rPr lang="ru-RU" smtClean="0"/>
              <a:pPr/>
              <a:t>09.04.2026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2A8AE4-A9CC-5086-9D93-9F8DC745A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A819CB-A23B-198F-8070-C330313DCE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CBFBF9E-E1A4-4191-8DE4-0995BD4EE799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706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2B95F-8F92-4BDA-C0D6-BDFAEE429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3. Equivalent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Transformations 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C7CEDD-F2C9-E4A3-2059-EA99B38A1A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Part (1). Circuit Models and Circuit Laws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37495C03-0315-7FB5-A596-8F48CE44B754}"/>
              </a:ext>
            </a:extLst>
          </p:cNvPr>
          <p:cNvSpPr/>
          <p:nvPr/>
        </p:nvSpPr>
        <p:spPr>
          <a:xfrm>
            <a:off x="0" y="3428999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" name="Прямоугольный треугольник 4">
            <a:extLst>
              <a:ext uri="{FF2B5EF4-FFF2-40B4-BE49-F238E27FC236}">
                <a16:creationId xmlns:a16="http://schemas.microsoft.com/office/drawing/2014/main" id="{53150542-86D7-014E-5B8D-66F9CB2ADC6D}"/>
              </a:ext>
            </a:extLst>
          </p:cNvPr>
          <p:cNvSpPr/>
          <p:nvPr/>
        </p:nvSpPr>
        <p:spPr>
          <a:xfrm rot="10800000">
            <a:off x="9007724" y="9522"/>
            <a:ext cx="3184275" cy="3419477"/>
          </a:xfrm>
          <a:prstGeom prst="rtTriangle">
            <a:avLst/>
          </a:prstGeom>
          <a:solidFill>
            <a:srgbClr val="2A70AE"/>
          </a:solidFill>
          <a:ln>
            <a:solidFill>
              <a:srgbClr val="2970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036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3C9A3-9F13-0063-3AC0-660062DE1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34931-AB2E-00A9-5363-CD786613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B24922-7032-EBEE-06AA-A94C2EEEE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often encounter circuits that can be simplified before applying full nodal or mesh analysis. 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501F794-D7C8-CE2B-E37D-57EEF6FDF77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D675750-2BEE-3813-A936-19ED6C28489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FCEC305B-A90E-28E7-87AD-0E825CDB1DB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AC900C-E180-DE6B-FD79-9B56F48F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2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FAA6D-AA6C-56B1-1BEE-223FD62EDCA7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01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FF1E9-9D5F-F34A-5BFA-B25182F3E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5F2EE-C31A-7C81-B3B1-08BA886E5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71B3C29-9C00-60E7-2770-7933F6C7D3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Two elements are in series if they exclusively share a single node and consequently carry the same current. </a:t>
                </a: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 resistors in series, the equivalent resistance is the sum of individual resistances: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𝒆𝒒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+…+</m:t>
                      </m:r>
                      <m:sSub>
                        <m:sSubPr>
                          <m:ctrlPr>
                            <a:rPr lang="en-US" b="1" i="1" dirty="0" err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sub>
                      </m:sSub>
                      <m:r>
                        <a:rPr lang="en-US" b="1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71B3C29-9C00-60E7-2770-7933F6C7D3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8B276B-9F29-0624-22D5-E57B64BAF5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1973" y="3973343"/>
            <a:ext cx="4648053" cy="2873714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EA45940-C63D-3C30-BB85-83013F5CAEE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0592F26-2750-EF50-05FB-9CE2248C85D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D947AA04-1B09-0E59-8D11-C5744760C24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CE18E93-8295-8E25-891B-CBEA8F71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3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788DEB-BF43-7980-7C95-3D5FCF448333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75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This arrangement is often used as a voltage divider, as the total voltage is distributed across the resistors proportional to their resistance values.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Series circuits act as «Voltage Dividers».</a:t>
                </a: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 voltage across one resistor in a series chain is equal to the total voltage multiplied by the ratio of that resistor to the total resistance: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𝒏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𝒗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𝒕𝒐𝒕𝒂𝒍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20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81A1CF5-AB7F-361B-B16F-90C507D42710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4438168-70C7-68E0-A335-D44A8F0CBB0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001C5B4-9F32-908D-F3B9-CA87D10AB64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40E897-DA42-5572-8010-EB830170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4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81218-FD0C-A67A-55F2-903AC7579AF5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444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This concept is used in volume knobs and sensors.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If you have a light sensor that changes resistance, putting it in series with a fixed resistor converts that changing resistance into a changing voltage we can measure.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1A733C-093E-DD38-11A7-BE7928D99ED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9873" y="3696756"/>
            <a:ext cx="4972254" cy="3161244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100E757-CCD6-B3FF-74B3-AE51465AA9F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7FC313F-0772-371B-BA44-4582055023A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E40E33A5-655D-4E05-00D6-CE636CC1999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4E6FD55B-7CAB-1991-1EED-40EC301D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5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5283B4-A497-3F2F-65B8-3C1DC486BB54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972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us understand why the resistance adds up in series. Imagine the current is water flowing through a pipe.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force the water to go through one narrow filter (resistor), it slows down.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add a second filter immediately after the first one, the water must work even harder to get through both.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 a series circuit, every electron must pass through every resistor, so the total opposition to the flow increases.</a:t>
            </a:r>
            <a:endParaRPr 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Mathematically, this comes from Kirchhoff's Voltage Law.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E169A9B-04D8-7BB7-370E-F4D86444C4F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C772D40-F209-E5D1-C5F4-74C724701BF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2DD8853-8C03-BCD7-5221-4074F9B3CB3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FA6078-CAA6-ADC2-71F4-9A20569D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6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F1CEC6-6BB9-8DF7-BF9C-3761DE314DE7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484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8BFED-5886-80BA-B9E9-1F2806A79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D781F-1724-2C68-5DCB-E69C96AA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825442-FFB8-26B5-502A-C959BFF541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total voltage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𝑣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is the sum of voltages: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𝑣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Using Ohm's law (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𝑣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𝑖𝑅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), we can say: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𝑒𝑞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Because the current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𝑖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is the same everywhere, we cancel it out, leaving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𝑒𝑞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825442-FFB8-26B5-502A-C959BFF541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E24029A-8295-4E3D-E8EA-C2509F81839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1ACA69E-42FC-35E6-7782-1CEA231D35C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7E99E5F6-D07F-AD2A-1504-3927007F6E2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A3C3F1A-96EC-63F3-E967-32EA5514E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7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72043-BC97-CB7F-BA68-C1694AFF2E03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431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 series circuit, every electron must pass through every resistor, so the total opposition to the flow increases.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5DB04F-91B0-1826-6F2B-78FFED927F0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6637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ECA7BEC-C42D-8057-36DE-915F5F22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8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B4604-2494-EC51-28EC-78B7AB6401D6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507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38E5C-026F-EA26-2777-7C364E882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139442-63F4-4080-7E1D-B32E7E0DE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164BD9-A751-FAA2-3B27-7875E7F17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2300" cy="4351338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must practice the Voltage Divider because it is very common. 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Look at this illustration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We have a 5 Volt source and two resistors: 100 Ohms and 200 Ohms.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591AFF-E473-983E-8146-DF15A64A8FE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4512" y="1781493"/>
            <a:ext cx="6946236" cy="4112411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081CC87-5334-7AEB-CE6C-BE60E7A51FF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B7F009B-6F65-D357-2631-F2C4072D528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45D23D16-DA25-22DB-B42F-E87D6431ECA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4FB170E-71CC-5570-E8D0-1BAAF4204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653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2300" cy="4351338"/>
          </a:xfrm>
        </p:spPr>
        <p:txBody>
          <a:bodyPr>
            <a:no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larger resistor will always take the larger portion of the voltage.</a:t>
            </a:r>
          </a:p>
          <a:p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Since 200 Ohms is twice as big as 100 Ohms, it takes twice as much voltage.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Total resistance is 300 Ohms.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7980E42-DE21-CDD9-8034-D80AD27FCA3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4512" y="1781493"/>
            <a:ext cx="6946236" cy="4112411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F177F6D-A19B-85B4-778C-0B3EE9D83BE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99B210A-A4F2-5C6C-0017-EA4B5B575FC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F0870992-4968-D34F-A411-E991E2A1D49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FCB7B4FD-7D6C-373D-5427-5CAB4083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10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85CFCC-F035-B350-CC81-3BEBC8ED191E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348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EA3CF-FE9F-0325-2C83-618251DAA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F01D22-800F-8112-B73C-5409CB7A5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FACED2B-CAA3-A4DC-60A1-04A07571FB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432300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current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300</m:t>
                    </m:r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0.016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voltage on the top resistor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0.016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1.66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The voltage on the bottom resistor is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0.016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200</m:t>
                    </m:r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Ω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3.33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FACED2B-CAA3-A4DC-60A1-04A07571FB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432300" cy="4351338"/>
              </a:xfrm>
              <a:blipFill>
                <a:blip r:embed="rId2"/>
                <a:stretch>
                  <a:fillRect l="-2476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B2DF7D-678F-9E4B-9240-094796C7EB1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4512" y="1781493"/>
            <a:ext cx="6946236" cy="4112411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53F3601-E0C4-BC24-1840-825B17D593A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E9DCBC9-5E66-867C-348C-B812D28D08F0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452DF51C-ABE0-19B1-3B3C-122533F0015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46DBFB15-A99C-A6D4-AA03-E8A912371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11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56BAF9-4E71-4127-0CB5-84AE5032DB5E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6823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2F0D4-7B7C-CFD8-2DFA-FAA45F071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4C2A5-5966-2C9A-6860-94B40FFE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BBA42A-328F-89EE-2EBA-C2230A65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2300" cy="4351338"/>
          </a:xfrm>
        </p:spPr>
        <p:txBody>
          <a:bodyPr>
            <a:noAutofit/>
          </a:bodyPr>
          <a:lstStyle/>
          <a:p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The voltage divider formula allows us to calculate this without finding the current first.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AD1C2DB-749A-07CF-88BE-7BF88C8430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4512" y="1781493"/>
            <a:ext cx="6946236" cy="4112411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6C2184E3-369A-7D7C-0CCA-26016923313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F698422-4ABA-CEFF-2DB7-7741B4D6768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423B3111-5017-50D2-E514-8F1D634239C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B31D9AE-A380-FE6C-6E2B-5C39D556E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12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A481B7-4DE0-CAEE-DC93-A189CAE1B9B3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639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Conversely, two elements are in parallel if they are connected to the same pair of nodes and consequently share the same voltage. 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 resistors in parallel, the reciprocal of the equivalent resistance is the sum of the reciprocals of the individual resistances: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b="1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𝒆𝒒</m:t>
                              </m:r>
                            </m:sub>
                          </m:sSub>
                        </m:den>
                      </m:f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+...</m:t>
                      </m:r>
                    </m:oMath>
                  </m:oMathPara>
                </a14:m>
                <a:endParaRPr lang="en-US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In terms of conductance: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𝒆𝒒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+...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20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5F84DF6-FA0C-D20E-4E9F-A02F22609D7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0769F89-0312-498F-27EB-1390F60F0B4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92357BA-1C32-EEFE-3796-95AFC5BE69F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1C459E-3F9B-869C-D82D-3E1CA143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13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58846-5607-D2A0-5377-4BB4D2A5EA53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83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This arrangement acts as a current divider, where the total current splits among the branches inversely proportional to their resistance.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1CC082-CFF3-5ABF-D8C6-DC2827E3E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5875" y="3051149"/>
            <a:ext cx="9260250" cy="3441726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30C514A-DFF5-43FB-A953-F614A2E70D5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EE9036A9-7144-A3B8-AA5E-07E45787596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E1676C8B-DDDF-28EC-9C5E-F8CAF529589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38E6AC3-1138-CA02-1DB9-AE3B5BF16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14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A78612-1332-3765-4C21-1E5178C7BBEE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42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Parallel circuits act as «Current Dividers». </a:t>
                </a:r>
                <a:endParaRPr lang="ru-R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 current takes the path of least resistance.</a:t>
                </a: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The current flowing through one of two parallel resistors is equal to the total current multiplied by the resistance of the other branch, divided by the sum of both resistances. </a:t>
                </a:r>
              </a:p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Formula for two resistors: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𝒊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𝒊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𝒕𝒐𝒕𝒂𝒍</m:t>
                          </m:r>
                        </m:sub>
                      </m:sSub>
                      <m:r>
                        <a:rPr lang="en-US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×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BEDD6DA-5F55-3A3A-33B2-EA42BCB5D2D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EBA1479-F525-7E7F-F436-87B1FE0072E1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91C7807-E9D8-E4ED-F2E9-EDB3BD65D7D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C14BFC3-B861-F9A2-0838-2E407CF99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15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C43F5-B714-F437-4243-A03E17E666B7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752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CCAD3-62F7-B9CC-EBD5-23474412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EFB98-891A-0913-AC5B-8B4A834AA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7491401-4500-4F13-0B66-8EF83E5167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b="1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Notice the difference: to find the current in branch 1, we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 in the numerator.</a:t>
                </a:r>
                <a:endParaRPr lang="ru-RU" b="1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This is because a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forces more current into branch 1. </a:t>
                </a:r>
              </a:p>
              <a:p>
                <a:pPr algn="just"/>
                <a:r>
                  <a:rPr lang="en-US" b="1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Students often make mistakes here by putting the wrong resistor in the numerator, so memorize: Current Divider uses the opposite resistor.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7491401-4500-4F13-0B66-8EF83E5167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EE92C94-0EF1-0EFA-DC7E-B31509A99E9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1DA1BDE-7EC0-4B96-B5F4-5663E7E7DDD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FE55EFE-3A3A-F33F-5802-ED48C46A3D2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D2B54A-9945-1919-F962-93F34E51A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16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32B73B-1BCC-461D-AB3F-A332D9FF1FA7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118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There is a special rule for calculating the equivalent resistance of just two resistors in parallel. It is often called the «Product over Sum» rule. </a:t>
                </a:r>
                <a:endParaRPr lang="ru-RU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b="1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For two parallel resistors, the equivalent resistance is their product divided by their sum: </a:t>
                </a:r>
                <a:endParaRPr lang="ru-RU" b="1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𝒆𝒒</m:t>
                          </m:r>
                        </m:sub>
                      </m:sSub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b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58E6DB1-4692-CED2-F6CC-3D71161BB6B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03ABD2D-CDB1-A764-DD39-61B41E032FA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CB6D46E4-AADD-CF30-3240-446D88CC3E9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2CBB43-86CD-781B-E965-324321C6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17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965CCB-0E74-C06B-4EA5-C2E76A7E405E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50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62D1E-E2B7-4147-97C4-FB4B47E1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72A28A-5E19-089A-1857-51742918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2FEA9C1-113D-8DAA-31C2-717CFA1BDA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is much faster to calculate on a calculator than using the fractions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There is also a useful fact to check your answers: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total resistance in parallel is always smaller than the smallest individual resistor.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If you have a 1000 Ohm resistor in parallel with a 1 Ohm resistor, the total must be less than 1 Ohm.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Think of it like opening a door.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Even if the second door is very small (1000 Ohm), opening it still helps people leave the room faster than having only one door (1 Ohm).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2FEA9C1-113D-8DAA-31C2-717CFA1BDA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 b="-58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8A0FD4D-F629-26C8-0D84-C36AD98DE5C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1A295F2-0FFD-79D2-BFB9-BFEB148AAA6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812E079C-2D7D-FBA1-2828-3D9C8686719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EEE04FF-3A3B-962B-93E5-EA88CC14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18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137582-B3A0-93CD-A07F-4075DAE7CE7B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501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move to the concept of input resistance. </a:t>
            </a:r>
          </a:p>
          <a:p>
            <a:pPr algn="just"/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one-port network is any circuit with two terminals accessible to the outside world. 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If the network contains only passive elements (resistors) and dependent sources (but no independent sources), it can be modeled as a single equivalent resistance looking into the terminals which named input resistance.</a:t>
            </a: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Calculating this often involves series/parallel reduction or, for more complex networks, applying a test voltage and calculating the resulting current.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FD03B69-D0B5-4A23-F9C7-6EBE714BDA8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CC1C7C5D-2AA1-0FCF-1B73-6959C720CBD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619E016C-E055-73DA-554F-8DC8DD3B5C9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8ABC2B5-4C7C-18BE-6AA4-7C735D99D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19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E06A19-22BC-38C8-357E-251F0E3B4826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472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DA2DD-55C8-C884-E082-1513EA16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43BE27-48C2-6C4E-867B-F2E0AD5B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394E23-3951-2CE8-903B-0DA2E9480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You can think of devices like this as simply a «Black Box» – a collection of many resistors connected together – and you can calculate its equivalent resistance by passing a current through it, measuring the voltage and then applying Ohm’s Law.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F42ACEA-1571-5CF5-9FF3-1110A09ED6A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clrChange>
              <a:clrFrom>
                <a:srgbClr val="FEFFFE"/>
              </a:clrFrom>
              <a:clrTo>
                <a:srgbClr val="FE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0701" y="3650522"/>
            <a:ext cx="7137400" cy="320747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966B66-8D52-21BB-6AF2-F6772043151D}"/>
                  </a:ext>
                </a:extLst>
              </p:cNvPr>
              <p:cNvSpPr txBox="1"/>
              <p:nvPr/>
            </p:nvSpPr>
            <p:spPr>
              <a:xfrm>
                <a:off x="7658101" y="4546375"/>
                <a:ext cx="41402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4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4000" i="1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ru-RU" sz="4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ru-RU" sz="4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4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𝑡𝑒𝑠𝑡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4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ru-RU" sz="4000" i="1">
                                  <a:latin typeface="Cambria Math" panose="02040503050406030204" pitchFamily="18" charset="0"/>
                                </a:rPr>
                                <m:t>𝑡𝑒𝑠𝑡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4000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A966B66-8D52-21BB-6AF2-F67720431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101" y="4546375"/>
                <a:ext cx="414020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9D40280A-A119-EBE8-1CD9-48375CA98FC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8D7F76DE-E86A-87C2-57B3-FCF85F86E45A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C39C6EDE-9990-B257-BD46-C294E0579B1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A251585-43AE-559E-CBB3-C94037D95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20</a:t>
            </a:fld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4DBB12-9690-7CBA-0DA6-0788E67E50F7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375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B694E-9AC0-8291-4291-D1C3004B5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C012-6F7B-F5B3-FB28-0B658C96B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0864BB0-CA2F-2412-0EC5-C14762ABE79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17090AF-4C4D-BFBD-97AD-47A436D25C0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65F491FD-75EA-02B2-3F3A-07AF1CCEDC6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9" name="Объект 8">
            <a:extLst>
              <a:ext uri="{FF2B5EF4-FFF2-40B4-BE49-F238E27FC236}">
                <a16:creationId xmlns:a16="http://schemas.microsoft.com/office/drawing/2014/main" id="{D8135DEC-5A5B-A47B-047F-04C663193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ABEEFDA6-C50F-4A65-2A1F-FCB0945CB61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403574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endParaRPr lang="en-US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en-US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Do you have you any questions at the moment?</a:t>
            </a:r>
            <a:endParaRPr lang="ru-RU" dirty="0"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E9DDC32-32C0-FDDA-78A1-797E18A75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74323" y="2070119"/>
            <a:ext cx="4220156" cy="422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752EBFE-3FBB-B487-DADD-5C794AE5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21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CB4AB-C5A7-D632-159B-A5AF23D2D505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9304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D317D-91BE-B18E-1D77-1D3919FAB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754FA-9C86-383F-3D10-1D653437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B89EA3B-0FE8-5C3E-587A-33F9B41453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When calculating Input Resistance using the «Test Source Method», we must be careful with independent sources inside the Black Box. </a:t>
                </a:r>
              </a:p>
              <a:p>
                <a:pPr algn="just"/>
                <a:r>
                  <a:rPr lang="en-US" b="1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To find the equivalent resistance of a network, we must «turn off» all independent sources inside it. </a:t>
                </a: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«Turning off» a Voltage Source means setting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𝑣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=0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is equivalent to replacing it with a Short Circuit (wire).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B89EA3B-0FE8-5C3E-587A-33F9B41453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A8FA2B6-6D2D-4477-0F78-FF536D3BD2E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D8034F3-AE3C-552E-43E0-1122FE164F4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43ED98C-80A8-7F3D-9511-80A15984591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E07F43-2C2C-19CC-FE4C-19E0B62B0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22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0478A8-1319-C3E3-F491-76FF7D7C42C5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72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F08F6-CD8C-B353-8632-B9010992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C4B07-7F02-B273-AE6D-0064E7361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2FB515D-ABC6-1A72-82BF-612FB4375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«Turning off» a Current Source means setting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=0. </m:t>
                    </m:r>
                  </m:oMath>
                </a14:m>
                <a:endParaRPr lang="en-US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is equivalent to replacing it with an Open Circuit (cut wire).</a:t>
                </a:r>
              </a:p>
              <a:p>
                <a:pPr algn="just"/>
                <a:r>
                  <a:rPr lang="en-US" b="1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We assume the box is «dead» (passive) before measuring its resistance, but we leave dependent sources alone because they depend on the test current we inject.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2FB515D-ABC6-1A72-82BF-612FB4375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3D5A513-59FF-DB7C-585B-DEC865CBC9B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08229B9-F70A-1ABE-B085-355977D936D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329B3DC-585D-F0FC-5D71-48DBE5E8AF6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185321-75D1-E47C-72CF-176623B3A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23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2941F-68FE-8963-6DBA-AB6B4E67A880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616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Why do we care about Input Resistance? We care because of the </a:t>
            </a:r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«Loading Effect»: every time you connect a voltmeter to a circuit, the voltmeter itself becomes a parallel resistor. 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If a measuring device has a low input resistance, it draws current from the circuit and changes the voltage it is trying to measure.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9EB38D8-A0B7-69BB-9CE7-72E2E5476915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1F924FF-F53E-E288-308C-425B5D06147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F802989F-2754-C7A0-B00F-A78F24A5E78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67752C-2C29-384D-E453-0484BEA74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24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027713-CFF3-C19A-2FCE-856AF4420976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592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15E1E-4B70-ABC1-EFC4-BE434A511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7554A7-00E9-EF17-4EF4-6F107B7F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D29E3E0-95FA-5CFF-B934-AE7280448A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An ideal voltmeter has infinite input resistance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𝒊𝒏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=∞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so that it touches the circuit but draws zero current.</a:t>
                </a: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Conversely, </a:t>
                </a:r>
                <a:r>
                  <a:rPr lang="en-US" b="1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n ideal ammeter has zero input resistance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𝒊𝒏</m:t>
                        </m:r>
                      </m:sub>
                    </m:sSub>
                    <m:r>
                      <a:rPr lang="en-US" b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so it does not slow down the current it measures.</a:t>
                </a: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Calculating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tells us how much our device will disturb the system.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D29E3E0-95FA-5CFF-B934-AE7280448A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2376B82-554A-3DC8-437B-EA49271A1C59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4DFDE84-C3D4-11AD-1C7B-29BE18F89FB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CF6C6E6-F397-5276-D0B2-641FE27DE33A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43822AB-76AE-04F6-EB2D-800611C6E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25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7D09F-0FA4-764C-21C3-DA2BA46565D0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756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7383" y="1825625"/>
                <a:ext cx="11370365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To find the input resistance, we apply a test voltage source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𝒗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across the terminals and calculate the resulting input current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𝒊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Alternatively, we may apply a test current source and find the voltage.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input resistance is then defined as the ratio</a:t>
                </a: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𝒊𝒏</m:t>
                          </m:r>
                        </m:sub>
                      </m:sSub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𝒗</m:t>
                          </m:r>
                        </m:num>
                        <m:den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𝒊</m:t>
                          </m:r>
                        </m:den>
                      </m:f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When calculating input resistance with dependent sources, one must strictly use the test source method, as series-parallel reduction is invalid.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7383" y="1825625"/>
                <a:ext cx="11370365" cy="4351338"/>
              </a:xfrm>
              <a:blipFill>
                <a:blip r:embed="rId2"/>
                <a:stretch>
                  <a:fillRect l="-965" t="-560" r="-1126" b="-163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5C11734-D45E-D4DC-7543-5769E5785E1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2655B50C-C6B2-1DD2-077C-545F2015EF9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5B26DCB-F735-1DE0-D209-6147D7323E1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ADEBC3-A87D-5BC6-3A49-79242BC1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26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E8088E-1F9A-E96F-35A9-838090F3138A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8416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DB165-4A1A-D383-8E8D-9D9D525C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9E23DE-5B82-4396-5173-A99516B7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A8EC30-298D-A3AF-9D37-32383247B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Not all resistor networks are purely series or parallel.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frequently encounter Bridge circuits, T-networks, and Pi-networks.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FEBE3A0-A50F-5864-F679-29A8C1294A2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AD04144-B877-1E81-7844-81D6A438273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1253174-0836-C5F5-39D2-AE470B4A37A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656376-E24E-F2F9-04BB-80D69F220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27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85775-E80C-D593-A4E9-98278F7C50A2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785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Y-network consists of three resistors connected to a common central node. </a:t>
            </a:r>
            <a:endParaRPr lang="ru-RU" b="1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Δ-network consists of three resistors forming a closed triangle loop.</a:t>
            </a:r>
            <a:endParaRPr lang="ru-RU" b="1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can mathematically transform a Δ network into an equivalent Y network (and vice versa) such that the terminal characteristics (voltage and current at the external nodes) remain identical.</a:t>
            </a:r>
          </a:p>
          <a:p>
            <a:pPr algn="just"/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8DAC76B-F1E5-A97E-F069-BE11D6F96D2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DBCEBC75-40AD-CCFD-DE4D-9C921CC5F14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D293C622-B091-2BA7-0F62-223F9D1D9C3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07D844-6166-3DF0-F332-2FB51E4FA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28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4158F7-A590-EC32-C295-1E9C6EF486B3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293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A3191-DDEB-7893-D5CD-EC48328DB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097E30-ABCE-A645-48FD-5ED28DF0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7EF76E-2949-0B4B-14FE-94DADBDAC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Here is an illustration of Y-network and Δ-network of resistors.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325876-95A2-1C66-1DEB-585DEA269A0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2960" y="2403254"/>
            <a:ext cx="10766080" cy="4089621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CA5EAAD-B4FE-6410-566B-334CD732B8E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540F13B-13E1-7CF5-F509-E77E4DFA8CE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55899D27-7029-70A8-0F9F-95D619A01E9D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8496B28-4BAC-66BF-724B-89488FD1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29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D29723-2DB4-F1E5-E924-7CFD1C392013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372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specific topological configuration that defies simple series-parallel reduction is the Y (Wye) and Δ (Delta) connection. 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There is the equivalent transformation between Y and Δ configurations.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121755-E50A-BE54-C2F0-9D1E1074F67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6659" y="4174865"/>
            <a:ext cx="6118681" cy="2318010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12A678B-38EB-0A6E-87BB-77873AC2148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B4A17E5-1600-A9CC-6442-35CA0C80200F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DC7C903E-AF0F-F068-90AE-27F6ACE9090C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51E7A49-7828-9E90-E589-32CF0CCA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30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B04EE-699C-BE11-3B06-6F6B79D4AC0C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020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D23CC-495E-0CF7-8C8F-5E2DCF9D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49594D-F6AB-BD69-ABAC-983D4C98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43B70C0-590A-16CE-733F-6F7AA132A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 Δ-connection consists of three resistors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31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forming a triangle between three nodes (Fig., left).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A Y-connection consists of three resistors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radiating from a common central node to three terminals (Fig., right). </a:t>
                </a:r>
                <a:endParaRPr lang="en-US" dirty="0"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43B70C0-590A-16CE-733F-6F7AA132A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06A8F97-BA7A-9926-7678-E96A16636A8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6659" y="4174865"/>
            <a:ext cx="6118681" cy="2318010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CBE9E7E-DC4A-26D5-7B31-49C5BD48303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0A562FCD-DF99-2ABA-AAD3-DADBCE9932F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04740709-5995-1B0A-BB9C-DBF01782D96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44185E3-4CEA-3B7E-7D62-66DB44D13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31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A2FA6-9F3C-F60C-8753-281A016893C7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196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B8EC0-E991-5BDF-FBE3-C7975800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399EE-01CE-0768-7581-FEFC44EAD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50482D-FF5C-31C0-C34B-F8392E3FE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simplify a circuit, we often need to mathematically replace a Δ with an equivalent Y, or vice versa.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transformation formulas are derived by equating the input resistances between any pair of terminals while leaving the third open. 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91F98F0-24AF-95EC-63B0-FEC9CD05012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62F5C36-36E7-C08C-0329-25443F8CEEB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236E3DB0-7AF5-3435-B66F-019C3A76B2E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09B1EF3F-F98D-605C-13F5-B6277D83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32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66E7BB-BCF5-84C9-E7A4-BE7A32EEF736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677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7078" y="1825624"/>
                <a:ext cx="10876722" cy="5032375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To convert a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𝚫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-network to a Y-network, the resistance of a Y-branch attached to a specific node is the product of the two adjacent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𝚫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-resistors divided by the sum of all three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𝚫</m:t>
                    </m:r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-resistors.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For example, the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connected to node 1 is given by 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n-US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𝟏𝟐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𝟑𝟏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𝟏𝟐</m:t>
                              </m:r>
                            </m:sub>
                          </m:sSub>
                          <m:r>
                            <a:rPr lang="en-US" b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𝟐𝟑</m:t>
                              </m:r>
                            </m:sub>
                          </m:sSub>
                          <m:r>
                            <a:rPr lang="en-US" b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𝟑𝟏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formula is cyclic for the other branches.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7078" y="1825624"/>
                <a:ext cx="10876722" cy="5032375"/>
              </a:xfrm>
              <a:blipFill>
                <a:blip r:embed="rId2"/>
                <a:stretch>
                  <a:fillRect l="-1008" t="-484" r="-11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1BCD65E-5DC2-DD05-3547-623672C9F96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E7F589D-310D-126E-B391-4E382650F41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45C88B1-149E-3ABE-8379-120E7B1232B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3B41B8-D86C-8B99-63D0-8934A8C3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33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5ED40-7071-3711-0EA0-A7C9DB69ACAA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3955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formulas for these transformations look difficult to memorize, but there is a visual trick. Imagine drawing the Y shape inside the Δ shape.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find the value of a specific Y resistor, multiply the two Δ resistors attached to the same node, then divide by the total resistance.</a:t>
            </a:r>
          </a:p>
          <a:p>
            <a:pPr algn="just">
              <a:lnSpc>
                <a:spcPct val="120000"/>
              </a:lnSpc>
            </a:pP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C4ECE94-F6BE-A6E8-E19C-92643180F10C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88DDDA24-1FEE-CBD8-BD25-485F082C1C4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08086D83-BE61-EFDD-9D64-AE8848FC1544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9FA991-B8ED-EF50-95BF-F2F67649E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34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1DC7AB-988F-E849-C34B-B9D086AE4A36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584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46235-F9C6-C3E7-125E-CCD8D21A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92745-93DB-21B6-BDB6-63EA9B0E1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5BEB2D-0E35-D2D2-71A0-9878E5270F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For example, to find the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-resistor connected to Node A: Look at the two sides of the Triangle touching Node A. Multiply them.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Then divide by the perimeter of the Triangle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 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denominator (bottom of the fraction) is always the sum of all three Delta resistors.</a:t>
                </a:r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25BEB2D-0E35-D2D2-71A0-9878E5270F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76FE38B-40FB-CF57-5916-8BBC0F18917A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E980E03-FBDC-EC68-025B-C6E809533CE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13065638-8046-8B40-D1C1-02B626D25E8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716095-162D-BD5B-2F12-91794FF9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35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C92911-637A-D360-D099-7345E1492A5B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894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Conversely, </a:t>
                </a:r>
                <a:r>
                  <a:rPr lang="en-US" b="1" dirty="0"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to convert a Y-network to a Δ-network, the resistance of a Δ-side connecting two nodes is the sum of the products of all Y-resistor pairs taken two at a time, divided by the Y-resistor opposite to the side being calculated: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𝑹</m:t>
                          </m:r>
                        </m:e>
                        <m:sub>
                          <m:r>
                            <a:rPr lang="en-US" b="1" i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𝟏𝟐</m:t>
                          </m:r>
                        </m:sub>
                      </m:sSub>
                      <m:r>
                        <a:rPr lang="ru-RU" b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ru-RU" b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ru-RU" b="1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b="1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b="1" i="1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</a:rPr>
                                <m:t>𝟑</m:t>
                              </m:r>
                            </m:sub>
                          </m:sSub>
                        </m:den>
                      </m:f>
                      <m:r>
                        <a:rPr lang="en-US" b="1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</a:rPr>
                        <m:t>.</m:t>
                      </m:r>
                    </m:oMath>
                  </m:oMathPara>
                </a14:m>
                <a:endParaRPr lang="ru-RU" b="1" dirty="0">
                  <a:effectLst/>
                  <a:latin typeface="Arial" panose="020B0604020202020204" pitchFamily="34" charset="0"/>
                  <a:ea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5910504-E1F5-9EBA-FACD-AE917368DBC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C23BE02-D6C0-7D70-B79C-0221263E81B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A2FE5B9-8E3D-F6D1-4125-9CA4714982F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84349F-2E1D-92C6-F8EF-00EE7EA8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36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023316-0BCA-A779-430B-13BAFF56040A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9949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E9E3A-9CFA-C042-4F0E-8E38C80D2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3DAB1C-0A0F-CD88-7217-4CD30A027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D06347-3339-7958-AC81-1B60ED220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For the reverse transformation (Y to Δ), there is also a pattern.</a:t>
            </a:r>
          </a:p>
          <a:p>
            <a:pPr algn="just">
              <a:lnSpc>
                <a:spcPct val="120000"/>
              </a:lnSpc>
            </a:pP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find a specific Δ resistor, we calculate the sum of all pair products of the Y resistors, then divide by the opposite resistor.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Imagine you want to find the resistor on the top side of the triangle.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You look at the Y resistor pointing down (the opposite one).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414FCF4-48AF-3EF0-FFBF-E48016C5000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E637BA9-B6D2-9431-8016-F7CBB8207B3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9DF172E2-6E71-FA27-6010-260F7D73D92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A227D0-AA9C-9E33-FC6E-B24105023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37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3EBE54-249D-048E-7932-9E19D616B97C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6872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D0A4F-878F-9810-BF23-59E623206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B265F9-9637-0AD2-AB68-D2BEE515C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BCC1769-424C-955E-4E1C-8372A1C555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That goes in the bottom of the fraction. The top of the fraction is always the same: </a:t>
                </a:r>
                <a14:m>
                  <m:oMath xmlns:m="http://schemas.openxmlformats.org/officeDocument/2006/math"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)+(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)+(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3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×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b="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b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numerator (top of the fraction) is always the sum of products of all pairs.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BCC1769-424C-955E-4E1C-8372A1C555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60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938BEE9-471D-1E0C-2F21-97906061D47D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84E51BE-3903-7856-CCF4-BF4C59E4F37C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55789121-BD8C-FBF8-ED8E-D734462A7CD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63F09DE-213E-4DDA-4F48-3BAB942A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38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25D013-4A52-8350-6BF7-16A84CA3F6F4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772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84655-7AA9-1588-51E3-6E69E5D4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44A51-D163-C2D0-D57E-213B94D0E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4368C61-5D3C-5C24-6C7E-A42EDD5C95D1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5C310FAD-0BD6-0272-5302-1A2D05CF15A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228773A-F0D2-0118-31D7-75D26B11E325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22C74B1-E1DC-C582-AB42-7D725F5F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39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56664-2473-D313-046B-460539D17A3E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id="{E03F0C89-3B20-DD56-876E-296BA6C94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38B03AF-97F2-45D0-14B4-1667A1DC72E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6009" y="1690688"/>
            <a:ext cx="10327791" cy="507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862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But what happens if we connect two nodes of these networks in series in some branch, and connect one of them to ground?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You get a T-network and Pi-network. 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Here is an illustration of T-network and Pi-network of resistors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08061BA-65A1-9981-02A6-6A1447E5739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7A38226-DD32-03BE-C097-348BB81E8FE3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D1B1146B-A788-AF3B-9F36-66ABC146E2F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B2E7082-5492-DEEF-41CF-2434B131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40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6A320-BA47-6C25-AD69-70FDB734CCD8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97614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2213C-DC6C-E841-B367-4C292BED6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E65BB-8EBB-EA9A-58C3-78C03AAF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CE7881-0EB8-DE30-865F-EEC7F1D4D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23354" cy="4351338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T-Networks circuits </a:t>
            </a:r>
            <a:r>
              <a:rPr lang="en-US" dirty="0">
                <a:effectLst/>
              </a:rPr>
              <a:t>are often used in amplifiers to obtain high gain without high resistances due to their parasitic effects.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C14082-5E95-AE97-98E9-1C965ECBF3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961554" y="1897190"/>
            <a:ext cx="7119194" cy="228176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D8E7E300-2061-E7BF-ABAA-82F85C12AD0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811E9E6-263C-EC8F-F06C-AD42DB5E659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D13EB158-6B28-93E4-7B61-4B2B835D16D8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073D83F-3677-C9C0-B74B-5EE86A3D1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41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E453FD-7078-C572-BA7E-B96F5ABAABF2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2E3C957-8C51-9D1B-72C1-1F148A8D7FD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385618" y="4086247"/>
            <a:ext cx="5968182" cy="21834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569683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Why do we need Y-Δ transformation? Consider a «Bridge Circuit» – a diamond shape of 5 resistors. </a:t>
            </a:r>
            <a:endParaRPr lang="ru-RU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It looks like two triangles sharing a side. </a:t>
            </a:r>
            <a:endParaRPr lang="ru-RU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bridge circuit often has no resistors in series and no resistors in parallel.</a:t>
            </a:r>
          </a:p>
          <a:p>
            <a:pPr algn="just"/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are stuck; we cannot use simple reduction. However,</a:t>
            </a:r>
            <a:r>
              <a:rPr lang="ru-RU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</a:t>
            </a:r>
            <a:r>
              <a:rPr lang="en-US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y replacing the top triangle (Delta) with a star shape (Y), we break the bridge.</a:t>
            </a:r>
            <a:endParaRPr lang="ru-RU" b="1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7777864-83CC-7B63-9118-2088959D0E1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5584B98-38BF-0E81-2F31-DE0103E7FF9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B259C85C-6327-B542-08CB-BFC09709B6B9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0C9948-88D0-1520-48EE-966F2C29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42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4E39F9-DA7C-7ADD-7234-6992BACC56DC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2001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new «Y» resistors will end up being in series with the bottom resistors of the bridge. </a:t>
            </a: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This magic trick turns an «impossible» circuit into a simple series-parallel problem that we can solve in minutes.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5F356F-8891-7B65-6C06-14E1FB9B470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580801" y="3699880"/>
            <a:ext cx="7030397" cy="30224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DF6E2FF2-6863-BE34-4879-99899841206B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444E580-D7A9-535A-4337-8A5BA20469C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0F0BC7F0-14C8-3202-654B-2804C0EEA653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DA81E7F-6396-F701-EAB4-070A78B1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43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8CFD23-C3A1-4EB0-2E48-26B5CA0E0A93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3599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Sometimes, it is hard to see the Δ (Pi) or Y (T) shapes because circuit diagrams can be drawn in messy ways. Do not look for triangles or letters. Look at the connections.</a:t>
            </a:r>
            <a:endParaRPr lang="ru-RU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Pi (Δ) network exists whenever you have three resistors forming a closed loop with no other elements inside the loop.</a:t>
            </a:r>
          </a:p>
          <a:p>
            <a:pPr algn="just"/>
            <a:r>
              <a:rPr lang="en-US" b="1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T (Y) network exists whenever you have three resistors meeting at a single node, and that node connects to nothing else.</a:t>
            </a:r>
            <a:endParaRPr lang="ru-RU" b="1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Being able to spot these shapes in a complex, «spaghetti» diagram is the first step to solving hard problems.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B38ACE52-1383-1BA5-1C0B-1008CCD15D0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48FAB568-4C30-6073-9A58-721CC2F7DAE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41395662-56CE-1D88-2161-63DF7D7D3D00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D786FA-2E2D-600A-3437-72F6804D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44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22BD4-2087-700A-AD3D-B9A2CBECBCCA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8868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Let us walk through the algorithm for solving a Bridge Circuit using this tool.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Identify the Bridge. You see five resistors. It is not series, and it is not parallel.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Bridge is on the next slide.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93DCFFE-317B-8D1A-5E3C-153018DDE90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F3D8D3BB-FDE9-C39E-5821-1203BEF7B7A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0A23ECC0-3253-2073-A02D-273C837BC4D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CFAFE79-502F-FF2D-3048-4EF94AEB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45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08F65-485F-FDB4-9559-482ECF01E721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8865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3D5E5-1BA7-CFC0-A407-4292A696D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F2F816-9DBE-8489-2318-18651B96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3A8ACE-AD67-AEB1-A9DC-745543261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A17DD7-362F-6C5D-91D5-2B7BC9088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0327" y="1781493"/>
            <a:ext cx="5620058" cy="4462577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6E527E2-9F82-C367-4E35-D72E1955B1EF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3AEFC376-AFB4-37BB-9328-678E4559283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789CFFFC-107C-3255-98EB-AD4CD152DE0F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9FF80E6-CE00-C5D2-23C5-918B5472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46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A1E609-89F9-1674-7034-24EE3A8AB359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5885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BDD66-B5C3-4222-3E92-113F63E80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89038B-A163-FA45-73B9-C70D75818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98CB953-127C-3DAB-E273-CF096E747E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Check for Balance: multiply the opposite resistors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If they are equal, the bridge is «balanced».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98CB953-127C-3DAB-E273-CF096E747E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0897B0B-98F3-30A4-5E47-796A0D82AFE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FF93F5A3-5B78-B5C7-8283-466313915857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A0E15092-1F2A-D893-91A1-6B4DA520195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7BDE40-2F15-EC29-89BB-E43188B3CD3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5974" y="3469179"/>
            <a:ext cx="3580052" cy="2842721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9B3529D-5BF3-04B4-B3CF-CBA76D86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47</a:t>
            </a:fld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C6D562-D5E4-F6E8-2C15-6FA68C8AFF08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6446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B53C8-7F6A-3F5E-C188-CDB7CE95F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23ABB-06E6-C51B-AE70-C1A48852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EC6DDC3-320C-0476-BFBC-A53E4AD190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middle resistor has 0 Volts and can be removed. If unbalanced, transform: select either the top triangle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Δ</m:t>
                    </m:r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) or the bottom triangle. </a:t>
                </a: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Use the Δ→𝑌 formulas to replace the three resistors with three new ones arranged in a star. Now, the circuit is simple.</a:t>
                </a: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You will see two branches in series that are parallel to each other. </a:t>
                </a: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This transformation turns a difficult algebra problem into simple arithmetic.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EC6DDC3-320C-0476-BFBC-A53E4AD190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5299AD-BCEF-F1E2-746A-359ED80BD3E6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D261543-5A1A-86CD-8C56-DD97CF6A3925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CBD27722-4E20-4783-1E40-EABD33C27A02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63F23C79-78A9-7DE0-09AE-F60B7A7BF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48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36854-2DDC-BA11-0F73-357B3780350E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2824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A8FCE-F98A-4C23-0261-F64A60BD5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61C69-BC28-758F-E82E-D9AC02BC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A70738-26AE-A73B-3553-2A412C55D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 now transition to the characterization of passive networks through the concept of Input Resistance. </a:t>
            </a: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As we said before, passive one-port network is a collection of resistive elements with two access terminals, containing no independent sources. </a:t>
            </a: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 the external circuit, this entire network behaves as a single equivalent resistor. </a:t>
            </a: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calculation of this resistance is used to match resistances in circuits and analyze the effect of load.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B084160-74AB-B20A-FAD1-894292F18A83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2F1C5C6-7E59-7213-49B4-B1706E07629B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444CD210-9ED0-6FB7-B1CE-2B09A443A836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932E6867-BC25-6331-9F84-A24D79D07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49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032C1-154D-F98A-C701-F55224FA3306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0488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3ED9C-48A6-B916-41E3-037B1026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171AF-046D-9AC8-B41A-50EA435C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DE457E-9705-6C1A-6BC5-A2A5476BF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For networks consisting purely of series and parallel combinations, the input resistance is found by successive simplification, as discussed before. </a:t>
            </a:r>
          </a:p>
          <a:p>
            <a:pPr algn="just"/>
            <a:r>
              <a:rPr lang="en-US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However, for non-series-parallel topologies, such as bridge circuits, we must employ the «Test Source Method». </a:t>
            </a:r>
            <a:endParaRPr lang="ru-RU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2B6047E-58BA-4BAB-E0CA-82B39215D488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7B0E731-4B88-DC0E-69D3-8F6A4A45FB9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7" name="Прямоугольник: скругленные углы 6">
              <a:extLst>
                <a:ext uri="{FF2B5EF4-FFF2-40B4-BE49-F238E27FC236}">
                  <a16:creationId xmlns:a16="http://schemas.microsoft.com/office/drawing/2014/main" id="{90E513CB-9A91-7AFB-2682-868756C29541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2C97CFD-BCA3-5CC7-C4A7-33E7EAFD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50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A73C43-8A13-703D-5353-C4D2E5B0E788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9630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Before we conclude, we must discuss two advanced concepts in circuit simplification: Infinite Ladders and Circuit Symmetry. </a:t>
                </a:r>
              </a:p>
              <a:p>
                <a:pPr algn="just"/>
                <a:r>
                  <a:rPr lang="en-US" b="1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Sometimes, you may encounter a circuit that consists of a repeating pattern of resistors extending infinitely. This is called an Infinite Resistor Ladder. </a:t>
                </a:r>
                <a:endParaRPr lang="ru-RU" b="1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b="1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Imagine a circuit with a series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, followed by a parallel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, followed by another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, another parallel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, and so on, forever. </a:t>
                </a:r>
                <a:endParaRPr lang="ru-RU" b="1" dirty="0">
                  <a:effectLst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5910504-E1F5-9EBA-FACD-AE917368DBC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C23BE02-D6C0-7D70-B79C-0221263E81B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A2FE5B9-8E3D-F6D1-4125-9CA4714982F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487D4-97FD-3371-56AD-E51767F1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51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F1817-0CD6-DB01-2780-BB4E775FA51D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6256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7B10-7B27-BFAC-75B8-BA77EFA84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6D6A0-5523-7A1C-DDF8-A99F8C2C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99DECB2-000A-3A39-A5F7-7288EBD7C1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How do we calculate the input resistance of an infinite chain?</a:t>
                </a:r>
              </a:p>
              <a:p>
                <a:pPr algn="just"/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We use a logical trick. Since the ladder is infinite, if we remove the first «stage» (the first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 dirty="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ea typeface="Aptos" panose="020B0004020202020204" pitchFamily="34" charset="0"/>
                    <a:cs typeface="Arial" panose="020B0604020202020204" pitchFamily="34" charset="0"/>
                  </a:rPr>
                  <a:t>), the remaining circuit is still an infinite ladder.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99DECB2-000A-3A39-A5F7-7288EBD7C1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035C336-47E3-10CC-1389-FF2F69BBBE24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A1EF760-9F89-C1D8-8192-F3BDB983913E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D8D85476-14C5-8B81-79C7-949EEBEB875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C6522A-EF70-055A-6D48-C3205187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52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9F5A9D-1059-1B07-3BE1-7C8747BEF4D7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9CF105A-3842-CEC8-FF84-6B66305C8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97" y="3939691"/>
            <a:ext cx="10783805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274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800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Therefore, the resistance of the remainder is exactly the same as the total input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𝒆𝒒</m:t>
                        </m:r>
                      </m:sub>
                    </m:sSub>
                  </m:oMath>
                </a14:m>
                <a:r>
                  <a:rPr lang="en-US" sz="2800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We can draw a simple equivalent circuit: the first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is in series with the parallel combination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and the total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𝑒𝑞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 itself. </a:t>
                </a:r>
                <a:endParaRPr lang="ru-RU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2800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Mathematically, this creates a quadratic equation: </a:t>
                </a:r>
                <a:endParaRPr lang="ru-RU" sz="2800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RU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𝒆𝒒</m:t>
                        </m:r>
                      </m:sub>
                    </m:sSub>
                    <m:r>
                      <a:rPr lang="en-US" sz="2800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=</m:t>
                    </m:r>
                    <m:sSub>
                      <m:sSubPr>
                        <m:ctrlPr>
                          <a:rPr lang="ru-RU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US" sz="2800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+</m:t>
                    </m:r>
                    <m:f>
                      <m:fPr>
                        <m:ctrlPr>
                          <a:rPr lang="ru-RU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2800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800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×</m:t>
                        </m:r>
                        <m:sSub>
                          <m:sSubPr>
                            <m:ctrlPr>
                              <a:rPr lang="ru-RU" sz="2800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𝒆𝒒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ru-RU" sz="2800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2800" b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ru-RU" sz="2800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800" b="1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</a:rPr>
                              <m:t>𝒆𝒒</m:t>
                            </m:r>
                          </m:sub>
                        </m:sSub>
                      </m:den>
                    </m:f>
                    <m:r>
                      <a:rPr lang="en-US" sz="2800" b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.</m:t>
                    </m:r>
                  </m:oMath>
                </a14:m>
                <a:endParaRPr lang="ru-RU" sz="2800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sz="2800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By solving this algebraic equation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</m:ctrlPr>
                      </m:sSubPr>
                      <m:e>
                        <m:r>
                          <a:rPr lang="en-US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𝑹</m:t>
                        </m:r>
                      </m:e>
                      <m:sub>
                        <m:r>
                          <a:rPr lang="en-US" sz="2800" b="1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</a:rPr>
                          <m:t>𝒆𝒒</m:t>
                        </m:r>
                      </m:sub>
                    </m:sSub>
                  </m:oMath>
                </a14:m>
                <a:r>
                  <a:rPr lang="en-US" sz="2800" b="1" dirty="0"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, we find the finite resistance value of an infinite number of components.</a:t>
                </a:r>
                <a:endParaRPr lang="ru-RU" sz="2800" b="1" dirty="0">
                  <a:effectLst/>
                  <a:latin typeface="Arial" panose="020B06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B32713-8DC8-A19D-A317-628052EEC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 b="-57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5910504-E1F5-9EBA-FACD-AE917368DBC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C23BE02-D6C0-7D70-B79C-0221263E81B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A2FE5B9-8E3D-F6D1-4125-9CA4714982F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5548FD7B-9648-92EE-B725-9ED3BF14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53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3D3286-4BF9-FF72-0306-37E8CEA64D56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0028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B32713-8DC8-A19D-A317-628052EEC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1825625"/>
            <a:ext cx="10763865" cy="4895850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ea typeface="Aptos" panose="020B0004020202020204" pitchFamily="34" charset="0"/>
              </a:rPr>
              <a:t>The second concept is Geometric Symmetry. Many complex circuits, like the cube of resistors or complex bridges, are symmetrical. </a:t>
            </a:r>
          </a:p>
          <a:p>
            <a:pPr algn="just"/>
            <a:r>
              <a:rPr lang="en-US" b="1" dirty="0">
                <a:ea typeface="Aptos" panose="020B0004020202020204" pitchFamily="34" charset="0"/>
              </a:rPr>
              <a:t>If a circuit is symmetrical, points that are in geometrically identical positions often have the same potential. </a:t>
            </a:r>
          </a:p>
          <a:p>
            <a:pPr algn="just"/>
            <a:r>
              <a:rPr lang="en-US" b="1" dirty="0">
                <a:ea typeface="Aptos" panose="020B0004020202020204" pitchFamily="34" charset="0"/>
              </a:rPr>
              <a:t>Equipotential Node Rule: if two nodes in a symmetrical circuit have the same potential, we can connect them with a short wire without changing the </a:t>
            </a:r>
          </a:p>
          <a:p>
            <a:pPr marL="0" indent="0" algn="just">
              <a:buNone/>
            </a:pPr>
            <a:r>
              <a:rPr lang="en-US" b="1" dirty="0">
                <a:ea typeface="Aptos" panose="020B0004020202020204" pitchFamily="34" charset="0"/>
              </a:rPr>
              <a:t>circuit currents. Alternatively, we can </a:t>
            </a:r>
          </a:p>
          <a:p>
            <a:pPr marL="0" indent="0" algn="just">
              <a:buNone/>
            </a:pPr>
            <a:r>
              <a:rPr lang="en-US" b="1" dirty="0">
                <a:ea typeface="Aptos" panose="020B0004020202020204" pitchFamily="34" charset="0"/>
              </a:rPr>
              <a:t>disconnect them entirely. 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5910504-E1F5-9EBA-FACD-AE917368DBC2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C23BE02-D6C0-7D70-B79C-0221263E81B4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AA2FE5B9-8E3D-F6D1-4125-9CA4714982FB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1A4D8C-3CFC-706A-F9B4-87DDBD0B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54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DD979-57DF-4541-9CEA-CE600AE79048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28F32AC-3214-0027-E293-42E1E62F3A7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222" y="4857135"/>
            <a:ext cx="4068279" cy="186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350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0D319-64B1-50BE-481D-EF3D03B4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8C143-2DED-AB9D-A598-F2015DF78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74E919-E148-CEDC-5423-F8855D0BE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dirty="0">
                <a:ea typeface="Aptos" panose="020B0004020202020204" pitchFamily="34" charset="0"/>
              </a:rPr>
              <a:t>Current does not flow between points of equal potential. For example, in a balanced bridge, the center connection carries no current because of symmetry. </a:t>
            </a:r>
          </a:p>
          <a:p>
            <a:pPr algn="just"/>
            <a:r>
              <a:rPr lang="en-US" dirty="0">
                <a:ea typeface="Aptos" panose="020B0004020202020204" pitchFamily="34" charset="0"/>
              </a:rPr>
              <a:t>Recognizing symmetry allows you to «fold» a complex 3D circuit into a simple 2D parallel circuit, avoiding long calculations with Y-Δ transformations.</a:t>
            </a:r>
          </a:p>
          <a:p>
            <a:pPr algn="just"/>
            <a:r>
              <a:rPr lang="en-US" dirty="0">
                <a:ea typeface="Aptos" panose="020B0004020202020204" pitchFamily="34" charset="0"/>
              </a:rPr>
              <a:t>In this lecture we explored some transformations within circuits that can be very useful in real-world analysis. I recommend paying special attention to voltage and current dividers, as well as bridge circuits.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2864803-563E-394D-9E25-C1DD0AA87D77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198014B-48F9-16B4-6110-213876F9F89D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36EE5831-2FB3-04A0-5C1D-FEF3485C6337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644F54-55A9-C1F3-EEB2-A1F52A72B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55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38F517-647E-08EE-7EDB-83925B21EB7E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1103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461613-2ACC-C68B-06B3-BFE35799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Equivalent Transformations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Passive Networks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2D1F944-A717-6F3C-B7EE-87D7C410C61E}"/>
              </a:ext>
            </a:extLst>
          </p:cNvPr>
          <p:cNvGrpSpPr/>
          <p:nvPr/>
        </p:nvGrpSpPr>
        <p:grpSpPr>
          <a:xfrm>
            <a:off x="0" y="0"/>
            <a:ext cx="12192000" cy="1690688"/>
            <a:chOff x="0" y="0"/>
            <a:chExt cx="12192000" cy="1690688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BBCE56C3-F32C-5230-B299-76DC8D22AD16}"/>
                </a:ext>
              </a:extLst>
            </p:cNvPr>
            <p:cNvSpPr/>
            <p:nvPr/>
          </p:nvSpPr>
          <p:spPr>
            <a:xfrm>
              <a:off x="0" y="0"/>
              <a:ext cx="12192000" cy="1690688"/>
            </a:xfrm>
            <a:prstGeom prst="rect">
              <a:avLst/>
            </a:prstGeom>
            <a:solidFill>
              <a:srgbClr val="3899E8"/>
            </a:solidFill>
            <a:ln>
              <a:solidFill>
                <a:srgbClr val="3798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rial" panose="020B0604020202020204" pitchFamily="34" charset="0"/>
              </a:endParaRPr>
            </a:p>
          </p:txBody>
        </p:sp>
        <p:sp>
          <p:nvSpPr>
            <p:cNvPr id="6" name="Прямоугольник: скругленные углы 5">
              <a:extLst>
                <a:ext uri="{FF2B5EF4-FFF2-40B4-BE49-F238E27FC236}">
                  <a16:creationId xmlns:a16="http://schemas.microsoft.com/office/drawing/2014/main" id="{295AEA3B-8491-7536-BC0C-0B7166E06DEE}"/>
                </a:ext>
              </a:extLst>
            </p:cNvPr>
            <p:cNvSpPr/>
            <p:nvPr/>
          </p:nvSpPr>
          <p:spPr>
            <a:xfrm>
              <a:off x="111252" y="274320"/>
              <a:ext cx="11969496" cy="1416368"/>
            </a:xfrm>
            <a:prstGeom prst="roundRect">
              <a:avLst/>
            </a:prstGeom>
            <a:solidFill>
              <a:srgbClr val="2A70AE"/>
            </a:solidFill>
            <a:ln>
              <a:solidFill>
                <a:srgbClr val="2970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Equivalent Transformations</a:t>
              </a:r>
              <a:b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4000" cap="all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Passive Networks</a:t>
              </a:r>
              <a:endParaRPr lang="ru-RU" sz="4000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Объект 7">
            <a:extLst>
              <a:ext uri="{FF2B5EF4-FFF2-40B4-BE49-F238E27FC236}">
                <a16:creationId xmlns:a16="http://schemas.microsoft.com/office/drawing/2014/main" id="{B5CEFEB2-0B45-6565-68E3-DA56535CD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3B37DFCF-8C21-1CDC-7549-8873864EE58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>
              <a:cs typeface="Arial" panose="020B0604020202020204" pitchFamily="34" charset="0"/>
            </a:endParaRPr>
          </a:p>
          <a:p>
            <a:endParaRPr lang="ru-RU" dirty="0">
              <a:cs typeface="Arial" panose="020B0604020202020204" pitchFamily="34" charset="0"/>
            </a:endParaRPr>
          </a:p>
          <a:p>
            <a:endParaRPr lang="ru-RU" dirty="0">
              <a:cs typeface="Arial" panose="020B0604020202020204" pitchFamily="34" charset="0"/>
            </a:endParaRPr>
          </a:p>
          <a:p>
            <a:r>
              <a:rPr lang="en-US" dirty="0">
                <a:cs typeface="Arial" panose="020B0604020202020204" pitchFamily="34" charset="0"/>
              </a:rPr>
              <a:t>Thank you for your attention! 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r>
              <a:rPr lang="en-US" dirty="0">
                <a:ea typeface="Aptos" panose="020B0004020202020204" pitchFamily="34" charset="0"/>
                <a:cs typeface="Arial" panose="020B0604020202020204" pitchFamily="34" charset="0"/>
              </a:rPr>
              <a:t>Do you have you any questions?</a:t>
            </a:r>
            <a:endParaRPr lang="ru-RU" dirty="0"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n-US" dirty="0">
              <a:cs typeface="Arial" panose="020B0604020202020204" pitchFamily="34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CAA3984-809E-CB91-22C3-67F272E08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14688" y="2892286"/>
            <a:ext cx="3691393" cy="3691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9933A48-5CB9-6331-36F6-C6029715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FBF9E-E1A4-4191-8DE4-0995BD4EE799}" type="slidenum">
              <a:rPr lang="ru-RU" smtClean="0"/>
              <a:t>56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0BEEA-F14D-9725-039E-CBA396C90EEE}"/>
              </a:ext>
            </a:extLst>
          </p:cNvPr>
          <p:cNvSpPr txBox="1"/>
          <p:nvPr/>
        </p:nvSpPr>
        <p:spPr>
          <a:xfrm>
            <a:off x="11353800" y="6385023"/>
            <a:ext cx="437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/57</a:t>
            </a:r>
            <a:endParaRPr lang="ru-RU" sz="1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5400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3654</Words>
  <Application>Microsoft Office PowerPoint</Application>
  <PresentationFormat>Широкоэкранный</PresentationFormat>
  <Paragraphs>378</Paragraphs>
  <Slides>56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60" baseType="lpstr">
      <vt:lpstr>Aptos</vt:lpstr>
      <vt:lpstr>Arial</vt:lpstr>
      <vt:lpstr>Cambria Math</vt:lpstr>
      <vt:lpstr>Тема Office</vt:lpstr>
      <vt:lpstr>Lecture 3. Equivalent 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  <vt:lpstr>Equivalent Transformations in Passive Networks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18</cp:revision>
  <dcterms:created xsi:type="dcterms:W3CDTF">2026-04-01T11:50:07Z</dcterms:created>
  <dcterms:modified xsi:type="dcterms:W3CDTF">2026-04-09T04:44:38Z</dcterms:modified>
</cp:coreProperties>
</file>