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68" r:id="rId2"/>
    <p:sldId id="469" r:id="rId3"/>
    <p:sldId id="501" r:id="rId4"/>
    <p:sldId id="500" r:id="rId5"/>
    <p:sldId id="502" r:id="rId6"/>
    <p:sldId id="474" r:id="rId7"/>
    <p:sldId id="475" r:id="rId8"/>
    <p:sldId id="503" r:id="rId9"/>
    <p:sldId id="504" r:id="rId10"/>
    <p:sldId id="476" r:id="rId11"/>
    <p:sldId id="505" r:id="rId12"/>
    <p:sldId id="506" r:id="rId13"/>
    <p:sldId id="477" r:id="rId14"/>
    <p:sldId id="478" r:id="rId15"/>
    <p:sldId id="507" r:id="rId16"/>
    <p:sldId id="508" r:id="rId17"/>
    <p:sldId id="479" r:id="rId18"/>
    <p:sldId id="509" r:id="rId19"/>
    <p:sldId id="510" r:id="rId20"/>
    <p:sldId id="481" r:id="rId21"/>
    <p:sldId id="482" r:id="rId22"/>
    <p:sldId id="511" r:id="rId23"/>
    <p:sldId id="499" r:id="rId24"/>
    <p:sldId id="483" r:id="rId25"/>
    <p:sldId id="512" r:id="rId26"/>
    <p:sldId id="484" r:id="rId27"/>
    <p:sldId id="513" r:id="rId28"/>
    <p:sldId id="485" r:id="rId29"/>
    <p:sldId id="486" r:id="rId30"/>
    <p:sldId id="514" r:id="rId31"/>
    <p:sldId id="487" r:id="rId32"/>
    <p:sldId id="488" r:id="rId33"/>
    <p:sldId id="489" r:id="rId34"/>
    <p:sldId id="515" r:id="rId35"/>
    <p:sldId id="490" r:id="rId36"/>
    <p:sldId id="491" r:id="rId37"/>
    <p:sldId id="516" r:id="rId38"/>
    <p:sldId id="492" r:id="rId39"/>
    <p:sldId id="493" r:id="rId40"/>
    <p:sldId id="517" r:id="rId41"/>
    <p:sldId id="494" r:id="rId42"/>
    <p:sldId id="518" r:id="rId43"/>
    <p:sldId id="495" r:id="rId44"/>
    <p:sldId id="519" r:id="rId45"/>
    <p:sldId id="496" r:id="rId46"/>
    <p:sldId id="520" r:id="rId47"/>
    <p:sldId id="497" r:id="rId48"/>
    <p:sldId id="521" r:id="rId49"/>
    <p:sldId id="498" r:id="rId5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3) - Lecture 7" id="{B1EB91FB-5099-46F7-AF64-18F5BE14541C}">
          <p14:sldIdLst>
            <p14:sldId id="468"/>
            <p14:sldId id="469"/>
            <p14:sldId id="501"/>
            <p14:sldId id="500"/>
            <p14:sldId id="502"/>
            <p14:sldId id="474"/>
            <p14:sldId id="475"/>
            <p14:sldId id="503"/>
            <p14:sldId id="504"/>
            <p14:sldId id="476"/>
            <p14:sldId id="505"/>
            <p14:sldId id="506"/>
            <p14:sldId id="477"/>
            <p14:sldId id="478"/>
            <p14:sldId id="507"/>
            <p14:sldId id="508"/>
            <p14:sldId id="479"/>
            <p14:sldId id="509"/>
            <p14:sldId id="510"/>
            <p14:sldId id="481"/>
            <p14:sldId id="482"/>
            <p14:sldId id="511"/>
            <p14:sldId id="499"/>
            <p14:sldId id="483"/>
            <p14:sldId id="512"/>
            <p14:sldId id="484"/>
            <p14:sldId id="513"/>
            <p14:sldId id="485"/>
            <p14:sldId id="486"/>
            <p14:sldId id="514"/>
            <p14:sldId id="487"/>
            <p14:sldId id="488"/>
            <p14:sldId id="489"/>
            <p14:sldId id="515"/>
            <p14:sldId id="490"/>
            <p14:sldId id="491"/>
            <p14:sldId id="516"/>
            <p14:sldId id="492"/>
            <p14:sldId id="493"/>
            <p14:sldId id="517"/>
            <p14:sldId id="494"/>
            <p14:sldId id="518"/>
            <p14:sldId id="495"/>
            <p14:sldId id="519"/>
            <p14:sldId id="496"/>
            <p14:sldId id="520"/>
            <p14:sldId id="497"/>
            <p14:sldId id="521"/>
            <p14:sldId id="4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7719AB-036E-1DD0-3C59-B67E6C132ABD}"/>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7A4257AC-CADB-3014-B021-8C1AFDC982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05D4C64A-F082-CD57-DBF0-CF26EEB966E8}"/>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FE7A7D02-AC6B-7938-D026-4A03A4FC9E6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D544158-F797-A9BF-D038-8F1F3B45AEB1}"/>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3830459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243DF1-F3C3-46A7-70A9-72645EF0834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6AA969A-1401-F94F-94EB-71E6547CEFD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5E3EC9E-3168-2F70-A7BD-7E057F7E17B2}"/>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11A70080-77D3-95E0-6CAF-DE824B827A3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31964B7-F17F-5114-C562-9735772A9F00}"/>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3737630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ED99AB-44F7-9C8F-2AEC-F0181BD21F5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BFF8776-B66F-4D8D-0501-783521C7EC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D9A7ED3-9AE5-5937-AD5F-28290F470872}"/>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857A32FF-5FC3-AE58-A34E-E6A7CC5E0A0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A234057-CC9F-FEA8-4FB5-782505FA6922}"/>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1578229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20842E-75B7-00CC-116D-F70B4DA0340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0D314F9-F27E-1B18-7FD4-87B5FFCF06E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4F0E24FF-1216-D28A-F5B9-E480A3A46756}"/>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2A6A7146-4B86-2F02-6477-0F33908C163E}"/>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61C245F6-3ED6-FDE1-FC51-DE06A7993DF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8FEB3E9-A124-1E5F-46EB-2E24F2E4C372}"/>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673499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4A0EFA-AEB9-316A-8EE8-EDD5CA2360EF}"/>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6EFDEF2-97BD-DA36-443B-E4E0C81D4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64B379C-0D01-14C3-9C75-9619CC1FA8A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2987427F-08F8-2DB0-2833-73A454D472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154B86D-00E8-3BF4-05E5-CF459F0E977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2B95319F-122F-7EDC-CBAC-E7229A1A9CB4}"/>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8" name="Нижний колонтитул 7">
            <a:extLst>
              <a:ext uri="{FF2B5EF4-FFF2-40B4-BE49-F238E27FC236}">
                <a16:creationId xmlns:a16="http://schemas.microsoft.com/office/drawing/2014/main" id="{F7D0AAC8-4D5C-3BE9-BB97-040A9EF6098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D2A3FB0-FE36-8697-A882-DCE90B73AA96}"/>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2361655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62FF90-D3D6-B15B-EF3A-8DAF8B0935FD}"/>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EC594B08-6753-5A6E-FF73-230F59E1A124}"/>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4" name="Нижний колонтитул 3">
            <a:extLst>
              <a:ext uri="{FF2B5EF4-FFF2-40B4-BE49-F238E27FC236}">
                <a16:creationId xmlns:a16="http://schemas.microsoft.com/office/drawing/2014/main" id="{CAFCD9FD-97D5-A23B-747A-3CDB61852AE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6F4C692-BF22-6673-C038-E28594A3A888}"/>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3903609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84B9293-1DDD-0CE1-FED0-FC56BD5F3232}"/>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3" name="Нижний колонтитул 2">
            <a:extLst>
              <a:ext uri="{FF2B5EF4-FFF2-40B4-BE49-F238E27FC236}">
                <a16:creationId xmlns:a16="http://schemas.microsoft.com/office/drawing/2014/main" id="{095EC987-27BA-108E-B292-29CBB09D97BA}"/>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F485E6B8-4C0D-D8FE-D132-D73FBBF2DC07}"/>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109980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E1BFF0-A07C-71B1-F3BC-E3FD26E150A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FCAC9DD3-2CE0-D703-4F5F-C4D82F1EC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F5B2DA2F-76AB-66A5-6BEF-717A1D951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8429A94-3BF4-F154-CE5B-F242E61DE8D7}"/>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A85D6A90-051F-48CC-69F9-67670627564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CE08993-5807-6ADA-5248-0DF3889A6EA9}"/>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933900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E0759-36B5-97A3-4B23-EAB5CD43A56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DC0939FA-9A98-E646-F117-3EC60FBB6F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A0B82073-EE53-1275-863D-091720E75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FF8AEEB-CDF0-5707-00E9-A8783D102C77}"/>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48FD6C84-C465-9887-2882-1A1396F0045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EBE9BAC-CC5F-756C-9000-EAE488741884}"/>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3014688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A1A-AE47-8F21-9DAC-6F225F42C23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7D99DA86-1DFF-4010-78B0-9D8854820C2C}"/>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56598E4-C1B4-8F70-CA7E-30B90D1C9B04}"/>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5F2429FF-5E68-C44D-1575-6303B99755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6C3F0A-D284-0AE5-A5BC-63FFDDAE8A6F}"/>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2120831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073846C-F99D-0A6C-5B96-A6A86BC6336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9FE95BC-6B69-345B-DA54-32018131E30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8AD327E-36B7-2688-01D0-8F688B1DB45B}"/>
              </a:ext>
            </a:extLst>
          </p:cNvPr>
          <p:cNvSpPr>
            <a:spLocks noGrp="1"/>
          </p:cNvSpPr>
          <p:nvPr>
            <p:ph type="dt" sz="half" idx="10"/>
          </p:nvPr>
        </p:nvSpPr>
        <p:spPr/>
        <p:txBody>
          <a:body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718ABCE7-B8F8-6578-8604-A50F931340C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32E8901-12BE-670E-BC1B-5A2F0AA696B2}"/>
              </a:ext>
            </a:extLst>
          </p:cNvPr>
          <p:cNvSpPr>
            <a:spLocks noGrp="1"/>
          </p:cNvSpPr>
          <p:nvPr>
            <p:ph type="sldNum" sz="quarter" idx="12"/>
          </p:nvPr>
        </p:nvSpPr>
        <p:spPr/>
        <p:txBody>
          <a:bodyPr/>
          <a:lstStyle/>
          <a:p>
            <a:fld id="{80F5152E-B8DA-4846-99B2-9A3B8B1CC66D}" type="slidenum">
              <a:rPr lang="ru-RU" smtClean="0"/>
              <a:t>‹#›</a:t>
            </a:fld>
            <a:endParaRPr lang="ru-RU"/>
          </a:p>
        </p:txBody>
      </p:sp>
    </p:spTree>
    <p:extLst>
      <p:ext uri="{BB962C8B-B14F-4D97-AF65-F5344CB8AC3E}">
        <p14:creationId xmlns:p14="http://schemas.microsoft.com/office/powerpoint/2010/main" val="2034660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6DCB19-E161-F06A-456B-4C5B689167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74EEEBC-31BB-7A5B-0627-AB1BA9BA2C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4DF8218-7D79-8DEC-5E50-1689CBCDA9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04CBEB-2C73-4A65-9DC8-FF3ACCC6E3B0}"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7BB3AC8A-0D59-D961-7E45-A77DAAFDE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A8B61F68-8EC1-1F3A-6489-28AB4C8789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F5152E-B8DA-4846-99B2-9A3B8B1CC66D}" type="slidenum">
              <a:rPr lang="ru-RU" smtClean="0"/>
              <a:t>‹#›</a:t>
            </a:fld>
            <a:endParaRPr lang="ru-RU"/>
          </a:p>
        </p:txBody>
      </p:sp>
    </p:spTree>
    <p:extLst>
      <p:ext uri="{BB962C8B-B14F-4D97-AF65-F5344CB8AC3E}">
        <p14:creationId xmlns:p14="http://schemas.microsoft.com/office/powerpoint/2010/main" val="117212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40F5C-B300-AFDA-175B-46710F3E688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5B339-A799-4437-13F7-EA4AE5BBB237}"/>
              </a:ext>
            </a:extLst>
          </p:cNvPr>
          <p:cNvSpPr>
            <a:spLocks noGrp="1"/>
          </p:cNvSpPr>
          <p:nvPr>
            <p:ph type="ctrTitle"/>
          </p:nvPr>
        </p:nvSpPr>
        <p:spPr>
          <a:xfrm>
            <a:off x="1116419" y="1122363"/>
            <a:ext cx="10217888" cy="2387600"/>
          </a:xfrm>
        </p:spPr>
        <p:txBody>
          <a:bodyPr>
            <a:normAutofit/>
          </a:bodyPr>
          <a:lstStyle/>
          <a:p>
            <a:r>
              <a:rPr lang="en-US" dirty="0">
                <a:latin typeface="Arial" panose="020B0604020202020204" pitchFamily="34" charset="0"/>
                <a:cs typeface="Arial" panose="020B0604020202020204" pitchFamily="34" charset="0"/>
              </a:rPr>
              <a:t>Lecture 7. Sinusoidal Quantities and Phasors</a:t>
            </a:r>
            <a:endParaRPr lang="ru-RU" dirty="0">
              <a:latin typeface="Arial" panose="020B0604020202020204" pitchFamily="34" charset="0"/>
              <a:cs typeface="Arial" panose="020B0604020202020204" pitchFamily="34" charset="0"/>
            </a:endParaRPr>
          </a:p>
        </p:txBody>
      </p:sp>
      <p:sp>
        <p:nvSpPr>
          <p:cNvPr id="3" name="Подзаголовок 2">
            <a:extLst>
              <a:ext uri="{FF2B5EF4-FFF2-40B4-BE49-F238E27FC236}">
                <a16:creationId xmlns:a16="http://schemas.microsoft.com/office/drawing/2014/main" id="{AC61BB57-E610-5E83-A574-3E265C5ADE11}"/>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Part (3). Analysis of Sinusoidal Steady-State AC Circuits</a:t>
            </a:r>
            <a:endParaRPr lang="ru-RU" dirty="0">
              <a:latin typeface="Arial" panose="020B0604020202020204" pitchFamily="34" charset="0"/>
              <a:cs typeface="Arial" panose="020B0604020202020204" pitchFamily="34" charset="0"/>
            </a:endParaRPr>
          </a:p>
        </p:txBody>
      </p:sp>
      <p:sp>
        <p:nvSpPr>
          <p:cNvPr id="4" name="Прямоугольный треугольник 3">
            <a:extLst>
              <a:ext uri="{FF2B5EF4-FFF2-40B4-BE49-F238E27FC236}">
                <a16:creationId xmlns:a16="http://schemas.microsoft.com/office/drawing/2014/main" id="{12EF1B21-7DFB-1013-E35A-6960FE7210F2}"/>
              </a:ext>
            </a:extLst>
          </p:cNvPr>
          <p:cNvSpPr/>
          <p:nvPr/>
        </p:nvSpPr>
        <p:spPr>
          <a:xfrm>
            <a:off x="0" y="3428999"/>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ый треугольник 4">
            <a:extLst>
              <a:ext uri="{FF2B5EF4-FFF2-40B4-BE49-F238E27FC236}">
                <a16:creationId xmlns:a16="http://schemas.microsoft.com/office/drawing/2014/main" id="{B4D6F6CD-2E2A-3E26-75D9-0F8E26A8EE3D}"/>
              </a:ext>
            </a:extLst>
          </p:cNvPr>
          <p:cNvSpPr/>
          <p:nvPr/>
        </p:nvSpPr>
        <p:spPr>
          <a:xfrm rot="10800000">
            <a:off x="9007724" y="9522"/>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69911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BA86-EEA5-BF7D-E019-4B7A3E8FCE8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E74C82-9A93-B140-1259-E2A7E343043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25B275C8-F545-B754-BA3A-F0BFBAD33634}"/>
              </a:ext>
            </a:extLst>
          </p:cNvPr>
          <p:cNvSpPr>
            <a:spLocks noGrp="1"/>
          </p:cNvSpPr>
          <p:nvPr>
            <p:ph idx="1"/>
          </p:nvPr>
        </p:nvSpPr>
        <p:spPr/>
        <p:txBody>
          <a:bodyPr>
            <a:noAutofit/>
          </a:bodyPr>
          <a:lstStyle/>
          <a:p>
            <a:r>
              <a:rPr lang="en-US" dirty="0">
                <a:cs typeface="Arial" panose="020B0604020202020204" pitchFamily="34" charset="0"/>
              </a:rPr>
              <a:t>Welcome to Part 3 of our course, «The Principle of Circuit». </a:t>
            </a:r>
          </a:p>
          <a:p>
            <a:r>
              <a:rPr lang="en-US" dirty="0">
                <a:cs typeface="Arial" panose="020B0604020202020204" pitchFamily="34" charset="0"/>
              </a:rPr>
              <a:t>In the previous lectures, we focused on Direct Current (DC) circuits, where voltages and currents were constant over time. </a:t>
            </a:r>
          </a:p>
          <a:p>
            <a:r>
              <a:rPr lang="en-US" dirty="0">
                <a:cs typeface="Arial" panose="020B0604020202020204" pitchFamily="34" charset="0"/>
              </a:rPr>
              <a:t>We mastered the fundamental laws such as Kirchhoff's Laws and various analysis methods like Node Voltage and Mesh Current analysis.</a:t>
            </a:r>
          </a:p>
          <a:p>
            <a:r>
              <a:rPr lang="en-US" dirty="0">
                <a:cs typeface="Arial" panose="020B0604020202020204" pitchFamily="34" charset="0"/>
              </a:rPr>
              <a:t>Today, we mark a significant transition in our studies. We are moving from the static world of DC to the dynamic world of Alternating Current (AC). </a:t>
            </a:r>
            <a:endParaRPr lang="ru-RU" dirty="0">
              <a:cs typeface="Arial" panose="020B0604020202020204" pitchFamily="34" charset="0"/>
            </a:endParaRPr>
          </a:p>
        </p:txBody>
      </p:sp>
      <p:grpSp>
        <p:nvGrpSpPr>
          <p:cNvPr id="4" name="Группа 3">
            <a:extLst>
              <a:ext uri="{FF2B5EF4-FFF2-40B4-BE49-F238E27FC236}">
                <a16:creationId xmlns:a16="http://schemas.microsoft.com/office/drawing/2014/main" id="{AFC08C3E-D7C4-1CE5-17D7-D19FF06A709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D62CF53-2F89-CF6F-B229-3405CAE4E5D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A472072-749B-6EAE-9FEC-637194D8679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Tree>
    <p:extLst>
      <p:ext uri="{BB962C8B-B14F-4D97-AF65-F5344CB8AC3E}">
        <p14:creationId xmlns:p14="http://schemas.microsoft.com/office/powerpoint/2010/main" val="3128756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269C-080D-28A7-5392-5950FC8CB25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C9DF34-F752-FFAA-7613-E128615B4A2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B9E0258A-C9D2-5D84-ACCB-ABD9A3241EB7}"/>
              </a:ext>
            </a:extLst>
          </p:cNvPr>
          <p:cNvSpPr>
            <a:spLocks noGrp="1"/>
          </p:cNvSpPr>
          <p:nvPr>
            <p:ph idx="1"/>
          </p:nvPr>
        </p:nvSpPr>
        <p:spPr/>
        <p:txBody>
          <a:bodyPr>
            <a:noAutofit/>
          </a:bodyPr>
          <a:lstStyle/>
          <a:p>
            <a:r>
              <a:rPr lang="en-US" dirty="0">
                <a:cs typeface="Arial" panose="020B0604020202020204" pitchFamily="34" charset="0"/>
              </a:rPr>
              <a:t>This lecture serves as the foundation for analyzing AC circuits, which power our homes, industries, and communication systems.</a:t>
            </a:r>
          </a:p>
          <a:p>
            <a:r>
              <a:rPr lang="en-US" dirty="0">
                <a:cs typeface="Arial" panose="020B0604020202020204" pitchFamily="34" charset="0"/>
              </a:rPr>
              <a:t>We will define the mathematical properties of sinusoidal waves and introduce a powerful mathematical tool called the «Phasor» to simplify our calculations.</a:t>
            </a:r>
          </a:p>
          <a:p>
            <a:r>
              <a:rPr lang="en-US" dirty="0">
                <a:cs typeface="Arial" panose="020B0604020202020204" pitchFamily="34" charset="0"/>
              </a:rPr>
              <a:t>First, let us define what we mean by Alternating Current. </a:t>
            </a:r>
            <a:endParaRPr lang="ru-RU" dirty="0">
              <a:cs typeface="Arial" panose="020B0604020202020204" pitchFamily="34" charset="0"/>
            </a:endParaRPr>
          </a:p>
        </p:txBody>
      </p:sp>
      <p:grpSp>
        <p:nvGrpSpPr>
          <p:cNvPr id="4" name="Группа 3">
            <a:extLst>
              <a:ext uri="{FF2B5EF4-FFF2-40B4-BE49-F238E27FC236}">
                <a16:creationId xmlns:a16="http://schemas.microsoft.com/office/drawing/2014/main" id="{B0570930-9B90-242D-7AE9-038FBCCDDF0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5F395A4-6072-471A-2BB0-65DAC64E57E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328E62EA-F2F6-5A15-995A-F7549B555DE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Tree>
    <p:extLst>
      <p:ext uri="{BB962C8B-B14F-4D97-AF65-F5344CB8AC3E}">
        <p14:creationId xmlns:p14="http://schemas.microsoft.com/office/powerpoint/2010/main" val="2098999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AD81E-7AB7-9635-1A39-AA0B5357040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DC71A4-AB87-DF5A-8064-D2E75CD06C4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A117BACB-0686-C0F2-8CF1-DF96E4E50513}"/>
              </a:ext>
            </a:extLst>
          </p:cNvPr>
          <p:cNvSpPr>
            <a:spLocks noGrp="1"/>
          </p:cNvSpPr>
          <p:nvPr>
            <p:ph idx="1"/>
          </p:nvPr>
        </p:nvSpPr>
        <p:spPr/>
        <p:txBody>
          <a:bodyPr>
            <a:noAutofit/>
          </a:bodyPr>
          <a:lstStyle/>
          <a:p>
            <a:r>
              <a:rPr lang="en-US" b="1" dirty="0">
                <a:cs typeface="Arial" panose="020B0604020202020204" pitchFamily="34" charset="0"/>
              </a:rPr>
              <a:t>Unlike DC (Direct Current), where electrons flow in one direction, in an AC (Alternating Current) circuit, the direction of current and the polarity of voltage change periodically with time.</a:t>
            </a:r>
          </a:p>
          <a:p>
            <a:r>
              <a:rPr lang="en-US" dirty="0">
                <a:cs typeface="Arial" panose="020B0604020202020204" pitchFamily="34" charset="0"/>
              </a:rPr>
              <a:t>While many waveforms can change with time (such as square waves or triangular waves), we focus almost exclusively on the </a:t>
            </a:r>
            <a:r>
              <a:rPr lang="en-US" b="1" dirty="0">
                <a:cs typeface="Arial" panose="020B0604020202020204" pitchFamily="34" charset="0"/>
              </a:rPr>
              <a:t>Sinusoidal Wave (Sine or Cosine wave). </a:t>
            </a:r>
          </a:p>
        </p:txBody>
      </p:sp>
      <p:grpSp>
        <p:nvGrpSpPr>
          <p:cNvPr id="4" name="Группа 3">
            <a:extLst>
              <a:ext uri="{FF2B5EF4-FFF2-40B4-BE49-F238E27FC236}">
                <a16:creationId xmlns:a16="http://schemas.microsoft.com/office/drawing/2014/main" id="{29172C10-3732-F281-637B-487CBEB6A02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1AB7DF5-AC67-7CC9-412E-BDCB68B8568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72D2B88-BED7-F2BA-709B-3055B0DD51B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Tree>
    <p:extLst>
      <p:ext uri="{BB962C8B-B14F-4D97-AF65-F5344CB8AC3E}">
        <p14:creationId xmlns:p14="http://schemas.microsoft.com/office/powerpoint/2010/main" val="323289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A866-4661-EB73-0667-99CA765C6E8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A16276-3811-78FE-F811-9906F2ED08B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15CF1B7D-B4B7-4154-955A-CEE622DA8457}"/>
              </a:ext>
            </a:extLst>
          </p:cNvPr>
          <p:cNvSpPr>
            <a:spLocks noGrp="1"/>
          </p:cNvSpPr>
          <p:nvPr>
            <p:ph idx="1"/>
          </p:nvPr>
        </p:nvSpPr>
        <p:spPr/>
        <p:txBody>
          <a:bodyPr>
            <a:noAutofit/>
          </a:bodyPr>
          <a:lstStyle/>
          <a:p>
            <a:r>
              <a:rPr lang="en-US" dirty="0">
                <a:cs typeface="Arial" panose="020B0604020202020204" pitchFamily="34" charset="0"/>
              </a:rPr>
              <a:t>There are two main reasons for this:</a:t>
            </a:r>
          </a:p>
          <a:p>
            <a:pPr marL="342900" lvl="0" indent="-342900" algn="just">
              <a:lnSpc>
                <a:spcPct val="120000"/>
              </a:lnSpc>
              <a:buFont typeface="Symbol" panose="05050102010706020507" pitchFamily="18" charset="2"/>
              <a:buChar char=""/>
            </a:pPr>
            <a:r>
              <a:rPr lang="en-US" b="1" dirty="0">
                <a:effectLst/>
                <a:ea typeface="Aptos" panose="020B0004020202020204" pitchFamily="34" charset="0"/>
                <a:cs typeface="Arial" panose="020B0604020202020204" pitchFamily="34" charset="0"/>
              </a:rPr>
              <a:t>generation – AC generators in power plants naturally produce sinusoidal voltages due to the rotation of magnetic fields;</a:t>
            </a:r>
          </a:p>
          <a:p>
            <a:pPr marL="342900" lvl="0" indent="-342900" algn="just">
              <a:lnSpc>
                <a:spcPct val="120000"/>
              </a:lnSpc>
              <a:buFont typeface="Symbol" panose="05050102010706020507" pitchFamily="18" charset="2"/>
              <a:buChar char=""/>
            </a:pPr>
            <a:r>
              <a:rPr lang="en-US" b="1" dirty="0">
                <a:effectLst/>
                <a:ea typeface="Aptos" panose="020B0004020202020204" pitchFamily="34" charset="0"/>
                <a:cs typeface="Arial" panose="020B0604020202020204" pitchFamily="34" charset="0"/>
              </a:rPr>
              <a:t>stability – the sinusoidal function is the only mathematical waveform that does not change its shape when added, subtracted, differentiated, or integrated. </a:t>
            </a:r>
          </a:p>
          <a:p>
            <a:pPr algn="just">
              <a:lnSpc>
                <a:spcPct val="120000"/>
              </a:lnSpc>
            </a:pPr>
            <a:r>
              <a:rPr lang="en-US" dirty="0">
                <a:cs typeface="Arial" panose="020B0604020202020204" pitchFamily="34" charset="0"/>
              </a:rPr>
              <a:t>If you send a sine wave voltage into a capacitor or inductor, the resulting current is also a sine wave. This property is unique and makes analysis much simpler.</a:t>
            </a:r>
            <a:endParaRPr lang="ru-RU" dirty="0">
              <a:cs typeface="Arial" panose="020B0604020202020204" pitchFamily="34" charset="0"/>
            </a:endParaRPr>
          </a:p>
        </p:txBody>
      </p:sp>
      <p:grpSp>
        <p:nvGrpSpPr>
          <p:cNvPr id="4" name="Группа 3">
            <a:extLst>
              <a:ext uri="{FF2B5EF4-FFF2-40B4-BE49-F238E27FC236}">
                <a16:creationId xmlns:a16="http://schemas.microsoft.com/office/drawing/2014/main" id="{743D9B8F-4D0D-3A3C-81F1-145635E6293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4BA6764-7DEE-8446-DF5C-6436CD57012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2473D58-0CAB-EFD4-4F44-E60295D0653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Tree>
    <p:extLst>
      <p:ext uri="{BB962C8B-B14F-4D97-AF65-F5344CB8AC3E}">
        <p14:creationId xmlns:p14="http://schemas.microsoft.com/office/powerpoint/2010/main" val="3703241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03729-3208-1673-CEC7-74229FA9954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7F20D4-89E1-F45F-BE4D-9965A6313D8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D3CB6124-8343-9EEC-C8DD-2F6EADC982A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80A9225-1870-A238-8DA2-3B92E574670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0873A5F-AE7C-D3E6-7F44-AEBFB3F32B4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492EAAA9-2964-9A21-7A9B-13AB674BE623}"/>
              </a:ext>
            </a:extLst>
          </p:cNvPr>
          <p:cNvSpPr>
            <a:spLocks noGrp="1"/>
          </p:cNvSpPr>
          <p:nvPr>
            <p:ph idx="1"/>
          </p:nvPr>
        </p:nvSpPr>
        <p:spPr>
          <a:xfrm>
            <a:off x="838200" y="1825625"/>
            <a:ext cx="4566895" cy="4351338"/>
          </a:xfrm>
        </p:spPr>
        <p:txBody>
          <a:bodyPr/>
          <a:lstStyle/>
          <a:p>
            <a:r>
              <a:rPr lang="en-US" dirty="0"/>
              <a:t>Here’s an illustration of the water analogy for alter. </a:t>
            </a:r>
          </a:p>
          <a:p>
            <a:r>
              <a:rPr lang="en-US" dirty="0"/>
              <a:t>As you can see piston which moved by power source is moving water in one direction while moving forwards and into another direction while moving backwards.</a:t>
            </a:r>
            <a:endParaRPr lang="ru-RU" dirty="0"/>
          </a:p>
        </p:txBody>
      </p:sp>
      <p:pic>
        <p:nvPicPr>
          <p:cNvPr id="9" name="Объект 6">
            <a:extLst>
              <a:ext uri="{FF2B5EF4-FFF2-40B4-BE49-F238E27FC236}">
                <a16:creationId xmlns:a16="http://schemas.microsoft.com/office/drawing/2014/main" id="{E3C93AFD-13BB-30EC-08E8-D12AC2A90F5C}"/>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5405095" y="1781493"/>
            <a:ext cx="6786905" cy="4845851"/>
          </a:xfrm>
          <a:prstGeom prst="rect">
            <a:avLst/>
          </a:prstGeom>
          <a:noFill/>
          <a:ln>
            <a:noFill/>
          </a:ln>
        </p:spPr>
      </p:pic>
    </p:spTree>
    <p:extLst>
      <p:ext uri="{BB962C8B-B14F-4D97-AF65-F5344CB8AC3E}">
        <p14:creationId xmlns:p14="http://schemas.microsoft.com/office/powerpoint/2010/main" val="52610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E7067-0D5A-2B02-7B8F-903492C0D9A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AB84C1-3CD6-43F6-848E-86C9E91BE12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BAB03C8-9485-B313-BF59-25FA4EFD12B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5AD2385-0D60-8466-3775-D1812898A45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C90EEF9-10E2-C9BE-2C7A-34D31DC04A2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1910B506-E434-FA2C-1110-8DD91808FE50}"/>
              </a:ext>
            </a:extLst>
          </p:cNvPr>
          <p:cNvSpPr>
            <a:spLocks noGrp="1"/>
          </p:cNvSpPr>
          <p:nvPr>
            <p:ph idx="1"/>
          </p:nvPr>
        </p:nvSpPr>
        <p:spPr/>
        <p:txBody>
          <a:bodyPr/>
          <a:lstStyle/>
          <a:p>
            <a:r>
              <a:rPr lang="en-US" dirty="0"/>
              <a:t>If we make a circuit for this analogy there, we’ll have one AC source and one resistor. </a:t>
            </a:r>
            <a:endParaRPr lang="ru-RU" dirty="0"/>
          </a:p>
        </p:txBody>
      </p:sp>
      <p:pic>
        <p:nvPicPr>
          <p:cNvPr id="9" name="Объект 6">
            <a:extLst>
              <a:ext uri="{FF2B5EF4-FFF2-40B4-BE49-F238E27FC236}">
                <a16:creationId xmlns:a16="http://schemas.microsoft.com/office/drawing/2014/main" id="{0EA0725E-E7A2-C7F9-22EF-0C3AC4FAE0C5}"/>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292572" y="2691058"/>
            <a:ext cx="9606856" cy="3801817"/>
          </a:xfrm>
          <a:prstGeom prst="rect">
            <a:avLst/>
          </a:prstGeom>
          <a:noFill/>
          <a:ln>
            <a:noFill/>
          </a:ln>
        </p:spPr>
      </p:pic>
    </p:spTree>
    <p:extLst>
      <p:ext uri="{BB962C8B-B14F-4D97-AF65-F5344CB8AC3E}">
        <p14:creationId xmlns:p14="http://schemas.microsoft.com/office/powerpoint/2010/main" val="3375786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39088-1B14-DC63-3D66-0BB2A0FB992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A34BEE-DD8F-16A3-3B97-F0993AECC43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ADE3F6D-1E68-B99A-E158-358E6EBE853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E25B4D4-4A95-97C6-DC99-880BBEC173D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AEAD754-680A-DD06-07CF-3B611E01E44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ED47812A-08CC-4BB8-F597-BC6818164999}"/>
              </a:ext>
            </a:extLst>
          </p:cNvPr>
          <p:cNvSpPr>
            <a:spLocks noGrp="1"/>
          </p:cNvSpPr>
          <p:nvPr>
            <p:ph idx="1"/>
          </p:nvPr>
        </p:nvSpPr>
        <p:spPr/>
        <p:txBody>
          <a:bodyPr/>
          <a:lstStyle/>
          <a:p>
            <a:r>
              <a:rPr lang="en-US" dirty="0"/>
              <a:t>In this circuit, the current flow graph will have the same shape as AC (sinusoidal) and it will move back and forth cyclically. </a:t>
            </a:r>
            <a:endParaRPr lang="ru-RU" dirty="0"/>
          </a:p>
        </p:txBody>
      </p:sp>
      <p:pic>
        <p:nvPicPr>
          <p:cNvPr id="9" name="Объект 6">
            <a:extLst>
              <a:ext uri="{FF2B5EF4-FFF2-40B4-BE49-F238E27FC236}">
                <a16:creationId xmlns:a16="http://schemas.microsoft.com/office/drawing/2014/main" id="{D259304C-3D59-8356-C75A-D8CC5AE70A4F}"/>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292572" y="2691058"/>
            <a:ext cx="9606856" cy="3801817"/>
          </a:xfrm>
          <a:prstGeom prst="rect">
            <a:avLst/>
          </a:prstGeom>
          <a:noFill/>
          <a:ln>
            <a:noFill/>
          </a:ln>
        </p:spPr>
      </p:pic>
    </p:spTree>
    <p:extLst>
      <p:ext uri="{BB962C8B-B14F-4D97-AF65-F5344CB8AC3E}">
        <p14:creationId xmlns:p14="http://schemas.microsoft.com/office/powerpoint/2010/main" val="273195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78179-8892-7273-E1F1-2ABC87CCC0B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3F6437-696A-B9FF-93C6-5FE62A185C9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1E29718C-D99E-EFD3-4C20-27CBAFDE332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5A5CBFC-BB84-41F7-3757-19931FA44D7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6D06AEA-0A38-6B3A-B4B4-444560ECB00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5A059B13-1591-15C3-6DD9-7AE2A169A651}"/>
              </a:ext>
            </a:extLst>
          </p:cNvPr>
          <p:cNvSpPr>
            <a:spLocks noGrp="1"/>
          </p:cNvSpPr>
          <p:nvPr>
            <p:ph idx="1"/>
          </p:nvPr>
        </p:nvSpPr>
        <p:spPr/>
        <p:txBody>
          <a:bodyPr/>
          <a:lstStyle/>
          <a:p>
            <a:r>
              <a:rPr lang="en-US" dirty="0"/>
              <a:t>The graph next to the circuit shows the current flow diagram through the resistor.</a:t>
            </a:r>
            <a:endParaRPr lang="ru-RU" dirty="0"/>
          </a:p>
        </p:txBody>
      </p:sp>
      <p:pic>
        <p:nvPicPr>
          <p:cNvPr id="9" name="Объект 6">
            <a:extLst>
              <a:ext uri="{FF2B5EF4-FFF2-40B4-BE49-F238E27FC236}">
                <a16:creationId xmlns:a16="http://schemas.microsoft.com/office/drawing/2014/main" id="{BEA58D25-1273-4909-CED4-45BF6A40EC12}"/>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292572" y="2691058"/>
            <a:ext cx="9606856" cy="3801817"/>
          </a:xfrm>
          <a:prstGeom prst="rect">
            <a:avLst/>
          </a:prstGeom>
          <a:noFill/>
          <a:ln>
            <a:noFill/>
          </a:ln>
        </p:spPr>
      </p:pic>
    </p:spTree>
    <p:extLst>
      <p:ext uri="{BB962C8B-B14F-4D97-AF65-F5344CB8AC3E}">
        <p14:creationId xmlns:p14="http://schemas.microsoft.com/office/powerpoint/2010/main" val="214693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14FB-613F-E6EE-2471-09374F85EEC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238B30-B048-C8C3-5A15-339BC14BF24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5D49B337-60F6-3032-CE48-2F8496218FA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79426FB-7D19-976F-C3DC-F22954F6B6C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ACBFBD5-EEFC-2106-3DC0-4F8330E70BE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9F01831B-A666-81FF-2ACE-B70345E0676B}"/>
                  </a:ext>
                </a:extLst>
              </p:cNvPr>
              <p:cNvSpPr>
                <a:spLocks noGrp="1"/>
              </p:cNvSpPr>
              <p:nvPr>
                <p:ph idx="1"/>
              </p:nvPr>
            </p:nvSpPr>
            <p:spPr>
              <a:xfrm>
                <a:off x="838200" y="1825624"/>
                <a:ext cx="10515600" cy="4879975"/>
              </a:xfrm>
            </p:spPr>
            <p:txBody>
              <a:bodyPr>
                <a:normAutofit/>
              </a:bodyPr>
              <a:lstStyle/>
              <a:p>
                <a:r>
                  <a:rPr lang="en-US" dirty="0"/>
                  <a:t>To analyze AC circuits mathematically, we must move from constant numbers to functions of time. </a:t>
                </a:r>
              </a:p>
              <a:p>
                <a:r>
                  <a:rPr lang="en-US" b="1" dirty="0"/>
                  <a:t>A sinusoidal current is expressed by the standard form:</a:t>
                </a: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i="1" smtClean="0">
                          <a:effectLst/>
                          <a:latin typeface="Cambria Math" panose="02040503050406030204" pitchFamily="18" charset="0"/>
                          <a:ea typeface="Aptos" panose="020B0004020202020204" pitchFamily="34" charset="0"/>
                        </a:rPr>
                        <m:t>𝒊</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r>
                        <a:rPr lang="en-US" b="1" i="1" smtClean="0">
                          <a:effectLst/>
                          <a:latin typeface="Cambria Math" panose="02040503050406030204" pitchFamily="18" charset="0"/>
                          <a:ea typeface="Aptos" panose="020B0004020202020204" pitchFamily="34" charset="0"/>
                        </a:rPr>
                        <m:t>𝒄𝒐𝒔</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𝝓</m:t>
                      </m:r>
                      <m:r>
                        <a:rPr lang="en-US" b="1" smtClean="0">
                          <a:effectLst/>
                          <a:latin typeface="Cambria Math" panose="02040503050406030204" pitchFamily="18" charset="0"/>
                          <a:ea typeface="Aptos" panose="020B0004020202020204" pitchFamily="34" charset="0"/>
                        </a:rPr>
                        <m:t>)</m:t>
                      </m:r>
                    </m:oMath>
                  </m:oMathPara>
                </a14:m>
                <a:endParaRPr lang="en-US" b="1" dirty="0">
                  <a:effectLst/>
                  <a:ea typeface="Aptos" panose="020B0004020202020204" pitchFamily="34" charset="0"/>
                </a:endParaRPr>
              </a:p>
              <a:p>
                <a:pPr algn="just">
                  <a:lnSpc>
                    <a:spcPct val="120000"/>
                  </a:lnSpc>
                </a:pPr>
                <a:r>
                  <a:rPr lang="en-US" dirty="0">
                    <a:effectLst/>
                    <a:latin typeface="+mj-lt"/>
                    <a:ea typeface="Aptos" panose="020B0004020202020204" pitchFamily="34" charset="0"/>
                  </a:rPr>
                  <a:t>Let us break down this equation, as you must memorize the meaning of each variable:</a:t>
                </a:r>
              </a:p>
              <a:p>
                <a:pPr marL="342900" lvl="0" indent="-342900" algn="just">
                  <a:lnSpc>
                    <a:spcPct val="120000"/>
                  </a:lnSpc>
                  <a:buFont typeface="Symbol" panose="05050102010706020507" pitchFamily="18" charset="2"/>
                  <a:buChar char=""/>
                </a:pPr>
                <a14:m>
                  <m:oMath xmlns:m="http://schemas.openxmlformats.org/officeDocument/2006/math">
                    <m:r>
                      <a:rPr lang="en-US" b="1" i="1" smtClean="0">
                        <a:effectLst/>
                        <a:latin typeface="Cambria Math" panose="02040503050406030204" pitchFamily="18" charset="0"/>
                        <a:ea typeface="Aptos" panose="020B0004020202020204" pitchFamily="34" charset="0"/>
                      </a:rPr>
                      <m:t>𝒊</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oMath>
                </a14:m>
                <a:r>
                  <a:rPr lang="en-US" b="1" dirty="0">
                    <a:effectLst/>
                    <a:ea typeface="Aptos" panose="020B0004020202020204" pitchFamily="34" charset="0"/>
                  </a:rPr>
                  <a:t> is the instantaneous value</a:t>
                </a:r>
                <a:r>
                  <a:rPr lang="en-US" dirty="0">
                    <a:ea typeface="Aptos" panose="020B0004020202020204" pitchFamily="34" charset="0"/>
                  </a:rPr>
                  <a:t> – this is the actual current at a specific moment in time t;</a:t>
                </a:r>
                <a:endParaRPr lang="ru-RU" b="1" dirty="0">
                  <a:effectLst/>
                  <a:ea typeface="Aptos" panose="020B0004020202020204" pitchFamily="34" charset="0"/>
                </a:endParaRPr>
              </a:p>
              <a:p>
                <a:endParaRPr lang="ru-RU" b="1" dirty="0"/>
              </a:p>
            </p:txBody>
          </p:sp>
        </mc:Choice>
        <mc:Fallback xmlns="">
          <p:sp>
            <p:nvSpPr>
              <p:cNvPr id="8" name="Объект 7">
                <a:extLst>
                  <a:ext uri="{FF2B5EF4-FFF2-40B4-BE49-F238E27FC236}">
                    <a16:creationId xmlns:a16="http://schemas.microsoft.com/office/drawing/2014/main" id="{9F01831B-A666-81FF-2ACE-B70345E0676B}"/>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043" t="-2122" r="-1159"/>
                </a:stretch>
              </a:blipFill>
            </p:spPr>
            <p:txBody>
              <a:bodyPr/>
              <a:lstStyle/>
              <a:p>
                <a:r>
                  <a:rPr lang="ru-RU">
                    <a:noFill/>
                  </a:rPr>
                  <a:t> </a:t>
                </a:r>
              </a:p>
            </p:txBody>
          </p:sp>
        </mc:Fallback>
      </mc:AlternateContent>
    </p:spTree>
    <p:extLst>
      <p:ext uri="{BB962C8B-B14F-4D97-AF65-F5344CB8AC3E}">
        <p14:creationId xmlns:p14="http://schemas.microsoft.com/office/powerpoint/2010/main" val="2214106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0144-A610-BBED-3827-3A1AC2096E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749483-84FD-5D1D-5426-36BE5DED22F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04A4CE2E-FD23-87FC-3F0B-903BD9547BF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9D7C565-0CEF-F266-92FD-092C92DFD0E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52BDFCD-20B3-0F50-1858-BF0574831A6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1CF9BE5E-F6F3-9982-B511-69752FF2586E}"/>
                  </a:ext>
                </a:extLst>
              </p:cNvPr>
              <p:cNvSpPr>
                <a:spLocks noGrp="1"/>
              </p:cNvSpPr>
              <p:nvPr>
                <p:ph idx="1"/>
              </p:nvPr>
            </p:nvSpPr>
            <p:spPr>
              <a:xfrm>
                <a:off x="838200" y="1825624"/>
                <a:ext cx="10515600" cy="4879975"/>
              </a:xfrm>
            </p:spPr>
            <p:txBody>
              <a:bodyPr>
                <a:normAutofit/>
              </a:bodyPr>
              <a:lstStyle/>
              <a:p>
                <a:pPr marL="342900" lvl="0" indent="-342900" algn="just">
                  <a:lnSpc>
                    <a:spcPct val="120000"/>
                  </a:lnSpc>
                  <a:buFont typeface="Symbol" panose="05050102010706020507" pitchFamily="18" charset="2"/>
                  <a:buChar char=""/>
                </a:pP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oMath>
                </a14:m>
                <a:r>
                  <a:rPr lang="en-US" b="1" dirty="0">
                    <a:effectLst/>
                    <a:ea typeface="Aptos" panose="020B0004020202020204" pitchFamily="34" charset="0"/>
                  </a:rPr>
                  <a:t> is the Amplitude (or Peak Value) </a:t>
                </a:r>
                <a:r>
                  <a:rPr lang="en-US" dirty="0"/>
                  <a:t>– this is the maximum value the current reaches. The current oscillates between </a:t>
                </a:r>
                <a:br>
                  <a:rPr lang="en-US" dirty="0"/>
                </a:br>
                <a14:m>
                  <m:oMath xmlns:m="http://schemas.openxmlformats.org/officeDocument/2006/math">
                    <m:r>
                      <a:rPr lang="en-US">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𝑚</m:t>
                        </m:r>
                      </m:sub>
                    </m:sSub>
                  </m:oMath>
                </a14:m>
                <a:r>
                  <a:rPr lang="en-US" dirty="0"/>
                  <a:t> and </a:t>
                </a:r>
                <a14:m>
                  <m:oMath xmlns:m="http://schemas.openxmlformats.org/officeDocument/2006/math">
                    <m:r>
                      <a:rPr lang="en-US" i="1">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𝑚</m:t>
                        </m:r>
                      </m:sub>
                    </m:sSub>
                  </m:oMath>
                </a14:m>
                <a:r>
                  <a:rPr lang="en-US" dirty="0"/>
                  <a:t>;</a:t>
                </a:r>
                <a:endParaRPr lang="ru-RU" b="1" dirty="0">
                  <a:effectLst/>
                  <a:ea typeface="Aptos" panose="020B0004020202020204" pitchFamily="34" charset="0"/>
                </a:endParaRPr>
              </a:p>
              <a:p>
                <a:pPr marL="342900" lvl="0" indent="-342900" algn="just">
                  <a:lnSpc>
                    <a:spcPct val="120000"/>
                  </a:lnSpc>
                  <a:buFont typeface="Symbol" panose="05050102010706020507" pitchFamily="18" charset="2"/>
                  <a:buChar char=""/>
                </a:pPr>
                <a14:m>
                  <m:oMath xmlns:m="http://schemas.openxmlformats.org/officeDocument/2006/math">
                    <m:r>
                      <a:rPr lang="en-US" b="1" i="1" smtClean="0">
                        <a:effectLst/>
                        <a:latin typeface="Cambria Math" panose="02040503050406030204" pitchFamily="18" charset="0"/>
                        <a:ea typeface="Aptos" panose="020B0004020202020204" pitchFamily="34" charset="0"/>
                      </a:rPr>
                      <m:t>𝝎</m:t>
                    </m:r>
                  </m:oMath>
                </a14:m>
                <a:r>
                  <a:rPr lang="en-US" b="1" dirty="0">
                    <a:effectLst/>
                    <a:ea typeface="Aptos" panose="020B0004020202020204" pitchFamily="34" charset="0"/>
                  </a:rPr>
                  <a:t> (omega) is the Angular Frequency </a:t>
                </a:r>
                <a:r>
                  <a:rPr lang="en-US" dirty="0">
                    <a:effectLst/>
                    <a:ea typeface="Aptos" panose="020B0004020202020204" pitchFamily="34" charset="0"/>
                  </a:rPr>
                  <a:t>–</a:t>
                </a:r>
                <a:r>
                  <a:rPr lang="en-US" b="1" dirty="0">
                    <a:effectLst/>
                    <a:ea typeface="Aptos" panose="020B0004020202020204" pitchFamily="34" charset="0"/>
                  </a:rPr>
                  <a:t> </a:t>
                </a:r>
                <a:r>
                  <a:rPr lang="en-US" dirty="0">
                    <a:effectLst/>
                    <a:ea typeface="Aptos" panose="020B0004020202020204" pitchFamily="34" charset="0"/>
                  </a:rPr>
                  <a:t>It determines how fast the wave oscillates;</a:t>
                </a:r>
                <a:endParaRPr lang="ru-RU" b="1" dirty="0">
                  <a:effectLst/>
                  <a:ea typeface="Aptos" panose="020B0004020202020204" pitchFamily="34" charset="0"/>
                </a:endParaRPr>
              </a:p>
              <a:p>
                <a:endParaRPr lang="ru-RU" b="1" dirty="0"/>
              </a:p>
            </p:txBody>
          </p:sp>
        </mc:Choice>
        <mc:Fallback xmlns="">
          <p:sp>
            <p:nvSpPr>
              <p:cNvPr id="8" name="Объект 7">
                <a:extLst>
                  <a:ext uri="{FF2B5EF4-FFF2-40B4-BE49-F238E27FC236}">
                    <a16:creationId xmlns:a16="http://schemas.microsoft.com/office/drawing/2014/main" id="{1CF9BE5E-F6F3-9982-B511-69752FF2586E}"/>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t="-125" r="-1159"/>
                </a:stretch>
              </a:blipFill>
            </p:spPr>
            <p:txBody>
              <a:bodyPr/>
              <a:lstStyle/>
              <a:p>
                <a:r>
                  <a:rPr lang="ru-RU">
                    <a:noFill/>
                  </a:rPr>
                  <a:t> </a:t>
                </a:r>
              </a:p>
            </p:txBody>
          </p:sp>
        </mc:Fallback>
      </mc:AlternateContent>
    </p:spTree>
    <p:extLst>
      <p:ext uri="{BB962C8B-B14F-4D97-AF65-F5344CB8AC3E}">
        <p14:creationId xmlns:p14="http://schemas.microsoft.com/office/powerpoint/2010/main" val="1759868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679E-270E-FB92-0A9A-74FD9AF3916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88E1AC-7D08-0DDD-AE59-419B071D20E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D50F92E-4B87-F903-3E55-0401810B4A4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656ED4E-5A5A-C11D-BA2D-DBB65091C09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8EEE43A-A054-6B1C-A8F1-BFB71E44561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0F1EBA9F-B989-F76F-E5D9-3C4B052102BE}"/>
                  </a:ext>
                </a:extLst>
              </p:cNvPr>
              <p:cNvSpPr>
                <a:spLocks noGrp="1"/>
              </p:cNvSpPr>
              <p:nvPr>
                <p:ph idx="1"/>
              </p:nvPr>
            </p:nvSpPr>
            <p:spPr>
              <a:xfrm>
                <a:off x="838200" y="1825624"/>
                <a:ext cx="10515600" cy="4879975"/>
              </a:xfrm>
            </p:spPr>
            <p:txBody>
              <a:bodyPr>
                <a:normAutofit/>
              </a:bodyPr>
              <a:lstStyle/>
              <a:p>
                <a:pPr marL="342900" lvl="0" indent="-342900" algn="just">
                  <a:lnSpc>
                    <a:spcPct val="120000"/>
                  </a:lnSpc>
                  <a:buFont typeface="Symbol" panose="05050102010706020507" pitchFamily="18" charset="2"/>
                  <a:buChar char=""/>
                </a:pPr>
                <a14:m>
                  <m:oMath xmlns:m="http://schemas.openxmlformats.org/officeDocument/2006/math">
                    <m:r>
                      <a:rPr lang="en-US" b="1">
                        <a:latin typeface="Cambria Math" panose="02040503050406030204" pitchFamily="18" charset="0"/>
                      </a:rPr>
                      <m:t>(</m:t>
                    </m:r>
                    <m:r>
                      <a:rPr lang="en-US" b="1" i="1">
                        <a:latin typeface="Cambria Math" panose="02040503050406030204" pitchFamily="18" charset="0"/>
                      </a:rPr>
                      <m:t>𝝎</m:t>
                    </m:r>
                    <m:r>
                      <a:rPr lang="en-US" b="1" i="1">
                        <a:latin typeface="Cambria Math" panose="02040503050406030204" pitchFamily="18" charset="0"/>
                      </a:rPr>
                      <m:t>𝒕</m:t>
                    </m:r>
                    <m:r>
                      <a:rPr lang="en-US" b="1">
                        <a:latin typeface="Cambria Math" panose="02040503050406030204" pitchFamily="18" charset="0"/>
                      </a:rPr>
                      <m:t>+</m:t>
                    </m:r>
                    <m:r>
                      <a:rPr lang="en-US" b="1" i="1">
                        <a:latin typeface="Cambria Math" panose="02040503050406030204" pitchFamily="18" charset="0"/>
                      </a:rPr>
                      <m:t>𝝓</m:t>
                    </m:r>
                    <m:r>
                      <a:rPr lang="en-US" b="1">
                        <a:latin typeface="Cambria Math" panose="02040503050406030204" pitchFamily="18" charset="0"/>
                      </a:rPr>
                      <m:t>)</m:t>
                    </m:r>
                  </m:oMath>
                </a14:m>
                <a:r>
                  <a:rPr lang="en-US" b="1" dirty="0"/>
                  <a:t> is the Phase Argument – </a:t>
                </a:r>
                <a:r>
                  <a:rPr lang="en-US" dirty="0"/>
                  <a:t>it represents the total angle of the cosine function at time </a:t>
                </a:r>
                <a14:m>
                  <m:oMath xmlns:m="http://schemas.openxmlformats.org/officeDocument/2006/math">
                    <m:r>
                      <a:rPr lang="en-US" i="1">
                        <a:latin typeface="Cambria Math" panose="02040503050406030204" pitchFamily="18" charset="0"/>
                      </a:rPr>
                      <m:t>𝑡</m:t>
                    </m:r>
                  </m:oMath>
                </a14:m>
                <a:r>
                  <a:rPr lang="en-US" dirty="0"/>
                  <a:t>;</a:t>
                </a:r>
              </a:p>
              <a:p>
                <a:pPr marL="342900" lvl="0" indent="-342900" algn="just">
                  <a:lnSpc>
                    <a:spcPct val="120000"/>
                  </a:lnSpc>
                  <a:buFont typeface="Symbol" panose="05050102010706020507" pitchFamily="18" charset="2"/>
                  <a:buChar char=""/>
                </a:pPr>
                <a14:m>
                  <m:oMath xmlns:m="http://schemas.openxmlformats.org/officeDocument/2006/math">
                    <m:r>
                      <a:rPr lang="en-US" b="1" i="1">
                        <a:latin typeface="Cambria Math" panose="02040503050406030204" pitchFamily="18" charset="0"/>
                      </a:rPr>
                      <m:t>𝝓</m:t>
                    </m:r>
                  </m:oMath>
                </a14:m>
                <a:r>
                  <a:rPr lang="en-US" b="1" dirty="0"/>
                  <a:t> (phi) is the Initial Phase Angle </a:t>
                </a:r>
                <a:r>
                  <a:rPr lang="en-US" dirty="0"/>
                  <a:t>– it determines the value of the wave at </a:t>
                </a:r>
                <a14:m>
                  <m:oMath xmlns:m="http://schemas.openxmlformats.org/officeDocument/2006/math">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0</m:t>
                    </m:r>
                  </m:oMath>
                </a14:m>
                <a:r>
                  <a:rPr lang="en-US" dirty="0"/>
                  <a:t>.</a:t>
                </a:r>
              </a:p>
              <a:p>
                <a:pPr algn="just">
                  <a:lnSpc>
                    <a:spcPct val="120000"/>
                  </a:lnSpc>
                </a:pPr>
                <a:r>
                  <a:rPr lang="en-US" dirty="0"/>
                  <a:t>At the next slide you can see an illustration for named variables.</a:t>
                </a:r>
                <a:endParaRPr lang="ru-RU" dirty="0"/>
              </a:p>
              <a:p>
                <a:pPr marL="0" indent="0">
                  <a:lnSpc>
                    <a:spcPct val="120000"/>
                  </a:lnSpc>
                  <a:buNone/>
                </a:pPr>
                <a:endParaRPr lang="ru-RU" b="1" dirty="0">
                  <a:effectLst/>
                  <a:ea typeface="Aptos" panose="020B0004020202020204" pitchFamily="34" charset="0"/>
                </a:endParaRPr>
              </a:p>
              <a:p>
                <a:endParaRPr lang="ru-RU" b="1" dirty="0"/>
              </a:p>
            </p:txBody>
          </p:sp>
        </mc:Choice>
        <mc:Fallback xmlns="">
          <p:sp>
            <p:nvSpPr>
              <p:cNvPr id="8" name="Объект 7">
                <a:extLst>
                  <a:ext uri="{FF2B5EF4-FFF2-40B4-BE49-F238E27FC236}">
                    <a16:creationId xmlns:a16="http://schemas.microsoft.com/office/drawing/2014/main" id="{0F1EBA9F-B989-F76F-E5D9-3C4B052102BE}"/>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043" t="-125" r="-1159"/>
                </a:stretch>
              </a:blipFill>
            </p:spPr>
            <p:txBody>
              <a:bodyPr/>
              <a:lstStyle/>
              <a:p>
                <a:r>
                  <a:rPr lang="ru-RU">
                    <a:noFill/>
                  </a:rPr>
                  <a:t> </a:t>
                </a:r>
              </a:p>
            </p:txBody>
          </p:sp>
        </mc:Fallback>
      </mc:AlternateContent>
    </p:spTree>
    <p:extLst>
      <p:ext uri="{BB962C8B-B14F-4D97-AF65-F5344CB8AC3E}">
        <p14:creationId xmlns:p14="http://schemas.microsoft.com/office/powerpoint/2010/main" val="62813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A5E33-85CF-63A1-9D89-FEA6288754E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EED1A9-6CB0-F389-EE2F-A87201BDC58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D2901228-C261-F091-1E78-E64C35E72EA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F0B0B17-749C-AA06-4660-C38213523DF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A943898-DF9F-62B5-9CE0-2389EC6FEC5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A98012EA-7DBC-1A95-72D1-C3D96A8146EC}"/>
              </a:ext>
            </a:extLst>
          </p:cNvPr>
          <p:cNvSpPr>
            <a:spLocks noGrp="1"/>
          </p:cNvSpPr>
          <p:nvPr>
            <p:ph idx="1"/>
          </p:nvPr>
        </p:nvSpPr>
        <p:spPr/>
        <p:txBody>
          <a:bodyPr/>
          <a:lstStyle/>
          <a:p>
            <a:endParaRPr lang="ru-RU"/>
          </a:p>
        </p:txBody>
      </p:sp>
      <p:pic>
        <p:nvPicPr>
          <p:cNvPr id="3" name="Рисунок 2">
            <a:extLst>
              <a:ext uri="{FF2B5EF4-FFF2-40B4-BE49-F238E27FC236}">
                <a16:creationId xmlns:a16="http://schemas.microsoft.com/office/drawing/2014/main" id="{5C8CD585-631F-6ADA-3587-8DEFDB8D0EE5}"/>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8763"/>
            <a:ext cx="12192000" cy="6966373"/>
          </a:xfrm>
          <a:prstGeom prst="rect">
            <a:avLst/>
          </a:prstGeom>
          <a:noFill/>
          <a:ln>
            <a:noFill/>
          </a:ln>
        </p:spPr>
      </p:pic>
    </p:spTree>
    <p:extLst>
      <p:ext uri="{BB962C8B-B14F-4D97-AF65-F5344CB8AC3E}">
        <p14:creationId xmlns:p14="http://schemas.microsoft.com/office/powerpoint/2010/main" val="6506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61FE6-9540-BC68-CF4E-52C5C32F4D8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E107ED-5CFA-6B04-A6DC-AA6D408CC73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E96FB4D7-7DF3-7AC1-960A-7309E0CFD83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991DBFA-3E8C-0A33-2136-BC371ED9C85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8C7F541-43AF-4CA2-B898-76CB664D45F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984142A0-32D7-6D95-225C-44D78280AB2D}"/>
                  </a:ext>
                </a:extLst>
              </p:cNvPr>
              <p:cNvSpPr>
                <a:spLocks noGrp="1"/>
              </p:cNvSpPr>
              <p:nvPr>
                <p:ph idx="1"/>
              </p:nvPr>
            </p:nvSpPr>
            <p:spPr>
              <a:xfrm>
                <a:off x="838200" y="1825624"/>
                <a:ext cx="10515600" cy="4758055"/>
              </a:xfrm>
            </p:spPr>
            <p:txBody>
              <a:bodyPr>
                <a:normAutofit/>
              </a:bodyPr>
              <a:lstStyle/>
              <a:p>
                <a:pPr algn="just">
                  <a:lnSpc>
                    <a:spcPct val="120000"/>
                  </a:lnSpc>
                </a:pPr>
                <a:r>
                  <a:rPr lang="en-US" dirty="0">
                    <a:effectLst/>
                    <a:ea typeface="Aptos" panose="020B0004020202020204" pitchFamily="34" charset="0"/>
                  </a:rPr>
                  <a:t>The speed at which the current alternates is described by its Period and Frequency. </a:t>
                </a:r>
              </a:p>
              <a:p>
                <a:pPr algn="just">
                  <a:lnSpc>
                    <a:spcPct val="120000"/>
                  </a:lnSpc>
                </a:pPr>
                <a:r>
                  <a:rPr lang="en-US" b="1" dirty="0">
                    <a:effectLst/>
                    <a:ea typeface="Aptos" panose="020B0004020202020204" pitchFamily="34" charset="0"/>
                  </a:rPr>
                  <a:t>The Period, denoted by </a:t>
                </a:r>
                <a14:m>
                  <m:oMath xmlns:m="http://schemas.openxmlformats.org/officeDocument/2006/math">
                    <m:r>
                      <a:rPr lang="en-US" b="1" i="1">
                        <a:effectLst/>
                        <a:latin typeface="Cambria Math" panose="02040503050406030204" pitchFamily="18" charset="0"/>
                        <a:ea typeface="Aptos" panose="020B0004020202020204" pitchFamily="34" charset="0"/>
                      </a:rPr>
                      <m:t>𝑻</m:t>
                    </m:r>
                  </m:oMath>
                </a14:m>
                <a:r>
                  <a:rPr lang="en-US" b="1" dirty="0">
                    <a:effectLst/>
                    <a:ea typeface="Aptos" panose="020B0004020202020204" pitchFamily="34" charset="0"/>
                  </a:rPr>
                  <a:t>, is the time required for the signal to complete one full cycle. </a:t>
                </a:r>
              </a:p>
              <a:p>
                <a:pPr algn="just">
                  <a:lnSpc>
                    <a:spcPct val="120000"/>
                  </a:lnSpc>
                </a:pPr>
                <a:r>
                  <a:rPr lang="en-US" dirty="0">
                    <a:effectLst/>
                    <a:ea typeface="Aptos" panose="020B0004020202020204" pitchFamily="34" charset="0"/>
                  </a:rPr>
                  <a:t>It is measured in seconds (s).</a:t>
                </a:r>
              </a:p>
              <a:p>
                <a:pPr marL="0" indent="0">
                  <a:buNone/>
                </a:pPr>
                <a:endParaRPr lang="ru-RU" b="1" dirty="0"/>
              </a:p>
            </p:txBody>
          </p:sp>
        </mc:Choice>
        <mc:Fallback xmlns="">
          <p:sp>
            <p:nvSpPr>
              <p:cNvPr id="8" name="Объект 7">
                <a:extLst>
                  <a:ext uri="{FF2B5EF4-FFF2-40B4-BE49-F238E27FC236}">
                    <a16:creationId xmlns:a16="http://schemas.microsoft.com/office/drawing/2014/main" id="{984142A0-32D7-6D95-225C-44D78280AB2D}"/>
                  </a:ext>
                </a:extLst>
              </p:cNvPr>
              <p:cNvSpPr>
                <a:spLocks noGrp="1" noRot="1" noChangeAspect="1" noMove="1" noResize="1" noEditPoints="1" noAdjustHandles="1" noChangeArrowheads="1" noChangeShapeType="1" noTextEdit="1"/>
              </p:cNvSpPr>
              <p:nvPr>
                <p:ph idx="1"/>
              </p:nvPr>
            </p:nvSpPr>
            <p:spPr>
              <a:xfrm>
                <a:off x="838200" y="1825624"/>
                <a:ext cx="10515600" cy="4758055"/>
              </a:xfrm>
              <a:blipFill>
                <a:blip r:embed="rId2"/>
                <a:stretch>
                  <a:fillRect l="-1043" t="-128" r="-1159"/>
                </a:stretch>
              </a:blipFill>
            </p:spPr>
            <p:txBody>
              <a:bodyPr/>
              <a:lstStyle/>
              <a:p>
                <a:r>
                  <a:rPr lang="ru-RU">
                    <a:noFill/>
                  </a:rPr>
                  <a:t> </a:t>
                </a:r>
              </a:p>
            </p:txBody>
          </p:sp>
        </mc:Fallback>
      </mc:AlternateContent>
    </p:spTree>
    <p:extLst>
      <p:ext uri="{BB962C8B-B14F-4D97-AF65-F5344CB8AC3E}">
        <p14:creationId xmlns:p14="http://schemas.microsoft.com/office/powerpoint/2010/main" val="550244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808BA-A8C2-35BB-2C41-F22CB76C4A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21152-A32C-4030-FD25-B79C133A0B2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69187AE-89A5-30E7-D865-C060867D03E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E61396D-F472-B53F-F456-1109CAC6760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037F133-6B8B-EEC7-BAB0-4B5D2E9E8BA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DEAD916B-F33F-1BFB-65F7-FB4991E9236D}"/>
                  </a:ext>
                </a:extLst>
              </p:cNvPr>
              <p:cNvSpPr>
                <a:spLocks noGrp="1"/>
              </p:cNvSpPr>
              <p:nvPr>
                <p:ph idx="1"/>
              </p:nvPr>
            </p:nvSpPr>
            <p:spPr>
              <a:xfrm>
                <a:off x="838200" y="1825624"/>
                <a:ext cx="10515600" cy="4758055"/>
              </a:xfrm>
            </p:spPr>
            <p:txBody>
              <a:bodyPr>
                <a:normAutofit/>
              </a:bodyPr>
              <a:lstStyle/>
              <a:p>
                <a:pPr algn="just">
                  <a:lnSpc>
                    <a:spcPct val="120000"/>
                  </a:lnSpc>
                </a:pPr>
                <a:r>
                  <a:rPr lang="en-US" b="1" dirty="0">
                    <a:effectLst/>
                    <a:ea typeface="Aptos" panose="020B0004020202020204" pitchFamily="34" charset="0"/>
                  </a:rPr>
                  <a:t>It is The Frequency, denoted by </a:t>
                </a:r>
                <a14:m>
                  <m:oMath xmlns:m="http://schemas.openxmlformats.org/officeDocument/2006/math">
                    <m:r>
                      <a:rPr lang="en-US" b="1" i="1">
                        <a:effectLst/>
                        <a:latin typeface="Cambria Math" panose="02040503050406030204" pitchFamily="18" charset="0"/>
                        <a:ea typeface="Aptos" panose="020B0004020202020204" pitchFamily="34" charset="0"/>
                      </a:rPr>
                      <m:t>𝒇</m:t>
                    </m:r>
                  </m:oMath>
                </a14:m>
                <a:r>
                  <a:rPr lang="en-US" b="1" dirty="0">
                    <a:effectLst/>
                    <a:ea typeface="Aptos" panose="020B0004020202020204" pitchFamily="34" charset="0"/>
                  </a:rPr>
                  <a:t>, is the number of cycles completed in one second. </a:t>
                </a:r>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It is measured in Hertz (Hz).</a:t>
                </a:r>
                <a:r>
                  <a:rPr lang="ru-RU" b="1" dirty="0">
                    <a:effectLst/>
                    <a:ea typeface="Aptos" panose="020B0004020202020204" pitchFamily="34" charset="0"/>
                  </a:rPr>
                  <a:t> </a:t>
                </a:r>
                <a:endParaRPr lang="en-US" b="1" dirty="0">
                  <a:effectLst/>
                  <a:ea typeface="Aptos" panose="020B0004020202020204" pitchFamily="34" charset="0"/>
                </a:endParaRPr>
              </a:p>
              <a:p>
                <a:pPr algn="just">
                  <a:lnSpc>
                    <a:spcPct val="120000"/>
                  </a:lnSpc>
                </a:pPr>
                <a:r>
                  <a:rPr lang="en-US" dirty="0">
                    <a:effectLst/>
                    <a:ea typeface="Aptos" panose="020B0004020202020204" pitchFamily="34" charset="0"/>
                  </a:rPr>
                  <a:t>These two quantities are inversely related. The relationship between frequency and period is:</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ea typeface="Aptos" panose="020B0004020202020204" pitchFamily="34" charset="0"/>
                          <a:cs typeface="Times New Roman" panose="02020603050405020304" pitchFamily="18" charset="0"/>
                        </a:rPr>
                        <m:t>𝒇</m:t>
                      </m:r>
                      <m:r>
                        <a:rPr lang="en-US" b="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b="1" i="1">
                              <a:effectLst/>
                              <a:latin typeface="Cambria Math" panose="02040503050406030204" pitchFamily="18" charset="0"/>
                              <a:ea typeface="Aptos" panose="020B0004020202020204" pitchFamily="34" charset="0"/>
                              <a:cs typeface="Times New Roman" panose="02020603050405020304" pitchFamily="18" charset="0"/>
                            </a:rPr>
                            <m:t>𝟏</m:t>
                          </m:r>
                        </m:num>
                        <m:den>
                          <m:r>
                            <a:rPr lang="en-US" b="1" i="1">
                              <a:effectLst/>
                              <a:latin typeface="Cambria Math" panose="02040503050406030204" pitchFamily="18" charset="0"/>
                              <a:ea typeface="Aptos" panose="020B0004020202020204" pitchFamily="34" charset="0"/>
                              <a:cs typeface="Times New Roman" panose="02020603050405020304" pitchFamily="18" charset="0"/>
                            </a:rPr>
                            <m:t>𝑻</m:t>
                          </m:r>
                        </m:den>
                      </m:f>
                    </m:oMath>
                  </m:oMathPara>
                </a14:m>
                <a:endParaRPr lang="ru-RU" b="1"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ru-RU" b="1" dirty="0"/>
              </a:p>
            </p:txBody>
          </p:sp>
        </mc:Choice>
        <mc:Fallback xmlns="">
          <p:sp>
            <p:nvSpPr>
              <p:cNvPr id="8" name="Объект 7">
                <a:extLst>
                  <a:ext uri="{FF2B5EF4-FFF2-40B4-BE49-F238E27FC236}">
                    <a16:creationId xmlns:a16="http://schemas.microsoft.com/office/drawing/2014/main" id="{DEAD916B-F33F-1BFB-65F7-FB4991E9236D}"/>
                  </a:ext>
                </a:extLst>
              </p:cNvPr>
              <p:cNvSpPr>
                <a:spLocks noGrp="1" noRot="1" noChangeAspect="1" noMove="1" noResize="1" noEditPoints="1" noAdjustHandles="1" noChangeArrowheads="1" noChangeShapeType="1" noTextEdit="1"/>
              </p:cNvSpPr>
              <p:nvPr>
                <p:ph idx="1"/>
              </p:nvPr>
            </p:nvSpPr>
            <p:spPr>
              <a:xfrm>
                <a:off x="838200" y="1825624"/>
                <a:ext cx="10515600" cy="4758055"/>
              </a:xfrm>
              <a:blipFill>
                <a:blip r:embed="rId2"/>
                <a:stretch>
                  <a:fillRect l="-1043" t="-128" r="-1159"/>
                </a:stretch>
              </a:blipFill>
            </p:spPr>
            <p:txBody>
              <a:bodyPr/>
              <a:lstStyle/>
              <a:p>
                <a:r>
                  <a:rPr lang="ru-RU">
                    <a:noFill/>
                  </a:rPr>
                  <a:t> </a:t>
                </a:r>
              </a:p>
            </p:txBody>
          </p:sp>
        </mc:Fallback>
      </mc:AlternateContent>
    </p:spTree>
    <p:extLst>
      <p:ext uri="{BB962C8B-B14F-4D97-AF65-F5344CB8AC3E}">
        <p14:creationId xmlns:p14="http://schemas.microsoft.com/office/powerpoint/2010/main" val="4081271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7056E-A575-A31F-B87D-0AE7C86B2CF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BD39A8-E7C4-EF8E-DD7D-0AB3CEFD2A7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6985C053-C14D-B7BD-1A00-4BB54AA1972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DDC95F8-FA6F-7728-2CC2-0ABB99BEDD0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CB5DC4A-1B76-E7CD-C208-0B7B06299ED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A75254F5-FF3C-A13C-614F-982444A554AF}"/>
              </a:ext>
            </a:extLst>
          </p:cNvPr>
          <p:cNvSpPr>
            <a:spLocks noGrp="1"/>
          </p:cNvSpPr>
          <p:nvPr>
            <p:ph idx="1"/>
          </p:nvPr>
        </p:nvSpPr>
        <p:spPr>
          <a:xfrm>
            <a:off x="838200" y="1825624"/>
            <a:ext cx="10515600" cy="4758055"/>
          </a:xfrm>
        </p:spPr>
        <p:txBody>
          <a:bodyPr>
            <a:normAutofit/>
          </a:bodyPr>
          <a:lstStyle/>
          <a:p>
            <a:pPr algn="just">
              <a:lnSpc>
                <a:spcPct val="120000"/>
              </a:lnSpc>
            </a:pPr>
            <a:r>
              <a:rPr lang="en-US" dirty="0">
                <a:effectLst/>
                <a:ea typeface="Aptos" panose="020B0004020202020204" pitchFamily="34" charset="0"/>
              </a:rPr>
              <a:t>For example, the standard power line frequency in Europe and Asia is 50 Hz, meaning the current changes direction 100 times (50 full cycles) every second. In North America, it is 60 Hz.</a:t>
            </a:r>
            <a:endParaRPr lang="ru-RU" dirty="0"/>
          </a:p>
        </p:txBody>
      </p:sp>
    </p:spTree>
    <p:extLst>
      <p:ext uri="{BB962C8B-B14F-4D97-AF65-F5344CB8AC3E}">
        <p14:creationId xmlns:p14="http://schemas.microsoft.com/office/powerpoint/2010/main" val="2200261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53B83-EA1B-36D1-BA06-7C6F458297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DC35AB-C6EC-A1BC-AEEA-868E398256F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100D294B-E552-8BD6-9AB6-63D03EFDC7D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E17650E-0C62-9F78-EE88-9B5E37C8D6A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4C30A0A-AAC2-EFE1-0EF5-93DF46F8FD2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86D7F9DD-9491-BFC7-D52C-644371A28684}"/>
                  </a:ext>
                </a:extLst>
              </p:cNvPr>
              <p:cNvSpPr>
                <a:spLocks noGrp="1"/>
              </p:cNvSpPr>
              <p:nvPr>
                <p:ph idx="1"/>
              </p:nvPr>
            </p:nvSpPr>
            <p:spPr/>
            <p:txBody>
              <a:bodyPr>
                <a:normAutofit/>
              </a:bodyPr>
              <a:lstStyle/>
              <a:p>
                <a:r>
                  <a:rPr lang="en-US" dirty="0">
                    <a:effectLst/>
                    <a:latin typeface="Arial" panose="020B0604020202020204" pitchFamily="34" charset="0"/>
                    <a:ea typeface="Aptos" panose="020B0004020202020204" pitchFamily="34" charset="0"/>
                  </a:rPr>
                  <a:t>In our mathematical formula </a:t>
                </a:r>
                <a14:m>
                  <m:oMath xmlns:m="http://schemas.openxmlformats.org/officeDocument/2006/math">
                    <m:r>
                      <a:rPr lang="en-US" i="1">
                        <a:effectLst/>
                        <a:latin typeface="Cambria Math" panose="02040503050406030204" pitchFamily="18" charset="0"/>
                        <a:ea typeface="Aptos" panose="020B0004020202020204" pitchFamily="34" charset="0"/>
                      </a:rPr>
                      <m:t>𝑖</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𝐼</m:t>
                        </m:r>
                      </m:e>
                      <m:sub>
                        <m:r>
                          <a:rPr lang="en-US" i="1">
                            <a:effectLst/>
                            <a:latin typeface="Cambria Math" panose="02040503050406030204" pitchFamily="18" charset="0"/>
                            <a:ea typeface="Aptos" panose="020B0004020202020204" pitchFamily="34" charset="0"/>
                          </a:rPr>
                          <m:t>𝑚</m:t>
                        </m:r>
                      </m:sub>
                    </m:sSub>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𝜙</m:t>
                    </m:r>
                    <m:r>
                      <a:rPr lang="en-US">
                        <a:effectLst/>
                        <a:latin typeface="Cambria Math" panose="02040503050406030204" pitchFamily="18" charset="0"/>
                        <a:ea typeface="Aptos" panose="020B0004020202020204" pitchFamily="34" charset="0"/>
                      </a:rPr>
                      <m:t>)</m:t>
                    </m:r>
                  </m:oMath>
                </a14:m>
                <a:r>
                  <a:rPr lang="en-US" dirty="0">
                    <a:effectLst/>
                    <a:latin typeface="Arial" panose="020B0604020202020204" pitchFamily="34" charset="0"/>
                    <a:ea typeface="Aptos" panose="020B0004020202020204" pitchFamily="34" charset="0"/>
                  </a:rPr>
                  <a:t>, we use </a:t>
                </a:r>
                <a14:m>
                  <m:oMath xmlns:m="http://schemas.openxmlformats.org/officeDocument/2006/math">
                    <m:r>
                      <a:rPr lang="en-US" i="1">
                        <a:effectLst/>
                        <a:latin typeface="Cambria Math" panose="02040503050406030204" pitchFamily="18" charset="0"/>
                        <a:ea typeface="Aptos" panose="020B0004020202020204" pitchFamily="34" charset="0"/>
                      </a:rPr>
                      <m:t>𝜔</m:t>
                    </m:r>
                  </m:oMath>
                </a14:m>
                <a:r>
                  <a:rPr lang="en-US" dirty="0">
                    <a:effectLst/>
                    <a:latin typeface="Arial" panose="020B0604020202020204" pitchFamily="34" charset="0"/>
                    <a:ea typeface="Aptos" panose="020B0004020202020204" pitchFamily="34" charset="0"/>
                  </a:rPr>
                  <a:t> (Angular Frequency) rather than </a:t>
                </a:r>
                <a14:m>
                  <m:oMath xmlns:m="http://schemas.openxmlformats.org/officeDocument/2006/math">
                    <m:r>
                      <a:rPr lang="en-US" i="1">
                        <a:effectLst/>
                        <a:latin typeface="Cambria Math" panose="02040503050406030204" pitchFamily="18" charset="0"/>
                        <a:ea typeface="Aptos" panose="020B0004020202020204" pitchFamily="34" charset="0"/>
                      </a:rPr>
                      <m:t>𝑓</m:t>
                    </m:r>
                  </m:oMath>
                </a14:m>
                <a:r>
                  <a:rPr lang="en-US" dirty="0">
                    <a:effectLst/>
                    <a:latin typeface="Arial" panose="020B0604020202020204" pitchFamily="34" charset="0"/>
                    <a:ea typeface="Aptos" panose="020B0004020202020204" pitchFamily="34" charset="0"/>
                  </a:rPr>
                  <a:t>. Since one full cycle corresponds to a rotation of </a:t>
                </a:r>
                <a14:m>
                  <m:oMath xmlns:m="http://schemas.openxmlformats.org/officeDocument/2006/math">
                    <m:r>
                      <a:rPr lang="en-US" i="1">
                        <a:effectLst/>
                        <a:latin typeface="Cambria Math" panose="02040503050406030204" pitchFamily="18" charset="0"/>
                        <a:ea typeface="Aptos" panose="020B0004020202020204" pitchFamily="34" charset="0"/>
                      </a:rPr>
                      <m:t>2</m:t>
                    </m:r>
                    <m:r>
                      <a:rPr lang="en-US" i="1">
                        <a:effectLst/>
                        <a:latin typeface="Cambria Math" panose="02040503050406030204" pitchFamily="18" charset="0"/>
                        <a:ea typeface="Aptos" panose="020B0004020202020204" pitchFamily="34" charset="0"/>
                      </a:rPr>
                      <m:t>𝜋</m:t>
                    </m:r>
                  </m:oMath>
                </a14:m>
                <a:r>
                  <a:rPr lang="en-US" dirty="0">
                    <a:effectLst/>
                    <a:latin typeface="Arial" panose="020B0604020202020204" pitchFamily="34" charset="0"/>
                    <a:ea typeface="Aptos" panose="020B0004020202020204" pitchFamily="34" charset="0"/>
                  </a:rPr>
                  <a:t> radians (360 degrees), the relationship is:</a:t>
                </a:r>
                <a:endParaRPr lang="en-US"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𝝎</m:t>
                      </m:r>
                      <m:r>
                        <a:rPr lang="en-US" b="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𝝅</m:t>
                      </m:r>
                      <m:r>
                        <a:rPr lang="en-US" b="1" i="1">
                          <a:latin typeface="Cambria Math" panose="02040503050406030204" pitchFamily="18" charset="0"/>
                        </a:rPr>
                        <m:t>𝒇</m:t>
                      </m:r>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𝟐</m:t>
                          </m:r>
                          <m:r>
                            <a:rPr lang="en-US" b="1" i="1">
                              <a:latin typeface="Cambria Math" panose="02040503050406030204" pitchFamily="18" charset="0"/>
                            </a:rPr>
                            <m:t>𝝅</m:t>
                          </m:r>
                        </m:num>
                        <m:den>
                          <m:r>
                            <a:rPr lang="en-US" b="1" i="1">
                              <a:latin typeface="Cambria Math" panose="02040503050406030204" pitchFamily="18" charset="0"/>
                            </a:rPr>
                            <m:t>𝑻</m:t>
                          </m:r>
                        </m:den>
                      </m:f>
                    </m:oMath>
                  </m:oMathPara>
                </a14:m>
                <a:endParaRPr lang="ru-RU" b="1" dirty="0"/>
              </a:p>
              <a:p>
                <a:r>
                  <a:rPr lang="en-US" b="1" dirty="0"/>
                  <a:t>Angular frequency is measured in radians per second (rad/s). </a:t>
                </a:r>
                <a:endParaRPr lang="ru-RU" b="1" dirty="0"/>
              </a:p>
            </p:txBody>
          </p:sp>
        </mc:Choice>
        <mc:Fallback xmlns="">
          <p:sp>
            <p:nvSpPr>
              <p:cNvPr id="8" name="Объект 7">
                <a:extLst>
                  <a:ext uri="{FF2B5EF4-FFF2-40B4-BE49-F238E27FC236}">
                    <a16:creationId xmlns:a16="http://schemas.microsoft.com/office/drawing/2014/main" id="{86D7F9DD-9491-BFC7-D52C-644371A2868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1465644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AC0D2-A58E-12A0-1CA9-3D7A8441961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3BFEC4-7374-A18B-CF6B-1CE85E7544D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518C5DF5-0D8C-23AE-8BAB-5566337FA1F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23F60EC-9F25-3F39-26AF-C5AFFB2558D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9702F27-ADF4-A6A0-9161-80E34D1C0CA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D2BB14D0-E70A-5D64-14FC-EFEEB0D1EEE4}"/>
                  </a:ext>
                </a:extLst>
              </p:cNvPr>
              <p:cNvSpPr>
                <a:spLocks noGrp="1"/>
              </p:cNvSpPr>
              <p:nvPr>
                <p:ph idx="1"/>
              </p:nvPr>
            </p:nvSpPr>
            <p:spPr/>
            <p:txBody>
              <a:bodyPr>
                <a:normAutofit/>
              </a:bodyPr>
              <a:lstStyle/>
              <a:p>
                <a:r>
                  <a:rPr lang="en-US" dirty="0"/>
                  <a:t>It is important to be comfortable converting between these units. If you are given a frequency of 60 Hz, the angular frequency is: ω=2×3.14159×60≈377 rad/s. If you are given 50 Hz, ω≈314 rad/s. </a:t>
                </a:r>
              </a:p>
              <a:p>
                <a:r>
                  <a:rPr lang="en-US" b="1" dirty="0"/>
                  <a:t>Always check your calculator mode. When using </a:t>
                </a:r>
                <a14:m>
                  <m:oMath xmlns:m="http://schemas.openxmlformats.org/officeDocument/2006/math">
                    <m:r>
                      <a:rPr lang="en-US" b="1" i="1">
                        <a:latin typeface="Cambria Math" panose="02040503050406030204" pitchFamily="18" charset="0"/>
                      </a:rPr>
                      <m:t>𝝎</m:t>
                    </m:r>
                  </m:oMath>
                </a14:m>
                <a:r>
                  <a:rPr lang="en-US" b="1" dirty="0"/>
                  <a:t>, your calculator must be in Radian mode, not Degree mode.</a:t>
                </a:r>
                <a:endParaRPr lang="ru-RU" b="1" dirty="0"/>
              </a:p>
            </p:txBody>
          </p:sp>
        </mc:Choice>
        <mc:Fallback xmlns="">
          <p:sp>
            <p:nvSpPr>
              <p:cNvPr id="8" name="Объект 7">
                <a:extLst>
                  <a:ext uri="{FF2B5EF4-FFF2-40B4-BE49-F238E27FC236}">
                    <a16:creationId xmlns:a16="http://schemas.microsoft.com/office/drawing/2014/main" id="{D2BB14D0-E70A-5D64-14FC-EFEEB0D1EEE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3364086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759C0-D61E-5B13-D93D-652F39BFD37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13D11A-B746-A6F5-A32E-DE192737656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887BB74C-8E28-383C-B74B-45729C06B20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3CC22C85-E76C-CD73-4BDE-18709F8D52F0}"/>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7A977CF-4816-8B55-D14D-D89FD1E4909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2728FABE-364F-790F-B757-44629D58234E}"/>
                  </a:ext>
                </a:extLst>
              </p:cNvPr>
              <p:cNvSpPr>
                <a:spLocks noGrp="1"/>
              </p:cNvSpPr>
              <p:nvPr>
                <p:ph idx="1"/>
              </p:nvPr>
            </p:nvSpPr>
            <p:spPr/>
            <p:txBody>
              <a:bodyPr>
                <a:normAutofit/>
              </a:bodyPr>
              <a:lstStyle/>
              <a:p>
                <a:r>
                  <a:rPr lang="en-US" dirty="0"/>
                  <a:t>We must distinguish between the «Amplitude» and the «Effective Value». </a:t>
                </a:r>
              </a:p>
              <a:p>
                <a:r>
                  <a:rPr lang="en-US" dirty="0"/>
                  <a:t>The Amplitude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𝑚</m:t>
                        </m:r>
                      </m:sub>
                    </m:sSub>
                  </m:oMath>
                </a14:m>
                <a:r>
                  <a:rPr lang="en-US" dirty="0"/>
                  <a:t>) tells us the maximum instantaneous value. However, the current is only at this maximum for a tiny fraction of a second. Most of the time, it is lower. Therefore, asking «How much current is flowing?» requires a different metric. </a:t>
                </a:r>
                <a:endParaRPr lang="ru-RU" b="1" dirty="0"/>
              </a:p>
            </p:txBody>
          </p:sp>
        </mc:Choice>
        <mc:Fallback xmlns="">
          <p:sp>
            <p:nvSpPr>
              <p:cNvPr id="8" name="Объект 7">
                <a:extLst>
                  <a:ext uri="{FF2B5EF4-FFF2-40B4-BE49-F238E27FC236}">
                    <a16:creationId xmlns:a16="http://schemas.microsoft.com/office/drawing/2014/main" id="{2728FABE-364F-790F-B757-44629D58234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2914664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EDB66-7486-E832-E8F4-18A3A0B75ED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BC9511-7D0C-A317-A56B-571E9FAF677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ED211CB-4230-3003-C033-EDA89E0BEB0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3823C74-15DF-D18A-D24B-759A4B1BA69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34FD07B-BB1E-4C75-20DD-2536B0E7382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545CEA42-70E2-D95E-3747-4DF0F73B35A0}"/>
              </a:ext>
            </a:extLst>
          </p:cNvPr>
          <p:cNvSpPr>
            <a:spLocks noGrp="1"/>
          </p:cNvSpPr>
          <p:nvPr>
            <p:ph idx="1"/>
          </p:nvPr>
        </p:nvSpPr>
        <p:spPr>
          <a:xfrm>
            <a:off x="560439" y="1825625"/>
            <a:ext cx="11238271" cy="4830814"/>
          </a:xfrm>
        </p:spPr>
        <p:txBody>
          <a:bodyPr>
            <a:normAutofit/>
          </a:bodyPr>
          <a:lstStyle/>
          <a:p>
            <a:pPr algn="just">
              <a:lnSpc>
                <a:spcPct val="120000"/>
              </a:lnSpc>
            </a:pPr>
            <a:r>
              <a:rPr lang="en-US" b="1" dirty="0">
                <a:effectLst/>
                <a:latin typeface="Arial" panose="020B0604020202020204" pitchFamily="34" charset="0"/>
                <a:ea typeface="Aptos" panose="020B0004020202020204" pitchFamily="34" charset="0"/>
              </a:rPr>
              <a:t>RMS (Root Mean Square) value, also known as the Effective Value.</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The Effective Value of an AC current is equivalent to the DC current that would deliver the same average power to a resistor. </a:t>
            </a:r>
          </a:p>
          <a:p>
            <a:pPr algn="just">
              <a:lnSpc>
                <a:spcPct val="120000"/>
              </a:lnSpc>
            </a:pPr>
            <a:r>
              <a:rPr lang="en-US" dirty="0">
                <a:effectLst/>
                <a:latin typeface="Arial" panose="020B0604020202020204" pitchFamily="34" charset="0"/>
                <a:ea typeface="Aptos" panose="020B0004020202020204" pitchFamily="34" charset="0"/>
              </a:rPr>
              <a:t>If you have a toaster, it produces heat. If you power it with 10 Amps DC, it gets hot. </a:t>
            </a:r>
          </a:p>
          <a:p>
            <a:pPr algn="just">
              <a:lnSpc>
                <a:spcPct val="120000"/>
              </a:lnSpc>
            </a:pPr>
            <a:r>
              <a:rPr lang="en-US" dirty="0">
                <a:effectLst/>
                <a:latin typeface="Arial" panose="020B0604020202020204" pitchFamily="34" charset="0"/>
                <a:ea typeface="Aptos" panose="020B0004020202020204" pitchFamily="34" charset="0"/>
              </a:rPr>
              <a:t>If you power it with AC, you need an AC current with an Effective Value of 10 Amps to produce the exact same amount of heat.</a:t>
            </a:r>
            <a:endParaRPr lang="ru-RU" dirty="0">
              <a:effectLst/>
              <a:latin typeface="Arial" panose="020B0604020202020204" pitchFamily="34" charset="0"/>
              <a:ea typeface="Aptos" panose="020B0004020202020204" pitchFamily="34" charset="0"/>
            </a:endParaRPr>
          </a:p>
          <a:p>
            <a:pPr marL="0" indent="0">
              <a:buNone/>
            </a:pPr>
            <a:endParaRPr lang="ru-RU" b="1" dirty="0"/>
          </a:p>
        </p:txBody>
      </p:sp>
    </p:spTree>
    <p:extLst>
      <p:ext uri="{BB962C8B-B14F-4D97-AF65-F5344CB8AC3E}">
        <p14:creationId xmlns:p14="http://schemas.microsoft.com/office/powerpoint/2010/main" val="4002602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F46E-B8D7-790A-5969-5D2C982C75A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369A32-7FDF-C3C8-0DAB-00E5D72DDEF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D1A7D5E3-E178-1475-2CD9-7D9D2181DB5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C83A0D6-1930-9B6A-B28D-AF965F0C6EB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785038E-576D-962C-0470-B28208D3DB1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914C6966-A0BC-B049-BB57-05BC10F61384}"/>
                  </a:ext>
                </a:extLst>
              </p:cNvPr>
              <p:cNvSpPr>
                <a:spLocks noGrp="1"/>
              </p:cNvSpPr>
              <p:nvPr>
                <p:ph idx="1"/>
              </p:nvPr>
            </p:nvSpPr>
            <p:spPr/>
            <p:txBody>
              <a:bodyPr>
                <a:normAutofit lnSpcReduction="10000"/>
              </a:bodyPr>
              <a:lstStyle/>
              <a:p>
                <a:pPr algn="just">
                  <a:lnSpc>
                    <a:spcPct val="120000"/>
                  </a:lnSpc>
                </a:pPr>
                <a:r>
                  <a:rPr lang="en-US" dirty="0">
                    <a:effectLst/>
                    <a:latin typeface="Arial" panose="020B0604020202020204" pitchFamily="34" charset="0"/>
                    <a:ea typeface="Aptos" panose="020B0004020202020204" pitchFamily="34" charset="0"/>
                  </a:rPr>
                  <a:t>For a sinusoidal wave, the relationship between the Maximum Amplitude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𝐼</m:t>
                        </m:r>
                      </m:e>
                      <m:sub>
                        <m:r>
                          <a:rPr lang="en-US" i="1">
                            <a:effectLst/>
                            <a:latin typeface="Cambria Math" panose="02040503050406030204" pitchFamily="18" charset="0"/>
                            <a:ea typeface="Aptos" panose="020B0004020202020204" pitchFamily="34" charset="0"/>
                          </a:rPr>
                          <m:t>𝑚</m:t>
                        </m:r>
                      </m:sub>
                    </m:sSub>
                  </m:oMath>
                </a14:m>
                <a:r>
                  <a:rPr lang="en-US" dirty="0">
                    <a:effectLst/>
                    <a:latin typeface="Arial" panose="020B0604020202020204" pitchFamily="34" charset="0"/>
                    <a:ea typeface="Aptos" panose="020B0004020202020204" pitchFamily="34" charset="0"/>
                  </a:rPr>
                  <a:t>) and the Effective Value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𝐼</m:t>
                        </m:r>
                      </m:e>
                      <m:sub>
                        <m:r>
                          <a:rPr lang="en-US" i="1">
                            <a:effectLst/>
                            <a:latin typeface="Cambria Math" panose="02040503050406030204" pitchFamily="18" charset="0"/>
                            <a:ea typeface="Aptos" panose="020B0004020202020204" pitchFamily="34" charset="0"/>
                          </a:rPr>
                          <m:t>𝑒𝑓𝑓</m:t>
                        </m:r>
                      </m:sub>
                    </m:sSub>
                  </m:oMath>
                </a14:m>
                <a:r>
                  <a:rPr lang="en-US" dirty="0">
                    <a:effectLst/>
                    <a:latin typeface="Arial" panose="020B0604020202020204" pitchFamily="34" charset="0"/>
                    <a:ea typeface="Aptos" panose="020B0004020202020204" pitchFamily="34" charset="0"/>
                  </a:rPr>
                  <a:t> or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𝐼</m:t>
                        </m:r>
                      </m:e>
                      <m:sub>
                        <m:r>
                          <a:rPr lang="en-US" i="1">
                            <a:effectLst/>
                            <a:latin typeface="Cambria Math" panose="02040503050406030204" pitchFamily="18" charset="0"/>
                            <a:ea typeface="Aptos" panose="020B0004020202020204" pitchFamily="34" charset="0"/>
                          </a:rPr>
                          <m:t>𝑟𝑚𝑠</m:t>
                        </m:r>
                      </m:sub>
                    </m:sSub>
                  </m:oMath>
                </a14:m>
                <a:r>
                  <a:rPr lang="en-US" dirty="0">
                    <a:effectLst/>
                    <a:latin typeface="Arial" panose="020B0604020202020204" pitchFamily="34" charset="0"/>
                    <a:ea typeface="Aptos" panose="020B0004020202020204" pitchFamily="34" charset="0"/>
                  </a:rPr>
                  <a:t>) is fixed.</a:t>
                </a:r>
              </a:p>
              <a:p>
                <a:pPr algn="just">
                  <a:lnSpc>
                    <a:spcPct val="120000"/>
                  </a:lnSpc>
                </a:pPr>
                <a:r>
                  <a:rPr lang="en-US" b="1" dirty="0">
                    <a:effectLst/>
                    <a:latin typeface="Arial" panose="020B0604020202020204" pitchFamily="34" charset="0"/>
                    <a:ea typeface="Aptos" panose="020B0004020202020204" pitchFamily="34" charset="0"/>
                  </a:rPr>
                  <a:t>The effective value is the amplitude divided by the square root of 2:</a:t>
                </a:r>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𝒓𝒎𝒔</m:t>
                          </m:r>
                        </m:sub>
                      </m:sSub>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num>
                        <m:den>
                          <m:rad>
                            <m:radPr>
                              <m:degHide m:val="on"/>
                              <m:ctrlPr>
                                <a:rPr lang="ru-RU" b="1" i="1">
                                  <a:effectLst/>
                                  <a:latin typeface="Cambria Math" panose="02040503050406030204" pitchFamily="18" charset="0"/>
                                  <a:ea typeface="Aptos" panose="020B0004020202020204" pitchFamily="34" charset="0"/>
                                </a:rPr>
                              </m:ctrlPr>
                            </m:radPr>
                            <m:deg/>
                            <m:e>
                              <m:r>
                                <a:rPr lang="en-US" b="1" i="1" smtClean="0">
                                  <a:effectLst/>
                                  <a:latin typeface="Cambria Math" panose="02040503050406030204" pitchFamily="18" charset="0"/>
                                  <a:ea typeface="Aptos" panose="020B0004020202020204" pitchFamily="34" charset="0"/>
                                </a:rPr>
                                <m:t>𝟐</m:t>
                              </m:r>
                            </m:e>
                          </m:rad>
                        </m:den>
                      </m:f>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𝟎</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𝟕𝟎𝟕</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oMath>
                  </m:oMathPara>
                </a14:m>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𝑽</m:t>
                          </m:r>
                        </m:e>
                        <m:sub>
                          <m:r>
                            <a:rPr lang="en-US" b="1" i="1" smtClean="0">
                              <a:effectLst/>
                              <a:latin typeface="Cambria Math" panose="02040503050406030204" pitchFamily="18" charset="0"/>
                              <a:ea typeface="Aptos" panose="020B0004020202020204" pitchFamily="34" charset="0"/>
                            </a:rPr>
                            <m:t>𝒓𝒎𝒔</m:t>
                          </m:r>
                        </m:sub>
                      </m:sSub>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𝑽</m:t>
                              </m:r>
                            </m:e>
                            <m:sub>
                              <m:r>
                                <a:rPr lang="en-US" b="1" i="1" smtClean="0">
                                  <a:effectLst/>
                                  <a:latin typeface="Cambria Math" panose="02040503050406030204" pitchFamily="18" charset="0"/>
                                  <a:ea typeface="Aptos" panose="020B0004020202020204" pitchFamily="34" charset="0"/>
                                </a:rPr>
                                <m:t>𝒎</m:t>
                              </m:r>
                            </m:sub>
                          </m:sSub>
                        </m:num>
                        <m:den>
                          <m:rad>
                            <m:radPr>
                              <m:degHide m:val="on"/>
                              <m:ctrlPr>
                                <a:rPr lang="ru-RU" b="1" i="1">
                                  <a:effectLst/>
                                  <a:latin typeface="Cambria Math" panose="02040503050406030204" pitchFamily="18" charset="0"/>
                                  <a:ea typeface="Aptos" panose="020B0004020202020204" pitchFamily="34" charset="0"/>
                                </a:rPr>
                              </m:ctrlPr>
                            </m:radPr>
                            <m:deg/>
                            <m:e>
                              <m:r>
                                <a:rPr lang="en-US" b="1" i="1" smtClean="0">
                                  <a:effectLst/>
                                  <a:latin typeface="Cambria Math" panose="02040503050406030204" pitchFamily="18" charset="0"/>
                                  <a:ea typeface="Aptos" panose="020B0004020202020204" pitchFamily="34" charset="0"/>
                                </a:rPr>
                                <m:t>𝟐</m:t>
                              </m:r>
                            </m:e>
                          </m:rad>
                        </m:den>
                      </m:f>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𝟎</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𝟕𝟎𝟕</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𝑽</m:t>
                          </m:r>
                        </m:e>
                        <m:sub>
                          <m:r>
                            <a:rPr lang="en-US" b="1" i="1" smtClean="0">
                              <a:effectLst/>
                              <a:latin typeface="Cambria Math" panose="02040503050406030204" pitchFamily="18" charset="0"/>
                              <a:ea typeface="Aptos" panose="020B0004020202020204" pitchFamily="34" charset="0"/>
                            </a:rPr>
                            <m:t>𝒎</m:t>
                          </m:r>
                        </m:sub>
                      </m:sSub>
                    </m:oMath>
                  </m:oMathPara>
                </a14:m>
                <a:endParaRPr lang="ru-RU" b="1"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914C6966-A0BC-B049-BB57-05BC10F61384}"/>
                  </a:ext>
                </a:extLst>
              </p:cNvPr>
              <p:cNvSpPr>
                <a:spLocks noGrp="1" noRot="1" noChangeAspect="1" noMove="1" noResize="1" noEditPoints="1" noAdjustHandles="1" noChangeArrowheads="1" noChangeShapeType="1" noTextEdit="1"/>
              </p:cNvSpPr>
              <p:nvPr>
                <p:ph idx="1"/>
              </p:nvPr>
            </p:nvSpPr>
            <p:spPr>
              <a:blipFill>
                <a:blip r:embed="rId2"/>
                <a:stretch>
                  <a:fillRect l="-1043" t="-1261" r="-1159"/>
                </a:stretch>
              </a:blipFill>
            </p:spPr>
            <p:txBody>
              <a:bodyPr/>
              <a:lstStyle/>
              <a:p>
                <a:r>
                  <a:rPr lang="ru-RU">
                    <a:noFill/>
                  </a:rPr>
                  <a:t> </a:t>
                </a:r>
              </a:p>
            </p:txBody>
          </p:sp>
        </mc:Fallback>
      </mc:AlternateContent>
    </p:spTree>
    <p:extLst>
      <p:ext uri="{BB962C8B-B14F-4D97-AF65-F5344CB8AC3E}">
        <p14:creationId xmlns:p14="http://schemas.microsoft.com/office/powerpoint/2010/main" val="2949668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A78A9-3985-C588-AE3D-B453C3F308F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21DCC3-1399-3BF8-B7BE-8DD4CD1EEC9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1D093F5B-1A5C-73C1-3D97-382AA213DB9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D7197C5-C016-DFA8-7CB8-7CE3DB1C433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51A9BDC-9822-8EAC-3D1B-4A1946A492F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55A8C17A-9F5B-91B4-2F74-D86F6D5E1A3A}"/>
                  </a:ext>
                </a:extLst>
              </p:cNvPr>
              <p:cNvSpPr>
                <a:spLocks noGrp="1"/>
              </p:cNvSpPr>
              <p:nvPr>
                <p:ph idx="1"/>
              </p:nvPr>
            </p:nvSpPr>
            <p:spPr/>
            <p:txBody>
              <a:bodyPr>
                <a:normAutofit/>
              </a:bodyPr>
              <a:lstStyle/>
              <a:p>
                <a:pPr algn="just">
                  <a:lnSpc>
                    <a:spcPct val="120000"/>
                  </a:lnSpc>
                </a:pPr>
                <a:r>
                  <a:rPr lang="en-US" b="1" dirty="0">
                    <a:effectLst/>
                    <a:latin typeface="Arial" panose="020B0604020202020204" pitchFamily="34" charset="0"/>
                    <a:ea typeface="Aptos" panose="020B0004020202020204" pitchFamily="34" charset="0"/>
                  </a:rPr>
                  <a:t>Note that in engineering practice, unless specified otherwise, AC voltages are always given as RMS values.</a:t>
                </a:r>
              </a:p>
              <a:p>
                <a:pPr algn="just">
                  <a:lnSpc>
                    <a:spcPct val="120000"/>
                  </a:lnSpc>
                </a:pPr>
                <a:r>
                  <a:rPr lang="en-US" dirty="0">
                    <a:effectLst/>
                    <a:latin typeface="Arial" panose="020B0604020202020204" pitchFamily="34" charset="0"/>
                    <a:ea typeface="Aptos" panose="020B0004020202020204" pitchFamily="34" charset="0"/>
                  </a:rPr>
                  <a:t>When we say «the wall outlet is 220 Volts», we mean </a:t>
                </a:r>
                <a:br>
                  <a:rPr lang="en-US" dirty="0">
                    <a:effectLst/>
                    <a:latin typeface="Arial" panose="020B0604020202020204" pitchFamily="34" charset="0"/>
                    <a:ea typeface="Aptos" panose="020B0004020202020204" pitchFamily="34" charset="0"/>
                  </a:rPr>
                </a:b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𝑉</m:t>
                        </m:r>
                      </m:e>
                      <m:sub>
                        <m:r>
                          <a:rPr lang="en-US" i="1">
                            <a:effectLst/>
                            <a:latin typeface="Cambria Math" panose="02040503050406030204" pitchFamily="18" charset="0"/>
                            <a:ea typeface="Aptos" panose="020B0004020202020204" pitchFamily="34" charset="0"/>
                          </a:rPr>
                          <m:t>𝑟𝑚𝑠</m:t>
                        </m:r>
                      </m:sub>
                    </m:sSub>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220</m:t>
                    </m:r>
                  </m:oMath>
                </a14:m>
                <a:r>
                  <a:rPr lang="en-US" dirty="0">
                    <a:effectLst/>
                    <a:latin typeface="Arial" panose="020B0604020202020204" pitchFamily="34" charset="0"/>
                    <a:ea typeface="Aptos" panose="020B0004020202020204" pitchFamily="34" charset="0"/>
                  </a:rPr>
                  <a:t> V. </a:t>
                </a:r>
              </a:p>
              <a:p>
                <a:pPr algn="just">
                  <a:lnSpc>
                    <a:spcPct val="120000"/>
                  </a:lnSpc>
                </a:pPr>
                <a:r>
                  <a:rPr lang="en-US" dirty="0">
                    <a:effectLst/>
                    <a:latin typeface="Arial" panose="020B0604020202020204" pitchFamily="34" charset="0"/>
                    <a:ea typeface="Aptos" panose="020B0004020202020204" pitchFamily="34" charset="0"/>
                  </a:rPr>
                  <a:t>The actual peak voltage hits </a:t>
                </a:r>
                <a14:m>
                  <m:oMath xmlns:m="http://schemas.openxmlformats.org/officeDocument/2006/math">
                    <m:r>
                      <a:rPr lang="en-US" i="1">
                        <a:effectLst/>
                        <a:latin typeface="Cambria Math" panose="02040503050406030204" pitchFamily="18" charset="0"/>
                        <a:ea typeface="Aptos" panose="020B0004020202020204" pitchFamily="34" charset="0"/>
                      </a:rPr>
                      <m:t>220</m:t>
                    </m:r>
                    <m:r>
                      <a:rPr lang="en-US">
                        <a:effectLst/>
                        <a:latin typeface="Cambria Math" panose="02040503050406030204" pitchFamily="18" charset="0"/>
                        <a:ea typeface="Aptos" panose="020B0004020202020204" pitchFamily="34" charset="0"/>
                      </a:rPr>
                      <m:t>×</m:t>
                    </m:r>
                    <m:rad>
                      <m:radPr>
                        <m:degHide m:val="on"/>
                        <m:ctrlPr>
                          <a:rPr lang="ru-RU" i="1">
                            <a:effectLst/>
                            <a:latin typeface="Cambria Math" panose="02040503050406030204" pitchFamily="18" charset="0"/>
                            <a:ea typeface="Aptos" panose="020B0004020202020204" pitchFamily="34" charset="0"/>
                          </a:rPr>
                        </m:ctrlPr>
                      </m:radPr>
                      <m:deg/>
                      <m:e>
                        <m:r>
                          <a:rPr lang="en-US" i="1">
                            <a:effectLst/>
                            <a:latin typeface="Cambria Math" panose="02040503050406030204" pitchFamily="18" charset="0"/>
                            <a:ea typeface="Aptos" panose="020B0004020202020204" pitchFamily="34" charset="0"/>
                          </a:rPr>
                          <m:t>2</m:t>
                        </m:r>
                      </m:e>
                    </m:rad>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311</m:t>
                    </m:r>
                  </m:oMath>
                </a14:m>
                <a:r>
                  <a:rPr lang="en-US" dirty="0">
                    <a:effectLst/>
                    <a:latin typeface="Arial" panose="020B0604020202020204" pitchFamily="34" charset="0"/>
                    <a:ea typeface="Aptos" panose="020B0004020202020204" pitchFamily="34" charset="0"/>
                  </a:rPr>
                  <a:t> Volts.</a:t>
                </a:r>
                <a:endParaRPr lang="ru-RU" dirty="0">
                  <a:effectLst/>
                  <a:latin typeface="Arial" panose="020B0604020202020204" pitchFamily="34" charset="0"/>
                  <a:ea typeface="Aptos" panose="020B0004020202020204" pitchFamily="34" charset="0"/>
                </a:endParaRPr>
              </a:p>
              <a:p>
                <a:pPr algn="just">
                  <a:lnSpc>
                    <a:spcPct val="120000"/>
                  </a:lnSpc>
                </a:pPr>
                <a:endParaRPr lang="en-US" b="1" dirty="0">
                  <a:effectLst/>
                  <a:latin typeface="Arial" panose="020B0604020202020204" pitchFamily="34" charset="0"/>
                  <a:ea typeface="Aptos" panose="020B0004020202020204" pitchFamily="34" charset="0"/>
                </a:endParaRPr>
              </a:p>
              <a:p>
                <a:pPr algn="just">
                  <a:lnSpc>
                    <a:spcPct val="120000"/>
                  </a:lnSpc>
                </a:pPr>
                <a:endParaRPr lang="ru-RU"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55A8C17A-9F5B-91B4-2F74-D86F6D5E1A3A}"/>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spTree>
    <p:extLst>
      <p:ext uri="{BB962C8B-B14F-4D97-AF65-F5344CB8AC3E}">
        <p14:creationId xmlns:p14="http://schemas.microsoft.com/office/powerpoint/2010/main" val="1424732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5B6C4-818C-3A35-DF1A-2CB121C186E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1AC416-7F18-DD27-F37D-F0743CAB7F8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95794B0-4BE4-4B55-CE09-014078ED498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24B94F4-5672-0D96-91B7-397B9454A3C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EFB67E4-E122-B07D-B27B-B61DEA189B0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7" name="Объект 6">
            <a:extLst>
              <a:ext uri="{FF2B5EF4-FFF2-40B4-BE49-F238E27FC236}">
                <a16:creationId xmlns:a16="http://schemas.microsoft.com/office/drawing/2014/main" id="{74730720-EA96-839B-491A-E77E53B809FF}"/>
              </a:ext>
            </a:extLst>
          </p:cNvPr>
          <p:cNvSpPr>
            <a:spLocks noGrp="1"/>
          </p:cNvSpPr>
          <p:nvPr>
            <p:ph idx="1"/>
          </p:nvPr>
        </p:nvSpPr>
        <p:spPr/>
        <p:txBody>
          <a:bodyPr/>
          <a:lstStyle/>
          <a:p>
            <a:endParaRPr lang="ru-RU" dirty="0"/>
          </a:p>
        </p:txBody>
      </p:sp>
      <p:sp>
        <p:nvSpPr>
          <p:cNvPr id="9" name="Объект 2">
            <a:extLst>
              <a:ext uri="{FF2B5EF4-FFF2-40B4-BE49-F238E27FC236}">
                <a16:creationId xmlns:a16="http://schemas.microsoft.com/office/drawing/2014/main" id="{7E77F7CB-3F1A-AC3B-A532-7067F4F95684}"/>
              </a:ext>
            </a:extLst>
          </p:cNvPr>
          <p:cNvSpPr txBox="1">
            <a:spLocks/>
          </p:cNvSpPr>
          <p:nvPr/>
        </p:nvSpPr>
        <p:spPr>
          <a:xfrm>
            <a:off x="838200" y="1825625"/>
            <a:ext cx="5403574"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r>
              <a:rPr lang="en-US" dirty="0">
                <a:ea typeface="Aptos" panose="020B0004020202020204" pitchFamily="34" charset="0"/>
                <a:cs typeface="Arial" panose="020B0604020202020204" pitchFamily="34" charset="0"/>
              </a:rPr>
              <a:t>Do you have you any questions at the moment?</a:t>
            </a:r>
            <a:endParaRPr lang="ru-RU" dirty="0">
              <a:ea typeface="Aptos" panose="020B0004020202020204" pitchFamily="34" charset="0"/>
              <a:cs typeface="Arial" panose="020B0604020202020204" pitchFamily="34" charset="0"/>
            </a:endParaRPr>
          </a:p>
        </p:txBody>
      </p:sp>
      <p:pic>
        <p:nvPicPr>
          <p:cNvPr id="10" name="Picture 2">
            <a:extLst>
              <a:ext uri="{FF2B5EF4-FFF2-40B4-BE49-F238E27FC236}">
                <a16:creationId xmlns:a16="http://schemas.microsoft.com/office/drawing/2014/main" id="{4CF2EFE6-8CAE-3418-9A07-E2D3FE3D41A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461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89E2-C907-7379-B2E0-E33352E4F7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E234DC-39F9-0C43-A28D-4A74F15E4C4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48018B73-C20C-5FF3-D449-7C95A780534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4B03614-0DFA-A2F7-F4D6-8AE20D5BF2D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C78C5E5-B5C1-737E-8503-A13F31CD3E4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B2C69B11-AEA2-2428-B8C3-58EB721FA8C9}"/>
                  </a:ext>
                </a:extLst>
              </p:cNvPr>
              <p:cNvSpPr>
                <a:spLocks noGrp="1"/>
              </p:cNvSpPr>
              <p:nvPr>
                <p:ph idx="1"/>
              </p:nvPr>
            </p:nvSpPr>
            <p:spPr/>
            <p:txBody>
              <a:bodyPr>
                <a:normAutofit/>
              </a:bodyPr>
              <a:lstStyle/>
              <a:p>
                <a:pPr algn="just">
                  <a:lnSpc>
                    <a:spcPct val="120000"/>
                  </a:lnSpc>
                </a:pPr>
                <a:r>
                  <a:rPr lang="en-US" dirty="0">
                    <a:effectLst/>
                    <a:ea typeface="Aptos" panose="020B0004020202020204" pitchFamily="34" charset="0"/>
                  </a:rPr>
                  <a:t>Now let us discuss the Phase.</a:t>
                </a:r>
              </a:p>
              <a:p>
                <a:pPr algn="just">
                  <a:lnSpc>
                    <a:spcPct val="120000"/>
                  </a:lnSpc>
                </a:pPr>
                <a:r>
                  <a:rPr lang="en-US" b="1" dirty="0">
                    <a:effectLst/>
                    <a:ea typeface="Aptos" panose="020B0004020202020204" pitchFamily="34" charset="0"/>
                  </a:rPr>
                  <a:t>The Initial Phase Angle (</a:t>
                </a:r>
                <a14:m>
                  <m:oMath xmlns:m="http://schemas.openxmlformats.org/officeDocument/2006/math">
                    <m:r>
                      <a:rPr lang="en-US" b="1" i="1">
                        <a:effectLst/>
                        <a:latin typeface="Cambria Math" panose="02040503050406030204" pitchFamily="18" charset="0"/>
                        <a:ea typeface="Aptos" panose="020B0004020202020204" pitchFamily="34" charset="0"/>
                      </a:rPr>
                      <m:t>𝝓</m:t>
                    </m:r>
                  </m:oMath>
                </a14:m>
                <a:r>
                  <a:rPr lang="en-US" b="1" dirty="0">
                    <a:effectLst/>
                    <a:ea typeface="Aptos" panose="020B0004020202020204" pitchFamily="34" charset="0"/>
                  </a:rPr>
                  <a:t>) tells us where the wave starts at time </a:t>
                </a:r>
                <a14:m>
                  <m:oMath xmlns:m="http://schemas.openxmlformats.org/officeDocument/2006/math">
                    <m:r>
                      <a:rPr lang="en-US" b="1" i="1">
                        <a:effectLst/>
                        <a:latin typeface="Cambria Math" panose="02040503050406030204" pitchFamily="18" charset="0"/>
                        <a:ea typeface="Aptos" panose="020B0004020202020204" pitchFamily="34" charset="0"/>
                      </a:rPr>
                      <m:t>𝒕</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𝟎</m:t>
                    </m:r>
                  </m:oMath>
                </a14:m>
                <a:r>
                  <a:rPr lang="en-US" b="1" dirty="0">
                    <a:effectLst/>
                    <a:ea typeface="Aptos" panose="020B00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rPr>
                  <a:t>We use the cosine function as the standard reference.</a:t>
                </a:r>
                <a:endParaRPr lang="ru-RU" dirty="0">
                  <a:effectLst/>
                  <a:latin typeface="Arial" panose="020B0604020202020204" pitchFamily="34" charset="0"/>
                  <a:ea typeface="Aptos" panose="020B0004020202020204" pitchFamily="34" charset="0"/>
                </a:endParaRPr>
              </a:p>
              <a:p>
                <a:pPr marL="342900" lvl="0" indent="-342900" algn="just">
                  <a:lnSpc>
                    <a:spcPct val="120000"/>
                  </a:lnSpc>
                  <a:buFont typeface="Symbol" panose="05050102010706020507" pitchFamily="18" charset="2"/>
                  <a:buChar char=""/>
                </a:pPr>
                <a:r>
                  <a:rPr lang="en-US" dirty="0">
                    <a:effectLst/>
                    <a:latin typeface="Arial" panose="020B0604020202020204" pitchFamily="34" charset="0"/>
                    <a:ea typeface="Aptos" panose="020B0004020202020204" pitchFamily="34" charset="0"/>
                  </a:rPr>
                  <a:t>if </a:t>
                </a:r>
                <a14:m>
                  <m:oMath xmlns:m="http://schemas.openxmlformats.org/officeDocument/2006/math">
                    <m:r>
                      <a:rPr lang="en-US" i="1">
                        <a:effectLst/>
                        <a:latin typeface="Cambria Math" panose="02040503050406030204" pitchFamily="18" charset="0"/>
                        <a:ea typeface="Aptos" panose="020B0004020202020204" pitchFamily="34" charset="0"/>
                      </a:rPr>
                      <m:t>𝜙</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0</m:t>
                    </m:r>
                  </m:oMath>
                </a14:m>
                <a:r>
                  <a:rPr lang="en-US" dirty="0">
                    <a:effectLst/>
                    <a:latin typeface="Arial" panose="020B0604020202020204" pitchFamily="34" charset="0"/>
                    <a:ea typeface="Aptos" panose="020B0004020202020204" pitchFamily="34" charset="0"/>
                  </a:rPr>
                  <a:t>, the wave is </a:t>
                </a:r>
                <a14:m>
                  <m:oMath xmlns:m="http://schemas.openxmlformats.org/officeDocument/2006/math">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oMath>
                </a14:m>
                <a:r>
                  <a:rPr lang="en-US" dirty="0">
                    <a:effectLst/>
                    <a:latin typeface="Arial" panose="020B0604020202020204" pitchFamily="34" charset="0"/>
                    <a:ea typeface="Aptos" panose="020B0004020202020204" pitchFamily="34" charset="0"/>
                  </a:rPr>
                  <a:t>. It starts at its maximum positive value at </a:t>
                </a:r>
                <a14:m>
                  <m:oMath xmlns:m="http://schemas.openxmlformats.org/officeDocument/2006/math">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0</m:t>
                    </m:r>
                  </m:oMath>
                </a14:m>
                <a:r>
                  <a:rPr lang="en-US" dirty="0">
                    <a:effectLst/>
                    <a:latin typeface="Arial" panose="020B0604020202020204" pitchFamily="34" charset="0"/>
                    <a:ea typeface="Aptos" panose="020B0004020202020204" pitchFamily="34" charset="0"/>
                  </a:rPr>
                  <a:t>;</a:t>
                </a:r>
                <a:endParaRPr lang="ru-RU" dirty="0">
                  <a:effectLst/>
                  <a:latin typeface="Arial" panose="020B0604020202020204" pitchFamily="34" charset="0"/>
                  <a:ea typeface="Aptos" panose="020B0004020202020204" pitchFamily="34" charset="0"/>
                </a:endParaRPr>
              </a:p>
              <a:p>
                <a:pPr marL="342900" lvl="0" indent="-342900" algn="just">
                  <a:lnSpc>
                    <a:spcPct val="120000"/>
                  </a:lnSpc>
                  <a:buFont typeface="Symbol" panose="05050102010706020507" pitchFamily="18" charset="2"/>
                  <a:buChar char=""/>
                </a:pPr>
                <a:r>
                  <a:rPr lang="en-US" dirty="0">
                    <a:effectLst/>
                    <a:latin typeface="Arial" panose="020B0604020202020204" pitchFamily="34" charset="0"/>
                    <a:ea typeface="Aptos" panose="020B0004020202020204" pitchFamily="34" charset="0"/>
                  </a:rPr>
                  <a:t>if </a:t>
                </a:r>
                <a14:m>
                  <m:oMath xmlns:m="http://schemas.openxmlformats.org/officeDocument/2006/math">
                    <m:r>
                      <a:rPr lang="en-US" i="1">
                        <a:effectLst/>
                        <a:latin typeface="Cambria Math" panose="02040503050406030204" pitchFamily="18" charset="0"/>
                        <a:ea typeface="Aptos" panose="020B0004020202020204" pitchFamily="34" charset="0"/>
                      </a:rPr>
                      <m:t>𝜙</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90</m:t>
                        </m:r>
                      </m:e>
                      <m:sup>
                        <m:r>
                          <a:rPr lang="en-US">
                            <a:effectLst/>
                            <a:latin typeface="Cambria Math" panose="02040503050406030204" pitchFamily="18" charset="0"/>
                            <a:ea typeface="Aptos" panose="020B0004020202020204" pitchFamily="34" charset="0"/>
                          </a:rPr>
                          <m:t>∘</m:t>
                        </m:r>
                      </m:sup>
                    </m:sSup>
                  </m:oMath>
                </a14:m>
                <a:r>
                  <a:rPr lang="en-US" dirty="0">
                    <a:effectLst/>
                    <a:latin typeface="Arial" panose="020B0604020202020204" pitchFamily="34" charset="0"/>
                    <a:ea typeface="Aptos" panose="020B0004020202020204" pitchFamily="34" charset="0"/>
                  </a:rPr>
                  <a:t> (or </a:t>
                </a:r>
                <a14:m>
                  <m:oMath xmlns:m="http://schemas.openxmlformats.org/officeDocument/2006/math">
                    <m:r>
                      <a:rPr lang="en-US" i="1">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𝜋</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2</m:t>
                    </m:r>
                  </m:oMath>
                </a14:m>
                <a:r>
                  <a:rPr lang="en-US" dirty="0">
                    <a:effectLst/>
                    <a:latin typeface="Arial" panose="020B0604020202020204" pitchFamily="34" charset="0"/>
                    <a:ea typeface="Aptos" panose="020B0004020202020204" pitchFamily="34" charset="0"/>
                  </a:rPr>
                  <a:t>), the wave starts at zero and goes up. </a:t>
                </a:r>
                <a:endParaRPr lang="ru-RU"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B2C69B11-AEA2-2428-B8C3-58EB721FA8C9}"/>
                  </a:ext>
                </a:extLst>
              </p:cNvPr>
              <p:cNvSpPr>
                <a:spLocks noGrp="1" noRot="1" noChangeAspect="1" noMove="1" noResize="1" noEditPoints="1" noAdjustHandles="1" noChangeArrowheads="1" noChangeShapeType="1" noTextEdit="1"/>
              </p:cNvSpPr>
              <p:nvPr>
                <p:ph idx="1"/>
              </p:nvPr>
            </p:nvSpPr>
            <p:spPr>
              <a:blipFill>
                <a:blip r:embed="rId2"/>
                <a:stretch>
                  <a:fillRect l="-1217" t="-140" r="-1159"/>
                </a:stretch>
              </a:blipFill>
            </p:spPr>
            <p:txBody>
              <a:bodyPr/>
              <a:lstStyle/>
              <a:p>
                <a:r>
                  <a:rPr lang="ru-RU">
                    <a:noFill/>
                  </a:rPr>
                  <a:t> </a:t>
                </a:r>
              </a:p>
            </p:txBody>
          </p:sp>
        </mc:Fallback>
      </mc:AlternateContent>
    </p:spTree>
    <p:extLst>
      <p:ext uri="{BB962C8B-B14F-4D97-AF65-F5344CB8AC3E}">
        <p14:creationId xmlns:p14="http://schemas.microsoft.com/office/powerpoint/2010/main" val="611593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1E9B2-6389-FAE0-C319-BFB2C81C03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0D4C10-DA57-9340-1D4F-1CF8C74169C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EA848F4-680A-9617-3BD3-2934BAAFDF1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FFCFCB6-C0F8-8E08-593F-D36B4DCD6C4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4F5889D-5DF2-5834-4D86-78F75B1701B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0BD7E3F1-9BCE-DE96-0131-A44EF9228F28}"/>
                  </a:ext>
                </a:extLst>
              </p:cNvPr>
              <p:cNvSpPr>
                <a:spLocks noGrp="1"/>
              </p:cNvSpPr>
              <p:nvPr>
                <p:ph idx="1"/>
              </p:nvPr>
            </p:nvSpPr>
            <p:spPr/>
            <p:txBody>
              <a:bodyPr>
                <a:normAutofit/>
              </a:bodyPr>
              <a:lstStyle/>
              <a:p>
                <a:pPr algn="just">
                  <a:lnSpc>
                    <a:spcPct val="120000"/>
                  </a:lnSpc>
                </a:pPr>
                <a:r>
                  <a:rPr lang="en-US" dirty="0">
                    <a:effectLst/>
                    <a:ea typeface="Aptos" panose="020B0004020202020204" pitchFamily="34" charset="0"/>
                  </a:rPr>
                  <a:t>This is equivalent to a sine function: </a:t>
                </a:r>
                <a:endParaRPr lang="en-US" b="1" i="1" dirty="0">
                  <a:effectLst/>
                  <a:latin typeface="Cambria Math" panose="02040503050406030204" pitchFamily="18"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ea typeface="Aptos" panose="020B0004020202020204" pitchFamily="34" charset="0"/>
                        </a:rPr>
                        <m:t>𝒄𝒐𝒔</m:t>
                      </m:r>
                      <m:d>
                        <m:dPr>
                          <m:ctrlPr>
                            <a:rPr lang="en-US" b="1" i="1">
                              <a:effectLst/>
                              <a:latin typeface="Cambria Math" panose="02040503050406030204" pitchFamily="18" charset="0"/>
                              <a:ea typeface="Aptos" panose="020B0004020202020204" pitchFamily="34" charset="0"/>
                            </a:rPr>
                          </m:ctrlPr>
                        </m:dPr>
                        <m:e>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𝒕</m:t>
                          </m:r>
                          <m:r>
                            <a:rPr lang="en-US" b="1" i="1">
                              <a:effectLst/>
                              <a:latin typeface="Cambria Math" panose="02040503050406030204" pitchFamily="18" charset="0"/>
                              <a:ea typeface="Aptos" panose="020B0004020202020204" pitchFamily="34" charset="0"/>
                            </a:rPr>
                            <m:t>−</m:t>
                          </m:r>
                          <m:sSup>
                            <m:sSupPr>
                              <m:ctrlPr>
                                <a:rPr lang="ru-RU" b="1" i="1">
                                  <a:effectLst/>
                                  <a:latin typeface="Cambria Math" panose="02040503050406030204" pitchFamily="18" charset="0"/>
                                  <a:ea typeface="Aptos" panose="020B0004020202020204" pitchFamily="34" charset="0"/>
                                </a:rPr>
                              </m:ctrlPr>
                            </m:sSupPr>
                            <m:e>
                              <m:r>
                                <a:rPr lang="en-US" b="1" i="1">
                                  <a:effectLst/>
                                  <a:latin typeface="Cambria Math" panose="02040503050406030204" pitchFamily="18" charset="0"/>
                                  <a:ea typeface="Aptos" panose="020B0004020202020204" pitchFamily="34" charset="0"/>
                                </a:rPr>
                                <m:t>𝟗𝟎</m:t>
                              </m:r>
                            </m:e>
                            <m:sup>
                              <m:r>
                                <a:rPr lang="en-US" b="1">
                                  <a:effectLst/>
                                  <a:latin typeface="Cambria Math" panose="02040503050406030204" pitchFamily="18" charset="0"/>
                                  <a:ea typeface="Aptos" panose="020B0004020202020204" pitchFamily="34" charset="0"/>
                                </a:rPr>
                                <m:t>∘</m:t>
                              </m:r>
                            </m:sup>
                          </m:sSup>
                        </m:e>
                      </m:d>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𝒔𝒊𝒏</m:t>
                      </m:r>
                      <m:d>
                        <m:dPr>
                          <m:ctrlPr>
                            <a:rPr lang="en-US" b="1" i="1">
                              <a:effectLst/>
                              <a:latin typeface="Cambria Math" panose="02040503050406030204" pitchFamily="18" charset="0"/>
                              <a:ea typeface="Aptos" panose="020B0004020202020204" pitchFamily="34" charset="0"/>
                            </a:rPr>
                          </m:ctrlPr>
                        </m:dPr>
                        <m:e>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𝒕</m:t>
                          </m:r>
                        </m:e>
                      </m:d>
                      <m:r>
                        <a:rPr lang="en-US" b="1" i="0" smtClean="0">
                          <a:effectLst/>
                          <a:latin typeface="Cambria Math" panose="02040503050406030204" pitchFamily="18" charset="0"/>
                          <a:ea typeface="Aptos" panose="020B0004020202020204" pitchFamily="34" charset="0"/>
                        </a:rPr>
                        <m:t>.</m:t>
                      </m:r>
                    </m:oMath>
                  </m:oMathPara>
                </a14:m>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The initial phase is the value of the phase argument </a:t>
                </a:r>
                <a14:m>
                  <m:oMath xmlns:m="http://schemas.openxmlformats.org/officeDocument/2006/math">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𝒕</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𝝓</m:t>
                    </m:r>
                    <m:r>
                      <a:rPr lang="en-US" b="1">
                        <a:effectLst/>
                        <a:latin typeface="Cambria Math" panose="02040503050406030204" pitchFamily="18" charset="0"/>
                        <a:ea typeface="Aptos" panose="020B0004020202020204" pitchFamily="34" charset="0"/>
                      </a:rPr>
                      <m:t>)</m:t>
                    </m:r>
                  </m:oMath>
                </a14:m>
                <a:r>
                  <a:rPr lang="en-US" b="1" dirty="0">
                    <a:effectLst/>
                    <a:ea typeface="Aptos" panose="020B0004020202020204" pitchFamily="34" charset="0"/>
                  </a:rPr>
                  <a:t> when </a:t>
                </a:r>
                <a14:m>
                  <m:oMath xmlns:m="http://schemas.openxmlformats.org/officeDocument/2006/math">
                    <m:r>
                      <a:rPr lang="en-US" b="1" i="1">
                        <a:effectLst/>
                        <a:latin typeface="Cambria Math" panose="02040503050406030204" pitchFamily="18" charset="0"/>
                        <a:ea typeface="Aptos" panose="020B0004020202020204" pitchFamily="34" charset="0"/>
                      </a:rPr>
                      <m:t>𝒕</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𝟎</m:t>
                    </m:r>
                  </m:oMath>
                </a14:m>
                <a:r>
                  <a:rPr lang="en-US" b="1" dirty="0">
                    <a:effectLst/>
                    <a:ea typeface="Aptos" panose="020B0004020202020204" pitchFamily="34" charset="0"/>
                  </a:rPr>
                  <a:t>. </a:t>
                </a:r>
              </a:p>
              <a:p>
                <a:pPr algn="just">
                  <a:lnSpc>
                    <a:spcPct val="120000"/>
                  </a:lnSpc>
                </a:pPr>
                <a:r>
                  <a:rPr lang="en-US" dirty="0">
                    <a:effectLst/>
                    <a:ea typeface="Aptos" panose="020B0004020202020204" pitchFamily="34" charset="0"/>
                  </a:rPr>
                  <a:t>It effectively shifts the wave left or right along the time axis.</a:t>
                </a:r>
                <a:endParaRPr lang="ru-RU"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0BD7E3F1-9BCE-DE96-0131-A44EF9228F28}"/>
                  </a:ext>
                </a:extLst>
              </p:cNvPr>
              <p:cNvSpPr>
                <a:spLocks noGrp="1" noRot="1" noChangeAspect="1" noMove="1" noResize="1" noEditPoints="1" noAdjustHandles="1" noChangeArrowheads="1" noChangeShapeType="1" noTextEdit="1"/>
              </p:cNvSpPr>
              <p:nvPr>
                <p:ph idx="1"/>
              </p:nvPr>
            </p:nvSpPr>
            <p:spPr>
              <a:blipFill>
                <a:blip r:embed="rId2"/>
                <a:stretch>
                  <a:fillRect l="-1043" t="-140"/>
                </a:stretch>
              </a:blipFill>
            </p:spPr>
            <p:txBody>
              <a:bodyPr/>
              <a:lstStyle/>
              <a:p>
                <a:r>
                  <a:rPr lang="ru-RU">
                    <a:noFill/>
                  </a:rPr>
                  <a:t> </a:t>
                </a:r>
              </a:p>
            </p:txBody>
          </p:sp>
        </mc:Fallback>
      </mc:AlternateContent>
    </p:spTree>
    <p:extLst>
      <p:ext uri="{BB962C8B-B14F-4D97-AF65-F5344CB8AC3E}">
        <p14:creationId xmlns:p14="http://schemas.microsoft.com/office/powerpoint/2010/main" val="2952772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2A2DC-A647-8988-55D5-F4127146D5E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14EE67-59BC-7CDA-2D29-A3ACA2D154C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394AFDB0-1575-5B8B-EB53-2AC6C55AF50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9B96075-9BA5-519B-2E99-BABED9D26F2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56FDBCB-48E7-551E-EEC5-7EE7E639338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1FD28640-51AC-5393-86C1-6FBDAA37F6CA}"/>
                  </a:ext>
                </a:extLst>
              </p:cNvPr>
              <p:cNvSpPr>
                <a:spLocks noGrp="1"/>
              </p:cNvSpPr>
              <p:nvPr>
                <p:ph idx="1"/>
              </p:nvPr>
            </p:nvSpPr>
            <p:spPr/>
            <p:txBody>
              <a:bodyPr>
                <a:noAutofit/>
              </a:bodyPr>
              <a:lstStyle/>
              <a:p>
                <a:r>
                  <a:rPr lang="en-US" dirty="0">
                    <a:effectLst/>
                    <a:latin typeface="Arial" panose="020B0604020202020204" pitchFamily="34" charset="0"/>
                    <a:ea typeface="Aptos" panose="020B0004020202020204" pitchFamily="34" charset="0"/>
                  </a:rPr>
                  <a:t>In circuits, we rarely care about the absolute phase of one wave. </a:t>
                </a:r>
              </a:p>
              <a:p>
                <a:r>
                  <a:rPr lang="en-US" dirty="0">
                    <a:effectLst/>
                    <a:latin typeface="Arial" panose="020B0604020202020204" pitchFamily="34" charset="0"/>
                    <a:ea typeface="Aptos" panose="020B0004020202020204" pitchFamily="34" charset="0"/>
                  </a:rPr>
                  <a:t>We care about the Phase Difference between two waves (usually voltage and current). </a:t>
                </a:r>
              </a:p>
              <a:p>
                <a:r>
                  <a:rPr lang="en-US" dirty="0">
                    <a:effectLst/>
                    <a:latin typeface="Arial" panose="020B0604020202020204" pitchFamily="34" charset="0"/>
                    <a:ea typeface="Aptos" panose="020B0004020202020204" pitchFamily="34" charset="0"/>
                  </a:rPr>
                  <a:t>Suppose we have two quantities with the same frequency:</a:t>
                </a:r>
              </a:p>
              <a:p>
                <a:pPr marL="0" indent="0">
                  <a:buNone/>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Aptos" panose="020B0004020202020204" pitchFamily="34" charset="0"/>
                        </a:rPr>
                        <m:t>𝑣</m:t>
                      </m:r>
                      <m:d>
                        <m:dPr>
                          <m:ctrlPr>
                            <a:rPr lang="en-US" i="1">
                              <a:effectLst/>
                              <a:latin typeface="Cambria Math" panose="02040503050406030204" pitchFamily="18" charset="0"/>
                              <a:ea typeface="Aptos" panose="020B0004020202020204" pitchFamily="34" charset="0"/>
                            </a:rPr>
                          </m:ctrlPr>
                        </m:dPr>
                        <m:e>
                          <m:r>
                            <a:rPr lang="en-US" i="1">
                              <a:effectLst/>
                              <a:latin typeface="Cambria Math" panose="02040503050406030204" pitchFamily="18" charset="0"/>
                              <a:ea typeface="Aptos" panose="020B0004020202020204" pitchFamily="34" charset="0"/>
                            </a:rPr>
                            <m:t>𝑡</m:t>
                          </m:r>
                        </m:e>
                      </m:d>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𝑉</m:t>
                          </m:r>
                        </m:e>
                        <m:sub>
                          <m:r>
                            <a:rPr lang="en-US" i="1">
                              <a:effectLst/>
                              <a:latin typeface="Cambria Math" panose="02040503050406030204" pitchFamily="18" charset="0"/>
                              <a:ea typeface="Aptos" panose="020B0004020202020204" pitchFamily="34" charset="0"/>
                            </a:rPr>
                            <m:t>𝑚</m:t>
                          </m:r>
                        </m:sub>
                      </m:sSub>
                      <m:r>
                        <m:rPr>
                          <m:sty m:val="p"/>
                        </m:rPr>
                        <a:rPr lang="en-US">
                          <a:effectLst/>
                          <a:latin typeface="Cambria Math" panose="02040503050406030204" pitchFamily="18" charset="0"/>
                          <a:ea typeface="Aptos" panose="020B0004020202020204" pitchFamily="34" charset="0"/>
                        </a:rPr>
                        <m:t>cos</m:t>
                      </m:r>
                      <m:d>
                        <m:dPr>
                          <m:ctrlPr>
                            <a:rPr lang="en-US" i="1">
                              <a:effectLst/>
                              <a:latin typeface="Cambria Math" panose="02040503050406030204" pitchFamily="18" charset="0"/>
                              <a:ea typeface="Aptos" panose="020B0004020202020204" pitchFamily="34" charset="0"/>
                            </a:rPr>
                          </m:ctrlPr>
                        </m:dPr>
                        <m:e>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𝜙</m:t>
                              </m:r>
                            </m:e>
                            <m:sub>
                              <m:r>
                                <a:rPr lang="en-US" i="1">
                                  <a:effectLst/>
                                  <a:latin typeface="Cambria Math" panose="02040503050406030204" pitchFamily="18" charset="0"/>
                                  <a:ea typeface="Aptos" panose="020B0004020202020204" pitchFamily="34" charset="0"/>
                                </a:rPr>
                                <m:t>𝑣</m:t>
                              </m:r>
                            </m:sub>
                          </m:sSub>
                        </m:e>
                      </m:d>
                    </m:oMath>
                  </m:oMathPara>
                </a14:m>
                <a:endParaRPr lang="en-US" dirty="0">
                  <a:effectLst/>
                  <a:latin typeface="Arial" panose="020B0604020202020204" pitchFamily="34" charset="0"/>
                  <a:ea typeface="Aptos" panose="020B0004020202020204" pitchFamily="34" charset="0"/>
                </a:endParaRPr>
              </a:p>
              <a:p>
                <a:pPr marL="0" indent="0">
                  <a:buNone/>
                </a:pPr>
                <a:endParaRPr lang="en-US" dirty="0">
                  <a:effectLst/>
                  <a:latin typeface="Arial" panose="020B0604020202020204" pitchFamily="34" charset="0"/>
                  <a:ea typeface="Aptos" panose="020B00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Aptos" panose="020B0004020202020204" pitchFamily="34" charset="0"/>
                        </a:rPr>
                        <m:t>𝑖</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𝐼</m:t>
                          </m:r>
                        </m:e>
                        <m:sub>
                          <m:r>
                            <a:rPr lang="en-US" i="1">
                              <a:effectLst/>
                              <a:latin typeface="Cambria Math" panose="02040503050406030204" pitchFamily="18" charset="0"/>
                              <a:ea typeface="Aptos" panose="020B0004020202020204" pitchFamily="34" charset="0"/>
                            </a:rPr>
                            <m:t>𝑚</m:t>
                          </m:r>
                        </m:sub>
                      </m:sSub>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𝜙</m:t>
                          </m:r>
                        </m:e>
                        <m:sub>
                          <m:r>
                            <a:rPr lang="en-US" i="1">
                              <a:effectLst/>
                              <a:latin typeface="Cambria Math" panose="02040503050406030204" pitchFamily="18" charset="0"/>
                              <a:ea typeface="Aptos" panose="020B0004020202020204" pitchFamily="34" charset="0"/>
                            </a:rPr>
                            <m:t>𝑖</m:t>
                          </m:r>
                        </m:sub>
                      </m:sSub>
                      <m:r>
                        <a:rPr lang="en-US">
                          <a:effectLst/>
                          <a:latin typeface="Cambria Math" panose="02040503050406030204" pitchFamily="18" charset="0"/>
                          <a:ea typeface="Aptos" panose="020B0004020202020204" pitchFamily="34" charset="0"/>
                        </a:rPr>
                        <m:t>)</m:t>
                      </m:r>
                    </m:oMath>
                  </m:oMathPara>
                </a14:m>
                <a:endParaRPr lang="en-US" b="1" dirty="0"/>
              </a:p>
            </p:txBody>
          </p:sp>
        </mc:Choice>
        <mc:Fallback xmlns="">
          <p:sp>
            <p:nvSpPr>
              <p:cNvPr id="8" name="Объект 7">
                <a:extLst>
                  <a:ext uri="{FF2B5EF4-FFF2-40B4-BE49-F238E27FC236}">
                    <a16:creationId xmlns:a16="http://schemas.microsoft.com/office/drawing/2014/main" id="{1FD28640-51AC-5393-86C1-6FBDAA37F6C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1717826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35AF4-1AB6-53F8-25A3-45161BCD4C6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B4B730-7AFF-E364-8D68-92C1F70B51A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BCBB966-3412-9251-7A30-F0ACFE69DA8C}"/>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6FD4D3D-5CFB-340C-4316-598B9DA70D4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B89BB21-ED31-CDF2-2C78-726883E72CE1}"/>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F808D948-EF22-5395-FBD6-DFD37BD71485}"/>
                  </a:ext>
                </a:extLst>
              </p:cNvPr>
              <p:cNvSpPr>
                <a:spLocks noGrp="1"/>
              </p:cNvSpPr>
              <p:nvPr>
                <p:ph idx="1"/>
              </p:nvPr>
            </p:nvSpPr>
            <p:spPr/>
            <p:txBody>
              <a:bodyPr>
                <a:noAutofit/>
              </a:bodyPr>
              <a:lstStyle/>
              <a:p>
                <a:r>
                  <a:rPr lang="en-US" b="1" dirty="0"/>
                  <a:t>The phase difference is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𝒅𝒊𝒇𝒇</m:t>
                        </m:r>
                      </m:sub>
                    </m:sSub>
                    <m:r>
                      <a:rPr lang="en-US" b="1">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𝒗</m:t>
                        </m:r>
                      </m:sub>
                    </m:sSub>
                    <m:r>
                      <a:rPr lang="en-US" b="1" i="1">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𝒊</m:t>
                        </m:r>
                      </m:sub>
                    </m:sSub>
                  </m:oMath>
                </a14:m>
                <a:r>
                  <a:rPr lang="en-US" b="1" dirty="0"/>
                  <a:t>:</a:t>
                </a:r>
                <a:endParaRPr lang="ru-RU" b="1" dirty="0"/>
              </a:p>
              <a:p>
                <a:pPr lvl="0"/>
                <a:r>
                  <a:rPr lang="en-US" b="1" dirty="0"/>
                  <a:t>if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𝒗</m:t>
                        </m:r>
                      </m:sub>
                    </m:sSub>
                    <m:r>
                      <a:rPr lang="en-US" b="1">
                        <a:latin typeface="Cambria Math" panose="02040503050406030204" pitchFamily="18" charset="0"/>
                      </a:rPr>
                      <m:t>&gt;</m:t>
                    </m:r>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𝒊</m:t>
                        </m:r>
                      </m:sub>
                    </m:sSub>
                  </m:oMath>
                </a14:m>
                <a:r>
                  <a:rPr lang="en-US" b="1" dirty="0"/>
                  <a:t>, we say the voltage Leads the current. </a:t>
                </a:r>
                <a:r>
                  <a:rPr lang="en-US" dirty="0"/>
                  <a:t>(The voltage peaks occur earlier in time than the current peaks);</a:t>
                </a:r>
              </a:p>
              <a:p>
                <a:pPr lvl="0"/>
                <a:r>
                  <a:rPr lang="en-US" b="1" dirty="0"/>
                  <a:t>if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𝒗</m:t>
                        </m:r>
                      </m:sub>
                    </m:sSub>
                    <m:r>
                      <a:rPr lang="en-US" b="1">
                        <a:latin typeface="Cambria Math" panose="02040503050406030204" pitchFamily="18" charset="0"/>
                      </a:rPr>
                      <m:t>&lt;</m:t>
                    </m:r>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𝒊</m:t>
                        </m:r>
                      </m:sub>
                    </m:sSub>
                  </m:oMath>
                </a14:m>
                <a:r>
                  <a:rPr lang="en-US" b="1" dirty="0"/>
                  <a:t>, we say the voltage Lags the current. </a:t>
                </a:r>
                <a:r>
                  <a:rPr lang="en-US" dirty="0"/>
                  <a:t>(The voltage peaks occur later);</a:t>
                </a:r>
                <a:endParaRPr lang="ru-RU" dirty="0"/>
              </a:p>
              <a:p>
                <a:pPr lvl="0"/>
                <a:r>
                  <a:rPr lang="en-US" b="1" dirty="0"/>
                  <a:t>if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𝒗</m:t>
                        </m:r>
                      </m:sub>
                    </m:sSub>
                    <m:r>
                      <a:rPr lang="en-US" b="1">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𝒊</m:t>
                        </m:r>
                      </m:sub>
                    </m:sSub>
                  </m:oMath>
                </a14:m>
                <a:r>
                  <a:rPr lang="en-US" b="1" dirty="0"/>
                  <a:t>, the waves are In Phase.</a:t>
                </a:r>
                <a:endParaRPr lang="ru-RU" b="1" dirty="0"/>
              </a:p>
              <a:p>
                <a:r>
                  <a:rPr lang="en-US" b="1" dirty="0"/>
                  <a:t>This concept of Lead and Lag is fundamental to understanding capacitors and inductors.</a:t>
                </a:r>
              </a:p>
              <a:p>
                <a:r>
                  <a:rPr lang="en-US" dirty="0"/>
                  <a:t>At the next slide you can see an illustration of the phase shift phenomenon. If the voltage peak precedes the current peak, this means the voltage leads the current.</a:t>
                </a:r>
                <a:endParaRPr lang="ru-RU" dirty="0"/>
              </a:p>
            </p:txBody>
          </p:sp>
        </mc:Choice>
        <mc:Fallback xmlns="">
          <p:sp>
            <p:nvSpPr>
              <p:cNvPr id="8" name="Объект 7">
                <a:extLst>
                  <a:ext uri="{FF2B5EF4-FFF2-40B4-BE49-F238E27FC236}">
                    <a16:creationId xmlns:a16="http://schemas.microsoft.com/office/drawing/2014/main" id="{F808D948-EF22-5395-FBD6-DFD37BD71485}"/>
                  </a:ext>
                </a:extLst>
              </p:cNvPr>
              <p:cNvSpPr>
                <a:spLocks noGrp="1" noRot="1" noChangeAspect="1" noMove="1" noResize="1" noEditPoints="1" noAdjustHandles="1" noChangeArrowheads="1" noChangeShapeType="1" noTextEdit="1"/>
              </p:cNvSpPr>
              <p:nvPr>
                <p:ph idx="1"/>
              </p:nvPr>
            </p:nvSpPr>
            <p:spPr>
              <a:blipFill>
                <a:blip r:embed="rId2"/>
                <a:stretch>
                  <a:fillRect l="-1043" t="-1961" r="-812" b="-18487"/>
                </a:stretch>
              </a:blipFill>
            </p:spPr>
            <p:txBody>
              <a:bodyPr/>
              <a:lstStyle/>
              <a:p>
                <a:r>
                  <a:rPr lang="ru-RU">
                    <a:noFill/>
                  </a:rPr>
                  <a:t> </a:t>
                </a:r>
              </a:p>
            </p:txBody>
          </p:sp>
        </mc:Fallback>
      </mc:AlternateContent>
    </p:spTree>
    <p:extLst>
      <p:ext uri="{BB962C8B-B14F-4D97-AF65-F5344CB8AC3E}">
        <p14:creationId xmlns:p14="http://schemas.microsoft.com/office/powerpoint/2010/main" val="1277046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2FC49-BE3A-0BB8-2590-051B0DE1A98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1BCD9A-8B3C-5430-2834-0997672EF62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C715B227-44A4-8476-50E8-441C2FCE2B0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9B30A52-7090-3B4B-F52F-DB4E4E6B468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795C198-483D-1AD9-3455-0C2010316B5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pic>
        <p:nvPicPr>
          <p:cNvPr id="3" name="Рисунок 2">
            <a:extLst>
              <a:ext uri="{FF2B5EF4-FFF2-40B4-BE49-F238E27FC236}">
                <a16:creationId xmlns:a16="http://schemas.microsoft.com/office/drawing/2014/main" id="{F1F80D12-C35E-65E7-1A16-22E5F41A0D0F}"/>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04942"/>
          </a:xfrm>
          <a:prstGeom prst="rect">
            <a:avLst/>
          </a:prstGeom>
          <a:noFill/>
          <a:ln>
            <a:noFill/>
          </a:ln>
        </p:spPr>
      </p:pic>
    </p:spTree>
    <p:extLst>
      <p:ext uri="{BB962C8B-B14F-4D97-AF65-F5344CB8AC3E}">
        <p14:creationId xmlns:p14="http://schemas.microsoft.com/office/powerpoint/2010/main" val="2496504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1B66D-7631-DCA6-CD0D-0B9E7079E9D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A9CE9E-E667-415E-B14F-02A14A701F8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EDD5B3EE-7EC9-E3EE-91BE-7E91A46A4BE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9394A57-74C5-9775-A159-ACBB0E33646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7392D19-05DE-2760-97BA-F7388F24BAD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E2080D8F-4586-6505-89E4-425622368F6F}"/>
                  </a:ext>
                </a:extLst>
              </p:cNvPr>
              <p:cNvSpPr>
                <a:spLocks noGrp="1"/>
              </p:cNvSpPr>
              <p:nvPr>
                <p:ph idx="1"/>
              </p:nvPr>
            </p:nvSpPr>
            <p:spPr/>
            <p:txBody>
              <a:bodyPr>
                <a:normAutofit/>
              </a:bodyPr>
              <a:lstStyle/>
              <a:p>
                <a:r>
                  <a:rPr lang="en-US" dirty="0">
                    <a:effectLst/>
                    <a:latin typeface="Arial" panose="020B0604020202020204" pitchFamily="34" charset="0"/>
                    <a:ea typeface="Aptos" panose="020B0004020202020204" pitchFamily="34" charset="0"/>
                  </a:rPr>
                  <a:t>Calculating circuits using trigonometric functions is difficult. Imagine trying to add </a:t>
                </a:r>
                <a14:m>
                  <m:oMath xmlns:m="http://schemas.openxmlformats.org/officeDocument/2006/math">
                    <m:r>
                      <a:rPr lang="en-US" i="1">
                        <a:effectLst/>
                        <a:latin typeface="Cambria Math" panose="02040503050406030204" pitchFamily="18" charset="0"/>
                        <a:ea typeface="Aptos" panose="020B0004020202020204" pitchFamily="34" charset="0"/>
                      </a:rPr>
                      <m:t>10</m:t>
                    </m:r>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377</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5</m:t>
                    </m:r>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377</m:t>
                    </m:r>
                    <m:r>
                      <a:rPr lang="en-US" i="1">
                        <a:effectLst/>
                        <a:latin typeface="Cambria Math" panose="02040503050406030204" pitchFamily="18" charset="0"/>
                        <a:ea typeface="Aptos" panose="020B0004020202020204" pitchFamily="34" charset="0"/>
                      </a:rPr>
                      <m:t>𝑡</m:t>
                    </m:r>
                    <m:r>
                      <a:rPr lang="en-US" i="1">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30</m:t>
                        </m:r>
                      </m:e>
                      <m:sup>
                        <m:r>
                          <a:rPr lang="en-US">
                            <a:effectLst/>
                            <a:latin typeface="Cambria Math" panose="02040503050406030204" pitchFamily="18" charset="0"/>
                            <a:ea typeface="Aptos" panose="020B0004020202020204" pitchFamily="34" charset="0"/>
                          </a:rPr>
                          <m:t>∘</m:t>
                        </m:r>
                      </m:sup>
                    </m:sSup>
                    <m:r>
                      <a:rPr lang="en-US">
                        <a:effectLst/>
                        <a:latin typeface="Cambria Math" panose="02040503050406030204" pitchFamily="18" charset="0"/>
                        <a:ea typeface="Aptos" panose="020B0004020202020204" pitchFamily="34" charset="0"/>
                      </a:rPr>
                      <m:t>)</m:t>
                    </m:r>
                  </m:oMath>
                </a14:m>
                <a:r>
                  <a:rPr lang="en-US" dirty="0">
                    <a:effectLst/>
                    <a:latin typeface="Arial" panose="020B0604020202020204" pitchFamily="34" charset="0"/>
                    <a:ea typeface="Aptos" panose="020B0004020202020204" pitchFamily="34" charset="0"/>
                  </a:rPr>
                  <a:t>. </a:t>
                </a:r>
              </a:p>
              <a:p>
                <a:r>
                  <a:rPr lang="en-US" dirty="0">
                    <a:effectLst/>
                    <a:latin typeface="Arial" panose="020B0604020202020204" pitchFamily="34" charset="0"/>
                    <a:ea typeface="Aptos" panose="020B0004020202020204" pitchFamily="34" charset="0"/>
                  </a:rPr>
                  <a:t>You would need complex trigonometric identities. </a:t>
                </a:r>
              </a:p>
              <a:p>
                <a:r>
                  <a:rPr lang="en-US" dirty="0">
                    <a:effectLst/>
                    <a:latin typeface="Arial" panose="020B0604020202020204" pitchFamily="34" charset="0"/>
                    <a:ea typeface="Aptos" panose="020B0004020202020204" pitchFamily="34" charset="0"/>
                  </a:rPr>
                  <a:t>To solve this, we use a mathematical transformation called Phasors. </a:t>
                </a:r>
                <a:endParaRPr lang="en-US" dirty="0"/>
              </a:p>
              <a:p>
                <a:r>
                  <a:rPr lang="en-US" b="1" dirty="0"/>
                  <a:t>A Phasor is a complex number that represents the Amplitude and Phase of a sinusoid.</a:t>
                </a:r>
                <a:endParaRPr lang="ru-RU" b="1" dirty="0"/>
              </a:p>
            </p:txBody>
          </p:sp>
        </mc:Choice>
        <mc:Fallback xmlns="">
          <p:sp>
            <p:nvSpPr>
              <p:cNvPr id="8" name="Объект 7">
                <a:extLst>
                  <a:ext uri="{FF2B5EF4-FFF2-40B4-BE49-F238E27FC236}">
                    <a16:creationId xmlns:a16="http://schemas.microsoft.com/office/drawing/2014/main" id="{E2080D8F-4586-6505-89E4-425622368F6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1743359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E2D6-49B6-BF1D-C39E-EFF55F619B9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A3A6C4-C7CB-7488-3484-01FD0778825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A7B4FB76-12CD-4F1E-E6B2-C1F6D02A1E5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0635B3E-6138-0F9A-BE83-CE0539F2CB7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2A6BCE1-B5E5-93F9-5B94-2D4E025FA64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ABBE351D-B9D7-43FA-CC71-DFB0B4219D1C}"/>
                  </a:ext>
                </a:extLst>
              </p:cNvPr>
              <p:cNvSpPr>
                <a:spLocks noGrp="1"/>
              </p:cNvSpPr>
              <p:nvPr>
                <p:ph idx="1"/>
              </p:nvPr>
            </p:nvSpPr>
            <p:spPr/>
            <p:txBody>
              <a:bodyPr>
                <a:normAutofit/>
              </a:bodyPr>
              <a:lstStyle/>
              <a:p>
                <a:r>
                  <a:rPr lang="en-US" b="1" dirty="0"/>
                  <a:t>It is based on Euler's Identity: </a:t>
                </a:r>
                <a:endParaRPr lang="ru-RU" b="1" dirty="0"/>
              </a:p>
              <a:p>
                <a:pPr marL="0" indent="0" algn="ctr">
                  <a:buNone/>
                </a:pPr>
                <a14:m>
                  <m:oMathPara xmlns:m="http://schemas.openxmlformats.org/officeDocument/2006/math">
                    <m:oMathParaPr>
                      <m:jc m:val="centerGroup"/>
                    </m:oMathParaPr>
                    <m:oMath xmlns:m="http://schemas.openxmlformats.org/officeDocument/2006/math">
                      <m:sSup>
                        <m:sSupPr>
                          <m:ctrlPr>
                            <a:rPr lang="ru-RU" b="1" i="1">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rPr>
                            <m:t>𝜽</m:t>
                          </m:r>
                        </m:sup>
                      </m:sSup>
                      <m:r>
                        <a:rPr lang="en-US" b="1" smtClean="0">
                          <a:latin typeface="Cambria Math" panose="02040503050406030204" pitchFamily="18" charset="0"/>
                        </a:rPr>
                        <m:t>=</m:t>
                      </m:r>
                      <m:r>
                        <a:rPr lang="en-US" b="1" i="1" smtClean="0">
                          <a:latin typeface="Cambria Math" panose="02040503050406030204" pitchFamily="18" charset="0"/>
                        </a:rPr>
                        <m:t>𝒄𝒐𝒔</m:t>
                      </m:r>
                      <m:r>
                        <a:rPr lang="en-US" b="1" i="1" smtClean="0">
                          <a:latin typeface="Cambria Math" panose="02040503050406030204" pitchFamily="18" charset="0"/>
                        </a:rPr>
                        <m:t>𝜽</m:t>
                      </m:r>
                      <m:r>
                        <a:rPr lang="en-US" b="1" smtClean="0">
                          <a:latin typeface="Cambria Math" panose="02040503050406030204" pitchFamily="18" charset="0"/>
                        </a:rPr>
                        <m:t>+</m:t>
                      </m:r>
                      <m:r>
                        <a:rPr lang="en-US" b="1" i="1" smtClean="0">
                          <a:latin typeface="Cambria Math" panose="02040503050406030204" pitchFamily="18" charset="0"/>
                        </a:rPr>
                        <m:t>𝒋𝒔𝒊𝒏</m:t>
                      </m:r>
                      <m:r>
                        <a:rPr lang="en-US" b="1" i="1" smtClean="0">
                          <a:latin typeface="Cambria Math" panose="02040503050406030204" pitchFamily="18" charset="0"/>
                        </a:rPr>
                        <m:t>𝜽</m:t>
                      </m:r>
                      <m:r>
                        <a:rPr lang="en-US" b="1" i="1" smtClean="0">
                          <a:latin typeface="Cambria Math" panose="02040503050406030204" pitchFamily="18" charset="0"/>
                        </a:rPr>
                        <m:t>.</m:t>
                      </m:r>
                    </m:oMath>
                  </m:oMathPara>
                </a14:m>
                <a:endParaRPr lang="en-US" b="1" dirty="0"/>
              </a:p>
              <a:p>
                <a:r>
                  <a:rPr lang="en-US" dirty="0">
                    <a:effectLst/>
                    <a:latin typeface="Arial" panose="020B0604020202020204" pitchFamily="34" charset="0"/>
                    <a:ea typeface="Aptos" panose="020B0004020202020204" pitchFamily="34" charset="0"/>
                  </a:rPr>
                  <a:t>We can define a cosine wave as the real part of a complex exponential:</a:t>
                </a:r>
                <a:endParaRPr lang="ru-RU" b="1" dirty="0"/>
              </a:p>
              <a:p>
                <a:pPr marL="0" indent="0" algn="ctr">
                  <a:buNone/>
                </a:pPr>
                <a14:m>
                  <m:oMathPara xmlns:m="http://schemas.openxmlformats.org/officeDocument/2006/math">
                    <m:oMathParaPr>
                      <m:jc m:val="centerGroup"/>
                    </m:oMathParaPr>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r>
                        <a:rPr lang="en-US" b="1" i="1" smtClean="0">
                          <a:latin typeface="Cambria Math" panose="02040503050406030204" pitchFamily="18" charset="0"/>
                        </a:rPr>
                        <m:t>𝒄𝒐𝒔</m:t>
                      </m:r>
                      <m:r>
                        <a:rPr lang="en-US" b="1" smtClean="0">
                          <a:latin typeface="Cambria Math" panose="02040503050406030204" pitchFamily="18" charset="0"/>
                        </a:rPr>
                        <m:t>(</m:t>
                      </m:r>
                      <m:r>
                        <a:rPr lang="en-US" b="1" i="1" smtClean="0">
                          <a:latin typeface="Cambria Math" panose="02040503050406030204" pitchFamily="18" charset="0"/>
                        </a:rPr>
                        <m:t>𝝎</m:t>
                      </m:r>
                      <m:r>
                        <a:rPr lang="en-US" b="1" i="1" smtClean="0">
                          <a:latin typeface="Cambria Math" panose="02040503050406030204" pitchFamily="18" charset="0"/>
                        </a:rPr>
                        <m:t>𝒕</m:t>
                      </m:r>
                      <m:r>
                        <a:rPr lang="en-US" b="1" smtClean="0">
                          <a:latin typeface="Cambria Math" panose="02040503050406030204" pitchFamily="18" charset="0"/>
                        </a:rPr>
                        <m:t>+</m:t>
                      </m:r>
                      <m:r>
                        <a:rPr lang="en-US" b="1" i="1" smtClean="0">
                          <a:latin typeface="Cambria Math" panose="02040503050406030204" pitchFamily="18" charset="0"/>
                        </a:rPr>
                        <m:t>𝝓</m:t>
                      </m:r>
                      <m:r>
                        <a:rPr lang="en-US" b="1" smtClean="0">
                          <a:latin typeface="Cambria Math" panose="02040503050406030204" pitchFamily="18" charset="0"/>
                        </a:rPr>
                        <m:t>)=</m:t>
                      </m:r>
                      <m:r>
                        <m:rPr>
                          <m:nor/>
                        </m:rPr>
                        <a:rPr lang="en-US" b="1"/>
                        <m:t>Re</m:t>
                      </m:r>
                      <m:r>
                        <a:rPr lang="en-US" b="1" smtClean="0">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sSup>
                        <m:sSupPr>
                          <m:ctrlPr>
                            <a:rPr lang="ru-RU" b="1" i="1">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smtClean="0">
                              <a:latin typeface="Cambria Math" panose="02040503050406030204" pitchFamily="18" charset="0"/>
                            </a:rPr>
                            <m:t>(</m:t>
                          </m:r>
                          <m:r>
                            <a:rPr lang="en-US" b="1" i="1" smtClean="0">
                              <a:latin typeface="Cambria Math" panose="02040503050406030204" pitchFamily="18" charset="0"/>
                            </a:rPr>
                            <m:t>𝝎</m:t>
                          </m:r>
                          <m:r>
                            <a:rPr lang="en-US" b="1" i="1" smtClean="0">
                              <a:latin typeface="Cambria Math" panose="02040503050406030204" pitchFamily="18" charset="0"/>
                            </a:rPr>
                            <m:t>𝒕</m:t>
                          </m:r>
                          <m:r>
                            <a:rPr lang="en-US" b="1" smtClean="0">
                              <a:latin typeface="Cambria Math" panose="02040503050406030204" pitchFamily="18" charset="0"/>
                            </a:rPr>
                            <m:t>+</m:t>
                          </m:r>
                          <m:r>
                            <a:rPr lang="en-US" b="1" i="1" smtClean="0">
                              <a:latin typeface="Cambria Math" panose="02040503050406030204" pitchFamily="18" charset="0"/>
                            </a:rPr>
                            <m:t>𝝓</m:t>
                          </m:r>
                          <m:r>
                            <a:rPr lang="en-US" b="1" smtClean="0">
                              <a:latin typeface="Cambria Math" panose="02040503050406030204" pitchFamily="18" charset="0"/>
                            </a:rPr>
                            <m:t>)</m:t>
                          </m:r>
                        </m:sup>
                      </m:sSup>
                      <m:r>
                        <a:rPr lang="en-US" b="1" smtClean="0">
                          <a:latin typeface="Cambria Math" panose="02040503050406030204" pitchFamily="18" charset="0"/>
                        </a:rPr>
                        <m:t>}</m:t>
                      </m:r>
                    </m:oMath>
                  </m:oMathPara>
                </a14:m>
                <a:endParaRPr lang="ru-RU" b="1" dirty="0"/>
              </a:p>
              <a:p>
                <a:r>
                  <a:rPr lang="en-US" b="1" dirty="0"/>
                  <a:t>By separating the time part (</a:t>
                </a:r>
                <a14:m>
                  <m:oMath xmlns:m="http://schemas.openxmlformats.org/officeDocument/2006/math">
                    <m:sSup>
                      <m:sSupPr>
                        <m:ctrlPr>
                          <a:rPr lang="ru-RU" b="1" i="1">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rPr>
                          <m:t>𝝎</m:t>
                        </m:r>
                        <m:r>
                          <a:rPr lang="en-US" b="1" i="1" smtClean="0">
                            <a:latin typeface="Cambria Math" panose="02040503050406030204" pitchFamily="18" charset="0"/>
                          </a:rPr>
                          <m:t>𝒕</m:t>
                        </m:r>
                      </m:sup>
                    </m:sSup>
                  </m:oMath>
                </a14:m>
                <a:r>
                  <a:rPr lang="en-US" b="1" dirty="0"/>
                  <a:t>) from the constant part (</a:t>
                </a:r>
                <a14:m>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sSup>
                      <m:sSupPr>
                        <m:ctrlPr>
                          <a:rPr lang="ru-RU" b="1" i="1">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rPr>
                          <m:t>𝝓</m:t>
                        </m:r>
                      </m:sup>
                    </m:sSup>
                  </m:oMath>
                </a14:m>
                <a:r>
                  <a:rPr lang="en-US" b="1" dirty="0"/>
                  <a:t>), we get the phasor.</a:t>
                </a:r>
                <a:endParaRPr lang="ru-RU" b="1" dirty="0"/>
              </a:p>
            </p:txBody>
          </p:sp>
        </mc:Choice>
        <mc:Fallback xmlns="">
          <p:sp>
            <p:nvSpPr>
              <p:cNvPr id="8" name="Объект 7">
                <a:extLst>
                  <a:ext uri="{FF2B5EF4-FFF2-40B4-BE49-F238E27FC236}">
                    <a16:creationId xmlns:a16="http://schemas.microsoft.com/office/drawing/2014/main" id="{ABBE351D-B9D7-43FA-CC71-DFB0B4219D1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2712779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BB07E-2FF8-BF3D-BFBE-C09CE180B89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8C22A7-7F0C-96B2-A430-031133CE733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2293BF8-1B4B-0BF0-B5E9-FDA91FFB15C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3215AA44-4E7F-0280-7E74-BD8E2126370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347EA16-C5AD-CD6B-4998-202A91A8D4E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025CAD2D-82FE-ED16-BFD7-82D9F4E1F96F}"/>
                  </a:ext>
                </a:extLst>
              </p:cNvPr>
              <p:cNvSpPr>
                <a:spLocks noGrp="1"/>
              </p:cNvSpPr>
              <p:nvPr>
                <p:ph idx="1"/>
              </p:nvPr>
            </p:nvSpPr>
            <p:spPr/>
            <p:txBody>
              <a:bodyPr>
                <a:normAutofit/>
              </a:bodyPr>
              <a:lstStyle/>
              <a:p>
                <a:pPr algn="just">
                  <a:lnSpc>
                    <a:spcPct val="120000"/>
                  </a:lnSpc>
                </a:pPr>
                <a:r>
                  <a:rPr lang="en-US" b="1" dirty="0">
                    <a:effectLst/>
                    <a:ea typeface="Aptos" panose="020B0004020202020204" pitchFamily="34" charset="0"/>
                  </a:rPr>
                  <a:t>A complex number </a:t>
                </a:r>
                <a14:m>
                  <m:oMath xmlns:m="http://schemas.openxmlformats.org/officeDocument/2006/math">
                    <m:r>
                      <a:rPr lang="en-US" b="1" i="1">
                        <a:effectLst/>
                        <a:latin typeface="Cambria Math" panose="02040503050406030204" pitchFamily="18" charset="0"/>
                        <a:ea typeface="Aptos" panose="020B0004020202020204" pitchFamily="34" charset="0"/>
                      </a:rPr>
                      <m:t>𝒛</m:t>
                    </m:r>
                  </m:oMath>
                </a14:m>
                <a:r>
                  <a:rPr lang="en-US" b="1" dirty="0">
                    <a:effectLst/>
                    <a:ea typeface="Aptos" panose="020B0004020202020204" pitchFamily="34" charset="0"/>
                  </a:rPr>
                  <a:t> can be written in two forms:</a:t>
                </a:r>
                <a:endParaRPr lang="ru-RU" b="1" dirty="0">
                  <a:effectLst/>
                  <a:ea typeface="Aptos" panose="020B0004020202020204" pitchFamily="34" charset="0"/>
                </a:endParaRPr>
              </a:p>
              <a:p>
                <a:pPr marL="342900" lvl="0" indent="-342900" algn="just">
                  <a:lnSpc>
                    <a:spcPct val="120000"/>
                  </a:lnSpc>
                  <a:buFont typeface="Symbol" panose="05050102010706020507" pitchFamily="18" charset="2"/>
                  <a:buChar char=""/>
                </a:pPr>
                <a:r>
                  <a:rPr lang="en-US" b="1" dirty="0">
                    <a:effectLst/>
                    <a:ea typeface="Aptos" panose="020B0004020202020204" pitchFamily="34" charset="0"/>
                  </a:rPr>
                  <a:t>Rectangular Form: </a:t>
                </a:r>
                <a14:m>
                  <m:oMath xmlns:m="http://schemas.openxmlformats.org/officeDocument/2006/math">
                    <m:r>
                      <a:rPr lang="en-US" b="1" i="1">
                        <a:effectLst/>
                        <a:latin typeface="Cambria Math" panose="02040503050406030204" pitchFamily="18" charset="0"/>
                        <a:ea typeface="Aptos" panose="020B0004020202020204" pitchFamily="34" charset="0"/>
                      </a:rPr>
                      <m:t>𝒛</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𝒙</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𝒋𝒚</m:t>
                    </m:r>
                  </m:oMath>
                </a14:m>
                <a:r>
                  <a:rPr lang="en-US" b="1" dirty="0">
                    <a:effectLst/>
                    <a:ea typeface="Aptos" panose="020B0004020202020204" pitchFamily="34" charset="0"/>
                  </a:rPr>
                  <a:t>, where </a:t>
                </a:r>
                <a14:m>
                  <m:oMath xmlns:m="http://schemas.openxmlformats.org/officeDocument/2006/math">
                    <m:r>
                      <a:rPr lang="en-US" b="1" i="1">
                        <a:effectLst/>
                        <a:latin typeface="Cambria Math" panose="02040503050406030204" pitchFamily="18" charset="0"/>
                        <a:ea typeface="Aptos" panose="020B0004020202020204" pitchFamily="34" charset="0"/>
                      </a:rPr>
                      <m:t>𝒋</m:t>
                    </m:r>
                    <m:r>
                      <a:rPr lang="en-US" b="1">
                        <a:effectLst/>
                        <a:latin typeface="Cambria Math" panose="02040503050406030204" pitchFamily="18" charset="0"/>
                        <a:ea typeface="Aptos" panose="020B0004020202020204" pitchFamily="34" charset="0"/>
                      </a:rPr>
                      <m:t>=</m:t>
                    </m:r>
                    <m:rad>
                      <m:radPr>
                        <m:degHide m:val="on"/>
                        <m:ctrlPr>
                          <a:rPr lang="ru-RU" b="1" i="1">
                            <a:effectLst/>
                            <a:latin typeface="Cambria Math" panose="02040503050406030204" pitchFamily="18" charset="0"/>
                            <a:ea typeface="Aptos" panose="020B0004020202020204" pitchFamily="34" charset="0"/>
                          </a:rPr>
                        </m:ctrlPr>
                      </m:radPr>
                      <m:deg/>
                      <m:e>
                        <m:r>
                          <a:rPr lang="en-US" b="1" i="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𝟏</m:t>
                        </m:r>
                      </m:e>
                    </m:rad>
                  </m:oMath>
                </a14:m>
                <a:r>
                  <a:rPr lang="en-US" b="1" dirty="0">
                    <a:effectLst/>
                    <a:ea typeface="Aptos" panose="020B0004020202020204" pitchFamily="34" charset="0"/>
                  </a:rPr>
                  <a:t> </a:t>
                </a:r>
                <a:r>
                  <a:rPr lang="en-US" dirty="0">
                    <a:effectLst/>
                    <a:ea typeface="Aptos" panose="020B0004020202020204" pitchFamily="34" charset="0"/>
                  </a:rPr>
                  <a:t>(in electrical engineering we use j instead of i to avoid confusion with current);</a:t>
                </a:r>
              </a:p>
              <a:p>
                <a:pPr marL="342900" lvl="0" indent="-342900" algn="just">
                  <a:lnSpc>
                    <a:spcPct val="120000"/>
                  </a:lnSpc>
                  <a:buFont typeface="Symbol" panose="05050102010706020507" pitchFamily="18" charset="2"/>
                  <a:buChar char=""/>
                </a:pPr>
                <a:r>
                  <a:rPr lang="en-US" b="1" dirty="0">
                    <a:effectLst/>
                    <a:ea typeface="Aptos" panose="020B0004020202020204" pitchFamily="34" charset="0"/>
                  </a:rPr>
                  <a:t>Polar Form: </a:t>
                </a:r>
                <a14:m>
                  <m:oMath xmlns:m="http://schemas.openxmlformats.org/officeDocument/2006/math">
                    <m:r>
                      <a:rPr lang="en-US" b="1" i="1">
                        <a:effectLst/>
                        <a:latin typeface="Cambria Math" panose="02040503050406030204" pitchFamily="18" charset="0"/>
                        <a:ea typeface="Aptos" panose="020B0004020202020204" pitchFamily="34" charset="0"/>
                      </a:rPr>
                      <m:t>𝒛</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𝒓</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𝝓</m:t>
                    </m:r>
                  </m:oMath>
                </a14:m>
                <a:r>
                  <a:rPr lang="en-US" b="1" dirty="0">
                    <a:effectLst/>
                    <a:ea typeface="Aptos" panose="020B0004020202020204" pitchFamily="34" charset="0"/>
                  </a:rPr>
                  <a:t>, where </a:t>
                </a:r>
                <a14:m>
                  <m:oMath xmlns:m="http://schemas.openxmlformats.org/officeDocument/2006/math">
                    <m:r>
                      <a:rPr lang="en-US" b="1" i="1">
                        <a:effectLst/>
                        <a:latin typeface="Cambria Math" panose="02040503050406030204" pitchFamily="18" charset="0"/>
                        <a:ea typeface="Aptos" panose="020B0004020202020204" pitchFamily="34" charset="0"/>
                      </a:rPr>
                      <m:t>𝒓</m:t>
                    </m:r>
                  </m:oMath>
                </a14:m>
                <a:r>
                  <a:rPr lang="en-US" b="1" dirty="0">
                    <a:effectLst/>
                    <a:ea typeface="Aptos" panose="020B0004020202020204" pitchFamily="34" charset="0"/>
                  </a:rPr>
                  <a:t> is the magnitude and </a:t>
                </a:r>
                <a14:m>
                  <m:oMath xmlns:m="http://schemas.openxmlformats.org/officeDocument/2006/math">
                    <m:r>
                      <a:rPr lang="en-US" b="1" i="1">
                        <a:effectLst/>
                        <a:latin typeface="Cambria Math" panose="02040503050406030204" pitchFamily="18" charset="0"/>
                        <a:ea typeface="Aptos" panose="020B0004020202020204" pitchFamily="34" charset="0"/>
                      </a:rPr>
                      <m:t>𝝓</m:t>
                    </m:r>
                  </m:oMath>
                </a14:m>
                <a:r>
                  <a:rPr lang="en-US" b="1" dirty="0">
                    <a:effectLst/>
                    <a:ea typeface="Aptos" panose="020B0004020202020204" pitchFamily="34" charset="0"/>
                  </a:rPr>
                  <a:t> is the angle.</a:t>
                </a:r>
                <a:endParaRPr lang="ru-RU" b="1"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025CAD2D-82FE-ED16-BFD7-82D9F4E1F96F}"/>
                  </a:ext>
                </a:extLst>
              </p:cNvPr>
              <p:cNvSpPr>
                <a:spLocks noGrp="1" noRot="1" noChangeAspect="1" noMove="1" noResize="1" noEditPoints="1" noAdjustHandles="1" noChangeArrowheads="1" noChangeShapeType="1" noTextEdit="1"/>
              </p:cNvSpPr>
              <p:nvPr>
                <p:ph idx="1"/>
              </p:nvPr>
            </p:nvSpPr>
            <p:spPr>
              <a:blipFill>
                <a:blip r:embed="rId2"/>
                <a:stretch>
                  <a:fillRect l="-1217" t="-140" r="-1159"/>
                </a:stretch>
              </a:blipFill>
            </p:spPr>
            <p:txBody>
              <a:bodyPr/>
              <a:lstStyle/>
              <a:p>
                <a:r>
                  <a:rPr lang="ru-RU">
                    <a:noFill/>
                  </a:rPr>
                  <a:t> </a:t>
                </a:r>
              </a:p>
            </p:txBody>
          </p:sp>
        </mc:Fallback>
      </mc:AlternateContent>
    </p:spTree>
    <p:extLst>
      <p:ext uri="{BB962C8B-B14F-4D97-AF65-F5344CB8AC3E}">
        <p14:creationId xmlns:p14="http://schemas.microsoft.com/office/powerpoint/2010/main" val="1453487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E7C4-7386-30DA-333B-742EF0F8C8D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23C426-4303-34D1-C7C3-7997DA8DF77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6408BBC3-C182-FBF2-821B-CFE46532FB8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F4984D2-6B9D-CBA9-34FA-413FA4A962A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F6F3E9C-6648-5DB6-1792-C65F8E0E7F4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CF0613A9-5873-AA04-EF9C-11289D90B6E9}"/>
                  </a:ext>
                </a:extLst>
              </p:cNvPr>
              <p:cNvSpPr>
                <a:spLocks noGrp="1"/>
              </p:cNvSpPr>
              <p:nvPr>
                <p:ph idx="1"/>
              </p:nvPr>
            </p:nvSpPr>
            <p:spPr/>
            <p:txBody>
              <a:bodyPr>
                <a:normAutofit/>
              </a:bodyPr>
              <a:lstStyle/>
              <a:p>
                <a:r>
                  <a:rPr lang="en-US" dirty="0"/>
                  <a:t>You must be proficient in converting between these forms using your calculator:</a:t>
                </a:r>
              </a:p>
              <a:p>
                <a:pPr marL="0" lvl="0" indent="0" algn="ctr">
                  <a:buNone/>
                </a:pPr>
                <a:endParaRPr lang="en-US" b="1" i="1" dirty="0"/>
              </a:p>
              <a:p>
                <a:pPr marL="0" lvl="0" indent="0" algn="ctr">
                  <a:buNone/>
                </a:pPr>
                <a14:m>
                  <m:oMath xmlns:m="http://schemas.openxmlformats.org/officeDocument/2006/math">
                    <m:r>
                      <a:rPr lang="en-US" b="1" i="1" smtClean="0">
                        <a:latin typeface="Cambria Math" panose="02040503050406030204" pitchFamily="18" charset="0"/>
                      </a:rPr>
                      <m:t>𝒙</m:t>
                    </m:r>
                    <m:r>
                      <a:rPr lang="en-US" b="1" smtClean="0">
                        <a:latin typeface="Cambria Math" panose="02040503050406030204" pitchFamily="18" charset="0"/>
                      </a:rPr>
                      <m:t>=</m:t>
                    </m:r>
                    <m:r>
                      <a:rPr lang="en-US" b="1" i="1" smtClean="0">
                        <a:latin typeface="Cambria Math" panose="02040503050406030204" pitchFamily="18" charset="0"/>
                      </a:rPr>
                      <m:t>𝒓𝒄𝒐𝒔</m:t>
                    </m:r>
                    <m:r>
                      <a:rPr lang="en-US" b="1" i="1" smtClean="0">
                        <a:latin typeface="Cambria Math" panose="02040503050406030204" pitchFamily="18" charset="0"/>
                      </a:rPr>
                      <m:t>𝝓</m:t>
                    </m:r>
                  </m:oMath>
                </a14:m>
                <a:r>
                  <a:rPr lang="en-US" b="1" dirty="0"/>
                  <a:t>;</a:t>
                </a:r>
              </a:p>
              <a:p>
                <a:pPr marL="0" lvl="0" indent="0" algn="ctr">
                  <a:buNone/>
                </a:pPr>
                <a14:m>
                  <m:oMath xmlns:m="http://schemas.openxmlformats.org/officeDocument/2006/math">
                    <m:r>
                      <a:rPr lang="en-US" b="1" i="1" smtClean="0">
                        <a:latin typeface="Cambria Math" panose="02040503050406030204" pitchFamily="18" charset="0"/>
                      </a:rPr>
                      <m:t>𝒚</m:t>
                    </m:r>
                    <m:r>
                      <a:rPr lang="en-US" b="1" smtClean="0">
                        <a:latin typeface="Cambria Math" panose="02040503050406030204" pitchFamily="18" charset="0"/>
                      </a:rPr>
                      <m:t>=</m:t>
                    </m:r>
                    <m:r>
                      <a:rPr lang="en-US" b="1" i="1" smtClean="0">
                        <a:latin typeface="Cambria Math" panose="02040503050406030204" pitchFamily="18" charset="0"/>
                      </a:rPr>
                      <m:t>𝒓𝒔𝒊𝒏</m:t>
                    </m:r>
                    <m:r>
                      <a:rPr lang="en-US" b="1" i="1" smtClean="0">
                        <a:latin typeface="Cambria Math" panose="02040503050406030204" pitchFamily="18" charset="0"/>
                      </a:rPr>
                      <m:t>𝝓</m:t>
                    </m:r>
                  </m:oMath>
                </a14:m>
                <a:r>
                  <a:rPr lang="en-US" b="1" dirty="0"/>
                  <a:t>;</a:t>
                </a:r>
                <a:endParaRPr lang="ru-RU" b="1" dirty="0"/>
              </a:p>
              <a:p>
                <a:pPr marL="0" lv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𝒓</m:t>
                      </m:r>
                      <m:r>
                        <a:rPr lang="en-US" b="1" smtClean="0">
                          <a:latin typeface="Cambria Math" panose="02040503050406030204" pitchFamily="18" charset="0"/>
                        </a:rPr>
                        <m:t>=</m:t>
                      </m:r>
                      <m:rad>
                        <m:radPr>
                          <m:degHide m:val="on"/>
                          <m:ctrlPr>
                            <a:rPr lang="ru-RU" b="1" i="1">
                              <a:latin typeface="Cambria Math" panose="02040503050406030204" pitchFamily="18" charset="0"/>
                            </a:rPr>
                          </m:ctrlPr>
                        </m:radPr>
                        <m:deg/>
                        <m:e>
                          <m:sSup>
                            <m:sSupPr>
                              <m:ctrlPr>
                                <a:rPr lang="ru-RU" b="1" i="1">
                                  <a:latin typeface="Cambria Math" panose="02040503050406030204" pitchFamily="18" charset="0"/>
                                </a:rPr>
                              </m:ctrlPr>
                            </m:sSupPr>
                            <m:e>
                              <m:r>
                                <a:rPr lang="en-US" b="1" i="1" smtClean="0">
                                  <a:latin typeface="Cambria Math" panose="02040503050406030204" pitchFamily="18" charset="0"/>
                                </a:rPr>
                                <m:t>𝒙</m:t>
                              </m:r>
                            </m:e>
                            <m:sup>
                              <m:r>
                                <a:rPr lang="en-US" b="1" i="1" smtClean="0">
                                  <a:latin typeface="Cambria Math" panose="02040503050406030204" pitchFamily="18" charset="0"/>
                                </a:rPr>
                                <m:t>𝟐</m:t>
                              </m:r>
                            </m:sup>
                          </m:sSup>
                          <m:r>
                            <a:rPr lang="en-US" b="1" smtClean="0">
                              <a:latin typeface="Cambria Math" panose="02040503050406030204" pitchFamily="18" charset="0"/>
                            </a:rPr>
                            <m:t>+</m:t>
                          </m:r>
                          <m:sSup>
                            <m:sSupPr>
                              <m:ctrlPr>
                                <a:rPr lang="ru-RU" b="1" i="1">
                                  <a:latin typeface="Cambria Math" panose="02040503050406030204" pitchFamily="18" charset="0"/>
                                </a:rPr>
                              </m:ctrlPr>
                            </m:sSupPr>
                            <m:e>
                              <m:r>
                                <a:rPr lang="en-US" b="1" i="1" smtClean="0">
                                  <a:latin typeface="Cambria Math" panose="02040503050406030204" pitchFamily="18" charset="0"/>
                                </a:rPr>
                                <m:t>𝒚</m:t>
                              </m:r>
                            </m:e>
                            <m:sup>
                              <m:r>
                                <a:rPr lang="en-US" b="1" i="1" smtClean="0">
                                  <a:latin typeface="Cambria Math" panose="02040503050406030204" pitchFamily="18" charset="0"/>
                                </a:rPr>
                                <m:t>𝟐</m:t>
                              </m:r>
                            </m:sup>
                          </m:sSup>
                        </m:e>
                      </m:rad>
                      <m:r>
                        <a:rPr lang="en-US" b="1" i="1" smtClean="0">
                          <a:latin typeface="Cambria Math" panose="02040503050406030204" pitchFamily="18" charset="0"/>
                        </a:rPr>
                        <m:t>;</m:t>
                      </m:r>
                    </m:oMath>
                  </m:oMathPara>
                </a14:m>
                <a:endParaRPr lang="ru-RU" b="1" dirty="0"/>
              </a:p>
              <a:p>
                <a:pPr marL="0" lv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𝝓</m:t>
                      </m:r>
                      <m:r>
                        <a:rPr lang="en-US" b="1" smtClean="0">
                          <a:latin typeface="Cambria Math" panose="02040503050406030204" pitchFamily="18" charset="0"/>
                        </a:rPr>
                        <m:t>=</m:t>
                      </m:r>
                      <m:sSup>
                        <m:sSupPr>
                          <m:ctrlPr>
                            <a:rPr lang="ru-RU" b="1" i="1">
                              <a:latin typeface="Cambria Math" panose="02040503050406030204" pitchFamily="18" charset="0"/>
                            </a:rPr>
                          </m:ctrlPr>
                        </m:sSupPr>
                        <m:e>
                          <m:r>
                            <a:rPr lang="en-US" b="1" i="1" smtClean="0">
                              <a:latin typeface="Cambria Math" panose="02040503050406030204" pitchFamily="18" charset="0"/>
                            </a:rPr>
                            <m:t>𝒕𝒂𝒏</m:t>
                          </m:r>
                        </m:e>
                        <m:sup>
                          <m:r>
                            <a:rPr lang="en-US" b="1" i="1" smtClean="0">
                              <a:latin typeface="Cambria Math" panose="02040503050406030204" pitchFamily="18" charset="0"/>
                            </a:rPr>
                            <m:t>−</m:t>
                          </m:r>
                          <m:r>
                            <a:rPr lang="en-US" b="1" i="1" smtClean="0">
                              <a:latin typeface="Cambria Math" panose="02040503050406030204" pitchFamily="18" charset="0"/>
                            </a:rPr>
                            <m:t>𝟏</m:t>
                          </m:r>
                        </m:sup>
                      </m:sSup>
                      <m:d>
                        <m:dPr>
                          <m:ctrlPr>
                            <a:rPr lang="ru-RU" b="1" i="1">
                              <a:latin typeface="Cambria Math" panose="02040503050406030204" pitchFamily="18" charset="0"/>
                            </a:rPr>
                          </m:ctrlPr>
                        </m:dPr>
                        <m:e>
                          <m:f>
                            <m:fPr>
                              <m:ctrlPr>
                                <a:rPr lang="ru-RU" b="1" i="1">
                                  <a:latin typeface="Cambria Math" panose="02040503050406030204" pitchFamily="18" charset="0"/>
                                </a:rPr>
                              </m:ctrlPr>
                            </m:fPr>
                            <m:num>
                              <m:r>
                                <a:rPr lang="en-US" b="1" i="1" smtClean="0">
                                  <a:latin typeface="Cambria Math" panose="02040503050406030204" pitchFamily="18" charset="0"/>
                                </a:rPr>
                                <m:t>𝒚</m:t>
                              </m:r>
                            </m:num>
                            <m:den>
                              <m:r>
                                <a:rPr lang="en-US" b="1" i="1" smtClean="0">
                                  <a:latin typeface="Cambria Math" panose="02040503050406030204" pitchFamily="18" charset="0"/>
                                </a:rPr>
                                <m:t>𝒙</m:t>
                              </m:r>
                            </m:den>
                          </m:f>
                        </m:e>
                      </m:d>
                      <m:r>
                        <a:rPr lang="en-US" b="1" i="1" smtClean="0">
                          <a:latin typeface="Cambria Math" panose="02040503050406030204" pitchFamily="18" charset="0"/>
                        </a:rPr>
                        <m:t>.</m:t>
                      </m:r>
                    </m:oMath>
                  </m:oMathPara>
                </a14:m>
                <a:endParaRPr lang="ru-RU" b="1" dirty="0"/>
              </a:p>
            </p:txBody>
          </p:sp>
        </mc:Choice>
        <mc:Fallback xmlns="">
          <p:sp>
            <p:nvSpPr>
              <p:cNvPr id="8" name="Объект 7">
                <a:extLst>
                  <a:ext uri="{FF2B5EF4-FFF2-40B4-BE49-F238E27FC236}">
                    <a16:creationId xmlns:a16="http://schemas.microsoft.com/office/drawing/2014/main" id="{CF0613A9-5873-AA04-EF9C-11289D90B6E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4086952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9548-B940-CCE7-DD82-F79471D2221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6F9CEA-BCEF-BD96-A9B9-65361926C4F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C9FFB886-3EC2-FAFF-8598-BF4B7D359D5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DA775EDA-0998-A674-0182-76B6BC9B597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96E9FAF-557F-6060-7E29-9975095D4CB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68033E67-40AF-225B-47B1-EE5ECC516CCC}"/>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Now, the definition of the Phasor Transformation. If we have a time-domain function:</a:t>
                </a:r>
                <a:endParaRPr lang="ru-RU" dirty="0">
                  <a:effectLst/>
                  <a:latin typeface="Arial" panose="020B0604020202020204" pitchFamily="34" charset="0"/>
                  <a:ea typeface="Aptos" panose="020B0004020202020204" pitchFamily="34" charset="0"/>
                </a:endParaRPr>
              </a:p>
              <a:p>
                <a:pPr algn="ctr">
                  <a:lnSpc>
                    <a:spcPct val="120000"/>
                  </a:lnSpc>
                </a:pPr>
                <a14:m>
                  <m:oMath xmlns:m="http://schemas.openxmlformats.org/officeDocument/2006/math">
                    <m:r>
                      <a:rPr lang="en-US" i="1">
                        <a:effectLst/>
                        <a:latin typeface="Cambria Math" panose="02040503050406030204" pitchFamily="18" charset="0"/>
                        <a:ea typeface="Aptos" panose="020B0004020202020204" pitchFamily="34" charset="0"/>
                      </a:rPr>
                      <m:t>𝑣</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𝑉</m:t>
                        </m:r>
                      </m:e>
                      <m:sub>
                        <m:r>
                          <a:rPr lang="en-US" i="1">
                            <a:effectLst/>
                            <a:latin typeface="Cambria Math" panose="02040503050406030204" pitchFamily="18" charset="0"/>
                            <a:ea typeface="Aptos" panose="020B0004020202020204" pitchFamily="34" charset="0"/>
                          </a:rPr>
                          <m:t>𝑚</m:t>
                        </m:r>
                      </m:sub>
                    </m:sSub>
                    <m:r>
                      <m:rPr>
                        <m:sty m:val="p"/>
                      </m:rPr>
                      <a:rPr lang="en-US">
                        <a:effectLst/>
                        <a:latin typeface="Cambria Math" panose="02040503050406030204" pitchFamily="18" charset="0"/>
                        <a:ea typeface="Aptos" panose="020B0004020202020204" pitchFamily="34" charset="0"/>
                      </a:rPr>
                      <m:t>cos</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𝜙</m:t>
                    </m:r>
                    <m:r>
                      <a:rPr lang="en-US">
                        <a:effectLst/>
                        <a:latin typeface="Cambria Math" panose="02040503050406030204" pitchFamily="18" charset="0"/>
                        <a:ea typeface="Aptos" panose="020B0004020202020204" pitchFamily="34" charset="0"/>
                      </a:rPr>
                      <m:t>)</m:t>
                    </m:r>
                  </m:oMath>
                </a14:m>
                <a:endParaRPr lang="en-US" b="1" dirty="0">
                  <a:effectLst/>
                  <a:ea typeface="Aptos" panose="020B0004020202020204" pitchFamily="34" charset="0"/>
                </a:endParaRPr>
              </a:p>
              <a:p>
                <a:pPr algn="just">
                  <a:lnSpc>
                    <a:spcPct val="120000"/>
                  </a:lnSpc>
                </a:pPr>
                <a:r>
                  <a:rPr lang="en-US" b="1" dirty="0">
                    <a:effectLst/>
                    <a:ea typeface="Aptos" panose="020B0004020202020204" pitchFamily="34" charset="0"/>
                  </a:rPr>
                  <a:t>The Phasor representation, denoted by a bold capital letter </a:t>
                </a:r>
                <a14:m>
                  <m:oMath xmlns:m="http://schemas.openxmlformats.org/officeDocument/2006/math">
                    <m:r>
                      <a:rPr lang="en-US" b="1" i="1">
                        <a:effectLst/>
                        <a:latin typeface="Cambria Math" panose="02040503050406030204" pitchFamily="18" charset="0"/>
                        <a:ea typeface="Aptos" panose="020B0004020202020204" pitchFamily="34" charset="0"/>
                      </a:rPr>
                      <m:t>𝑽</m:t>
                    </m:r>
                  </m:oMath>
                </a14:m>
                <a:r>
                  <a:rPr lang="en-US" b="1" dirty="0">
                    <a:effectLst/>
                    <a:ea typeface="Aptos" panose="020B0004020202020204" pitchFamily="34" charset="0"/>
                  </a:rPr>
                  <a:t> (or with a dot on top </a:t>
                </a:r>
                <a14:m>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a:effectLst/>
                            <a:latin typeface="Cambria Math" panose="02040503050406030204" pitchFamily="18" charset="0"/>
                            <a:ea typeface="Aptos" panose="020B0004020202020204" pitchFamily="34" charset="0"/>
                          </a:rPr>
                          <m:t>𝑽</m:t>
                        </m:r>
                      </m:e>
                    </m:acc>
                  </m:oMath>
                </a14:m>
                <a:r>
                  <a:rPr lang="en-US" b="1" dirty="0">
                    <a:effectLst/>
                    <a:ea typeface="Aptos" panose="020B0004020202020204" pitchFamily="34" charset="0"/>
                  </a:rPr>
                  <a:t>), is:</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ea typeface="Aptos" panose="020B0004020202020204" pitchFamily="34" charset="0"/>
                        </a:rPr>
                        <m:t>𝑽</m:t>
                      </m:r>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𝑽</m:t>
                          </m:r>
                        </m:e>
                        <m:sub>
                          <m:r>
                            <a:rPr lang="en-US" b="1" i="1">
                              <a:effectLst/>
                              <a:latin typeface="Cambria Math" panose="02040503050406030204" pitchFamily="18" charset="0"/>
                              <a:ea typeface="Aptos" panose="020B0004020202020204" pitchFamily="34" charset="0"/>
                            </a:rPr>
                            <m:t>𝒎</m:t>
                          </m:r>
                        </m:sub>
                      </m:sSub>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𝝓</m:t>
                      </m:r>
                    </m:oMath>
                  </m:oMathPara>
                </a14:m>
                <a:endParaRPr lang="ru-RU" b="1"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68033E67-40AF-225B-47B1-EE5ECC516CCC}"/>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spTree>
    <p:extLst>
      <p:ext uri="{BB962C8B-B14F-4D97-AF65-F5344CB8AC3E}">
        <p14:creationId xmlns:p14="http://schemas.microsoft.com/office/powerpoint/2010/main" val="1783245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CF76-471E-7AD1-F540-9107A2E55CB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788D36-AAE4-3017-08D4-0051F9E8A5E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8CB163D-8D7B-8777-7B5D-BBD507D4423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B5B2162-F23A-E552-9166-CAAEC42FF7D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9E69DA8-C842-76D9-2C63-6F1EDE99559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B6A652A5-AC0D-EDEB-4102-25359726C884}"/>
                  </a:ext>
                </a:extLst>
              </p:cNvPr>
              <p:cNvSpPr>
                <a:spLocks noGrp="1"/>
              </p:cNvSpPr>
              <p:nvPr>
                <p:ph idx="1"/>
              </p:nvPr>
            </p:nvSpPr>
            <p:spPr/>
            <p:txBody>
              <a:bodyPr>
                <a:noAutofit/>
              </a:bodyPr>
              <a:lstStyle/>
              <a:p>
                <a:pPr algn="just">
                  <a:lnSpc>
                    <a:spcPct val="120000"/>
                  </a:lnSpc>
                </a:pPr>
                <a:r>
                  <a:rPr lang="en-US" b="1" dirty="0">
                    <a:effectLst/>
                    <a:ea typeface="Aptos" panose="020B0004020202020204" pitchFamily="34" charset="0"/>
                  </a:rPr>
                  <a:t>Notice that we dropped the time factor </a:t>
                </a:r>
                <a14:m>
                  <m:oMath xmlns:m="http://schemas.openxmlformats.org/officeDocument/2006/math">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𝒕</m:t>
                    </m:r>
                  </m:oMath>
                </a14:m>
                <a:r>
                  <a:rPr lang="en-US" b="1" dirty="0">
                    <a:effectLst/>
                    <a:ea typeface="Aptos" panose="020B00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rPr>
                  <a:t>The phasor is a snapshot of the wave. It only contains the Amplitude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𝑉</m:t>
                        </m:r>
                      </m:e>
                      <m:sub>
                        <m:r>
                          <a:rPr lang="en-US" i="1">
                            <a:effectLst/>
                            <a:latin typeface="Cambria Math" panose="02040503050406030204" pitchFamily="18" charset="0"/>
                            <a:ea typeface="Aptos" panose="020B0004020202020204" pitchFamily="34" charset="0"/>
                          </a:rPr>
                          <m:t>𝑚</m:t>
                        </m:r>
                      </m:sub>
                    </m:sSub>
                  </m:oMath>
                </a14:m>
                <a:r>
                  <a:rPr lang="en-US" dirty="0">
                    <a:effectLst/>
                    <a:latin typeface="Arial" panose="020B0604020202020204" pitchFamily="34" charset="0"/>
                    <a:ea typeface="Aptos" panose="020B0004020202020204" pitchFamily="34" charset="0"/>
                  </a:rPr>
                  <a:t>) and the Phase (</a:t>
                </a:r>
                <a14:m>
                  <m:oMath xmlns:m="http://schemas.openxmlformats.org/officeDocument/2006/math">
                    <m:r>
                      <a:rPr lang="en-US" i="1">
                        <a:effectLst/>
                        <a:latin typeface="Cambria Math" panose="02040503050406030204" pitchFamily="18" charset="0"/>
                        <a:ea typeface="Aptos" panose="020B0004020202020204" pitchFamily="34" charset="0"/>
                      </a:rPr>
                      <m:t>𝜙</m:t>
                    </m:r>
                  </m:oMath>
                </a14:m>
                <a:r>
                  <a:rPr lang="en-US" dirty="0">
                    <a:effectLst/>
                    <a:latin typeface="Arial" panose="020B0604020202020204" pitchFamily="34" charset="0"/>
                    <a:ea typeface="Aptos" panose="020B0004020202020204" pitchFamily="34" charset="0"/>
                  </a:rPr>
                  <a:t>). </a:t>
                </a:r>
                <a:endParaRPr lang="ru-RU" dirty="0">
                  <a:effectLst/>
                  <a:ea typeface="Aptos" panose="020B0004020202020204" pitchFamily="34" charset="0"/>
                </a:endParaRPr>
              </a:p>
              <a:p>
                <a:pPr algn="just">
                  <a:lnSpc>
                    <a:spcPct val="120000"/>
                  </a:lnSpc>
                </a:pPr>
                <a:r>
                  <a:rPr lang="en-US" b="1" dirty="0">
                    <a:effectLst/>
                    <a:ea typeface="Aptos" panose="020B0004020202020204" pitchFamily="34" charset="0"/>
                  </a:rPr>
                  <a:t>Frequency is not explicitly shown in the phasor, but it must be known and the same for all phasors in the calculation.</a:t>
                </a:r>
              </a:p>
              <a:p>
                <a:pPr algn="just">
                  <a:lnSpc>
                    <a:spcPct val="120000"/>
                  </a:lnSpc>
                </a:pPr>
                <a:r>
                  <a:rPr lang="en-US" dirty="0">
                    <a:effectLst/>
                    <a:ea typeface="Aptos" panose="020B0004020202020204" pitchFamily="34" charset="0"/>
                  </a:rPr>
                  <a:t>At the next slide you can see an illustration for the phasor and it’s relation to the sine wave.</a:t>
                </a:r>
                <a:endParaRPr lang="ru-RU"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B6A652A5-AC0D-EDEB-4102-25359726C884}"/>
                  </a:ext>
                </a:extLst>
              </p:cNvPr>
              <p:cNvSpPr>
                <a:spLocks noGrp="1" noRot="1" noChangeAspect="1" noMove="1" noResize="1" noEditPoints="1" noAdjustHandles="1" noChangeArrowheads="1" noChangeShapeType="1" noTextEdit="1"/>
              </p:cNvSpPr>
              <p:nvPr>
                <p:ph idx="1"/>
              </p:nvPr>
            </p:nvSpPr>
            <p:spPr>
              <a:blipFill>
                <a:blip r:embed="rId2"/>
                <a:stretch>
                  <a:fillRect l="-1043" t="-140" r="-1159"/>
                </a:stretch>
              </a:blipFill>
            </p:spPr>
            <p:txBody>
              <a:bodyPr/>
              <a:lstStyle/>
              <a:p>
                <a:r>
                  <a:rPr lang="ru-RU">
                    <a:noFill/>
                  </a:rPr>
                  <a:t> </a:t>
                </a:r>
              </a:p>
            </p:txBody>
          </p:sp>
        </mc:Fallback>
      </mc:AlternateContent>
    </p:spTree>
    <p:extLst>
      <p:ext uri="{BB962C8B-B14F-4D97-AF65-F5344CB8AC3E}">
        <p14:creationId xmlns:p14="http://schemas.microsoft.com/office/powerpoint/2010/main" val="570328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0ED5-A415-55E8-DACB-1E8033ACF1D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56F8E5-50C2-7329-679E-2A6599A9A3E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A98D3078-F944-6239-02F8-04CDB339233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0F58F11-F994-38A3-0D64-DC5A0927884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A6CA003-FE04-DD0A-069B-FA44D9E1C1F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pic>
        <p:nvPicPr>
          <p:cNvPr id="3" name="Объект 2">
            <a:extLst>
              <a:ext uri="{FF2B5EF4-FFF2-40B4-BE49-F238E27FC236}">
                <a16:creationId xmlns:a16="http://schemas.microsoft.com/office/drawing/2014/main" id="{22353AC7-0EBF-878B-BADF-799A57002377}"/>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05846"/>
          </a:xfrm>
          <a:prstGeom prst="rect">
            <a:avLst/>
          </a:prstGeom>
          <a:noFill/>
          <a:ln>
            <a:noFill/>
          </a:ln>
        </p:spPr>
      </p:pic>
    </p:spTree>
    <p:extLst>
      <p:ext uri="{BB962C8B-B14F-4D97-AF65-F5344CB8AC3E}">
        <p14:creationId xmlns:p14="http://schemas.microsoft.com/office/powerpoint/2010/main" val="904107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EBB11-B0B3-1DA8-7F36-3AEA68269E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65D2F7-EBF8-0C1D-C3E8-39399A3550D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0A8D02D2-E86C-CA1B-B569-56A430CA2C4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D5F8B8D-9DA6-AC59-6253-9F8A36EE3C7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4568A77-4F0C-230C-43EF-5C7610457A7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FCF279FF-56DE-1896-5B04-24747D8A3C57}"/>
              </a:ext>
            </a:extLst>
          </p:cNvPr>
          <p:cNvSpPr>
            <a:spLocks noGrp="1"/>
          </p:cNvSpPr>
          <p:nvPr>
            <p:ph idx="1"/>
          </p:nvPr>
        </p:nvSpPr>
        <p:spPr/>
        <p:txBody>
          <a:bodyPr>
            <a:noAutofit/>
          </a:bodyPr>
          <a:lstStyle/>
          <a:p>
            <a:r>
              <a:rPr lang="en-US" dirty="0"/>
              <a:t>Why do we do this? </a:t>
            </a:r>
          </a:p>
          <a:p>
            <a:r>
              <a:rPr lang="en-US" dirty="0"/>
              <a:t>Because operations on complex numbers are easier than trigonometry.</a:t>
            </a:r>
          </a:p>
          <a:p>
            <a:r>
              <a:rPr lang="en-US" b="1" dirty="0"/>
              <a:t>Addition and Subtraction of sinusoids become Addition and Subtraction of Complex Numbers. </a:t>
            </a:r>
          </a:p>
          <a:p>
            <a:r>
              <a:rPr lang="en-US" dirty="0"/>
              <a:t>To add voltages, we convert them to phasors and add them in Rectangular Form.</a:t>
            </a:r>
            <a:endParaRPr lang="ru-RU" dirty="0"/>
          </a:p>
        </p:txBody>
      </p:sp>
    </p:spTree>
    <p:extLst>
      <p:ext uri="{BB962C8B-B14F-4D97-AF65-F5344CB8AC3E}">
        <p14:creationId xmlns:p14="http://schemas.microsoft.com/office/powerpoint/2010/main" val="4273900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759FE-A2AF-D442-974A-2B5E58A7888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63E7DF-FB7D-3174-69D9-B64F593D854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DF678EE-BF5E-B1FF-B4BC-9DC59CD6CDB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A9A4E5C-2F62-05DD-6B48-9BD0B04EA13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4E808CD-EE56-AD24-808A-37D3A745923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FE3EC5FA-4071-B0EC-9F62-4FC084E78921}"/>
                  </a:ext>
                </a:extLst>
              </p:cNvPr>
              <p:cNvSpPr>
                <a:spLocks noGrp="1"/>
              </p:cNvSpPr>
              <p:nvPr>
                <p:ph idx="1"/>
              </p:nvPr>
            </p:nvSpPr>
            <p:spPr/>
            <p:txBody>
              <a:bodyPr>
                <a:noAutofit/>
              </a:bodyPr>
              <a:lstStyle/>
              <a:p>
                <a:r>
                  <a:rPr lang="en-US" dirty="0">
                    <a:latin typeface="+mj-lt"/>
                  </a:rPr>
                  <a:t>Example: </a:t>
                </a:r>
                <a:endParaRPr lang="ru-RU" dirty="0">
                  <a:latin typeface="+mj-lt"/>
                </a:endParaRPr>
              </a:p>
              <a:p>
                <a:pPr marL="0" indent="0" algn="ctr">
                  <a:buNone/>
                </a:pP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smtClean="0">
                        <a:latin typeface="Cambria Math" panose="02040503050406030204" pitchFamily="18" charset="0"/>
                      </a:rPr>
                      <m:t>(</m:t>
                    </m:r>
                    <m:r>
                      <a:rPr lang="en-US" b="0" i="1" smtClean="0">
                        <a:latin typeface="Cambria Math" panose="02040503050406030204" pitchFamily="18" charset="0"/>
                      </a:rPr>
                      <m:t>𝑡</m:t>
                    </m:r>
                    <m:r>
                      <a:rPr lang="en-US" b="0"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𝑐𝑜𝑠</m:t>
                    </m:r>
                    <m:r>
                      <a:rPr lang="en-US" b="0"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𝑡</m:t>
                    </m:r>
                    <m:r>
                      <a:rPr lang="en-US" b="0" smtClean="0">
                        <a:latin typeface="Cambria Math" panose="02040503050406030204" pitchFamily="18" charset="0"/>
                      </a:rPr>
                      <m:t>)</m:t>
                    </m:r>
                  </m:oMath>
                </a14:m>
                <a:r>
                  <a:rPr lang="en-US" dirty="0">
                    <a:latin typeface="+mj-lt"/>
                  </a:rPr>
                  <a:t> </a:t>
                </a:r>
                <a14:m>
                  <m:oMath xmlns:m="http://schemas.openxmlformats.org/officeDocument/2006/math">
                    <m:r>
                      <a:rPr lang="en-US" b="0" smtClean="0">
                        <a:latin typeface="Cambria Math" panose="02040503050406030204" pitchFamily="18" charset="0"/>
                      </a:rPr>
                      <m:t>→</m:t>
                    </m:r>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smtClean="0">
                        <a:latin typeface="Cambria Math" panose="02040503050406030204" pitchFamily="18" charset="0"/>
                      </a:rPr>
                      <m:t>=</m:t>
                    </m:r>
                    <m:r>
                      <a:rPr lang="en-US" b="0" i="1" smtClean="0">
                        <a:latin typeface="Cambria Math" panose="02040503050406030204" pitchFamily="18" charset="0"/>
                      </a:rPr>
                      <m:t>10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0</m:t>
                        </m:r>
                      </m:e>
                      <m:sup>
                        <m:r>
                          <a:rPr lang="en-US" b="0" smtClean="0">
                            <a:latin typeface="Cambria Math" panose="02040503050406030204" pitchFamily="18" charset="0"/>
                          </a:rPr>
                          <m:t>∘</m:t>
                        </m:r>
                      </m:sup>
                    </m:sSup>
                    <m:r>
                      <a:rPr lang="en-US" b="0" smtClean="0">
                        <a:latin typeface="Cambria Math" panose="02040503050406030204" pitchFamily="18" charset="0"/>
                      </a:rPr>
                      <m:t>=</m:t>
                    </m:r>
                    <m:r>
                      <a:rPr lang="en-US" b="0" i="1" smtClean="0">
                        <a:latin typeface="Cambria Math" panose="02040503050406030204" pitchFamily="18" charset="0"/>
                      </a:rPr>
                      <m:t>10</m:t>
                    </m:r>
                    <m:r>
                      <a:rPr lang="en-US" b="0"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0</m:t>
                    </m:r>
                  </m:oMath>
                </a14:m>
                <a:r>
                  <a:rPr lang="en-US" dirty="0">
                    <a:latin typeface="+mj-lt"/>
                  </a:rPr>
                  <a:t> </a:t>
                </a:r>
                <a:endParaRPr lang="ru-RU" dirty="0">
                  <a:latin typeface="+mj-lt"/>
                </a:endParaRPr>
              </a:p>
              <a:p>
                <a:pPr marL="0" indent="0" algn="ctr">
                  <a:buNone/>
                </a:pP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smtClean="0">
                        <a:latin typeface="Cambria Math" panose="02040503050406030204" pitchFamily="18" charset="0"/>
                      </a:rPr>
                      <m:t>(</m:t>
                    </m:r>
                    <m:r>
                      <a:rPr lang="en-US" b="0" i="1" smtClean="0">
                        <a:latin typeface="Cambria Math" panose="02040503050406030204" pitchFamily="18" charset="0"/>
                      </a:rPr>
                      <m:t>𝑡</m:t>
                    </m:r>
                    <m:r>
                      <a:rPr lang="en-US" b="0"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𝑐𝑜𝑠</m:t>
                    </m:r>
                    <m:r>
                      <a:rPr lang="en-US" b="0"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𝑡</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90</m:t>
                        </m:r>
                      </m:e>
                      <m:sup>
                        <m:r>
                          <a:rPr lang="en-US" b="0" smtClean="0">
                            <a:latin typeface="Cambria Math" panose="02040503050406030204" pitchFamily="18" charset="0"/>
                          </a:rPr>
                          <m:t>∘</m:t>
                        </m:r>
                      </m:sup>
                    </m:sSup>
                    <m:r>
                      <a:rPr lang="en-US" b="0" smtClean="0">
                        <a:latin typeface="Cambria Math" panose="02040503050406030204" pitchFamily="18" charset="0"/>
                      </a:rPr>
                      <m:t>)</m:t>
                    </m:r>
                  </m:oMath>
                </a14:m>
                <a:r>
                  <a:rPr lang="en-US" dirty="0">
                    <a:latin typeface="+mj-lt"/>
                  </a:rPr>
                  <a:t> </a:t>
                </a:r>
                <a14:m>
                  <m:oMath xmlns:m="http://schemas.openxmlformats.org/officeDocument/2006/math">
                    <m:r>
                      <a:rPr lang="en-US" b="0" smtClean="0">
                        <a:latin typeface="Cambria Math" panose="02040503050406030204" pitchFamily="18" charset="0"/>
                      </a:rPr>
                      <m:t>→</m:t>
                    </m:r>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r>
                      <a:rPr lang="en-US" b="0" smtClean="0">
                        <a:latin typeface="Cambria Math" panose="02040503050406030204" pitchFamily="18" charset="0"/>
                      </a:rPr>
                      <m:t>=</m:t>
                    </m:r>
                    <m:r>
                      <a:rPr lang="en-US" b="0" i="1" smtClean="0">
                        <a:latin typeface="Cambria Math" panose="02040503050406030204" pitchFamily="18" charset="0"/>
                      </a:rPr>
                      <m:t>10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90</m:t>
                        </m:r>
                      </m:e>
                      <m:sup>
                        <m:r>
                          <a:rPr lang="en-US" b="0" smtClean="0">
                            <a:latin typeface="Cambria Math" panose="02040503050406030204" pitchFamily="18" charset="0"/>
                          </a:rPr>
                          <m:t>∘</m:t>
                        </m:r>
                      </m:sup>
                    </m:sSup>
                    <m:r>
                      <a:rPr lang="en-US" b="0" smtClean="0">
                        <a:latin typeface="Cambria Math" panose="02040503050406030204" pitchFamily="18" charset="0"/>
                      </a:rPr>
                      <m:t>=</m:t>
                    </m:r>
                    <m:r>
                      <a:rPr lang="en-US" b="0" i="1" smtClean="0">
                        <a:latin typeface="Cambria Math" panose="02040503050406030204" pitchFamily="18" charset="0"/>
                      </a:rPr>
                      <m:t>0</m:t>
                    </m:r>
                    <m:r>
                      <a:rPr lang="en-US" b="0"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10</m:t>
                    </m:r>
                  </m:oMath>
                </a14:m>
                <a:r>
                  <a:rPr lang="en-US" dirty="0">
                    <a:latin typeface="+mj-lt"/>
                  </a:rPr>
                  <a:t> </a:t>
                </a:r>
                <a:endParaRPr lang="ru-RU" dirty="0">
                  <a:latin typeface="+mj-lt"/>
                </a:endParaRPr>
              </a:p>
              <a:p>
                <a:pPr marL="0" indent="0" algn="ctr">
                  <a:buNone/>
                </a:pP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𝑡𝑜𝑡𝑎𝑙</m:t>
                        </m:r>
                      </m:sub>
                    </m:sSub>
                    <m:r>
                      <a:rPr lang="en-US" b="0" smtClean="0">
                        <a:latin typeface="Cambria Math" panose="02040503050406030204" pitchFamily="18" charset="0"/>
                      </a:rPr>
                      <m:t>=</m:t>
                    </m:r>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smtClean="0">
                        <a:latin typeface="Cambria Math" panose="02040503050406030204" pitchFamily="18" charset="0"/>
                      </a:rPr>
                      <m:t>+</m:t>
                    </m:r>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r>
                      <a:rPr lang="en-US" b="0" smtClean="0">
                        <a:latin typeface="Cambria Math" panose="02040503050406030204" pitchFamily="18" charset="0"/>
                      </a:rPr>
                      <m:t>=</m:t>
                    </m:r>
                    <m:r>
                      <a:rPr lang="en-US" b="0" i="1" smtClean="0">
                        <a:latin typeface="Cambria Math" panose="02040503050406030204" pitchFamily="18" charset="0"/>
                      </a:rPr>
                      <m:t>10</m:t>
                    </m:r>
                    <m:r>
                      <a:rPr lang="en-US" b="0"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10</m:t>
                    </m:r>
                  </m:oMath>
                </a14:m>
                <a:r>
                  <a:rPr lang="en-US" dirty="0">
                    <a:latin typeface="+mj-lt"/>
                  </a:rPr>
                  <a:t> </a:t>
                </a:r>
              </a:p>
              <a:p>
                <a:r>
                  <a:rPr lang="en-US" dirty="0">
                    <a:latin typeface="+mj-lt"/>
                    <a:cs typeface="Arial" panose="020B0604020202020204" pitchFamily="34" charset="0"/>
                  </a:rPr>
                  <a:t>Convert back to polar:</a:t>
                </a:r>
              </a:p>
              <a:p>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𝑡𝑜𝑡𝑎𝑙</m:t>
                        </m:r>
                      </m:sub>
                    </m:sSub>
                    <m:r>
                      <a:rPr lang="en-US" b="0" smtClean="0">
                        <a:latin typeface="Cambria Math" panose="02040503050406030204" pitchFamily="18" charset="0"/>
                      </a:rPr>
                      <m:t>≈</m:t>
                    </m:r>
                    <m:r>
                      <a:rPr lang="en-US" b="0" i="1" smtClean="0">
                        <a:latin typeface="Cambria Math" panose="02040503050406030204" pitchFamily="18" charset="0"/>
                      </a:rPr>
                      <m:t>14.14</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45</m:t>
                        </m:r>
                      </m:e>
                      <m:sup>
                        <m:r>
                          <a:rPr lang="en-US" b="0" smtClean="0">
                            <a:latin typeface="Cambria Math" panose="02040503050406030204" pitchFamily="18" charset="0"/>
                          </a:rPr>
                          <m:t>∘</m:t>
                        </m:r>
                      </m:sup>
                    </m:sSup>
                  </m:oMath>
                </a14:m>
                <a:r>
                  <a:rPr lang="en-US" dirty="0">
                    <a:latin typeface="+mj-lt"/>
                  </a:rPr>
                  <a:t>, time domain result: </a:t>
                </a:r>
                <a:endParaRPr lang="en-US" i="1" dirty="0">
                  <a:latin typeface="+mj-lt"/>
                </a:endParaRPr>
              </a:p>
              <a:p>
                <a:pPr marL="0" indent="0" algn="ctr">
                  <a:buNone/>
                </a:pP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𝑡𝑜𝑡𝑎𝑙</m:t>
                        </m:r>
                      </m:sub>
                    </m:sSub>
                    <m:r>
                      <a:rPr lang="en-US" b="0" smtClean="0">
                        <a:latin typeface="Cambria Math" panose="02040503050406030204" pitchFamily="18" charset="0"/>
                      </a:rPr>
                      <m:t>(</m:t>
                    </m:r>
                    <m:r>
                      <a:rPr lang="en-US" b="0" i="1" smtClean="0">
                        <a:latin typeface="Cambria Math" panose="02040503050406030204" pitchFamily="18" charset="0"/>
                      </a:rPr>
                      <m:t>𝑡</m:t>
                    </m:r>
                    <m:r>
                      <a:rPr lang="en-US" b="0" smtClean="0">
                        <a:latin typeface="Cambria Math" panose="02040503050406030204" pitchFamily="18" charset="0"/>
                      </a:rPr>
                      <m:t>)=</m:t>
                    </m:r>
                    <m:r>
                      <a:rPr lang="en-US" b="0" i="1" smtClean="0">
                        <a:latin typeface="Cambria Math" panose="02040503050406030204" pitchFamily="18" charset="0"/>
                      </a:rPr>
                      <m:t>14.14</m:t>
                    </m:r>
                    <m:r>
                      <a:rPr lang="en-US" b="0" i="1" smtClean="0">
                        <a:latin typeface="Cambria Math" panose="02040503050406030204" pitchFamily="18" charset="0"/>
                      </a:rPr>
                      <m:t>𝑐𝑜𝑠</m:t>
                    </m:r>
                    <m:r>
                      <a:rPr lang="en-US" b="0"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𝑡</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45</m:t>
                        </m:r>
                      </m:e>
                      <m:sup>
                        <m:r>
                          <a:rPr lang="en-US" b="0" smtClean="0">
                            <a:latin typeface="Cambria Math" panose="02040503050406030204" pitchFamily="18" charset="0"/>
                          </a:rPr>
                          <m:t>∘</m:t>
                        </m:r>
                      </m:sup>
                    </m:sSup>
                    <m:r>
                      <a:rPr lang="en-US" b="0" smtClean="0">
                        <a:latin typeface="Cambria Math" panose="02040503050406030204" pitchFamily="18" charset="0"/>
                      </a:rPr>
                      <m:t>)</m:t>
                    </m:r>
                  </m:oMath>
                </a14:m>
                <a:r>
                  <a:rPr lang="en-US" dirty="0">
                    <a:latin typeface="+mj-lt"/>
                  </a:rPr>
                  <a:t>. </a:t>
                </a:r>
              </a:p>
              <a:p>
                <a:r>
                  <a:rPr lang="en-US" dirty="0">
                    <a:latin typeface="+mj-lt"/>
                  </a:rPr>
                  <a:t>This is much faster than using trigonometric identities.</a:t>
                </a:r>
              </a:p>
            </p:txBody>
          </p:sp>
        </mc:Choice>
        <mc:Fallback xmlns="">
          <p:sp>
            <p:nvSpPr>
              <p:cNvPr id="8" name="Объект 7">
                <a:extLst>
                  <a:ext uri="{FF2B5EF4-FFF2-40B4-BE49-F238E27FC236}">
                    <a16:creationId xmlns:a16="http://schemas.microsoft.com/office/drawing/2014/main" id="{FE3EC5FA-4071-B0EC-9F62-4FC084E7892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4581869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B174B-094F-E0E1-3DCD-075437479BE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737421-4B21-2706-9ED8-E906FBD45D0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4E03722A-A9C7-36CE-C797-F1653D8AD88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8B56A4D-B31D-05FA-BAEF-02D44118DD5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8AAA91F-F786-E0B0-3B0A-B0CC19C4F33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546504B2-5DF3-38E5-F359-7BD1CF6C2C6D}"/>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Multiplication and Division are easiest in Polar Form. </a:t>
                </a:r>
              </a:p>
              <a:p>
                <a:pPr algn="just">
                  <a:lnSpc>
                    <a:spcPct val="120000"/>
                  </a:lnSpc>
                </a:pPr>
                <a:r>
                  <a:rPr lang="en-US" dirty="0">
                    <a:effectLst/>
                    <a:latin typeface="Arial" panose="020B0604020202020204" pitchFamily="34" charset="0"/>
                    <a:ea typeface="Aptos" panose="020B0004020202020204" pitchFamily="34" charset="0"/>
                  </a:rPr>
                  <a:t>This will be used when we apply Ohm's Law in AC circuits</a:t>
                </a:r>
              </a:p>
              <a:p>
                <a:pPr algn="just">
                  <a:lnSpc>
                    <a:spcPct val="120000"/>
                  </a:lnSpc>
                </a:pPr>
                <a:r>
                  <a:rPr lang="en-US" b="1" dirty="0">
                    <a:effectLst/>
                    <a:latin typeface="Arial" panose="020B0604020202020204" pitchFamily="34" charset="0"/>
                    <a:ea typeface="Aptos" panose="020B0004020202020204" pitchFamily="34" charset="0"/>
                  </a:rPr>
                  <a:t>Multiplication – multiply the magnitudes and add the angles:</a:t>
                </a:r>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d>
                        <m:dPr>
                          <m:ctrlPr>
                            <a:rPr lang="ru-RU" b="1" i="1">
                              <a:effectLst/>
                              <a:latin typeface="Cambria Math" panose="02040503050406030204" pitchFamily="18" charset="0"/>
                              <a:ea typeface="Aptos" panose="020B0004020202020204" pitchFamily="34" charset="0"/>
                            </a:rPr>
                          </m:ctrlPr>
                        </m:dPr>
                        <m:e>
                          <m:r>
                            <a:rPr lang="en-US" b="1" i="1" smtClean="0">
                              <a:effectLst/>
                              <a:latin typeface="Cambria Math" panose="02040503050406030204" pitchFamily="18" charset="0"/>
                              <a:ea typeface="Aptos" panose="020B0004020202020204" pitchFamily="34" charset="0"/>
                            </a:rPr>
                            <m:t>𝑨</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𝜶</m:t>
                          </m:r>
                        </m:e>
                      </m:d>
                      <m:r>
                        <a:rPr lang="en-US" b="1" smtClean="0">
                          <a:effectLst/>
                          <a:latin typeface="Cambria Math" panose="02040503050406030204" pitchFamily="18" charset="0"/>
                          <a:ea typeface="Aptos" panose="020B0004020202020204" pitchFamily="34" charset="0"/>
                        </a:rPr>
                        <m:t>×</m:t>
                      </m:r>
                      <m:d>
                        <m:dPr>
                          <m:ctrlPr>
                            <a:rPr lang="ru-RU" b="1" i="1">
                              <a:effectLst/>
                              <a:latin typeface="Cambria Math" panose="02040503050406030204" pitchFamily="18" charset="0"/>
                              <a:ea typeface="Aptos" panose="020B0004020202020204" pitchFamily="34" charset="0"/>
                            </a:rPr>
                          </m:ctrlPr>
                        </m:dPr>
                        <m:e>
                          <m:r>
                            <a:rPr lang="en-US" b="1" i="1" smtClean="0">
                              <a:effectLst/>
                              <a:latin typeface="Cambria Math" panose="02040503050406030204" pitchFamily="18" charset="0"/>
                              <a:ea typeface="Aptos" panose="020B0004020202020204" pitchFamily="34" charset="0"/>
                            </a:rPr>
                            <m:t>𝑩</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𝜷</m:t>
                          </m:r>
                        </m:e>
                      </m:d>
                      <m:r>
                        <a:rPr lang="en-US" b="1" smtClean="0">
                          <a:effectLst/>
                          <a:latin typeface="Cambria Math" panose="02040503050406030204" pitchFamily="18" charset="0"/>
                          <a:ea typeface="Aptos" panose="020B0004020202020204" pitchFamily="34" charset="0"/>
                        </a:rPr>
                        <m:t>=</m:t>
                      </m:r>
                      <m:d>
                        <m:dPr>
                          <m:ctrlPr>
                            <a:rPr lang="ru-RU" b="1" i="1">
                              <a:effectLst/>
                              <a:latin typeface="Cambria Math" panose="02040503050406030204" pitchFamily="18" charset="0"/>
                              <a:ea typeface="Aptos" panose="020B0004020202020204" pitchFamily="34" charset="0"/>
                            </a:rPr>
                          </m:ctrlPr>
                        </m:dPr>
                        <m:e>
                          <m:r>
                            <a:rPr lang="en-US" b="1" i="1" smtClean="0">
                              <a:effectLst/>
                              <a:latin typeface="Cambria Math" panose="02040503050406030204" pitchFamily="18" charset="0"/>
                              <a:ea typeface="Aptos" panose="020B0004020202020204" pitchFamily="34" charset="0"/>
                            </a:rPr>
                            <m:t>𝑨</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𝑩</m:t>
                          </m:r>
                        </m:e>
                      </m:d>
                      <m:r>
                        <a:rPr lang="en-US" b="1" smtClean="0">
                          <a:effectLst/>
                          <a:latin typeface="Cambria Math" panose="02040503050406030204" pitchFamily="18" charset="0"/>
                          <a:ea typeface="Aptos" panose="020B0004020202020204" pitchFamily="34" charset="0"/>
                        </a:rPr>
                        <m:t>∠</m:t>
                      </m:r>
                      <m:d>
                        <m:dPr>
                          <m:ctrlPr>
                            <a:rPr lang="ru-RU" b="1" i="1">
                              <a:effectLst/>
                              <a:latin typeface="Cambria Math" panose="02040503050406030204" pitchFamily="18" charset="0"/>
                              <a:ea typeface="Aptos" panose="020B0004020202020204" pitchFamily="34" charset="0"/>
                            </a:rPr>
                          </m:ctrlPr>
                        </m:dPr>
                        <m:e>
                          <m:r>
                            <a:rPr lang="en-US" b="1" i="1" smtClean="0">
                              <a:effectLst/>
                              <a:latin typeface="Cambria Math" panose="02040503050406030204" pitchFamily="18" charset="0"/>
                              <a:ea typeface="Aptos" panose="020B0004020202020204" pitchFamily="34" charset="0"/>
                            </a:rPr>
                            <m:t>𝜶</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𝜷</m:t>
                          </m:r>
                        </m:e>
                      </m:d>
                      <m:r>
                        <a:rPr lang="en-US" b="1" i="1" smtClean="0">
                          <a:effectLst/>
                          <a:latin typeface="Cambria Math" panose="02040503050406030204" pitchFamily="18" charset="0"/>
                          <a:ea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Division – divide the magnitudes and subtract the angles:</a:t>
                </a:r>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𝑨</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𝜶</m:t>
                          </m:r>
                        </m:num>
                        <m:den>
                          <m:r>
                            <a:rPr lang="en-US" b="1" i="1" smtClean="0">
                              <a:effectLst/>
                              <a:latin typeface="Cambria Math" panose="02040503050406030204" pitchFamily="18" charset="0"/>
                              <a:ea typeface="Aptos" panose="020B0004020202020204" pitchFamily="34" charset="0"/>
                            </a:rPr>
                            <m:t>𝑩</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𝜷</m:t>
                          </m:r>
                        </m:den>
                      </m:f>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𝑨</m:t>
                          </m:r>
                        </m:num>
                        <m:den>
                          <m:r>
                            <a:rPr lang="en-US" b="1" i="1" smtClean="0">
                              <a:effectLst/>
                              <a:latin typeface="Cambria Math" panose="02040503050406030204" pitchFamily="18" charset="0"/>
                              <a:ea typeface="Aptos" panose="020B0004020202020204" pitchFamily="34" charset="0"/>
                            </a:rPr>
                            <m:t>𝑩</m:t>
                          </m:r>
                        </m:den>
                      </m:f>
                      <m:r>
                        <a:rPr lang="en-US" b="1" smtClean="0">
                          <a:effectLst/>
                          <a:latin typeface="Cambria Math" panose="02040503050406030204" pitchFamily="18" charset="0"/>
                          <a:ea typeface="Aptos" panose="020B0004020202020204" pitchFamily="34" charset="0"/>
                        </a:rPr>
                        <m:t>∠</m:t>
                      </m:r>
                      <m:d>
                        <m:dPr>
                          <m:ctrlPr>
                            <a:rPr lang="ru-RU" b="1" i="1">
                              <a:effectLst/>
                              <a:latin typeface="Cambria Math" panose="02040503050406030204" pitchFamily="18" charset="0"/>
                              <a:ea typeface="Aptos" panose="020B0004020202020204" pitchFamily="34" charset="0"/>
                            </a:rPr>
                          </m:ctrlPr>
                        </m:dPr>
                        <m:e>
                          <m:r>
                            <a:rPr lang="en-US" b="1" i="1" smtClean="0">
                              <a:effectLst/>
                              <a:latin typeface="Cambria Math" panose="02040503050406030204" pitchFamily="18" charset="0"/>
                              <a:ea typeface="Aptos" panose="020B0004020202020204" pitchFamily="34" charset="0"/>
                            </a:rPr>
                            <m:t>𝜶</m:t>
                          </m:r>
                          <m:r>
                            <a:rPr lang="en-US" b="1" i="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𝜷</m:t>
                          </m:r>
                        </m:e>
                      </m:d>
                      <m:r>
                        <a:rPr lang="en-US" b="1" i="1" smtClean="0">
                          <a:effectLst/>
                          <a:latin typeface="Cambria Math" panose="02040503050406030204" pitchFamily="18" charset="0"/>
                          <a:ea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546504B2-5DF3-38E5-F359-7BD1CF6C2C6D}"/>
                  </a:ext>
                </a:extLst>
              </p:cNvPr>
              <p:cNvSpPr>
                <a:spLocks noGrp="1" noRot="1" noChangeAspect="1" noMove="1" noResize="1" noEditPoints="1" noAdjustHandles="1" noChangeArrowheads="1" noChangeShapeType="1" noTextEdit="1"/>
              </p:cNvSpPr>
              <p:nvPr>
                <p:ph idx="1"/>
              </p:nvPr>
            </p:nvSpPr>
            <p:spPr>
              <a:blipFill>
                <a:blip r:embed="rId2"/>
                <a:stretch>
                  <a:fillRect l="-1043" t="-560" r="-1159" b="-4622"/>
                </a:stretch>
              </a:blipFill>
            </p:spPr>
            <p:txBody>
              <a:bodyPr/>
              <a:lstStyle/>
              <a:p>
                <a:r>
                  <a:rPr lang="ru-RU">
                    <a:noFill/>
                  </a:rPr>
                  <a:t> </a:t>
                </a:r>
              </a:p>
            </p:txBody>
          </p:sp>
        </mc:Fallback>
      </mc:AlternateContent>
    </p:spTree>
    <p:extLst>
      <p:ext uri="{BB962C8B-B14F-4D97-AF65-F5344CB8AC3E}">
        <p14:creationId xmlns:p14="http://schemas.microsoft.com/office/powerpoint/2010/main" val="1383751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4DE2C-2199-140B-9782-AF713DC88C3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77EE79-04FE-C164-5A0D-85DB5D7EB4A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37F40FE-DF8D-05C2-6F3E-4982AFC7E55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8E4E1C4-FDCF-0FBC-0CD1-F2A8E9C6DE8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6041CA1-27D8-4983-6585-1BFF41BD7C7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A862BCF8-A7F7-F5E0-A79E-608AEB1370C3}"/>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There is one more crucial property of phasors related to calculus. In circuits, inductors and capacitors involve derivatives (</a:t>
                </a:r>
                <a14:m>
                  <m:oMath xmlns:m="http://schemas.openxmlformats.org/officeDocument/2006/math">
                    <m:r>
                      <a:rPr lang="en-US" b="0" i="1">
                        <a:effectLst/>
                        <a:latin typeface="Cambria Math" panose="02040503050406030204" pitchFamily="18" charset="0"/>
                        <a:ea typeface="Aptos" panose="020B0004020202020204" pitchFamily="34" charset="0"/>
                      </a:rPr>
                      <m:t>𝑣</m:t>
                    </m:r>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𝐿</m:t>
                    </m:r>
                    <m:f>
                      <m:fPr>
                        <m:ctrlPr>
                          <a:rPr lang="ru-RU" i="1">
                            <a:effectLst/>
                            <a:latin typeface="Cambria Math" panose="02040503050406030204" pitchFamily="18" charset="0"/>
                            <a:ea typeface="Aptos" panose="020B0004020202020204" pitchFamily="34" charset="0"/>
                          </a:rPr>
                        </m:ctrlPr>
                      </m:fPr>
                      <m:num>
                        <m:r>
                          <a:rPr lang="en-US" b="0" i="1">
                            <a:effectLst/>
                            <a:latin typeface="Cambria Math" panose="02040503050406030204" pitchFamily="18" charset="0"/>
                            <a:ea typeface="Aptos" panose="020B0004020202020204" pitchFamily="34" charset="0"/>
                          </a:rPr>
                          <m:t>𝑑𝑖</m:t>
                        </m:r>
                      </m:num>
                      <m:den>
                        <m:r>
                          <a:rPr lang="en-US" b="0" i="1">
                            <a:effectLst/>
                            <a:latin typeface="Cambria Math" panose="02040503050406030204" pitchFamily="18" charset="0"/>
                            <a:ea typeface="Aptos" panose="020B0004020202020204" pitchFamily="34" charset="0"/>
                          </a:rPr>
                          <m:t>𝑑𝑡</m:t>
                        </m:r>
                      </m:den>
                    </m:f>
                  </m:oMath>
                </a14:m>
                <a:r>
                  <a:rPr lang="en-US" dirty="0">
                    <a:effectLst/>
                    <a:latin typeface="Arial" panose="020B0604020202020204" pitchFamily="34" charset="0"/>
                    <a:ea typeface="Aptos" panose="020B0004020202020204" pitchFamily="34" charset="0"/>
                  </a:rPr>
                  <a:t>) and integrals. </a:t>
                </a:r>
                <a:endParaRPr lang="en-US" dirty="0">
                  <a:effectLst/>
                  <a:ea typeface="Aptos" panose="020B0004020202020204" pitchFamily="34" charset="0"/>
                </a:endParaRPr>
              </a:p>
              <a:p>
                <a:pPr algn="just">
                  <a:lnSpc>
                    <a:spcPct val="120000"/>
                  </a:lnSpc>
                </a:pPr>
                <a:r>
                  <a:rPr lang="en-US" b="1" dirty="0">
                    <a:effectLst/>
                    <a:ea typeface="Aptos" panose="020B0004020202020204" pitchFamily="34" charset="0"/>
                  </a:rPr>
                  <a:t>In the Phasor domain, differentiation with respect to time corresponds to multiplication by </a:t>
                </a:r>
                <a14:m>
                  <m:oMath xmlns:m="http://schemas.openxmlformats.org/officeDocument/2006/math">
                    <m:r>
                      <a:rPr lang="en-US" b="1" i="1">
                        <a:effectLst/>
                        <a:latin typeface="Cambria Math" panose="02040503050406030204" pitchFamily="18" charset="0"/>
                        <a:ea typeface="Aptos" panose="020B0004020202020204" pitchFamily="34" charset="0"/>
                      </a:rPr>
                      <m:t>𝒋</m:t>
                    </m:r>
                    <m:r>
                      <a:rPr lang="en-US" b="1" i="1">
                        <a:effectLst/>
                        <a:latin typeface="Cambria Math" panose="02040503050406030204" pitchFamily="18" charset="0"/>
                        <a:ea typeface="Aptos" panose="020B0004020202020204" pitchFamily="34" charset="0"/>
                      </a:rPr>
                      <m:t>𝝎</m:t>
                    </m:r>
                  </m:oMath>
                </a14:m>
                <a:r>
                  <a:rPr lang="en-US" b="1" dirty="0">
                    <a:effectLst/>
                    <a:ea typeface="Aptos" panose="020B0004020202020204" pitchFamily="34" charset="0"/>
                  </a:rPr>
                  <a:t>:</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f>
                        <m:fPr>
                          <m:ctrlPr>
                            <a:rPr lang="ru-RU" b="1" i="1">
                              <a:effectLst/>
                              <a:latin typeface="Cambria Math" panose="02040503050406030204" pitchFamily="18" charset="0"/>
                              <a:ea typeface="Aptos" panose="020B0004020202020204" pitchFamily="34" charset="0"/>
                            </a:rPr>
                          </m:ctrlPr>
                        </m:fPr>
                        <m:num>
                          <m:r>
                            <a:rPr lang="en-US" b="1" i="1">
                              <a:effectLst/>
                              <a:latin typeface="Cambria Math" panose="02040503050406030204" pitchFamily="18" charset="0"/>
                              <a:ea typeface="Aptos" panose="020B0004020202020204" pitchFamily="34" charset="0"/>
                            </a:rPr>
                            <m:t>𝒅</m:t>
                          </m:r>
                        </m:num>
                        <m:den>
                          <m:r>
                            <a:rPr lang="en-US" b="1" i="1">
                              <a:effectLst/>
                              <a:latin typeface="Cambria Math" panose="02040503050406030204" pitchFamily="18" charset="0"/>
                              <a:ea typeface="Aptos" panose="020B0004020202020204" pitchFamily="34" charset="0"/>
                            </a:rPr>
                            <m:t>𝒅𝒕</m:t>
                          </m:r>
                        </m:den>
                      </m:f>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m:t>
                      </m:r>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Times New Roman" panose="02020603050405020304" pitchFamily="18" charset="0"/>
                        </a:rPr>
                        <m:t>.</m:t>
                      </m:r>
                    </m:oMath>
                  </m:oMathPara>
                </a14:m>
                <a:endParaRPr lang="ru-RU" b="1"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A862BCF8-A7F7-F5E0-A79E-608AEB1370C3}"/>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spTree>
    <p:extLst>
      <p:ext uri="{BB962C8B-B14F-4D97-AF65-F5344CB8AC3E}">
        <p14:creationId xmlns:p14="http://schemas.microsoft.com/office/powerpoint/2010/main" val="3731173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77CF-7D7B-2EE4-B628-E66FD2C802F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F4F2A6-E52C-9063-C803-9CC13D9AA62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4126B24-966B-844D-1AE0-A33C1C75661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909A700-2522-5965-889E-7EEFABF6726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B60F597-0EA9-5C25-754E-561266E27C1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E8513554-9D39-D80D-EAC9-E26E972CCD76}"/>
                  </a:ext>
                </a:extLst>
              </p:cNvPr>
              <p:cNvSpPr>
                <a:spLocks noGrp="1"/>
              </p:cNvSpPr>
              <p:nvPr>
                <p:ph idx="1"/>
              </p:nvPr>
            </p:nvSpPr>
            <p:spPr/>
            <p:txBody>
              <a:bodyPr>
                <a:noAutofit/>
              </a:bodyPr>
              <a:lstStyle/>
              <a:p>
                <a:pPr algn="just">
                  <a:lnSpc>
                    <a:spcPct val="120000"/>
                  </a:lnSpc>
                </a:pPr>
                <a:r>
                  <a:rPr lang="en-US" b="1" dirty="0">
                    <a:effectLst/>
                    <a:ea typeface="Aptos" panose="020B0004020202020204" pitchFamily="34" charset="0"/>
                  </a:rPr>
                  <a:t>Integration with respect to time corresponds to division by </a:t>
                </a:r>
                <a14:m>
                  <m:oMath xmlns:m="http://schemas.openxmlformats.org/officeDocument/2006/math">
                    <m:r>
                      <a:rPr lang="en-US" b="1" i="1">
                        <a:effectLst/>
                        <a:latin typeface="Cambria Math" panose="02040503050406030204" pitchFamily="18" charset="0"/>
                        <a:ea typeface="Aptos" panose="020B0004020202020204" pitchFamily="34" charset="0"/>
                      </a:rPr>
                      <m:t>𝒋</m:t>
                    </m:r>
                    <m:r>
                      <a:rPr lang="en-US" b="1" i="1">
                        <a:effectLst/>
                        <a:latin typeface="Cambria Math" panose="02040503050406030204" pitchFamily="18" charset="0"/>
                        <a:ea typeface="Aptos" panose="020B0004020202020204" pitchFamily="34" charset="0"/>
                      </a:rPr>
                      <m:t>𝝎</m:t>
                    </m:r>
                  </m:oMath>
                </a14:m>
                <a:r>
                  <a:rPr lang="en-US" b="1" dirty="0">
                    <a:effectLst/>
                    <a:ea typeface="Aptos" panose="020B0004020202020204" pitchFamily="34" charset="0"/>
                  </a:rPr>
                  <a:t>:</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𝒅𝒕</m:t>
                      </m:r>
                      <m:r>
                        <a:rPr lang="en-US" b="1">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a:effectLst/>
                              <a:latin typeface="Cambria Math" panose="02040503050406030204" pitchFamily="18" charset="0"/>
                              <a:ea typeface="Aptos" panose="020B0004020202020204" pitchFamily="34" charset="0"/>
                            </a:rPr>
                            <m:t>𝟏</m:t>
                          </m:r>
                        </m:num>
                        <m:den>
                          <m:r>
                            <a:rPr lang="en-US" b="1" i="1">
                              <a:effectLst/>
                              <a:latin typeface="Cambria Math" panose="02040503050406030204" pitchFamily="18" charset="0"/>
                              <a:ea typeface="Aptos" panose="020B0004020202020204" pitchFamily="34" charset="0"/>
                            </a:rPr>
                            <m:t>𝒋</m:t>
                          </m:r>
                          <m:r>
                            <a:rPr lang="en-US" b="1" i="1">
                              <a:effectLst/>
                              <a:latin typeface="Cambria Math" panose="02040503050406030204" pitchFamily="18" charset="0"/>
                              <a:ea typeface="Aptos" panose="020B0004020202020204" pitchFamily="34" charset="0"/>
                            </a:rPr>
                            <m:t>𝝎</m:t>
                          </m:r>
                        </m:den>
                      </m:f>
                      <m:r>
                        <a:rPr lang="en-US" b="1" i="1">
                          <a:effectLst/>
                          <a:latin typeface="Cambria Math" panose="02040503050406030204" pitchFamily="18" charset="0"/>
                          <a:ea typeface="Times New Roman" panose="02020603050405020304" pitchFamily="18" charset="0"/>
                        </a:rPr>
                        <m:t>.</m:t>
                      </m:r>
                    </m:oMath>
                  </m:oMathPara>
                </a14:m>
                <a:endParaRPr lang="en-US" b="1" dirty="0">
                  <a:effectLst/>
                  <a:ea typeface="Aptos" panose="020B0004020202020204" pitchFamily="34" charset="0"/>
                </a:endParaRPr>
              </a:p>
              <a:p>
                <a:pPr>
                  <a:lnSpc>
                    <a:spcPct val="120000"/>
                  </a:lnSpc>
                </a:pPr>
                <a:r>
                  <a:rPr lang="en-US" dirty="0">
                    <a:effectLst/>
                    <a:latin typeface="Arial" panose="020B0604020202020204" pitchFamily="34" charset="0"/>
                    <a:ea typeface="Aptos" panose="020B0004020202020204" pitchFamily="34" charset="0"/>
                  </a:rPr>
                  <a:t>Since </a:t>
                </a:r>
                <a14:m>
                  <m:oMath xmlns:m="http://schemas.openxmlformats.org/officeDocument/2006/math">
                    <m:r>
                      <a:rPr lang="en-US" i="1">
                        <a:effectLst/>
                        <a:latin typeface="Cambria Math" panose="02040503050406030204" pitchFamily="18" charset="0"/>
                        <a:ea typeface="Aptos" panose="020B0004020202020204" pitchFamily="34" charset="0"/>
                      </a:rPr>
                      <m:t>𝑗</m:t>
                    </m:r>
                  </m:oMath>
                </a14:m>
                <a:r>
                  <a:rPr lang="en-US" dirty="0">
                    <a:effectLst/>
                    <a:latin typeface="Arial" panose="020B0604020202020204" pitchFamily="34" charset="0"/>
                    <a:ea typeface="Aptos" panose="020B0004020202020204" pitchFamily="34" charset="0"/>
                  </a:rPr>
                  <a:t> is equivalent to </a:t>
                </a:r>
                <a14:m>
                  <m:oMath xmlns:m="http://schemas.openxmlformats.org/officeDocument/2006/math">
                    <m:r>
                      <a:rPr lang="en-US" i="1">
                        <a:effectLst/>
                        <a:latin typeface="Cambria Math" panose="02040503050406030204" pitchFamily="18" charset="0"/>
                        <a:ea typeface="Aptos" panose="020B0004020202020204" pitchFamily="34" charset="0"/>
                      </a:rPr>
                      <m:t>1</m:t>
                    </m:r>
                    <m:r>
                      <a:rPr lang="en-US">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90</m:t>
                        </m:r>
                      </m:e>
                      <m:sup>
                        <m:r>
                          <a:rPr lang="en-US">
                            <a:effectLst/>
                            <a:latin typeface="Cambria Math" panose="02040503050406030204" pitchFamily="18" charset="0"/>
                            <a:ea typeface="Aptos" panose="020B0004020202020204" pitchFamily="34" charset="0"/>
                          </a:rPr>
                          <m:t>∘</m:t>
                        </m:r>
                      </m:sup>
                    </m:sSup>
                  </m:oMath>
                </a14:m>
                <a:r>
                  <a:rPr lang="en-US" dirty="0">
                    <a:effectLst/>
                    <a:latin typeface="Arial" panose="020B0604020202020204" pitchFamily="34" charset="0"/>
                    <a:ea typeface="Aptos" panose="020B0004020202020204" pitchFamily="34" charset="0"/>
                  </a:rPr>
                  <a:t>, taking a derivative shifts the phase by </a:t>
                </a:r>
                <a14:m>
                  <m:oMath xmlns:m="http://schemas.openxmlformats.org/officeDocument/2006/math">
                    <m:r>
                      <a:rPr lang="en-US">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90</m:t>
                        </m:r>
                      </m:e>
                      <m:sup>
                        <m:r>
                          <a:rPr lang="en-US">
                            <a:effectLst/>
                            <a:latin typeface="Cambria Math" panose="02040503050406030204" pitchFamily="18" charset="0"/>
                            <a:ea typeface="Aptos" panose="020B0004020202020204" pitchFamily="34" charset="0"/>
                          </a:rPr>
                          <m:t>∘</m:t>
                        </m:r>
                      </m:sup>
                    </m:sSup>
                  </m:oMath>
                </a14:m>
                <a:r>
                  <a:rPr lang="en-US" dirty="0">
                    <a:effectLst/>
                    <a:latin typeface="Arial" panose="020B0604020202020204" pitchFamily="34" charset="0"/>
                    <a:ea typeface="Aptos" panose="020B0004020202020204" pitchFamily="34" charset="0"/>
                  </a:rPr>
                  <a:t>. </a:t>
                </a:r>
              </a:p>
              <a:p>
                <a:pPr>
                  <a:lnSpc>
                    <a:spcPct val="120000"/>
                  </a:lnSpc>
                </a:pPr>
                <a:r>
                  <a:rPr lang="en-US" dirty="0">
                    <a:effectLst/>
                    <a:latin typeface="Arial" panose="020B0604020202020204" pitchFamily="34" charset="0"/>
                    <a:ea typeface="Aptos" panose="020B0004020202020204" pitchFamily="34" charset="0"/>
                  </a:rPr>
                  <a:t>This explains why voltage leads current in an inductor, which we will detail in the next lecture.</a:t>
                </a:r>
                <a:endParaRPr lang="ru-RU"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E8513554-9D39-D80D-EAC9-E26E972CCD76}"/>
                  </a:ext>
                </a:extLst>
              </p:cNvPr>
              <p:cNvSpPr>
                <a:spLocks noGrp="1" noRot="1" noChangeAspect="1" noMove="1" noResize="1" noEditPoints="1" noAdjustHandles="1" noChangeArrowheads="1" noChangeShapeType="1" noTextEdit="1"/>
              </p:cNvSpPr>
              <p:nvPr>
                <p:ph idx="1"/>
              </p:nvPr>
            </p:nvSpPr>
            <p:spPr>
              <a:blipFill>
                <a:blip r:embed="rId2"/>
                <a:stretch>
                  <a:fillRect l="-1043" t="-140" r="-2087"/>
                </a:stretch>
              </a:blipFill>
            </p:spPr>
            <p:txBody>
              <a:bodyPr/>
              <a:lstStyle/>
              <a:p>
                <a:r>
                  <a:rPr lang="ru-RU">
                    <a:noFill/>
                  </a:rPr>
                  <a:t> </a:t>
                </a:r>
              </a:p>
            </p:txBody>
          </p:sp>
        </mc:Fallback>
      </mc:AlternateContent>
    </p:spTree>
    <p:extLst>
      <p:ext uri="{BB962C8B-B14F-4D97-AF65-F5344CB8AC3E}">
        <p14:creationId xmlns:p14="http://schemas.microsoft.com/office/powerpoint/2010/main" val="21500604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253F-1FD1-C978-C05F-01F16C66F1A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4FA043-DA5B-5F83-5046-362D21E45CD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B58B52F-4980-A734-7B36-9C214283681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E206BBC-61A5-5EC1-752B-8F8288C48B3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1E5B01E-2B0A-CB1A-7D9D-6823F899721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57D55730-4E37-61B7-9F05-F52F986B38D1}"/>
              </a:ext>
            </a:extLst>
          </p:cNvPr>
          <p:cNvSpPr>
            <a:spLocks noGrp="1"/>
          </p:cNvSpPr>
          <p:nvPr>
            <p:ph idx="1"/>
          </p:nvPr>
        </p:nvSpPr>
        <p:spPr/>
        <p:txBody>
          <a:bodyPr>
            <a:noAutofit/>
          </a:bodyPr>
          <a:lstStyle/>
          <a:p>
            <a:r>
              <a:rPr lang="en-US" dirty="0"/>
              <a:t>We must also discuss two important metrics used to describe the shape of an AC waveform: the Average Value and the Form Factor. </a:t>
            </a:r>
          </a:p>
          <a:p>
            <a:r>
              <a:rPr lang="en-US" dirty="0"/>
              <a:t>The mathematical average of a pure sine wave over one full cycle is zero, because the positive half cancels the negative half.</a:t>
            </a:r>
          </a:p>
          <a:p>
            <a:r>
              <a:rPr lang="en-US" b="1" dirty="0"/>
              <a:t>In engineering, when we speak of the «Average Value» of a sine wave, we usually refer to the average over a half-cycle (or the average of the absolute value). </a:t>
            </a:r>
            <a:endParaRPr lang="ru-RU" b="1" dirty="0"/>
          </a:p>
          <a:p>
            <a:r>
              <a:rPr lang="en-US" dirty="0"/>
              <a:t>This is very important for designing AC-to-DC converters (rectifiers).</a:t>
            </a:r>
            <a:endParaRPr lang="ru-RU" dirty="0"/>
          </a:p>
        </p:txBody>
      </p:sp>
    </p:spTree>
    <p:extLst>
      <p:ext uri="{BB962C8B-B14F-4D97-AF65-F5344CB8AC3E}">
        <p14:creationId xmlns:p14="http://schemas.microsoft.com/office/powerpoint/2010/main" val="168525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EFE6-2372-DE50-A907-55CEC165EF7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0AD721-8D23-27E2-077C-0C85F5B8868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512B661-C024-6E34-2B58-4FEAEF88DBE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3A388E9-2D8F-A488-8E9C-B59A8B65A14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ECE65AD-1DAC-C025-D19F-F9F0250204C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6C55AFB1-A76B-5368-251A-257AEF848E50}"/>
                  </a:ext>
                </a:extLst>
              </p:cNvPr>
              <p:cNvSpPr>
                <a:spLocks noGrp="1"/>
              </p:cNvSpPr>
              <p:nvPr>
                <p:ph idx="1"/>
              </p:nvPr>
            </p:nvSpPr>
            <p:spPr/>
            <p:txBody>
              <a:bodyPr>
                <a:noAutofit/>
              </a:bodyPr>
              <a:lstStyle/>
              <a:p>
                <a:r>
                  <a:rPr lang="en-US" b="1" dirty="0"/>
                  <a:t>For a sinusoidal voltage </a:t>
                </a:r>
                <a14:m>
                  <m:oMath xmlns:m="http://schemas.openxmlformats.org/officeDocument/2006/math">
                    <m:r>
                      <a:rPr lang="en-US" b="1" i="1" smtClean="0">
                        <a:latin typeface="Cambria Math" panose="02040503050406030204" pitchFamily="18" charset="0"/>
                      </a:rPr>
                      <m:t>𝒗</m:t>
                    </m:r>
                    <m:r>
                      <a:rPr lang="en-US" b="1" smtClean="0">
                        <a:latin typeface="Cambria Math" panose="02040503050406030204" pitchFamily="18" charset="0"/>
                      </a:rPr>
                      <m:t>(</m:t>
                    </m:r>
                    <m:r>
                      <a:rPr lang="en-US" b="1" i="1" smtClean="0">
                        <a:latin typeface="Cambria Math" panose="02040503050406030204" pitchFamily="18" charset="0"/>
                      </a:rPr>
                      <m:t>𝒕</m:t>
                    </m:r>
                    <m:r>
                      <a:rPr lang="en-US" b="1" smtClean="0">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r>
                      <a:rPr lang="en-US" b="1" i="1" smtClean="0">
                        <a:latin typeface="Cambria Math" panose="02040503050406030204" pitchFamily="18" charset="0"/>
                      </a:rPr>
                      <m:t>𝒔𝒊𝒏</m:t>
                    </m:r>
                    <m:r>
                      <a:rPr lang="en-US" b="1" smtClean="0">
                        <a:latin typeface="Cambria Math" panose="02040503050406030204" pitchFamily="18" charset="0"/>
                      </a:rPr>
                      <m:t>(</m:t>
                    </m:r>
                    <m:r>
                      <a:rPr lang="en-US" b="1" i="1" smtClean="0">
                        <a:latin typeface="Cambria Math" panose="02040503050406030204" pitchFamily="18" charset="0"/>
                      </a:rPr>
                      <m:t>𝝎</m:t>
                    </m:r>
                    <m:r>
                      <a:rPr lang="en-US" b="1" i="1" smtClean="0">
                        <a:latin typeface="Cambria Math" panose="02040503050406030204" pitchFamily="18" charset="0"/>
                      </a:rPr>
                      <m:t>𝒕</m:t>
                    </m:r>
                    <m:r>
                      <a:rPr lang="en-US" b="1" smtClean="0">
                        <a:latin typeface="Cambria Math" panose="02040503050406030204" pitchFamily="18" charset="0"/>
                      </a:rPr>
                      <m:t>),</m:t>
                    </m:r>
                  </m:oMath>
                </a14:m>
                <a:r>
                  <a:rPr lang="en-US" b="1" dirty="0"/>
                  <a:t> the average value is:</a:t>
                </a:r>
                <a:endParaRPr lang="ru-RU" b="1" dirty="0"/>
              </a:p>
              <a:p>
                <a:pPr marL="0" indent="0">
                  <a:buNone/>
                </a:pPr>
                <a14:m>
                  <m:oMathPara xmlns:m="http://schemas.openxmlformats.org/officeDocument/2006/math">
                    <m:oMathParaPr>
                      <m:jc m:val="centerGroup"/>
                    </m:oMathParaPr>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𝒂𝒗𝒈</m:t>
                          </m:r>
                        </m:sub>
                      </m:sSub>
                      <m:r>
                        <a:rPr lang="en-US" b="1" smtClean="0">
                          <a:latin typeface="Cambria Math" panose="02040503050406030204" pitchFamily="18" charset="0"/>
                        </a:rPr>
                        <m:t>=</m:t>
                      </m:r>
                      <m:f>
                        <m:fPr>
                          <m:ctrlPr>
                            <a:rPr lang="ru-RU" b="1" i="1">
                              <a:latin typeface="Cambria Math" panose="02040503050406030204" pitchFamily="18" charset="0"/>
                            </a:rPr>
                          </m:ctrlPr>
                        </m:fPr>
                        <m:num>
                          <m:r>
                            <a:rPr lang="en-US" b="1" i="1" smtClean="0">
                              <a:latin typeface="Cambria Math" panose="02040503050406030204" pitchFamily="18" charset="0"/>
                            </a:rPr>
                            <m:t>𝟐</m:t>
                          </m:r>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num>
                        <m:den>
                          <m:r>
                            <a:rPr lang="en-US" b="1" i="1" smtClean="0">
                              <a:latin typeface="Cambria Math" panose="02040503050406030204" pitchFamily="18" charset="0"/>
                            </a:rPr>
                            <m:t>𝝅</m:t>
                          </m:r>
                        </m:den>
                      </m:f>
                      <m:r>
                        <a:rPr lang="en-US" b="1" smtClean="0">
                          <a:latin typeface="Cambria Math" panose="02040503050406030204" pitchFamily="18" charset="0"/>
                        </a:rPr>
                        <m:t>≈</m:t>
                      </m:r>
                      <m:r>
                        <a:rPr lang="en-US" b="1" i="1" smtClean="0">
                          <a:latin typeface="Cambria Math" panose="02040503050406030204" pitchFamily="18" charset="0"/>
                        </a:rPr>
                        <m:t>𝟎</m:t>
                      </m:r>
                      <m:r>
                        <a:rPr lang="en-US" b="1" smtClean="0">
                          <a:latin typeface="Cambria Math" panose="02040503050406030204" pitchFamily="18" charset="0"/>
                        </a:rPr>
                        <m:t>.</m:t>
                      </m:r>
                      <m:r>
                        <a:rPr lang="en-US" b="1" i="1" smtClean="0">
                          <a:latin typeface="Cambria Math" panose="02040503050406030204" pitchFamily="18" charset="0"/>
                        </a:rPr>
                        <m:t>𝟔𝟑𝟕</m:t>
                      </m:r>
                      <m:sSub>
                        <m:sSubPr>
                          <m:ctrlPr>
                            <a:rPr lang="ru-RU" b="1" i="1">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m:t>
                          </m:r>
                        </m:sub>
                      </m:sSub>
                      <m:r>
                        <a:rPr lang="en-US" b="1" smtClean="0">
                          <a:latin typeface="Cambria Math" panose="02040503050406030204" pitchFamily="18" charset="0"/>
                        </a:rPr>
                        <m:t>.</m:t>
                      </m:r>
                    </m:oMath>
                  </m:oMathPara>
                </a14:m>
                <a:endParaRPr lang="en-US" b="1" dirty="0"/>
              </a:p>
              <a:p>
                <a:r>
                  <a:rPr lang="en-US" dirty="0">
                    <a:effectLst/>
                    <a:latin typeface="Arial" panose="020B0604020202020204" pitchFamily="34" charset="0"/>
                    <a:ea typeface="Aptos" panose="020B0004020202020204" pitchFamily="34" charset="0"/>
                  </a:rPr>
                  <a:t>This value is slightly lower than the RMS value, which is </a:t>
                </a:r>
                <a14:m>
                  <m:oMath xmlns:m="http://schemas.openxmlformats.org/officeDocument/2006/math">
                    <m:r>
                      <a:rPr lang="en-US" i="1">
                        <a:effectLst/>
                        <a:latin typeface="Cambria Math" panose="02040503050406030204" pitchFamily="18" charset="0"/>
                        <a:ea typeface="Aptos" panose="020B0004020202020204" pitchFamily="34" charset="0"/>
                      </a:rPr>
                      <m:t>0.707</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𝑉</m:t>
                        </m:r>
                      </m:e>
                      <m:sub>
                        <m:r>
                          <a:rPr lang="en-US" i="1">
                            <a:effectLst/>
                            <a:latin typeface="Cambria Math" panose="02040503050406030204" pitchFamily="18" charset="0"/>
                            <a:ea typeface="Aptos" panose="020B0004020202020204" pitchFamily="34" charset="0"/>
                          </a:rPr>
                          <m:t>𝑚</m:t>
                        </m:r>
                      </m:sub>
                    </m:sSub>
                    <m:r>
                      <a:rPr lang="en-US">
                        <a:effectLst/>
                        <a:latin typeface="Cambria Math" panose="02040503050406030204" pitchFamily="18" charset="0"/>
                        <a:ea typeface="Aptos" panose="020B0004020202020204" pitchFamily="34" charset="0"/>
                      </a:rPr>
                      <m:t>.</m:t>
                    </m:r>
                  </m:oMath>
                </a14:m>
                <a:endParaRPr lang="ru-RU"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6C55AFB1-A76B-5368-251A-257AEF848E50}"/>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spTree>
    <p:extLst>
      <p:ext uri="{BB962C8B-B14F-4D97-AF65-F5344CB8AC3E}">
        <p14:creationId xmlns:p14="http://schemas.microsoft.com/office/powerpoint/2010/main" val="2458928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C26EF-1B4F-1B4C-7F12-7F70CE5E14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5ADA31-F76C-183D-BC19-48AB94B8C39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1626C419-0398-D7B6-32E8-DD4EFE516B8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D84D3C9-26D5-9422-D75C-3E0D614DC36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388F7BF5-9F0B-9546-3C68-111E9562E6F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85F3CFE3-9C24-C0B6-AD02-7CB415AF7834}"/>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The relationship between the RMS value and the Average value is called the Form Factor.</a:t>
                </a:r>
              </a:p>
              <a:p>
                <a:pPr algn="just">
                  <a:lnSpc>
                    <a:spcPct val="120000"/>
                  </a:lnSpc>
                </a:pPr>
                <a:r>
                  <a:rPr lang="en-US" dirty="0">
                    <a:effectLst/>
                    <a:latin typeface="Arial" panose="020B0604020202020204" pitchFamily="34" charset="0"/>
                    <a:ea typeface="Aptos" panose="020B0004020202020204" pitchFamily="34" charset="0"/>
                  </a:rPr>
                  <a:t>The Form Factor is a measure of the «</a:t>
                </a:r>
                <a:r>
                  <a:rPr lang="en-US" dirty="0" err="1">
                    <a:effectLst/>
                    <a:latin typeface="Arial" panose="020B0604020202020204" pitchFamily="34" charset="0"/>
                    <a:ea typeface="Aptos" panose="020B0004020202020204" pitchFamily="34" charset="0"/>
                  </a:rPr>
                  <a:t>peakedness</a:t>
                </a:r>
                <a:r>
                  <a:rPr lang="en-US" dirty="0">
                    <a:effectLst/>
                    <a:latin typeface="Arial" panose="020B0604020202020204" pitchFamily="34" charset="0"/>
                    <a:ea typeface="Aptos" panose="020B0004020202020204" pitchFamily="34" charset="0"/>
                  </a:rPr>
                  <a:t>» of the waveform. It is defined as the ratio of the RMS value to the Average value:</a:t>
                </a:r>
                <a:endParaRPr lang="ru-RU" dirty="0">
                  <a:effectLst/>
                  <a:latin typeface="Arial" panose="020B0604020202020204" pitchFamily="34" charset="0"/>
                  <a:ea typeface="Aptos" panose="020B0004020202020204" pitchFamily="34"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𝑲</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𝒇</m:t>
                          </m:r>
                        </m:sub>
                      </m:sSub>
                      <m:r>
                        <a:rPr lang="en-US" b="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𝑽</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𝒓𝒎𝒔</m:t>
                              </m:r>
                            </m:sub>
                          </m:sSub>
                        </m:num>
                        <m:den>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𝑽</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𝒂𝒗𝒈</m:t>
                              </m:r>
                            </m:sub>
                          </m:sSub>
                        </m:den>
                      </m:f>
                      <m:r>
                        <a:rPr lang="en-US" b="1" smtClean="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b="1"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8" name="Объект 7">
                <a:extLst>
                  <a:ext uri="{FF2B5EF4-FFF2-40B4-BE49-F238E27FC236}">
                    <a16:creationId xmlns:a16="http://schemas.microsoft.com/office/drawing/2014/main" id="{85F3CFE3-9C24-C0B6-AD02-7CB415AF7834}"/>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spTree>
    <p:extLst>
      <p:ext uri="{BB962C8B-B14F-4D97-AF65-F5344CB8AC3E}">
        <p14:creationId xmlns:p14="http://schemas.microsoft.com/office/powerpoint/2010/main" val="2772411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8B9A7-E680-35C3-3C33-8A1A50305A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4D28A-390B-E692-A29B-03A7DC4D655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E9070CD0-7C79-F62A-B0E2-4ECF1D0FB5D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63144D2-8BDA-442C-787D-6325BB912D2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C4DBEBA-1F98-50A9-6C7A-F38384999A3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26C5A14E-80FE-D07F-5D44-9B4BDC0227D8}"/>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For a pure sine wave, the Form Factor is:</a:t>
                </a:r>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𝑲</m:t>
                          </m:r>
                        </m:e>
                        <m:sub>
                          <m:r>
                            <a:rPr lang="en-US" b="1" i="1" smtClean="0">
                              <a:effectLst/>
                              <a:latin typeface="Cambria Math" panose="02040503050406030204" pitchFamily="18" charset="0"/>
                              <a:ea typeface="Aptos" panose="020B0004020202020204" pitchFamily="34" charset="0"/>
                            </a:rPr>
                            <m:t>𝒇</m:t>
                          </m:r>
                        </m:sub>
                      </m:sSub>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𝟎</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𝟕𝟎𝟕</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𝑽</m:t>
                              </m:r>
                            </m:e>
                            <m:sub>
                              <m:r>
                                <a:rPr lang="en-US" b="1" i="1" smtClean="0">
                                  <a:effectLst/>
                                  <a:latin typeface="Cambria Math" panose="02040503050406030204" pitchFamily="18" charset="0"/>
                                  <a:ea typeface="Aptos" panose="020B0004020202020204" pitchFamily="34" charset="0"/>
                                </a:rPr>
                                <m:t>𝒎</m:t>
                              </m:r>
                            </m:sub>
                          </m:sSub>
                        </m:num>
                        <m:den>
                          <m:r>
                            <a:rPr lang="en-US" b="1" i="1" smtClean="0">
                              <a:effectLst/>
                              <a:latin typeface="Cambria Math" panose="02040503050406030204" pitchFamily="18" charset="0"/>
                              <a:ea typeface="Aptos" panose="020B0004020202020204" pitchFamily="34" charset="0"/>
                            </a:rPr>
                            <m:t>𝟎</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𝟔𝟑𝟕</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𝑽</m:t>
                              </m:r>
                            </m:e>
                            <m:sub>
                              <m:r>
                                <a:rPr lang="en-US" b="1" i="1" smtClean="0">
                                  <a:effectLst/>
                                  <a:latin typeface="Cambria Math" panose="02040503050406030204" pitchFamily="18" charset="0"/>
                                  <a:ea typeface="Aptos" panose="020B0004020202020204" pitchFamily="34" charset="0"/>
                                </a:rPr>
                                <m:t>𝒎</m:t>
                              </m:r>
                            </m:sub>
                          </m:sSub>
                        </m:den>
                      </m:f>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𝟏</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𝟏𝟏</m:t>
                      </m:r>
                      <m:r>
                        <a:rPr lang="en-US" b="1" smtClean="0">
                          <a:effectLst/>
                          <a:latin typeface="Cambria Math" panose="02040503050406030204" pitchFamily="18" charset="0"/>
                          <a:ea typeface="Aptos" panose="020B0004020202020204" pitchFamily="34" charset="0"/>
                        </a:rPr>
                        <m:t>.</m:t>
                      </m:r>
                    </m:oMath>
                  </m:oMathPara>
                </a14:m>
                <a:endParaRPr lang="en-US" b="1" dirty="0">
                  <a:effectLst/>
                  <a:latin typeface="Arial" panose="020B0604020202020204" pitchFamily="34" charset="0"/>
                  <a:ea typeface="Aptos" panose="020B0004020202020204" pitchFamily="34" charset="0"/>
                </a:endParaRPr>
              </a:p>
              <a:p>
                <a:pPr>
                  <a:lnSpc>
                    <a:spcPct val="120000"/>
                  </a:lnSpc>
                </a:pPr>
                <a:r>
                  <a:rPr lang="en-US" dirty="0">
                    <a:effectLst/>
                    <a:latin typeface="Arial" panose="020B0604020202020204" pitchFamily="34" charset="0"/>
                    <a:ea typeface="Aptos" panose="020B0004020202020204" pitchFamily="34" charset="0"/>
                  </a:rPr>
                  <a:t>You will often see this number (1.11) in the calibration of older analog multimeters. </a:t>
                </a:r>
              </a:p>
              <a:p>
                <a:pPr>
                  <a:lnSpc>
                    <a:spcPct val="120000"/>
                  </a:lnSpc>
                </a:pPr>
                <a:r>
                  <a:rPr lang="en-US" dirty="0">
                    <a:effectLst/>
                    <a:latin typeface="Arial" panose="020B0604020202020204" pitchFamily="34" charset="0"/>
                    <a:ea typeface="Aptos" panose="020B0004020202020204" pitchFamily="34" charset="0"/>
                  </a:rPr>
                  <a:t>If a waveform is not a sine wave (like a square wave), this factor changes, and simple meters may give incorrect readings.</a:t>
                </a:r>
                <a:endParaRPr lang="ru-RU"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26C5A14E-80FE-D07F-5D44-9B4BDC0227D8}"/>
                  </a:ext>
                </a:extLst>
              </p:cNvPr>
              <p:cNvSpPr>
                <a:spLocks noGrp="1" noRot="1" noChangeAspect="1" noMove="1" noResize="1" noEditPoints="1" noAdjustHandles="1" noChangeArrowheads="1" noChangeShapeType="1" noTextEdit="1"/>
              </p:cNvSpPr>
              <p:nvPr>
                <p:ph idx="1"/>
              </p:nvPr>
            </p:nvSpPr>
            <p:spPr>
              <a:blipFill>
                <a:blip r:embed="rId2"/>
                <a:stretch>
                  <a:fillRect l="-1043" t="-560" r="-2029"/>
                </a:stretch>
              </a:blipFill>
            </p:spPr>
            <p:txBody>
              <a:bodyPr/>
              <a:lstStyle/>
              <a:p>
                <a:r>
                  <a:rPr lang="ru-RU">
                    <a:noFill/>
                  </a:rPr>
                  <a:t> </a:t>
                </a:r>
              </a:p>
            </p:txBody>
          </p:sp>
        </mc:Fallback>
      </mc:AlternateContent>
    </p:spTree>
    <p:extLst>
      <p:ext uri="{BB962C8B-B14F-4D97-AF65-F5344CB8AC3E}">
        <p14:creationId xmlns:p14="http://schemas.microsoft.com/office/powerpoint/2010/main" val="603881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5DC79-3A47-80B1-3D74-5EE8872FCFC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68F014-B7E8-D96A-5129-1D650A74D52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8D4D5489-8CCB-F9C0-0420-568D68FA7EE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74AC1DB-B723-6317-5F75-9CAC96A31A3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4D8DDA8-8CF8-2653-6918-2F1903F3F67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6E12F497-0290-FF51-3405-5CD5B71852B0}"/>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Another important ratio is the Crest Factor.</a:t>
                </a:r>
              </a:p>
              <a:p>
                <a:pPr algn="just">
                  <a:lnSpc>
                    <a:spcPct val="120000"/>
                  </a:lnSpc>
                </a:pPr>
                <a:r>
                  <a:rPr lang="en-US" b="1" dirty="0">
                    <a:effectLst/>
                    <a:latin typeface="Arial" panose="020B0604020202020204" pitchFamily="34" charset="0"/>
                    <a:ea typeface="Aptos" panose="020B0004020202020204" pitchFamily="34" charset="0"/>
                  </a:rPr>
                  <a:t>The Crest Factor is the ratio of the Peak value (Amplitude) to the RMS value:</a:t>
                </a:r>
                <a:endParaRPr lang="ru-RU" b="1" dirty="0">
                  <a:effectLst/>
                  <a:latin typeface="Arial" panose="020B0604020202020204" pitchFamily="34" charset="0"/>
                  <a:ea typeface="Aptos" panose="020B0004020202020204" pitchFamily="34" charset="0"/>
                </a:endParaRPr>
              </a:p>
              <a:p>
                <a:pPr>
                  <a:spcBef>
                    <a:spcPts val="900"/>
                  </a:spcBef>
                  <a:spcAft>
                    <a:spcPts val="900"/>
                  </a:spcAft>
                </a:pPr>
                <a14:m>
                  <m:oMath xmlns:m="http://schemas.openxmlformats.org/officeDocument/2006/math">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𝑲</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𝒄</m:t>
                        </m:r>
                      </m:sub>
                    </m:sSub>
                    <m:r>
                      <a:rPr lang="en-US" b="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𝑽</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𝒑𝒆𝒂𝒌</m:t>
                            </m:r>
                          </m:sub>
                        </m:sSub>
                      </m:num>
                      <m:den>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smtClean="0">
                                <a:effectLst/>
                                <a:latin typeface="Cambria Math" panose="02040503050406030204" pitchFamily="18" charset="0"/>
                                <a:ea typeface="Aptos" panose="020B0004020202020204" pitchFamily="34" charset="0"/>
                                <a:cs typeface="Times New Roman" panose="02020603050405020304" pitchFamily="18" charset="0"/>
                              </a:rPr>
                              <m:t>𝑽</m:t>
                            </m:r>
                          </m:e>
                          <m:sub>
                            <m:r>
                              <a:rPr lang="en-US" b="1" i="1" smtClean="0">
                                <a:effectLst/>
                                <a:latin typeface="Cambria Math" panose="02040503050406030204" pitchFamily="18" charset="0"/>
                                <a:ea typeface="Aptos" panose="020B0004020202020204" pitchFamily="34" charset="0"/>
                                <a:cs typeface="Times New Roman" panose="02020603050405020304" pitchFamily="18" charset="0"/>
                              </a:rPr>
                              <m:t>𝒓𝒎𝒔</m:t>
                            </m:r>
                          </m:sub>
                        </m:sSub>
                      </m:den>
                    </m:f>
                    <m:r>
                      <a:rPr lang="en-US" b="1" smtClean="0">
                        <a:effectLst/>
                        <a:latin typeface="Cambria Math" panose="02040503050406030204" pitchFamily="18" charset="0"/>
                        <a:ea typeface="Aptos" panose="020B0004020202020204" pitchFamily="34" charset="0"/>
                        <a:cs typeface="Times New Roman" panose="02020603050405020304" pitchFamily="18" charset="0"/>
                      </a:rPr>
                      <m:t>.</m:t>
                    </m:r>
                  </m:oMath>
                </a14:m>
                <a:endParaRPr lang="ru-RU" b="1"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20000"/>
                  </a:lnSpc>
                </a:pPr>
                <a:r>
                  <a:rPr lang="en-US" b="1" dirty="0">
                    <a:effectLst/>
                    <a:latin typeface="Arial" panose="020B0604020202020204" pitchFamily="34" charset="0"/>
                    <a:ea typeface="Aptos" panose="020B0004020202020204" pitchFamily="34" charset="0"/>
                  </a:rPr>
                  <a:t>For a sine wave, the Crest Factor is </a:t>
                </a:r>
                <a14:m>
                  <m:oMath xmlns:m="http://schemas.openxmlformats.org/officeDocument/2006/math">
                    <m:rad>
                      <m:radPr>
                        <m:degHide m:val="on"/>
                        <m:ctrlPr>
                          <a:rPr lang="ru-RU" b="1" i="1">
                            <a:effectLst/>
                            <a:latin typeface="Cambria Math" panose="02040503050406030204" pitchFamily="18" charset="0"/>
                            <a:ea typeface="Aptos" panose="020B0004020202020204" pitchFamily="34" charset="0"/>
                          </a:rPr>
                        </m:ctrlPr>
                      </m:radPr>
                      <m:deg/>
                      <m:e>
                        <m:r>
                          <a:rPr lang="en-US" b="1" i="1" smtClean="0">
                            <a:effectLst/>
                            <a:latin typeface="Cambria Math" panose="02040503050406030204" pitchFamily="18" charset="0"/>
                            <a:ea typeface="Aptos" panose="020B0004020202020204" pitchFamily="34" charset="0"/>
                          </a:rPr>
                          <m:t>𝟐</m:t>
                        </m:r>
                      </m:e>
                    </m:rad>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𝟏</m:t>
                    </m:r>
                    <m:r>
                      <a:rPr lang="en-US" b="1" i="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𝟒𝟏𝟒</m:t>
                    </m:r>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rPr>
                  <a:t> </a:t>
                </a:r>
                <a:endParaRPr lang="ru-RU" b="1" dirty="0">
                  <a:effectLst/>
                  <a:latin typeface="Arial" panose="020B0604020202020204" pitchFamily="34" charset="0"/>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6E12F497-0290-FF51-3405-5CD5B71852B0}"/>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spTree>
    <p:extLst>
      <p:ext uri="{BB962C8B-B14F-4D97-AF65-F5344CB8AC3E}">
        <p14:creationId xmlns:p14="http://schemas.microsoft.com/office/powerpoint/2010/main" val="1244986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2F602-B225-8601-BDAF-44553C30927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864BC8-B7E7-9E87-2952-5CFC3ABF45E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BF710EB5-E89E-EA6C-1F0E-51506B0370D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D462121-959C-48D8-8BD6-5B2F91C98BD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920347F-524C-B91B-FEEB-0C4FAB8B1CE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63BB237E-0883-CDD7-6384-6270617A7F16}"/>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This number tells us how much stress the insulation must withstand. </a:t>
            </a:r>
          </a:p>
          <a:p>
            <a:pPr algn="just">
              <a:lnSpc>
                <a:spcPct val="120000"/>
              </a:lnSpc>
            </a:pPr>
            <a:r>
              <a:rPr lang="en-US" dirty="0">
                <a:effectLst/>
                <a:latin typeface="Arial" panose="020B0604020202020204" pitchFamily="34" charset="0"/>
                <a:ea typeface="Aptos" panose="020B0004020202020204" pitchFamily="34" charset="0"/>
              </a:rPr>
              <a:t>A wire carrying 100 V RMS must have insulation capable of handling at least 141 V Peak. </a:t>
            </a:r>
          </a:p>
          <a:p>
            <a:pPr algn="just">
              <a:lnSpc>
                <a:spcPct val="120000"/>
              </a:lnSpc>
            </a:pPr>
            <a:r>
              <a:rPr lang="en-US" dirty="0">
                <a:effectLst/>
                <a:latin typeface="Arial" panose="020B0604020202020204" pitchFamily="34" charset="0"/>
                <a:ea typeface="Aptos" panose="020B0004020202020204" pitchFamily="34" charset="0"/>
              </a:rPr>
              <a:t>For pulsed signals or noise, the Crest Factor can be much higher, meaning the peak voltage is dangerous even if the RMS (heating) value is low.</a:t>
            </a:r>
            <a:endParaRPr lang="ru-RU" b="1" dirty="0">
              <a:effectLst/>
              <a:latin typeface="Arial" panose="020B0604020202020204" pitchFamily="34" charset="0"/>
              <a:ea typeface="Aptos" panose="020B0004020202020204" pitchFamily="34" charset="0"/>
            </a:endParaRPr>
          </a:p>
        </p:txBody>
      </p:sp>
    </p:spTree>
    <p:extLst>
      <p:ext uri="{BB962C8B-B14F-4D97-AF65-F5344CB8AC3E}">
        <p14:creationId xmlns:p14="http://schemas.microsoft.com/office/powerpoint/2010/main" val="41923517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CC9D-FC2D-B1A4-CB9A-B4324C33DA4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5E23EF-0368-41ED-40F5-ACB1C7897D7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76961A41-838B-2182-914D-C8F5FC401B3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4AEA394-4B1C-ED33-F730-7146ECBE1F7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5730110-4400-3894-4963-7883A24531A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8" name="Объект 7">
            <a:extLst>
              <a:ext uri="{FF2B5EF4-FFF2-40B4-BE49-F238E27FC236}">
                <a16:creationId xmlns:a16="http://schemas.microsoft.com/office/drawing/2014/main" id="{36407599-FCEA-CDD9-2C2E-B35FECDBFB8E}"/>
              </a:ext>
            </a:extLst>
          </p:cNvPr>
          <p:cNvSpPr>
            <a:spLocks noGrp="1"/>
          </p:cNvSpPr>
          <p:nvPr>
            <p:ph idx="1"/>
          </p:nvPr>
        </p:nvSpPr>
        <p:spPr/>
        <p:txBody>
          <a:bodyPr>
            <a:noAutofit/>
          </a:bodyPr>
          <a:lstStyle/>
          <a:p>
            <a:pPr algn="just">
              <a:lnSpc>
                <a:spcPct val="120000"/>
              </a:lnSpc>
            </a:pPr>
            <a:r>
              <a:rPr lang="en-US" dirty="0">
                <a:effectLst/>
                <a:ea typeface="Aptos" panose="020B0004020202020204" pitchFamily="34" charset="0"/>
              </a:rPr>
              <a:t>Let us refine our understanding of the Complex Conjugate in phasor analysis. </a:t>
            </a:r>
          </a:p>
          <a:p>
            <a:pPr algn="just">
              <a:lnSpc>
                <a:spcPct val="120000"/>
              </a:lnSpc>
            </a:pPr>
            <a:r>
              <a:rPr lang="en-US" dirty="0">
                <a:effectLst/>
                <a:ea typeface="Aptos" panose="020B0004020202020204" pitchFamily="34" charset="0"/>
              </a:rPr>
              <a:t>Sometimes in calculations, specifically for power (which we will study later), we need to change the sign of the imaginary part.</a:t>
            </a:r>
          </a:p>
        </p:txBody>
      </p:sp>
    </p:spTree>
    <p:extLst>
      <p:ext uri="{BB962C8B-B14F-4D97-AF65-F5344CB8AC3E}">
        <p14:creationId xmlns:p14="http://schemas.microsoft.com/office/powerpoint/2010/main" val="3333499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DD0DA-377C-3C7C-AA6C-E52F4B94778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C451CD-878A-A8DF-19DC-026E62271BD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48E84E6C-165B-F314-CDF3-9FDE93A70FB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E59C347-8DF9-9C90-F66B-BEE4346CD53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8E72380-4F5A-61DD-36A3-F8273A36E82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mc:AlternateContent xmlns:mc="http://schemas.openxmlformats.org/markup-compatibility/2006" xmlns:a14="http://schemas.microsoft.com/office/drawing/2010/main">
        <mc:Choice Requires="a14">
          <p:sp>
            <p:nvSpPr>
              <p:cNvPr id="8" name="Объект 7">
                <a:extLst>
                  <a:ext uri="{FF2B5EF4-FFF2-40B4-BE49-F238E27FC236}">
                    <a16:creationId xmlns:a16="http://schemas.microsoft.com/office/drawing/2014/main" id="{906D086A-F42C-41BB-F190-6AEE03AF967B}"/>
                  </a:ext>
                </a:extLst>
              </p:cNvPr>
              <p:cNvSpPr>
                <a:spLocks noGrp="1"/>
              </p:cNvSpPr>
              <p:nvPr>
                <p:ph idx="1"/>
              </p:nvPr>
            </p:nvSpPr>
            <p:spPr/>
            <p:txBody>
              <a:bodyPr>
                <a:noAutofit/>
              </a:bodyPr>
              <a:lstStyle/>
              <a:p>
                <a:pPr algn="just">
                  <a:lnSpc>
                    <a:spcPct val="120000"/>
                  </a:lnSpc>
                </a:pPr>
                <a:r>
                  <a:rPr lang="en-US" b="1" dirty="0">
                    <a:effectLst/>
                    <a:ea typeface="Aptos" panose="020B0004020202020204" pitchFamily="34" charset="0"/>
                  </a:rPr>
                  <a:t>If we have a phasor </a:t>
                </a:r>
                <a14:m>
                  <m:oMath xmlns:m="http://schemas.openxmlformats.org/officeDocument/2006/math">
                    <m:r>
                      <a:rPr lang="en-US" b="1" i="1">
                        <a:effectLst/>
                        <a:latin typeface="Cambria Math" panose="02040503050406030204" pitchFamily="18" charset="0"/>
                        <a:ea typeface="Aptos" panose="020B0004020202020204" pitchFamily="34" charset="0"/>
                      </a:rPr>
                      <m:t>𝑽</m:t>
                    </m:r>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𝑽</m:t>
                        </m:r>
                      </m:e>
                      <m:sub>
                        <m:r>
                          <a:rPr lang="en-US" b="1" i="1">
                            <a:effectLst/>
                            <a:latin typeface="Cambria Math" panose="02040503050406030204" pitchFamily="18" charset="0"/>
                            <a:ea typeface="Aptos" panose="020B0004020202020204" pitchFamily="34" charset="0"/>
                          </a:rPr>
                          <m:t>𝒎</m:t>
                        </m:r>
                      </m:sub>
                    </m:sSub>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𝝓</m:t>
                    </m:r>
                    <m:r>
                      <a:rPr lang="en-US" b="1">
                        <a:effectLst/>
                        <a:latin typeface="Cambria Math" panose="02040503050406030204" pitchFamily="18" charset="0"/>
                        <a:ea typeface="Aptos" panose="020B0004020202020204" pitchFamily="34" charset="0"/>
                      </a:rPr>
                      <m:t>,</m:t>
                    </m:r>
                  </m:oMath>
                </a14:m>
                <a:r>
                  <a:rPr lang="en-US" b="1" dirty="0">
                    <a:effectLst/>
                    <a:ea typeface="Aptos" panose="020B0004020202020204" pitchFamily="34" charset="0"/>
                  </a:rPr>
                  <a:t> its complex conjugate is denoted as </a:t>
                </a:r>
                <a14:m>
                  <m:oMath xmlns:m="http://schemas.openxmlformats.org/officeDocument/2006/math">
                    <m:sSup>
                      <m:sSupPr>
                        <m:ctrlPr>
                          <a:rPr lang="ru-RU" b="1" i="1">
                            <a:effectLst/>
                            <a:latin typeface="Cambria Math" panose="02040503050406030204" pitchFamily="18" charset="0"/>
                            <a:ea typeface="Aptos" panose="020B0004020202020204" pitchFamily="34" charset="0"/>
                          </a:rPr>
                        </m:ctrlPr>
                      </m:sSupPr>
                      <m:e>
                        <m:r>
                          <a:rPr lang="en-US" b="1" i="1">
                            <a:effectLst/>
                            <a:latin typeface="Cambria Math" panose="02040503050406030204" pitchFamily="18" charset="0"/>
                            <a:ea typeface="Aptos" panose="020B0004020202020204" pitchFamily="34" charset="0"/>
                          </a:rPr>
                          <m:t>𝑽</m:t>
                        </m:r>
                      </m:e>
                      <m:sup>
                        <m:r>
                          <a:rPr lang="en-US" b="1" i="1">
                            <a:effectLst/>
                            <a:latin typeface="Cambria Math" panose="02040503050406030204" pitchFamily="18" charset="0"/>
                            <a:ea typeface="Aptos" panose="020B0004020202020204" pitchFamily="34" charset="0"/>
                          </a:rPr>
                          <m:t>∗</m:t>
                        </m:r>
                      </m:sup>
                    </m:sSup>
                    <m:r>
                      <a:rPr lang="en-US" b="1">
                        <a:effectLst/>
                        <a:latin typeface="Cambria Math" panose="02040503050406030204" pitchFamily="18" charset="0"/>
                        <a:ea typeface="Aptos" panose="020B0004020202020204" pitchFamily="34" charset="0"/>
                      </a:rPr>
                      <m:t>.</m:t>
                    </m:r>
                  </m:oMath>
                </a14:m>
                <a:r>
                  <a:rPr lang="en-US" b="1" dirty="0">
                    <a:effectLst/>
                    <a:ea typeface="Aptos" panose="020B0004020202020204" pitchFamily="34" charset="0"/>
                  </a:rPr>
                  <a:t> In Polar form, we simply negate the angle:</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sSup>
                        <m:sSupPr>
                          <m:ctrlPr>
                            <a:rPr lang="ru-RU" b="1" i="1">
                              <a:effectLst/>
                              <a:latin typeface="Cambria Math" panose="02040503050406030204" pitchFamily="18" charset="0"/>
                              <a:ea typeface="Aptos" panose="020B0004020202020204" pitchFamily="34" charset="0"/>
                            </a:rPr>
                          </m:ctrlPr>
                        </m:sSupPr>
                        <m:e>
                          <m:r>
                            <a:rPr lang="en-US" b="1" i="1">
                              <a:effectLst/>
                              <a:latin typeface="Cambria Math" panose="02040503050406030204" pitchFamily="18" charset="0"/>
                              <a:ea typeface="Aptos" panose="020B0004020202020204" pitchFamily="34" charset="0"/>
                            </a:rPr>
                            <m:t>𝑽</m:t>
                          </m:r>
                        </m:e>
                        <m:sup>
                          <m:r>
                            <a:rPr lang="en-US" b="1" i="1">
                              <a:effectLst/>
                              <a:latin typeface="Cambria Math" panose="02040503050406030204" pitchFamily="18" charset="0"/>
                              <a:ea typeface="Aptos" panose="020B0004020202020204" pitchFamily="34" charset="0"/>
                            </a:rPr>
                            <m:t>∗</m:t>
                          </m:r>
                        </m:sup>
                      </m:sSup>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𝑽</m:t>
                          </m:r>
                        </m:e>
                        <m:sub>
                          <m:r>
                            <a:rPr lang="en-US" b="1" i="1">
                              <a:effectLst/>
                              <a:latin typeface="Cambria Math" panose="02040503050406030204" pitchFamily="18" charset="0"/>
                              <a:ea typeface="Aptos" panose="020B0004020202020204" pitchFamily="34" charset="0"/>
                            </a:rPr>
                            <m:t>𝒎</m:t>
                          </m:r>
                        </m:sub>
                      </m:sSub>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𝝓</m:t>
                      </m:r>
                      <m:r>
                        <a:rPr lang="en-US" b="1">
                          <a:effectLst/>
                          <a:latin typeface="Cambria Math" panose="02040503050406030204" pitchFamily="18" charset="0"/>
                          <a:ea typeface="Aptos" panose="020B0004020202020204" pitchFamily="34" charset="0"/>
                        </a:rPr>
                        <m:t>.</m:t>
                      </m:r>
                    </m:oMath>
                  </m:oMathPara>
                </a14:m>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In Rectangular form (</a:t>
                </a:r>
                <a14:m>
                  <m:oMath xmlns:m="http://schemas.openxmlformats.org/officeDocument/2006/math">
                    <m:r>
                      <a:rPr lang="en-US" b="1" i="1">
                        <a:effectLst/>
                        <a:latin typeface="Cambria Math" panose="02040503050406030204" pitchFamily="18" charset="0"/>
                        <a:ea typeface="Aptos" panose="020B0004020202020204" pitchFamily="34" charset="0"/>
                      </a:rPr>
                      <m:t>𝒙</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𝒋𝒚</m:t>
                    </m:r>
                  </m:oMath>
                </a14:m>
                <a:r>
                  <a:rPr lang="en-US" b="1" dirty="0">
                    <a:effectLst/>
                    <a:ea typeface="Aptos" panose="020B0004020202020204" pitchFamily="34" charset="0"/>
                  </a:rPr>
                  <a:t>), we negate the imaginary part:</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𝒙</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𝒋𝒚</m:t>
                      </m:r>
                      <m:sSup>
                        <m:sSupPr>
                          <m:ctrlPr>
                            <a:rPr lang="ru-RU" b="1" i="1">
                              <a:effectLst/>
                              <a:latin typeface="Cambria Math" panose="02040503050406030204" pitchFamily="18" charset="0"/>
                              <a:ea typeface="Aptos" panose="020B0004020202020204" pitchFamily="34" charset="0"/>
                            </a:rPr>
                          </m:ctrlPr>
                        </m:sSupPr>
                        <m:e>
                          <m:r>
                            <a:rPr lang="en-US" b="1">
                              <a:effectLst/>
                              <a:latin typeface="Cambria Math" panose="02040503050406030204" pitchFamily="18" charset="0"/>
                              <a:ea typeface="Aptos" panose="020B0004020202020204" pitchFamily="34" charset="0"/>
                            </a:rPr>
                            <m:t>)</m:t>
                          </m:r>
                        </m:e>
                        <m:sup>
                          <m:r>
                            <a:rPr lang="en-US" b="1" i="1">
                              <a:effectLst/>
                              <a:latin typeface="Cambria Math" panose="02040503050406030204" pitchFamily="18" charset="0"/>
                              <a:ea typeface="Aptos" panose="020B0004020202020204" pitchFamily="34" charset="0"/>
                            </a:rPr>
                            <m:t>∗</m:t>
                          </m:r>
                        </m:sup>
                      </m:sSup>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𝒙</m:t>
                      </m:r>
                      <m:r>
                        <a:rPr lang="en-US" b="1" i="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𝒋𝒚</m:t>
                      </m:r>
                      <m:r>
                        <a:rPr lang="en-US" b="1">
                          <a:effectLst/>
                          <a:latin typeface="Cambria Math" panose="02040503050406030204" pitchFamily="18" charset="0"/>
                          <a:ea typeface="Aptos" panose="020B0004020202020204" pitchFamily="34" charset="0"/>
                        </a:rPr>
                        <m:t>.</m:t>
                      </m:r>
                    </m:oMath>
                  </m:oMathPara>
                </a14:m>
                <a:endParaRPr lang="en-US" b="1" dirty="0">
                  <a:effectLst/>
                  <a:ea typeface="Aptos" panose="020B0004020202020204" pitchFamily="34" charset="0"/>
                </a:endParaRPr>
              </a:p>
              <a:p>
                <a:pPr>
                  <a:lnSpc>
                    <a:spcPct val="120000"/>
                  </a:lnSpc>
                </a:pPr>
                <a:r>
                  <a:rPr lang="en-US" dirty="0">
                    <a:effectLst/>
                    <a:ea typeface="Aptos" panose="020B0004020202020204" pitchFamily="34" charset="0"/>
                  </a:rPr>
                  <a:t>Geometrically, this represents reflecting the phasor across the real (horizontal) axis. </a:t>
                </a:r>
              </a:p>
              <a:p>
                <a:pPr>
                  <a:lnSpc>
                    <a:spcPct val="120000"/>
                  </a:lnSpc>
                </a:pPr>
                <a:r>
                  <a:rPr lang="en-US" dirty="0">
                    <a:effectLst/>
                    <a:ea typeface="Aptos" panose="020B0004020202020204" pitchFamily="34" charset="0"/>
                  </a:rPr>
                  <a:t>This operation is useful when analyzing maximum power transfer and complex power.</a:t>
                </a:r>
                <a:endParaRPr lang="ru-RU" dirty="0">
                  <a:effectLst/>
                  <a:ea typeface="Aptos" panose="020B0004020202020204" pitchFamily="34" charset="0"/>
                </a:endParaRPr>
              </a:p>
            </p:txBody>
          </p:sp>
        </mc:Choice>
        <mc:Fallback xmlns="">
          <p:sp>
            <p:nvSpPr>
              <p:cNvPr id="8" name="Объект 7">
                <a:extLst>
                  <a:ext uri="{FF2B5EF4-FFF2-40B4-BE49-F238E27FC236}">
                    <a16:creationId xmlns:a16="http://schemas.microsoft.com/office/drawing/2014/main" id="{906D086A-F42C-41BB-F190-6AEE03AF967B}"/>
                  </a:ext>
                </a:extLst>
              </p:cNvPr>
              <p:cNvSpPr>
                <a:spLocks noGrp="1" noRot="1" noChangeAspect="1" noMove="1" noResize="1" noEditPoints="1" noAdjustHandles="1" noChangeArrowheads="1" noChangeShapeType="1" noTextEdit="1"/>
              </p:cNvSpPr>
              <p:nvPr>
                <p:ph idx="1"/>
              </p:nvPr>
            </p:nvSpPr>
            <p:spPr>
              <a:blipFill>
                <a:blip r:embed="rId2"/>
                <a:stretch>
                  <a:fillRect l="-1043" t="-140" r="-1159" b="-20028"/>
                </a:stretch>
              </a:blipFill>
            </p:spPr>
            <p:txBody>
              <a:bodyPr/>
              <a:lstStyle/>
              <a:p>
                <a:r>
                  <a:rPr lang="ru-RU">
                    <a:noFill/>
                  </a:rPr>
                  <a:t> </a:t>
                </a:r>
              </a:p>
            </p:txBody>
          </p:sp>
        </mc:Fallback>
      </mc:AlternateContent>
    </p:spTree>
    <p:extLst>
      <p:ext uri="{BB962C8B-B14F-4D97-AF65-F5344CB8AC3E}">
        <p14:creationId xmlns:p14="http://schemas.microsoft.com/office/powerpoint/2010/main" val="2247674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2DCA0-EE37-4447-00D7-9A54F1E695E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5EFE07-1875-C17B-2E73-54788A61462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C1D6D5B9-6809-4A99-8962-F8A6C5D0ABC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03E9016-7B52-4380-4690-E23728B64E4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2C59508-E467-68E2-27B7-373B2F7B8E7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Sinusoidal Quantities and Phasors</a:t>
              </a:r>
              <a:endParaRPr lang="ru-RU" sz="4000" dirty="0"/>
            </a:p>
          </p:txBody>
        </p:sp>
      </p:grpSp>
      <p:sp>
        <p:nvSpPr>
          <p:cNvPr id="7" name="Объект 6">
            <a:extLst>
              <a:ext uri="{FF2B5EF4-FFF2-40B4-BE49-F238E27FC236}">
                <a16:creationId xmlns:a16="http://schemas.microsoft.com/office/drawing/2014/main" id="{270AC6BE-B0F7-8C51-9F19-7BC2B253A850}"/>
              </a:ext>
            </a:extLst>
          </p:cNvPr>
          <p:cNvSpPr>
            <a:spLocks noGrp="1"/>
          </p:cNvSpPr>
          <p:nvPr>
            <p:ph idx="1"/>
          </p:nvPr>
        </p:nvSpPr>
        <p:spPr/>
        <p:txBody>
          <a:bodyPr/>
          <a:lstStyle/>
          <a:p>
            <a:endParaRPr lang="ru-RU"/>
          </a:p>
        </p:txBody>
      </p:sp>
      <p:sp>
        <p:nvSpPr>
          <p:cNvPr id="9" name="Объект 2">
            <a:extLst>
              <a:ext uri="{FF2B5EF4-FFF2-40B4-BE49-F238E27FC236}">
                <a16:creationId xmlns:a16="http://schemas.microsoft.com/office/drawing/2014/main" id="{AA23AA2D-9A7E-8BA8-921C-2F985D2CE06E}"/>
              </a:ext>
            </a:extLst>
          </p:cNvPr>
          <p:cNvSpPr txBox="1">
            <a:spLocks/>
          </p:cNvSpPr>
          <p:nvPr/>
        </p:nvSpPr>
        <p:spPr>
          <a:xfrm>
            <a:off x="838200" y="1825625"/>
            <a:ext cx="6034548"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To summarize, today we have established a language for describing AC circuits. In the upcoming lectures, we will refine it to a level suitable for practical application.</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Thank you for your attention!</a:t>
            </a:r>
          </a:p>
          <a:p>
            <a:pPr algn="just"/>
            <a:r>
              <a:rPr lang="en-US" dirty="0">
                <a:latin typeface="Arial" panose="020B0604020202020204" pitchFamily="34" charset="0"/>
                <a:cs typeface="Arial" panose="020B0604020202020204" pitchFamily="34" charset="0"/>
              </a:rPr>
              <a:t>Do you have any questions?</a:t>
            </a:r>
            <a:endParaRPr lang="ru-RU" dirty="0">
              <a:latin typeface="Arial" panose="020B0604020202020204" pitchFamily="34" charset="0"/>
              <a:cs typeface="Arial" panose="020B0604020202020204" pitchFamily="34" charset="0"/>
            </a:endParaRPr>
          </a:p>
        </p:txBody>
      </p:sp>
      <p:pic>
        <p:nvPicPr>
          <p:cNvPr id="10" name="Picture 2">
            <a:extLst>
              <a:ext uri="{FF2B5EF4-FFF2-40B4-BE49-F238E27FC236}">
                <a16:creationId xmlns:a16="http://schemas.microsoft.com/office/drawing/2014/main" id="{627661E3-6944-5F86-86E7-16259AA08BF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7281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2921</Words>
  <Application>Microsoft Office PowerPoint</Application>
  <PresentationFormat>Широкоэкранный</PresentationFormat>
  <Paragraphs>260</Paragraphs>
  <Slides>49</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49</vt:i4>
      </vt:variant>
    </vt:vector>
  </HeadingPairs>
  <TitlesOfParts>
    <vt:vector size="55" baseType="lpstr">
      <vt:lpstr>Aptos</vt:lpstr>
      <vt:lpstr>Aptos Display</vt:lpstr>
      <vt:lpstr>Arial</vt:lpstr>
      <vt:lpstr>Cambria Math</vt:lpstr>
      <vt:lpstr>Symbol</vt:lpstr>
      <vt:lpstr>Тема Office</vt:lpstr>
      <vt:lpstr>Lecture 7. Sinusoidal Quantities and Phasors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10</cp:revision>
  <dcterms:created xsi:type="dcterms:W3CDTF">2026-04-05T05:28:24Z</dcterms:created>
  <dcterms:modified xsi:type="dcterms:W3CDTF">2026-04-09T04:47:08Z</dcterms:modified>
</cp:coreProperties>
</file>