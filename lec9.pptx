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72" r:id="rId2"/>
    <p:sldId id="473" r:id="rId3"/>
    <p:sldId id="548" r:id="rId4"/>
    <p:sldId id="549" r:id="rId5"/>
    <p:sldId id="547" r:id="rId6"/>
    <p:sldId id="550" r:id="rId7"/>
    <p:sldId id="551" r:id="rId8"/>
    <p:sldId id="525" r:id="rId9"/>
    <p:sldId id="552" r:id="rId10"/>
    <p:sldId id="526" r:id="rId11"/>
    <p:sldId id="553" r:id="rId12"/>
    <p:sldId id="527" r:id="rId13"/>
    <p:sldId id="528" r:id="rId14"/>
    <p:sldId id="529" r:id="rId15"/>
    <p:sldId id="554" r:id="rId16"/>
    <p:sldId id="530" r:id="rId17"/>
    <p:sldId id="555" r:id="rId18"/>
    <p:sldId id="531" r:id="rId19"/>
    <p:sldId id="532" r:id="rId20"/>
    <p:sldId id="566" r:id="rId21"/>
    <p:sldId id="556" r:id="rId22"/>
    <p:sldId id="533" r:id="rId23"/>
    <p:sldId id="557" r:id="rId24"/>
    <p:sldId id="534" r:id="rId25"/>
    <p:sldId id="535" r:id="rId26"/>
    <p:sldId id="558" r:id="rId27"/>
    <p:sldId id="536" r:id="rId28"/>
    <p:sldId id="537" r:id="rId29"/>
    <p:sldId id="538" r:id="rId30"/>
    <p:sldId id="559" r:id="rId31"/>
    <p:sldId id="539" r:id="rId32"/>
    <p:sldId id="540" r:id="rId33"/>
    <p:sldId id="560" r:id="rId34"/>
    <p:sldId id="541" r:id="rId35"/>
    <p:sldId id="561" r:id="rId36"/>
    <p:sldId id="542" r:id="rId37"/>
    <p:sldId id="562" r:id="rId38"/>
    <p:sldId id="543" r:id="rId39"/>
    <p:sldId id="563" r:id="rId40"/>
    <p:sldId id="564" r:id="rId41"/>
    <p:sldId id="545" r:id="rId42"/>
    <p:sldId id="565" r:id="rId43"/>
    <p:sldId id="546" r:id="rId4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9" id="{77540F12-FB4B-408B-ABCE-1581110BC438}">
          <p14:sldIdLst>
            <p14:sldId id="472"/>
            <p14:sldId id="473"/>
            <p14:sldId id="548"/>
            <p14:sldId id="549"/>
            <p14:sldId id="547"/>
            <p14:sldId id="550"/>
            <p14:sldId id="551"/>
            <p14:sldId id="525"/>
            <p14:sldId id="552"/>
            <p14:sldId id="526"/>
            <p14:sldId id="553"/>
            <p14:sldId id="527"/>
            <p14:sldId id="528"/>
            <p14:sldId id="529"/>
            <p14:sldId id="554"/>
            <p14:sldId id="530"/>
            <p14:sldId id="555"/>
            <p14:sldId id="531"/>
            <p14:sldId id="532"/>
            <p14:sldId id="566"/>
            <p14:sldId id="556"/>
            <p14:sldId id="533"/>
            <p14:sldId id="557"/>
            <p14:sldId id="534"/>
            <p14:sldId id="535"/>
            <p14:sldId id="558"/>
            <p14:sldId id="536"/>
            <p14:sldId id="537"/>
            <p14:sldId id="538"/>
            <p14:sldId id="559"/>
            <p14:sldId id="539"/>
            <p14:sldId id="540"/>
            <p14:sldId id="560"/>
            <p14:sldId id="541"/>
            <p14:sldId id="561"/>
            <p14:sldId id="542"/>
            <p14:sldId id="562"/>
            <p14:sldId id="543"/>
            <p14:sldId id="563"/>
            <p14:sldId id="564"/>
            <p14:sldId id="545"/>
            <p14:sldId id="565"/>
            <p14:sldId id="5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6090E-0605-F902-B875-644A08052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3F3140-1367-7BB4-0EFC-635FDFE90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4F3C66-0390-5BE2-D2C3-98C9A71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5098-27EA-45CB-94F5-E6B10311E9CB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9C1BEC-947F-C0ED-AE3B-2D4E010D7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F26862-E2D7-FBBA-F579-6B7FE06A0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037E-799E-4F42-AE0B-E84D7A10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423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EE2401-D622-06C1-4E74-741E17086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CE6015-C035-7E19-B6A7-C09A9A6D9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F1A76B-4CDF-DECD-D45D-2940A6C8E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5098-27EA-45CB-94F5-E6B10311E9CB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0B6323-74E7-4E90-3F3B-049C8072A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FCC371-F400-89C3-CA7E-C9BFB5387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037E-799E-4F42-AE0B-E84D7A10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38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D9B0EC-EF21-B1AA-C5F9-04181EED5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E86588-6BAB-774F-4399-FD05C3B12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7F21BC-82F7-EB16-8669-EDDD224D4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5098-27EA-45CB-94F5-E6B10311E9CB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46C063-F26C-2654-B09B-B7357EB3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268B9D-EE8E-3BFF-8554-2CB81A75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037E-799E-4F42-AE0B-E84D7A10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632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F984EC-5D4E-A2BB-B420-66ACF4CF4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98C49C-271B-6259-DDA5-A617E6C3F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E774EE5-FD94-4226-8FFA-8AAEEE982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DA846D-6BC0-7C22-45D0-41B82AB3C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5098-27EA-45CB-94F5-E6B10311E9CB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81420F-BF9B-A927-5A9D-C3978262F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BDF5CD-C72A-563C-DC32-43F2DEB7B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037E-799E-4F42-AE0B-E84D7A10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97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93AAC-0D9E-9B26-1951-FD549770D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B2651D-A3B5-EDFA-CEDB-26DF8729A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FCB20E1-5F1D-5396-0DBF-FA5CDDC38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2A0D13-5293-F1F3-94E7-9D671C97F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D1845E8-B51C-A772-0E2C-9759F6D66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23B3A6C-4239-3F3C-2793-1D953DDCD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5098-27EA-45CB-94F5-E6B10311E9CB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66FC6A-A920-3FB1-E058-20C7FD852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50195B0-A6A9-04C9-6C4C-D7E8AECB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037E-799E-4F42-AE0B-E84D7A10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36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73F2E5-E88D-C13A-8BFF-1823AFBC4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3A439A-B18F-B2AD-03EB-1DB97B14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5098-27EA-45CB-94F5-E6B10311E9CB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46B1C39-3F41-E1F6-236F-85BC571C2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CB6EA8-E703-0887-C345-54B988B53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037E-799E-4F42-AE0B-E84D7A10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50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2DA65F-4AE3-3C9B-A01B-5CD7BFEB7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5098-27EA-45CB-94F5-E6B10311E9CB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A5D2A5A-6CCF-1854-25B4-31C0CEFC8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71CF83-4CD6-A254-574F-7C4E51101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037E-799E-4F42-AE0B-E84D7A10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572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6E5A67-1E6B-2454-92EF-1B32CD5D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7F1803-CB09-DA94-22B0-D00F7CFBA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22B6DC-A8AD-56B7-6CD0-A7626996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59D196-1567-6C0D-A78D-04D1D8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5098-27EA-45CB-94F5-E6B10311E9CB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4F52FB-363A-7ADE-6497-815D51820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47ECD4-7A69-6C64-368E-71416E03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037E-799E-4F42-AE0B-E84D7A10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8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64B22-97AC-A355-B472-2CE18088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CB8A7E-264E-538E-BDBB-00CECC63F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F2E705-9996-A548-7094-C90C8B514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FCFBE5-30ED-F245-6286-2D5139F16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5098-27EA-45CB-94F5-E6B10311E9CB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191AE3-B095-A664-2FC9-3CE6BF7E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E94C47-0EE8-1685-2161-3ECB245B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037E-799E-4F42-AE0B-E84D7A10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3847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9CF4E-D3CD-E5F3-4F85-05001F72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367ED1-6E91-B302-019E-4E747D14C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DB0FE3-4A04-1B39-703A-76C840EB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5098-27EA-45CB-94F5-E6B10311E9CB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3C5962-5CBC-959D-640B-BDDD18BE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0CB4DE-8E65-1EE8-6EF3-CDA3E0FF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037E-799E-4F42-AE0B-E84D7A10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661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C87BE29-55F5-299E-2CCF-667CDB7F6B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56DB70-68BD-2C00-8079-531944366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31ADFB-77DA-3775-3F6A-F90CB87A8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5098-27EA-45CB-94F5-E6B10311E9CB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FB3074-11A9-B4D3-2D1E-2981475B4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F68F13-1938-65B2-E57F-E90BF3FDA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037E-799E-4F42-AE0B-E84D7A10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79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D92AE8-D1E9-62DC-EB0B-AB42AA028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6150CA-3B2B-0491-184A-3604B1F74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1C19BF-2D54-689F-0062-3AD024707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75098-27EA-45CB-94F5-E6B10311E9CB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19AC0D-CF83-AD2B-7C59-789A10710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0F0490-91CD-F8C7-A3CD-B7AB2E7B1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A037E-799E-4F42-AE0B-E84D7A10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48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07810-2924-F688-39DD-6586156CF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EF6AA-52D9-9ABF-989E-0C88029E69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419" y="1122363"/>
            <a:ext cx="10217888" cy="2387600"/>
          </a:xfrm>
        </p:spPr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Lecture 9.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Phasor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Techniques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0B8651-7BDA-CF12-2BBC-F1E57B3EFA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 (3). Analysis of Sinusoidal Steady-State AC Circuits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7B669D76-1A84-9222-8B72-F3D35FD1091B}"/>
              </a:ext>
            </a:extLst>
          </p:cNvPr>
          <p:cNvSpPr/>
          <p:nvPr/>
        </p:nvSpPr>
        <p:spPr>
          <a:xfrm>
            <a:off x="0" y="3428999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F6CE50EB-AFBA-E2EC-B23C-943621DCA49E}"/>
              </a:ext>
            </a:extLst>
          </p:cNvPr>
          <p:cNvSpPr/>
          <p:nvPr/>
        </p:nvSpPr>
        <p:spPr>
          <a:xfrm rot="10800000">
            <a:off x="9007724" y="9522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963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A8473-F1E4-16CE-ADEC-ACF286A53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67B04E-2AFB-27F4-DF97-DAB8622F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ECD039-EB4F-5EEB-BF6B-CCFC2FCEF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Welcome back to the course «The Principle of Circuit».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In our previous lecture, we examined the behavior of individual components – resistors, inductors, and capacitors – when subjected to a sinusoidal AC signal.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introduced the concept of Complex Impedance (Z), which combines resistance and reactance into a single complex number.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294C5EB-349F-1ED2-661F-ED36D91A05B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E1D8230-73B5-370D-590B-64391FDC7D0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8DC7E7D-7F12-3502-F9C8-35D78C9A87A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59376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6CBFD-D226-859C-6E64-61E8A80AE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89756-F6E6-B12D-3921-BABD3ED4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15A596-879A-59F3-CEB2-BF8CCEE23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Today, we take the next logical step.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will combine these components to analyze complete circuits.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goal of this lecture is to teach you how to solve for unknown voltages and currents in AC circuits using the Phasor Method.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128B145-ACB2-A72C-176C-520040FB0CB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9C0A10D-9E0A-D426-4B8D-B89F4F03947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986362F-D94A-96FF-9EB5-C313821EAF3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5982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F0BE-BD69-A153-7B53-34B02B81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1080AE-A185-D468-7A91-FDBF4970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EE8E73-BD14-CCEA-EDB0-95F780B9F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You will see that all the analysis methods we learned for DC circuits – such as Ohm’s Law, Kirchhoff’s Laws, and Series/Parallel reduction – apply perfectly to AC circuits, provided we use complex numbers.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will also learn how to draw Phasor Diagrams, which are vital visual tools for engineers to understand the timing relationships between signals.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BFF6DB1-22AB-3505-C3C7-CB1A40CF01E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CA22BF4-E3BE-3B04-F8D8-397C51A0B10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066A9B8-B184-7274-A14B-5F14C9A0693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75902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E831-301B-98CA-472B-F9F1981F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985DF-EE75-686E-1A01-E2D256E8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378E27-BF9A-47FC-FAB1-CF49DAFFE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Let us review the «Frequency Domain» strategy.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Analyzing circuits directly in the «Time Domain» (using sine and cosine functions) requires solving differential equations, which is mathematically difficult and slow.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 simplify analysis, we transform the circuit into the «Frequency Domain» (or Phasor Domain):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BC47C71-8EC8-3100-BE94-9BAA334A97C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C8190E6-1D55-6933-578B-55AF2B0CB6C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8AA8A75-220E-6F0A-0112-5CD3EC8B70A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18696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5C174-A7CB-55AB-3CB2-89C6C502B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D13BCE-93A2-B9DE-384E-840AA50DB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409ADCE-339D-B8FF-AB05-3DC29C3FDB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transform the Circuit – convert all time-domain sources (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𝑣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into Phasors (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𝑉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𝐼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and all passive components (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𝑅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𝐿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𝐶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into Impedances (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𝑍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);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solve the Circuit – use standard algebraic techniques with complex numbers to find the unknown Phasors;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transform Back – convert the resulting complex Phasor back into a time-domain sinusoidal equation if required.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409ADCE-339D-B8FF-AB05-3DC29C3FD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70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DE1275F-8244-C3C0-E88C-C9658AE6C4A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4814111-70F5-31AA-D480-1D9E2C8267B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9A6DE1C-214F-FF69-E6A9-B3C52F8502D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6180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BD0ED-2BCF-46C8-1E52-707D9C45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41082-F5AA-6206-1F9E-613716DB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CDDCA4-39A8-FC9E-BD82-405013A58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In this lecture, we assume the circuit is in a «Sinusoidal Steady-State».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means the circuit has been running for a long time, and all transient startup effects have vanished.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All voltages and currents are constant sinusoids at the same frequency.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E5C42A6-73A6-AE2A-650C-7DD43AC806B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549B2FA-9B10-0CB4-C708-1CF2D490984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B7A7A36-8CCC-C27F-AA10-F33EA76E353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673073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C03E5-9335-CC98-5BB3-FD91FE339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11CA4-F7B6-E25D-B864-92C7C7C4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485364C-22DE-4E72-FC32-188BF7B4F2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We begin with the most fundamental law: Ohm's Law in Phasor Form. In DC circuits, V=IR.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In AC circuits, we replace Resistance (R) with Impedance (Z).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Ohm’s Law for AC circuits states that the phasor voltage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𝑽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across an element is equal to the phasor current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𝑰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through it multiplied by the impedance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𝒁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𝑽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𝑰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×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𝒁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𝑰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𝑽</m:t>
                          </m:r>
                        </m:num>
                        <m:den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𝒁</m:t>
                          </m:r>
                        </m:den>
                      </m:f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485364C-22DE-4E72-FC32-188BF7B4F2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 b="-103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048A22E-5F10-B569-5C32-D5532BF1EB2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F9577F1-3BD7-45B1-5E72-A38413E8233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5EFAE1D-7F3D-4BA0-B5B7-2E5135FD6CC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64203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C1E76-EC83-ABFA-7F6D-8B29703C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DDC0A-1675-2529-C93C-B218B2D36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44764A4-1C88-9F19-1F44-B5328C86B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It is very important to remember the impedance formulas from the previous lecture: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for a Resistor – the impedance is purely real.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Z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𝑅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∠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or simply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𝑅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;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for an Inductor – the impedance is purely imaginary and positive.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Z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𝑗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𝜔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𝐿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𝜔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𝐿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∠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90</m:t>
                        </m:r>
                      </m:e>
                      <m: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;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for a Capacitor – the impedance is purely imaginary and negative.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Z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𝑗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𝜔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den>
                    </m:f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𝑗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𝜔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den>
                    </m:f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𝜔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den>
                    </m:f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90</m:t>
                        </m:r>
                      </m:e>
                      <m: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44764A4-1C88-9F19-1F44-B5328C86B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560" r="-1159" b="-11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CCC3E7C-6CB9-8178-BCF0-BAD79A22626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BCA9E73-98F3-1C70-4D8A-FF122847468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E6C42BA-28EB-7F33-E28F-8D9E5A239A0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68523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0766A-3548-F71C-FDB0-5444071B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000FB-CD20-A117-F77C-DBDB3608C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397157-0BBD-7B88-DCC2-943EA88ADE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Next, we extend Kirchhoff's Laws to the Phasor Domain. </a:t>
                </a:r>
              </a:p>
              <a:p>
                <a:r>
                  <a:rPr lang="en-US" b="1" dirty="0"/>
                  <a:t>Kirchhoff’s Current Law (KCL) states that the algebraic sum of phasor currents entering a node is zero: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smtClean="0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This means that even though the currents are oscillating waves, the complex numbers representing them sum to zero at every node.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397157-0BBD-7B88-DCC2-943EA88ADE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2A22350-9C56-3CB5-DDFC-DECA109A372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E5A529B-E7AF-539B-69AB-0558057CE13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964F145-0B29-369E-A473-CAEB71ED443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91273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87FF7-396B-DC3F-B45F-B0D2BF982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19DEB8-2034-5729-9928-CAB98D57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07E4AED-675D-9CF7-8E5D-4B2406F9AA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Kirchhoff’s Voltage Law (KVL) states that the algebraic sum of phasor voltages around any closed loop is zero: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smtClean="0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/>
              </a:p>
              <a:p>
                <a:r>
                  <a:rPr lang="en-US" b="1" dirty="0"/>
                  <a:t>Because these laws hold true, we can use series and parallel combination rules for Impedances exactly as we did for Resistors.</a:t>
                </a:r>
                <a:endParaRPr lang="ru-RU" b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07E4AED-675D-9CF7-8E5D-4B2406F9AA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29C22CB-E716-4474-1C2A-EF745B04482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5A742A3-D4CA-1ABB-18DB-C266D9EBB3D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BF36829-93FC-DE00-457B-89289C32920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13086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DA708-0F40-112C-3175-CD6B6CAB9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B1EDCF-482D-B650-221A-F0E878557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521EB54-7060-E276-AFEC-562DC788EC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Let us look at Series Impedance. If components are connected in series, they share the same current.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equivalent impedance of series-connected elements is the vector sum of their individual impedances.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𝒆𝒒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+…+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Consider a resistor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𝑹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in series with an inductor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𝑳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The total impedance is: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𝑹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𝒋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𝝎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𝑳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521EB54-7060-E276-AFEC-562DC788EC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9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14309BA-569A-BD8B-1211-6408314ADA6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9F4A886-9705-F8C9-39B7-5621856E8FA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3AB42D7-40EA-1E33-E5DD-055826F50F2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37528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F79B4-DB0F-6301-0B7D-0F1AA5E6B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19A96-8388-594D-9DE4-4F702811D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4F35394-7C1C-2B02-566F-ABA42D2FB8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In polar form, this is: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+(</m:t>
                          </m:r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𝝎</m:t>
                          </m:r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  <m:sSup>
                            <m:sSup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∠</m:t>
                      </m:r>
                      <m:sSup>
                        <m:sSup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𝒕𝒂𝒏</m:t>
                          </m:r>
                        </m:e>
                        <m:sup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−</m:t>
                          </m:r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𝟏</m:t>
                          </m:r>
                        </m:sup>
                      </m:sSup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𝝎</m:t>
                              </m:r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𝑳</m:t>
                              </m:r>
                            </m:num>
                            <m:den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Notice that adding a resistor and an inductor change both the magnitude (opposition to current) and the phase angle of the circuit.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4F35394-7C1C-2B02-566F-ABA42D2FB8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F9518AE-7407-668C-AFA4-712A74927B6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631B3CA-9BE7-100C-CE7D-EB5EC64EE8D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95E394C-0DF4-1617-BAC0-FF3723D648C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23022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68D1C-C2AE-A97B-B1E8-6D9DF9E5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5AD5BE-CF0C-CEC3-17F7-F5F592A2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9B84EB-19EA-B59C-38CB-F149525800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Let us look at Parallel Impedance. If components are connected in parallel, they share the same voltage.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reciprocal of the equivalent impedance is the sum of the reciprocals of the individual impedances.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𝒆𝒒</m:t>
                              </m:r>
                            </m:sub>
                          </m:sSub>
                        </m:den>
                      </m:f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+…</m:t>
                      </m:r>
                    </m:oMath>
                  </m:oMathPara>
                </a14:m>
                <a:endParaRPr lang="en-US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9B84EB-19EA-B59C-38CB-F149525800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10B9AC9-5F7F-4F29-2D15-33B772C3B8B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DEFDEFE-A69A-53B7-0E61-F8016159861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404BEBD-CF39-52F4-6165-A4E52D69AD7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2956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05111-486D-FBF0-81BA-AECBBF2D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E9E43-061A-4234-BD87-5E1CF6700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AF31886-F2FA-ED78-2B98-0BF64C9513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For two impedances in parallel, we can use the «Product over Sum» rule, just like with resistors: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𝑒𝑞</m:t>
                          </m:r>
                        </m:sub>
                      </m:sSub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When calculating parallel circuits with complex numbers, it is often easier to convert the impedances to Rectangular Form 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𝑥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𝑗𝑦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for addition (the denominator) and Polar Form 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𝑟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𝜃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for multiplication (the numerator).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endParaRPr lang="en-US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AF31886-F2FA-ED78-2B98-0BF64C9513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2FE0B5C-BCB4-550C-B095-DE971E70286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8E8F309-4CDD-7976-0FF7-80961201B1D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101E0A3-FE11-8692-D102-187E904F6B5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51768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7DE8D-C573-941C-FE53-7B158090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E11B77-4E11-52CD-CB99-BCF79E089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4E87E68-F790-CB8E-4909-3BA5DE1F6C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Let us apply this to a practical example: The Voltage Divider.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Voltage Divider Rule applies to AC circuits using Impedances.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If you have a voltage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𝑠𝑜𝑢𝑟𝑐𝑒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connected to two series impedances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the voltage across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is: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𝑠𝑜𝑢𝑟𝑐𝑒</m:t>
                          </m:r>
                        </m:sub>
                      </m:sSub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×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4E87E68-F790-CB8E-4909-3BA5DE1F6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EBA98EA-3DBA-CF41-6779-E2F4A009EEE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9D6020D-A3A0-2E8A-339A-BBF26FA9806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75CC65F-AABE-6876-848D-BFD73FBC5DE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706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0D78-449E-FD53-09B8-FCA161661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CDFE90-CB35-9470-CD07-F7A9DB8F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7D4A02D-FD11-7143-221A-88C6F24F55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Imagine a «Low Pass Filter» circuit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Z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is a Resistor 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𝑅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Z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is a Capacitor 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/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𝑗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𝜔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𝐶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As the frequency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𝜔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increases, the impedance of the capacitor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Z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decreases.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According to the formula,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Z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gets smaller,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V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gets smaller.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This proves mathematically why a capacitor blocks high frequencies in this configuration.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7D4A02D-FD11-7143-221A-88C6F24F55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48F4403-F1B4-3137-68E8-1DCF92E5E8C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2C98723-E97D-1E9D-A3CA-A431A019AA1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7D77779-4E1A-6781-EA1E-C9986CD6784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90534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EF92C-E24C-267F-5BF0-A47CAAFC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2DA6D-9415-C11B-95FB-8722E8D3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15729D2-AAA1-3347-1A2E-06201E6BC72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CA1E473-B8F5-3304-AC89-02198A21A47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367CCF3-4575-2F66-5CA5-A86ABA7DEE3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FAADFD40-BB1A-7F02-9C3A-512BA1FCA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42347" cy="4351338"/>
          </a:xfrm>
        </p:spPr>
        <p:txBody>
          <a:bodyPr/>
          <a:lstStyle/>
          <a:p>
            <a:r>
              <a:rPr lang="en-US" dirty="0"/>
              <a:t>Here is an illustration of a Voltage Divider operating with AC. </a:t>
            </a:r>
          </a:p>
          <a:p>
            <a:r>
              <a:rPr lang="en-US" dirty="0"/>
              <a:t>The voltmeters display the RMS voltage.</a:t>
            </a:r>
            <a:endParaRPr lang="ru-RU" dirty="0"/>
          </a:p>
        </p:txBody>
      </p:sp>
      <p:pic>
        <p:nvPicPr>
          <p:cNvPr id="9" name="Объект 6">
            <a:extLst>
              <a:ext uri="{FF2B5EF4-FFF2-40B4-BE49-F238E27FC236}">
                <a16:creationId xmlns:a16="http://schemas.microsoft.com/office/drawing/2014/main" id="{570B1DAC-23BA-3F09-FF41-4219A210C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22196" y="1940401"/>
            <a:ext cx="7214807" cy="45524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9544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816B-DDD2-69BE-DBEE-26FCACFBE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3BBDE-AABB-7798-05A6-635516905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21A21DC-EF34-8460-969A-6E385049FEA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E142892-C1B1-0D3D-302C-08DF62AA9F0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677AD1F-960B-B9DE-D95A-74EB78195C8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61BB1A72-4126-3365-2717-6B935FD86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0F0085-2CA3-4021-3F58-9C76AAA7A7A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403574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endParaRPr lang="en-US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en-US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a typeface="Aptos" panose="020B0004020202020204" pitchFamily="34" charset="0"/>
                <a:cs typeface="Arial" panose="020B0604020202020204" pitchFamily="34" charset="0"/>
              </a:rPr>
              <a:t>Do you have you any questions at the moment?</a:t>
            </a:r>
            <a:endParaRPr lang="ru-RU" dirty="0"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D8C85E4-59A3-54BA-58BB-B5D6671C3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953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87669-9778-BE21-B099-B74F6ED4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43A79-33C3-83E5-0A53-A0F2CBE54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DE12093-5A3C-7CEE-F2C6-089D6B7F320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F4D94A5-5954-98AB-3960-69A5E6AA11E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7617C3F-6DC0-00C6-CD73-38212BF3B7B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A8C94B8B-A721-6D29-E6ED-11CE3BB25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now introduce a new visual tool: the Phasor Diagram.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While the algebra gives us the correct numbers, it does not give us a good «feeling» for the circuit. 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 Phasor Diagram is a graphical representation of the magnitude and phase relationships between voltages and currents in a circuit.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>
              <a:lnSpc>
                <a:spcPct val="100000"/>
              </a:lnSpc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751888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755D3-D533-F06F-1E51-AB447A29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3466D-424C-DFA9-5C0C-98569272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86F74F8-4362-E9ED-5CF4-C331DEB1F29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F1A1F22-38D8-9577-A528-0AAAD035640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B5C207E-373F-81BF-2CC7-6C4C28E2D26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6DB567C5-F22D-38CA-E196-A9D4AEF39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It consists of rotating vectors (phasors) plotted on the Complex Plane: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"/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length of the arrow represents the Amplitude (or RMS value);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"/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angle of the arrow relative to the horizontal axis represents the Phase Difference.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Engineers use these diagrams to quickly check if a voltage leads or lags a current and to estimate the sum of voltages.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>
              <a:lnSpc>
                <a:spcPct val="100000"/>
              </a:lnSpc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37410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D21F-73D3-8624-94C7-565D71211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F2E6E8-BAE0-7027-ACEF-2C7D7B9BE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7602496-9064-0A80-09BA-1AAC2C9B879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D859336-DC6C-9213-D199-FE708A22974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7682749-428C-1760-0B92-9B3A869FB5A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3DFA52C7-456F-543E-EA00-5E83AFFE95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To draw a Phasor Diagram, we must follow specific rules to avoid confusion.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Choose a Reference Phasor.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Select one quantity to be your «zero angle» reference. This phasor is drawn horizontally to the right: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for Series Circuits, use Current (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𝑰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as the reference because current is the same for all components;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3DFA52C7-456F-543E-EA00-5E83AFFE95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885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B3A23-C711-032E-AA8A-9E47824CC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F40BB4-89FC-4EF7-F581-F4F6A436B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1348482-733F-708A-2878-147A7FE4C7A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581A1EE-A510-BA6C-3B61-347C0FE430E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98EF906-974F-7E43-53E2-1299DEAF3A9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07CDAC6-0DAD-175F-610F-BB1AAA62F5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for Parallel Circuits, use Voltage (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𝑽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as the reference because voltage is the same for all branches.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Draw the other phasors relative to the reference: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resistor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– In phase with Current. Draw it parallel to the Current phasor;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lvl="0" indent="0" algn="just">
                  <a:lnSpc>
                    <a:spcPct val="120000"/>
                  </a:lnSpc>
                  <a:buNone/>
                </a:pP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07CDAC6-0DAD-175F-610F-BB1AAA62F5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70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7040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A02A-C130-9BCF-76F1-E7ED33B3E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358C9-9869-156D-84A9-BF9371B6B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79ED803-F98E-9CC0-BBB7-046CF662353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BE9BF8E-AE33-16C5-84F6-F871B42CD7F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7E5185A-8D42-8279-5000-2E1C6CBC0A1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D1CAFC6A-25DF-CAB2-0016-A6C89BF819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inductor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– Leads Current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𝟗𝟎</m:t>
                        </m:r>
                      </m:e>
                      <m:sup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Draw it pointing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𝟗𝟎</m:t>
                        </m:r>
                      </m:e>
                      <m:sup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«up» (counter-clockwise) from the Current;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capacitor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– Lags Current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𝟗𝟎</m:t>
                        </m:r>
                      </m:e>
                      <m:sup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Draw it pointing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𝟗𝟎</m:t>
                        </m:r>
                      </m:e>
                      <m:sup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«down» (clockwise) from the Current.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D1CAFC6A-25DF-CAB2-0016-A6C89BF819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70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6260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29B3A-271C-7CE3-4D32-95F2F19C7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BA19BC-CCF7-4354-47A1-F941EDE4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993A686-EBA8-9CFF-8781-D2AD58195F5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70EFCED-419D-B59B-B4FF-EFE81265C1C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99BCC78-2A3E-4C28-A897-8E627A42214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C0B53E83-9AAE-4112-BA11-4883291464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Let us analyze a Series R-L Circuit using a Phasor Diagram. We have a Resistor and an Inductor in series with a Voltage Source.</a:t>
                </a: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reference – draw the current phasor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𝑰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horizontally;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resistor – the voltage drop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𝑰𝑹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is in the same direction as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𝑰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;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inductor – the voltage drop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𝒋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𝝎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𝑳𝑰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points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𝟗𝟎</m:t>
                        </m:r>
                      </m:e>
                      <m:sup>
                        <m:r>
                          <a:rPr lang="en-US" b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upwards;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C0B53E83-9AAE-4112-BA11-4883291464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7792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719A0-1329-1146-06F3-E80E1A8A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C55E58-EF6A-2CB4-231C-EAACCF606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85FB617-5265-5310-7FD1-C3AE7CD80A4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20766FD-3D99-680A-4913-29559E5EB3F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EA2E1DD-E0F7-CC5E-46C2-51C5B0697B7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8DB17D2F-2493-30D1-EBDA-591913292F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total voltage – according to KVL, the source voltage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𝑺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On the diagram, we add the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and the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tip-to-tail.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/>
                  <a:t>The resulting vector from the origin to the tip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/>
                  <a:t> is the Source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en-US" b="1" dirty="0"/>
                  <a:t>. This triangle formed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en-US" b="1" dirty="0"/>
                  <a:t> is called the Voltage Triangle. </a:t>
                </a:r>
                <a:endParaRPr lang="ru-RU" b="1" dirty="0"/>
              </a:p>
              <a:p>
                <a:pPr algn="just">
                  <a:lnSpc>
                    <a:spcPct val="120000"/>
                  </a:lnSpc>
                </a:pPr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8DB17D2F-2493-30D1-EBDA-591913292F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70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93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38EAB-6A29-D561-D1DD-B8F8012B5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922FFB-2E15-3EB7-40A1-4AA968789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86AFC75-184E-6D2B-CED3-3BEA8162488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0AEADD2-6C9E-2B47-A457-BFAA0986C26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516AEF9-C4E7-7F33-4310-D87C33E4F2E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3FAFC470-5260-64F2-1026-F4F05AB2E9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From this geometry – as shown in the illustration on the next slide – we </a:t>
                </a:r>
                <a:r>
                  <a:rPr lang="en-US" dirty="0" err="1"/>
                  <a:t>seethat</a:t>
                </a:r>
                <a:r>
                  <a:rPr lang="en-US" dirty="0"/>
                  <a:t> the total voltage leads the current by an angle θ,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tan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3FAFC470-5260-64F2-1026-F4F05AB2E9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073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A5411-2BB6-1709-547A-BC08A2997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B18D20-1882-D573-3C2A-EFCD9BD9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B957622-7E6F-D081-974A-FC13611F3E9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6E00944-A560-1049-6F67-F67B3084FD8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A0291A5-8003-C2F3-5CE5-B591E8279A1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(II)</a:t>
              </a:r>
              <a:endParaRPr lang="ru-RU" sz="4000" dirty="0"/>
            </a:p>
          </p:txBody>
        </p:sp>
      </p:grp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7A6CDFF6-9FBC-D36D-5FDC-6E2D01B087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749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6F6BF-CA6C-FCE4-2B33-220972F8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5D1F17-B9A6-2916-3B89-9F78EE26E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9FF29A8-3310-61D6-BF52-4145295ED6B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D1F2659-1B7C-6675-3F61-4381F55123F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48AF17E-18DB-F56D-5D73-46067C6C18E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128BCE6-0D66-2F63-5922-A91D339326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We can also analyze a Series R-C Circuit: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Reference – draw Current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𝑰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horizontally;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resistor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is horizontal;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Capacitor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points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𝟗𝟎</m:t>
                        </m:r>
                      </m:e>
                      <m:sup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down;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total voltage ­– The vector sum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𝑺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will point downwards.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128BCE6-0D66-2F63-5922-A91D339326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0061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1B59E-B066-86CC-8373-307CB3B38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1747C-A150-AE8D-0C0A-727067B74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685BB9D-0554-E2AE-21A0-FCBB2803B47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669A763-EE58-3E6A-AE0B-E87B336A863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91290BA-698F-9855-A855-5BE49A4C5F5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FEE59985-FFA0-A4FD-B494-2A6FAAD84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visualizes clearly that in an RC circuit, the source voltage lags behind the source current.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creates a «capacitive» power factor, which we will discuss in the next lecture on Power.</a:t>
            </a:r>
            <a:endParaRPr lang="en-US" dirty="0"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Now we introduce the concept of Admittance, which is useful for parallel AC circuits.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529847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8DCD8-1C40-3458-C566-869B8F5F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64123-ACF9-33D3-54C1-47FC638C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6187C19-6965-B66A-6B64-C3F75F2A476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F947B03-2A7F-61A4-2821-1A92D941545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AC14071-D07C-CABA-E318-A3FB87308B8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87747FB-4BAD-EE16-14D8-E610686C40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Just as Conductance (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𝑮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) is the reciprocal of Resistance, Admittance (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𝒀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) is the reciprocal of Impedance (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𝒁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).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𝒀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𝒁</m:t>
                          </m:r>
                        </m:den>
                      </m:f>
                    </m:oMath>
                  </m:oMathPara>
                </a14:m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unit of Admittance is the Siemens (S).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87747FB-4BAD-EE16-14D8-E610686C40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2134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ADEC6-C86B-79C8-23E2-7C278FA60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CE2FDB-0519-1B81-572E-412907938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32BFE66-F00B-1E75-AE7A-2DFADC158B9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567F1AB-E805-F507-2820-8AA2474E65B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920A859-9849-B400-052D-CE884076EFA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F3BE047-574A-C9B6-1C31-6FE9AB1AE4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Since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n-US" b="1" dirty="0"/>
                  <a:t> is a complex number,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 is also a complex number: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𝒋𝑩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b="1" dirty="0"/>
              </a:p>
              <a:p>
                <a:pPr lvl="0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b="1" dirty="0"/>
                  <a:t> is Conductance (Real part).</a:t>
                </a:r>
                <a:endParaRPr lang="ru-RU" b="1" dirty="0"/>
              </a:p>
              <a:p>
                <a:pPr lvl="0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/>
                  <a:t> is Susceptance (Imaginary part).</a:t>
                </a:r>
                <a:endParaRPr lang="ru-RU" b="1" dirty="0"/>
              </a:p>
              <a:p>
                <a:r>
                  <a:rPr lang="en-US" b="1" dirty="0"/>
                  <a:t>Using Admittance simplifies parallel circuits because parallel admittances simply add together: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F3BE047-574A-C9B6-1C31-6FE9AB1AE4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23228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B248E-46E7-749A-EF03-DD3BC61A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083A2-8601-74D6-C1E6-F9081AF4C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3ACF867-E471-23A1-D5BC-CEF74162C81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39F55AA-DB5F-7B7C-6CAF-7B79D989690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9D47E99-7A41-7E82-BD19-8BF3466CB08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A7D203B-4DF5-B679-70A1-1463CC77AD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For example, if you have a resistor and capacitor in parallel, it is often faster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add them, rather than doing the complex product-over-sum calculation for Impedance.</a:t>
                </a:r>
              </a:p>
              <a:p>
                <a:r>
                  <a:rPr lang="en-US" dirty="0"/>
                  <a:t>Let us briefly touch upon Nodal Analysis and Mesh Analysis in AC.</a:t>
                </a:r>
              </a:p>
              <a:p>
                <a:r>
                  <a:rPr lang="en-US" dirty="0"/>
                  <a:t>These powerful methods work exactly the same way as in DC, but the coefficients in your equations will be complex numbers. 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A7D203B-4DF5-B679-70A1-1463CC77AD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156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1D6C9-669E-72AB-5085-F290C596C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1E832-6C96-6EBF-F706-B17611555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D10856A-F41D-C078-0E53-E07F856BFA7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B472DED-1D8D-FE34-F023-EDAC0B95734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26AC134-8964-1A2C-503E-66439067217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7EDB7041-B55D-5014-A8A7-5F695BC88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For Nodal Analysis: You apply KCL at every node.</a:t>
                </a:r>
              </a:p>
              <a:p>
                <a:pPr marL="0" indent="0">
                  <a:buNone/>
                </a:pP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b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b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den>
                      </m:f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ru-RU" b="1" dirty="0"/>
              </a:p>
              <a:p>
                <a:r>
                  <a:rPr lang="en-US" dirty="0"/>
                  <a:t>You will get a system of linear equations with complex coefficients. </a:t>
                </a:r>
              </a:p>
              <a:p>
                <a:r>
                  <a:rPr lang="en-US" b="1" dirty="0"/>
                  <a:t>You can solve these using matrices (Cramer's Rule) or substitution, but you must use a calculator capable of complex number arithmetic. </a:t>
                </a:r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7EDB7041-B55D-5014-A8A7-5F695BC88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6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30086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7FF15-8EF1-F385-DE3C-0DBCB319D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C45DF-1260-E47D-EE1A-24EE5E74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D1DE247-4ECF-DD03-4604-E80A8A1C083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6DBC6F3-C217-D715-F35A-14E87B1EE38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EED35A2-7159-F434-3F87-F4354D26198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D1C3D501-1813-85FC-8119-DCEB5FE26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Students often make sign errors here. </a:t>
            </a:r>
          </a:p>
          <a:p>
            <a:r>
              <a:rPr lang="en-US" dirty="0"/>
              <a:t>Always carefully track the phase angles when subtracting phasors. </a:t>
            </a:r>
          </a:p>
          <a:p>
            <a:r>
              <a:rPr lang="en-US" dirty="0"/>
              <a:t>Subtracting a vector is equivalent to adding a vector pointing in the opposite direction.</a:t>
            </a:r>
          </a:p>
          <a:p>
            <a:endParaRPr lang="en-US" dirty="0"/>
          </a:p>
          <a:p>
            <a:r>
              <a:rPr lang="en-US" dirty="0"/>
              <a:t>Just as we used Source Transformation in DC circuits, we can use Phasor Source Transformation in AC circuits.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9427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44935-244C-1C0E-FF20-43887876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E655C-331B-6D2D-4FDA-BBD03082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255EEDA-258A-0B14-B222-49D4F0505E7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7DF2AE4-6443-0E69-467D-E45010C858B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CB8A8A2-F423-ED5C-9D84-A27BFEBFC0F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7148C035-9505-500F-072E-A87D0099DB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A voltage source phasor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in series with an impedance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can be transformed into a current source phasor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in parallel with the same impedance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𝒔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value of the current source is calculated using Ohm's Law with complex numbers: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𝒔</m:t>
                          </m:r>
                        </m:sub>
                      </m:sSub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7148C035-9505-500F-072E-A87D0099DB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8050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7EF8A-A0D0-008B-52A6-82D51DA47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0A92B3-AF63-1786-C857-27CC57074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7E154B6-8CCC-7A52-6D17-649AED5C338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4E4FCEF-6F0A-94FC-64F4-F4727DD0FCD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8F25154-4838-E199-2D82-BA9BAADE17D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805D57F-BD56-64F1-FC02-B1222DBCB7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This is very useful for simplifying circuits that have a mix of parallel and series sections.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Be careful with angles: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𝑠</m:t>
                        </m:r>
                      </m:sub>
                    </m:sSub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has an angle (like an inductor), dividing by it will shift the phase of the current source relative to the voltage source.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805D57F-BD56-64F1-FC02-B1222DBCB7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97773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9C128-E60D-A662-7413-76C41CEB8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17CE6B-4B22-FBB5-60F1-09B7C715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F5E37D7-7F3F-E57F-6C24-F573FE12E5D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31EB63B-ADD6-16B6-BF73-752CA6D5A37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9DD0A9D-DA44-D541-0300-9B26782C92F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1B266C6-7A51-9DAD-436A-8604E98568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We can also apply the Delta-to-Wye 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𝜟</m:t>
                    </m:r>
                  </m:oMath>
                </a14:m>
                <a:r>
                  <a:rPr lang="en-US" b="1" dirty="0"/>
                  <a:t>-Y) Transformation to impedances. </a:t>
                </a:r>
                <a:endParaRPr lang="ru-RU" b="1" dirty="0"/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Often, we find AC bridges or complex grids where components are neither in series nor in parallel.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If we have three impedances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𝑎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𝑏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connected in a Delta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Δ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or Pi 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𝜋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configuration, we can replace them with three impedances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in a Wye (Y) or T configuration. </a:t>
                </a:r>
                <a:endParaRPr lang="en-US" dirty="0"/>
              </a:p>
              <a:p>
                <a:r>
                  <a:rPr lang="en-US" dirty="0"/>
                  <a:t>The formula is identical to the resistor formula, but using complex math: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b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b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b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1B266C6-7A51-9DAD-436A-8604E98568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812" b="-7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3398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EAFD1-93BC-9E94-D65C-9007BA94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249F5-778F-FC58-3B52-7360FB859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6E11AC2-F8D8-BB02-671B-B5BFF151D1A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5F16B74-2F8E-96DC-0983-7E3A80B403D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6EB5FB6-384F-38EA-7B48-0BC9C8FB031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D800E81-7967-1602-E9D9-EA306225FF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This calculation is tedious by hand, but essential for analyzing three-phase power lines and complex filters.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A specific application of AC analysis is the AC Bridge Circuit.</a:t>
                </a:r>
              </a:p>
              <a:p>
                <a:r>
                  <a:rPr lang="en-US" b="1" dirty="0"/>
                  <a:t>Similar to the Wheatstone bridge in DC, AC bridges (like the Maxwell Bridge or Hay Bridge) are used to measure unknown inductance or capacitance. 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bridge has four arms with impedances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4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The bridge is «balanced» when the voltage across the middle detector is zero.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D800E81-7967-1602-E9D9-EA306225FF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0008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F8A71-19A7-8C6F-30F3-138A7FCB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8F7D76-738D-526A-87C7-56CEA3DAF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4804BFA-F105-4447-0D52-CBC08A7C267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805CE00-CE58-E9CD-4894-B4B0CC32772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0FEB338-C386-CF11-D6C2-40AA46787BF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785F7ED-E7DC-0ABA-2EED-2F24029EC6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The condition for balance is: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/>
              </a:p>
              <a:p>
                <a:r>
                  <a:rPr lang="en-US" b="1" dirty="0"/>
                  <a:t>This equation requires both the magnitudes to equate and the phase angles to equate: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|=|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 </m:t>
                      </m:r>
                      <m:r>
                        <m:rPr>
                          <m:nor/>
                        </m:rPr>
                        <a:rPr lang="en-US" b="1"/>
                        <m:t>and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 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∠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+∠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=∠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+∠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785F7ED-E7DC-0ABA-2EED-2F24029EC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0782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66110-FF02-BE21-30D7-A4175458C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9B40D1-C93F-F608-D037-EE67D405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D960359-8810-08F8-2FE9-02A97F1149D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F7DA7A3-F22F-59B1-916E-8B62D81AB6A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86F8A1C-9D1B-40BE-DF16-C0AAC3EA5FE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C3C827AD-4070-B2F1-5457-72D46A2F40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Finally, let's briefly touch on the Dual Principle in circuit analysis.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There is a symmetry between voltage and current, resistance and conductance, loops and nodes, called Duality.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If you have a KVL equation for a series R-L-C circuit driven by a voltage source: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𝑽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𝑰𝑹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𝒋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𝝎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𝑳𝑰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𝒋</m:t>
                          </m:r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𝝎</m:t>
                          </m:r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𝑪</m:t>
                          </m:r>
                        </m:den>
                      </m:f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𝑰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C3C827AD-4070-B2F1-5457-72D46A2F40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6478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C893B-28C4-7299-2086-2011674C1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09BB11-A559-5753-410C-6EB19AA5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5002038-752E-0E37-E0B8-2E515D1BC0C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969829F-738B-C94B-A0A5-A94CAF7503D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7C9855E-B763-6D33-2BD3-8A15FB71A0C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24FBC64-7A7F-DA45-2E79-0DB4294CDE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Dual circuit is a parallel G-C-L circuit driven by a current source. The KCL equation is: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𝑰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𝑽𝑮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𝒋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𝝎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𝑪𝑽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𝒋</m:t>
                          </m:r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𝝎</m:t>
                          </m:r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</m:den>
                      </m:f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𝑽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Notice how R becomes G, L becomes C, and series becomes parallel.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Recognizing this symmetry can help you memorize formulas and solve complex topology problems.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24FBC64-7A7F-DA45-2E79-0DB4294CD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 r="-1159" b="-15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78037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64B85-43DF-B7AB-DA30-CA3431CF6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74F17-4042-FD7A-0130-2F7B58A6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FC35EAD-CB03-69C2-B120-9CC4BE9F73A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EDB3D6E-914B-2B02-32C3-3694A33E077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F669A92-78D0-E3CE-A768-37DF4FA3588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Phasor Analysis Techniques</a:t>
              </a:r>
              <a:endParaRPr lang="ru-RU" sz="4000" dirty="0"/>
            </a:p>
          </p:txBody>
        </p:sp>
      </p:grpSp>
      <p:sp>
        <p:nvSpPr>
          <p:cNvPr id="7" name="Объект 6">
            <a:extLst>
              <a:ext uri="{FF2B5EF4-FFF2-40B4-BE49-F238E27FC236}">
                <a16:creationId xmlns:a16="http://schemas.microsoft.com/office/drawing/2014/main" id="{7C1D5B23-16F8-BBBA-1C71-16E304871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1D59B6B-3992-16F2-CD93-11395F335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D6E476AD-8FAC-98BB-4FCC-210E7E907A8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0345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 for your attention!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you have any questions?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065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2514</Words>
  <Application>Microsoft Office PowerPoint</Application>
  <PresentationFormat>Широкоэкранный</PresentationFormat>
  <Paragraphs>232</Paragraphs>
  <Slides>43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9" baseType="lpstr">
      <vt:lpstr>Aptos</vt:lpstr>
      <vt:lpstr>Aptos Display</vt:lpstr>
      <vt:lpstr>Arial</vt:lpstr>
      <vt:lpstr>Cambria Math</vt:lpstr>
      <vt:lpstr>Symbol</vt:lpstr>
      <vt:lpstr>Тема Office</vt:lpstr>
      <vt:lpstr>Lecture 9. Phasor Analysis Techniques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2026-04-05T09:37:35Z</dcterms:created>
  <dcterms:modified xsi:type="dcterms:W3CDTF">2026-04-09T04:47:29Z</dcterms:modified>
</cp:coreProperties>
</file>