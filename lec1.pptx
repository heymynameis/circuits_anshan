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10" r:id="rId2"/>
    <p:sldId id="311" r:id="rId3"/>
    <p:sldId id="751" r:id="rId4"/>
    <p:sldId id="754" r:id="rId5"/>
    <p:sldId id="757" r:id="rId6"/>
    <p:sldId id="718" r:id="rId7"/>
    <p:sldId id="688" r:id="rId8"/>
    <p:sldId id="687" r:id="rId9"/>
    <p:sldId id="312" r:id="rId10"/>
    <p:sldId id="689" r:id="rId11"/>
    <p:sldId id="313" r:id="rId12"/>
    <p:sldId id="690" r:id="rId13"/>
    <p:sldId id="691" r:id="rId14"/>
    <p:sldId id="692" r:id="rId15"/>
    <p:sldId id="693" r:id="rId16"/>
    <p:sldId id="314" r:id="rId17"/>
    <p:sldId id="695" r:id="rId18"/>
    <p:sldId id="748" r:id="rId19"/>
    <p:sldId id="696" r:id="rId20"/>
    <p:sldId id="694" r:id="rId21"/>
    <p:sldId id="457" r:id="rId22"/>
    <p:sldId id="697" r:id="rId23"/>
    <p:sldId id="316" r:id="rId24"/>
    <p:sldId id="698" r:id="rId25"/>
    <p:sldId id="317" r:id="rId26"/>
    <p:sldId id="699" r:id="rId27"/>
    <p:sldId id="700" r:id="rId28"/>
    <p:sldId id="320" r:id="rId29"/>
    <p:sldId id="701" r:id="rId30"/>
    <p:sldId id="321" r:id="rId31"/>
    <p:sldId id="703" r:id="rId32"/>
    <p:sldId id="702" r:id="rId33"/>
    <p:sldId id="319" r:id="rId34"/>
    <p:sldId id="704" r:id="rId35"/>
    <p:sldId id="705" r:id="rId36"/>
    <p:sldId id="706" r:id="rId37"/>
    <p:sldId id="707" r:id="rId38"/>
    <p:sldId id="324" r:id="rId39"/>
    <p:sldId id="708" r:id="rId40"/>
    <p:sldId id="709" r:id="rId41"/>
    <p:sldId id="710" r:id="rId42"/>
    <p:sldId id="459" r:id="rId43"/>
    <p:sldId id="711" r:id="rId44"/>
    <p:sldId id="326" r:id="rId45"/>
    <p:sldId id="712" r:id="rId46"/>
    <p:sldId id="327" r:id="rId47"/>
    <p:sldId id="713" r:id="rId48"/>
    <p:sldId id="714" r:id="rId49"/>
    <p:sldId id="328" r:id="rId50"/>
    <p:sldId id="715" r:id="rId51"/>
    <p:sldId id="749" r:id="rId52"/>
    <p:sldId id="716" r:id="rId53"/>
    <p:sldId id="329" r:id="rId54"/>
    <p:sldId id="330" r:id="rId55"/>
    <p:sldId id="717" r:id="rId56"/>
    <p:sldId id="357" r:id="rId57"/>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346CBC5-3D69-2AD3-BAD2-271AA44349CD}"/>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a:extLst>
              <a:ext uri="{FF2B5EF4-FFF2-40B4-BE49-F238E27FC236}">
                <a16:creationId xmlns:a16="http://schemas.microsoft.com/office/drawing/2014/main" id="{E1E0B4F4-F58B-2602-944E-FB65E7D9F5F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a:extLst>
              <a:ext uri="{FF2B5EF4-FFF2-40B4-BE49-F238E27FC236}">
                <a16:creationId xmlns:a16="http://schemas.microsoft.com/office/drawing/2014/main" id="{A6B25BA6-D714-10A4-3855-C2B0A4B8F4F7}"/>
              </a:ext>
            </a:extLst>
          </p:cNvPr>
          <p:cNvSpPr>
            <a:spLocks noGrp="1"/>
          </p:cNvSpPr>
          <p:nvPr>
            <p:ph type="dt" sz="half" idx="10"/>
          </p:nvPr>
        </p:nvSpPr>
        <p:spPr/>
        <p:txBody>
          <a:bodyPr/>
          <a:lstStyle/>
          <a:p>
            <a:fld id="{B6713B00-E534-444E-8EEB-3E406188CA9F}" type="datetimeFigureOut">
              <a:rPr lang="ru-RU" smtClean="0"/>
              <a:t>09.04.2026</a:t>
            </a:fld>
            <a:endParaRPr lang="ru-RU"/>
          </a:p>
        </p:txBody>
      </p:sp>
      <p:sp>
        <p:nvSpPr>
          <p:cNvPr id="5" name="Нижний колонтитул 4">
            <a:extLst>
              <a:ext uri="{FF2B5EF4-FFF2-40B4-BE49-F238E27FC236}">
                <a16:creationId xmlns:a16="http://schemas.microsoft.com/office/drawing/2014/main" id="{EFA85923-2D64-2C11-5B25-B96AA9EEFB37}"/>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A8034FC0-7D5D-A3E3-8B18-8630BA7E3D39}"/>
              </a:ext>
            </a:extLst>
          </p:cNvPr>
          <p:cNvSpPr>
            <a:spLocks noGrp="1"/>
          </p:cNvSpPr>
          <p:nvPr>
            <p:ph type="sldNum" sz="quarter" idx="12"/>
          </p:nvPr>
        </p:nvSpPr>
        <p:spPr/>
        <p:txBody>
          <a:bodyPr/>
          <a:lstStyle/>
          <a:p>
            <a:fld id="{DF0A5620-F89D-4EAB-99A5-71D974225ED3}" type="slidenum">
              <a:rPr lang="ru-RU" smtClean="0"/>
              <a:t>‹#›</a:t>
            </a:fld>
            <a:endParaRPr lang="ru-RU"/>
          </a:p>
        </p:txBody>
      </p:sp>
    </p:spTree>
    <p:extLst>
      <p:ext uri="{BB962C8B-B14F-4D97-AF65-F5344CB8AC3E}">
        <p14:creationId xmlns:p14="http://schemas.microsoft.com/office/powerpoint/2010/main" val="8670705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F708331-2759-FC33-95BE-0D8C5777C6AF}"/>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7AB9A226-FC41-83C8-AA5B-0C89792705F7}"/>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A38580DD-8AE9-EB9A-A5FA-4CA169A58F58}"/>
              </a:ext>
            </a:extLst>
          </p:cNvPr>
          <p:cNvSpPr>
            <a:spLocks noGrp="1"/>
          </p:cNvSpPr>
          <p:nvPr>
            <p:ph type="dt" sz="half" idx="10"/>
          </p:nvPr>
        </p:nvSpPr>
        <p:spPr/>
        <p:txBody>
          <a:bodyPr/>
          <a:lstStyle/>
          <a:p>
            <a:fld id="{B6713B00-E534-444E-8EEB-3E406188CA9F}" type="datetimeFigureOut">
              <a:rPr lang="ru-RU" smtClean="0"/>
              <a:t>09.04.2026</a:t>
            </a:fld>
            <a:endParaRPr lang="ru-RU"/>
          </a:p>
        </p:txBody>
      </p:sp>
      <p:sp>
        <p:nvSpPr>
          <p:cNvPr id="5" name="Нижний колонтитул 4">
            <a:extLst>
              <a:ext uri="{FF2B5EF4-FFF2-40B4-BE49-F238E27FC236}">
                <a16:creationId xmlns:a16="http://schemas.microsoft.com/office/drawing/2014/main" id="{03F04BCD-21E5-6154-5385-164A1B34EDFB}"/>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BE9A061C-D361-4B54-BDBD-DBCFE4B017B0}"/>
              </a:ext>
            </a:extLst>
          </p:cNvPr>
          <p:cNvSpPr>
            <a:spLocks noGrp="1"/>
          </p:cNvSpPr>
          <p:nvPr>
            <p:ph type="sldNum" sz="quarter" idx="12"/>
          </p:nvPr>
        </p:nvSpPr>
        <p:spPr/>
        <p:txBody>
          <a:bodyPr/>
          <a:lstStyle/>
          <a:p>
            <a:fld id="{DF0A5620-F89D-4EAB-99A5-71D974225ED3}" type="slidenum">
              <a:rPr lang="ru-RU" smtClean="0"/>
              <a:t>‹#›</a:t>
            </a:fld>
            <a:endParaRPr lang="ru-RU"/>
          </a:p>
        </p:txBody>
      </p:sp>
    </p:spTree>
    <p:extLst>
      <p:ext uri="{BB962C8B-B14F-4D97-AF65-F5344CB8AC3E}">
        <p14:creationId xmlns:p14="http://schemas.microsoft.com/office/powerpoint/2010/main" val="23884846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03964F8-DEAA-4B38-5FA1-EA51BCBD4A6F}"/>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a:extLst>
              <a:ext uri="{FF2B5EF4-FFF2-40B4-BE49-F238E27FC236}">
                <a16:creationId xmlns:a16="http://schemas.microsoft.com/office/drawing/2014/main" id="{F3A8221A-835B-68E4-62C6-03F1A37F463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CA73CF77-DD73-AF2D-12F8-06BD628B78D0}"/>
              </a:ext>
            </a:extLst>
          </p:cNvPr>
          <p:cNvSpPr>
            <a:spLocks noGrp="1"/>
          </p:cNvSpPr>
          <p:nvPr>
            <p:ph type="dt" sz="half" idx="10"/>
          </p:nvPr>
        </p:nvSpPr>
        <p:spPr/>
        <p:txBody>
          <a:bodyPr/>
          <a:lstStyle/>
          <a:p>
            <a:fld id="{B6713B00-E534-444E-8EEB-3E406188CA9F}" type="datetimeFigureOut">
              <a:rPr lang="ru-RU" smtClean="0"/>
              <a:t>09.04.2026</a:t>
            </a:fld>
            <a:endParaRPr lang="ru-RU"/>
          </a:p>
        </p:txBody>
      </p:sp>
      <p:sp>
        <p:nvSpPr>
          <p:cNvPr id="5" name="Нижний колонтитул 4">
            <a:extLst>
              <a:ext uri="{FF2B5EF4-FFF2-40B4-BE49-F238E27FC236}">
                <a16:creationId xmlns:a16="http://schemas.microsoft.com/office/drawing/2014/main" id="{9700575E-62D8-0067-6E05-4C6B19C8211B}"/>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6AF77909-0320-C18D-8EF7-5B27A8EFA87D}"/>
              </a:ext>
            </a:extLst>
          </p:cNvPr>
          <p:cNvSpPr>
            <a:spLocks noGrp="1"/>
          </p:cNvSpPr>
          <p:nvPr>
            <p:ph type="sldNum" sz="quarter" idx="12"/>
          </p:nvPr>
        </p:nvSpPr>
        <p:spPr/>
        <p:txBody>
          <a:bodyPr/>
          <a:lstStyle/>
          <a:p>
            <a:fld id="{DF0A5620-F89D-4EAB-99A5-71D974225ED3}" type="slidenum">
              <a:rPr lang="ru-RU" smtClean="0"/>
              <a:t>‹#›</a:t>
            </a:fld>
            <a:endParaRPr lang="ru-RU"/>
          </a:p>
        </p:txBody>
      </p:sp>
    </p:spTree>
    <p:extLst>
      <p:ext uri="{BB962C8B-B14F-4D97-AF65-F5344CB8AC3E}">
        <p14:creationId xmlns:p14="http://schemas.microsoft.com/office/powerpoint/2010/main" val="17907624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C097F55-779F-3941-1BDB-BCD51421DD15}"/>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6D0C52A5-24BD-67CD-105E-4ABF6028B36B}"/>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a:extLst>
              <a:ext uri="{FF2B5EF4-FFF2-40B4-BE49-F238E27FC236}">
                <a16:creationId xmlns:a16="http://schemas.microsoft.com/office/drawing/2014/main" id="{B00AB7AD-DDF5-C3CB-3FC3-3227312755E6}"/>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a:extLst>
              <a:ext uri="{FF2B5EF4-FFF2-40B4-BE49-F238E27FC236}">
                <a16:creationId xmlns:a16="http://schemas.microsoft.com/office/drawing/2014/main" id="{C2C60163-4E01-DD86-9FB2-23908F973375}"/>
              </a:ext>
            </a:extLst>
          </p:cNvPr>
          <p:cNvSpPr>
            <a:spLocks noGrp="1"/>
          </p:cNvSpPr>
          <p:nvPr>
            <p:ph type="dt" sz="half" idx="10"/>
          </p:nvPr>
        </p:nvSpPr>
        <p:spPr/>
        <p:txBody>
          <a:bodyPr/>
          <a:lstStyle/>
          <a:p>
            <a:fld id="{B6713B00-E534-444E-8EEB-3E406188CA9F}" type="datetimeFigureOut">
              <a:rPr lang="ru-RU" smtClean="0"/>
              <a:t>09.04.2026</a:t>
            </a:fld>
            <a:endParaRPr lang="ru-RU"/>
          </a:p>
        </p:txBody>
      </p:sp>
      <p:sp>
        <p:nvSpPr>
          <p:cNvPr id="6" name="Нижний колонтитул 5">
            <a:extLst>
              <a:ext uri="{FF2B5EF4-FFF2-40B4-BE49-F238E27FC236}">
                <a16:creationId xmlns:a16="http://schemas.microsoft.com/office/drawing/2014/main" id="{F41E5207-1E16-16F4-F22A-38B56EFCC8A7}"/>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BF0EFC30-8266-FEED-ACE8-C2A25CB110AF}"/>
              </a:ext>
            </a:extLst>
          </p:cNvPr>
          <p:cNvSpPr>
            <a:spLocks noGrp="1"/>
          </p:cNvSpPr>
          <p:nvPr>
            <p:ph type="sldNum" sz="quarter" idx="12"/>
          </p:nvPr>
        </p:nvSpPr>
        <p:spPr/>
        <p:txBody>
          <a:bodyPr/>
          <a:lstStyle/>
          <a:p>
            <a:fld id="{DF0A5620-F89D-4EAB-99A5-71D974225ED3}" type="slidenum">
              <a:rPr lang="ru-RU" smtClean="0"/>
              <a:t>‹#›</a:t>
            </a:fld>
            <a:endParaRPr lang="ru-RU"/>
          </a:p>
        </p:txBody>
      </p:sp>
    </p:spTree>
    <p:extLst>
      <p:ext uri="{BB962C8B-B14F-4D97-AF65-F5344CB8AC3E}">
        <p14:creationId xmlns:p14="http://schemas.microsoft.com/office/powerpoint/2010/main" val="322204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C9C3B00-11C7-6080-978C-259AE78A4B1A}"/>
              </a:ext>
            </a:extLst>
          </p:cNvPr>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a:extLst>
              <a:ext uri="{FF2B5EF4-FFF2-40B4-BE49-F238E27FC236}">
                <a16:creationId xmlns:a16="http://schemas.microsoft.com/office/drawing/2014/main" id="{6A329F36-7397-9A43-2544-884982EBFE4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E147E496-564E-6DA6-C840-6FF826BF6968}"/>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a:extLst>
              <a:ext uri="{FF2B5EF4-FFF2-40B4-BE49-F238E27FC236}">
                <a16:creationId xmlns:a16="http://schemas.microsoft.com/office/drawing/2014/main" id="{8ED8F043-8C58-6111-92A4-C2C6AC21231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1D56985D-823A-FC75-6340-880E8C9EF157}"/>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a:extLst>
              <a:ext uri="{FF2B5EF4-FFF2-40B4-BE49-F238E27FC236}">
                <a16:creationId xmlns:a16="http://schemas.microsoft.com/office/drawing/2014/main" id="{8E60B596-0D12-4C74-7A1A-C72DB41165C7}"/>
              </a:ext>
            </a:extLst>
          </p:cNvPr>
          <p:cNvSpPr>
            <a:spLocks noGrp="1"/>
          </p:cNvSpPr>
          <p:nvPr>
            <p:ph type="dt" sz="half" idx="10"/>
          </p:nvPr>
        </p:nvSpPr>
        <p:spPr/>
        <p:txBody>
          <a:bodyPr/>
          <a:lstStyle/>
          <a:p>
            <a:fld id="{B6713B00-E534-444E-8EEB-3E406188CA9F}" type="datetimeFigureOut">
              <a:rPr lang="ru-RU" smtClean="0"/>
              <a:t>09.04.2026</a:t>
            </a:fld>
            <a:endParaRPr lang="ru-RU"/>
          </a:p>
        </p:txBody>
      </p:sp>
      <p:sp>
        <p:nvSpPr>
          <p:cNvPr id="8" name="Нижний колонтитул 7">
            <a:extLst>
              <a:ext uri="{FF2B5EF4-FFF2-40B4-BE49-F238E27FC236}">
                <a16:creationId xmlns:a16="http://schemas.microsoft.com/office/drawing/2014/main" id="{B2D49A4F-784D-425D-0675-4DE1A255860F}"/>
              </a:ext>
            </a:extLst>
          </p:cNvPr>
          <p:cNvSpPr>
            <a:spLocks noGrp="1"/>
          </p:cNvSpPr>
          <p:nvPr>
            <p:ph type="ftr" sz="quarter" idx="11"/>
          </p:nvPr>
        </p:nvSpPr>
        <p:spPr/>
        <p:txBody>
          <a:bodyPr/>
          <a:lstStyle/>
          <a:p>
            <a:endParaRPr lang="ru-RU"/>
          </a:p>
        </p:txBody>
      </p:sp>
      <p:sp>
        <p:nvSpPr>
          <p:cNvPr id="9" name="Номер слайда 8">
            <a:extLst>
              <a:ext uri="{FF2B5EF4-FFF2-40B4-BE49-F238E27FC236}">
                <a16:creationId xmlns:a16="http://schemas.microsoft.com/office/drawing/2014/main" id="{E45804DE-3628-5054-353F-51F4485B17DF}"/>
              </a:ext>
            </a:extLst>
          </p:cNvPr>
          <p:cNvSpPr>
            <a:spLocks noGrp="1"/>
          </p:cNvSpPr>
          <p:nvPr>
            <p:ph type="sldNum" sz="quarter" idx="12"/>
          </p:nvPr>
        </p:nvSpPr>
        <p:spPr/>
        <p:txBody>
          <a:bodyPr/>
          <a:lstStyle/>
          <a:p>
            <a:fld id="{DF0A5620-F89D-4EAB-99A5-71D974225ED3}" type="slidenum">
              <a:rPr lang="ru-RU" smtClean="0"/>
              <a:t>‹#›</a:t>
            </a:fld>
            <a:endParaRPr lang="ru-RU"/>
          </a:p>
        </p:txBody>
      </p:sp>
    </p:spTree>
    <p:extLst>
      <p:ext uri="{BB962C8B-B14F-4D97-AF65-F5344CB8AC3E}">
        <p14:creationId xmlns:p14="http://schemas.microsoft.com/office/powerpoint/2010/main" val="33255250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FCD55D2-AF53-7A16-BA30-5911809CAA1D}"/>
              </a:ext>
            </a:extLst>
          </p:cNvPr>
          <p:cNvSpPr>
            <a:spLocks noGrp="1"/>
          </p:cNvSpPr>
          <p:nvPr>
            <p:ph type="title"/>
          </p:nvPr>
        </p:nvSpPr>
        <p:spPr/>
        <p:txBody>
          <a:bodyPr/>
          <a:lstStyle/>
          <a:p>
            <a:r>
              <a:rPr lang="ru-RU"/>
              <a:t>Образец заголовка</a:t>
            </a:r>
          </a:p>
        </p:txBody>
      </p:sp>
      <p:sp>
        <p:nvSpPr>
          <p:cNvPr id="3" name="Дата 2">
            <a:extLst>
              <a:ext uri="{FF2B5EF4-FFF2-40B4-BE49-F238E27FC236}">
                <a16:creationId xmlns:a16="http://schemas.microsoft.com/office/drawing/2014/main" id="{266BD86B-BD48-7C18-D82B-A89148D4511C}"/>
              </a:ext>
            </a:extLst>
          </p:cNvPr>
          <p:cNvSpPr>
            <a:spLocks noGrp="1"/>
          </p:cNvSpPr>
          <p:nvPr>
            <p:ph type="dt" sz="half" idx="10"/>
          </p:nvPr>
        </p:nvSpPr>
        <p:spPr/>
        <p:txBody>
          <a:bodyPr/>
          <a:lstStyle/>
          <a:p>
            <a:fld id="{B6713B00-E534-444E-8EEB-3E406188CA9F}" type="datetimeFigureOut">
              <a:rPr lang="ru-RU" smtClean="0"/>
              <a:t>09.04.2026</a:t>
            </a:fld>
            <a:endParaRPr lang="ru-RU"/>
          </a:p>
        </p:txBody>
      </p:sp>
      <p:sp>
        <p:nvSpPr>
          <p:cNvPr id="4" name="Нижний колонтитул 3">
            <a:extLst>
              <a:ext uri="{FF2B5EF4-FFF2-40B4-BE49-F238E27FC236}">
                <a16:creationId xmlns:a16="http://schemas.microsoft.com/office/drawing/2014/main" id="{6FC9FA30-DBBD-A109-D047-137D1B8674B5}"/>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123F287A-9D38-76EA-DFD0-65E9D0C3B45E}"/>
              </a:ext>
            </a:extLst>
          </p:cNvPr>
          <p:cNvSpPr>
            <a:spLocks noGrp="1"/>
          </p:cNvSpPr>
          <p:nvPr>
            <p:ph type="sldNum" sz="quarter" idx="12"/>
          </p:nvPr>
        </p:nvSpPr>
        <p:spPr/>
        <p:txBody>
          <a:bodyPr/>
          <a:lstStyle/>
          <a:p>
            <a:fld id="{DF0A5620-F89D-4EAB-99A5-71D974225ED3}" type="slidenum">
              <a:rPr lang="ru-RU" smtClean="0"/>
              <a:t>‹#›</a:t>
            </a:fld>
            <a:endParaRPr lang="ru-RU"/>
          </a:p>
        </p:txBody>
      </p:sp>
    </p:spTree>
    <p:extLst>
      <p:ext uri="{BB962C8B-B14F-4D97-AF65-F5344CB8AC3E}">
        <p14:creationId xmlns:p14="http://schemas.microsoft.com/office/powerpoint/2010/main" val="25499520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56C04ABD-4021-4C9B-AC2A-0EC523E0F68E}"/>
              </a:ext>
            </a:extLst>
          </p:cNvPr>
          <p:cNvSpPr>
            <a:spLocks noGrp="1"/>
          </p:cNvSpPr>
          <p:nvPr>
            <p:ph type="dt" sz="half" idx="10"/>
          </p:nvPr>
        </p:nvSpPr>
        <p:spPr/>
        <p:txBody>
          <a:bodyPr/>
          <a:lstStyle/>
          <a:p>
            <a:fld id="{B6713B00-E534-444E-8EEB-3E406188CA9F}" type="datetimeFigureOut">
              <a:rPr lang="ru-RU" smtClean="0"/>
              <a:t>09.04.2026</a:t>
            </a:fld>
            <a:endParaRPr lang="ru-RU"/>
          </a:p>
        </p:txBody>
      </p:sp>
      <p:sp>
        <p:nvSpPr>
          <p:cNvPr id="3" name="Нижний колонтитул 2">
            <a:extLst>
              <a:ext uri="{FF2B5EF4-FFF2-40B4-BE49-F238E27FC236}">
                <a16:creationId xmlns:a16="http://schemas.microsoft.com/office/drawing/2014/main" id="{7BC91623-3812-FAE7-C638-2B1C4D879FCB}"/>
              </a:ext>
            </a:extLst>
          </p:cNvPr>
          <p:cNvSpPr>
            <a:spLocks noGrp="1"/>
          </p:cNvSpPr>
          <p:nvPr>
            <p:ph type="ftr" sz="quarter" idx="11"/>
          </p:nvPr>
        </p:nvSpPr>
        <p:spPr/>
        <p:txBody>
          <a:bodyPr/>
          <a:lstStyle/>
          <a:p>
            <a:endParaRPr lang="ru-RU"/>
          </a:p>
        </p:txBody>
      </p:sp>
      <p:sp>
        <p:nvSpPr>
          <p:cNvPr id="4" name="Номер слайда 3">
            <a:extLst>
              <a:ext uri="{FF2B5EF4-FFF2-40B4-BE49-F238E27FC236}">
                <a16:creationId xmlns:a16="http://schemas.microsoft.com/office/drawing/2014/main" id="{616A64FA-F288-EA99-0E9A-39B493FF026A}"/>
              </a:ext>
            </a:extLst>
          </p:cNvPr>
          <p:cNvSpPr>
            <a:spLocks noGrp="1"/>
          </p:cNvSpPr>
          <p:nvPr>
            <p:ph type="sldNum" sz="quarter" idx="12"/>
          </p:nvPr>
        </p:nvSpPr>
        <p:spPr/>
        <p:txBody>
          <a:bodyPr/>
          <a:lstStyle/>
          <a:p>
            <a:fld id="{DF0A5620-F89D-4EAB-99A5-71D974225ED3}" type="slidenum">
              <a:rPr lang="ru-RU" smtClean="0"/>
              <a:t>‹#›</a:t>
            </a:fld>
            <a:endParaRPr lang="ru-RU"/>
          </a:p>
        </p:txBody>
      </p:sp>
    </p:spTree>
    <p:extLst>
      <p:ext uri="{BB962C8B-B14F-4D97-AF65-F5344CB8AC3E}">
        <p14:creationId xmlns:p14="http://schemas.microsoft.com/office/powerpoint/2010/main" val="12218124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D104864-CAB2-07CD-1755-016606075E2D}"/>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a:extLst>
              <a:ext uri="{FF2B5EF4-FFF2-40B4-BE49-F238E27FC236}">
                <a16:creationId xmlns:a16="http://schemas.microsoft.com/office/drawing/2014/main" id="{1D8F21A6-6CAE-8CB9-E7D4-67F8FDB7AA7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a:extLst>
              <a:ext uri="{FF2B5EF4-FFF2-40B4-BE49-F238E27FC236}">
                <a16:creationId xmlns:a16="http://schemas.microsoft.com/office/drawing/2014/main" id="{21163C16-339F-F17B-D6D2-1A9EF4E150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60720DAC-B96F-1F90-FDFE-11131AE4E285}"/>
              </a:ext>
            </a:extLst>
          </p:cNvPr>
          <p:cNvSpPr>
            <a:spLocks noGrp="1"/>
          </p:cNvSpPr>
          <p:nvPr>
            <p:ph type="dt" sz="half" idx="10"/>
          </p:nvPr>
        </p:nvSpPr>
        <p:spPr/>
        <p:txBody>
          <a:bodyPr/>
          <a:lstStyle/>
          <a:p>
            <a:fld id="{B6713B00-E534-444E-8EEB-3E406188CA9F}" type="datetimeFigureOut">
              <a:rPr lang="ru-RU" smtClean="0"/>
              <a:t>09.04.2026</a:t>
            </a:fld>
            <a:endParaRPr lang="ru-RU"/>
          </a:p>
        </p:txBody>
      </p:sp>
      <p:sp>
        <p:nvSpPr>
          <p:cNvPr id="6" name="Нижний колонтитул 5">
            <a:extLst>
              <a:ext uri="{FF2B5EF4-FFF2-40B4-BE49-F238E27FC236}">
                <a16:creationId xmlns:a16="http://schemas.microsoft.com/office/drawing/2014/main" id="{4FF58CD9-8D66-FAB5-AD3C-FA463A32537A}"/>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0C61B0C5-7AE1-292A-1663-0062FC2B03B1}"/>
              </a:ext>
            </a:extLst>
          </p:cNvPr>
          <p:cNvSpPr>
            <a:spLocks noGrp="1"/>
          </p:cNvSpPr>
          <p:nvPr>
            <p:ph type="sldNum" sz="quarter" idx="12"/>
          </p:nvPr>
        </p:nvSpPr>
        <p:spPr/>
        <p:txBody>
          <a:bodyPr/>
          <a:lstStyle/>
          <a:p>
            <a:fld id="{DF0A5620-F89D-4EAB-99A5-71D974225ED3}" type="slidenum">
              <a:rPr lang="ru-RU" smtClean="0"/>
              <a:t>‹#›</a:t>
            </a:fld>
            <a:endParaRPr lang="ru-RU"/>
          </a:p>
        </p:txBody>
      </p:sp>
    </p:spTree>
    <p:extLst>
      <p:ext uri="{BB962C8B-B14F-4D97-AF65-F5344CB8AC3E}">
        <p14:creationId xmlns:p14="http://schemas.microsoft.com/office/powerpoint/2010/main" val="9801233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F52ABA3-B93E-0040-04A4-A5644B108CED}"/>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a:extLst>
              <a:ext uri="{FF2B5EF4-FFF2-40B4-BE49-F238E27FC236}">
                <a16:creationId xmlns:a16="http://schemas.microsoft.com/office/drawing/2014/main" id="{602E2B0E-7238-D141-4D10-2E5ABA2A616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a:extLst>
              <a:ext uri="{FF2B5EF4-FFF2-40B4-BE49-F238E27FC236}">
                <a16:creationId xmlns:a16="http://schemas.microsoft.com/office/drawing/2014/main" id="{BDB7D330-FDCD-39AE-D388-F858FADD977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C2FD4679-2072-DC4D-10BF-8441D1C02384}"/>
              </a:ext>
            </a:extLst>
          </p:cNvPr>
          <p:cNvSpPr>
            <a:spLocks noGrp="1"/>
          </p:cNvSpPr>
          <p:nvPr>
            <p:ph type="dt" sz="half" idx="10"/>
          </p:nvPr>
        </p:nvSpPr>
        <p:spPr/>
        <p:txBody>
          <a:bodyPr/>
          <a:lstStyle/>
          <a:p>
            <a:fld id="{B6713B00-E534-444E-8EEB-3E406188CA9F}" type="datetimeFigureOut">
              <a:rPr lang="ru-RU" smtClean="0"/>
              <a:t>09.04.2026</a:t>
            </a:fld>
            <a:endParaRPr lang="ru-RU"/>
          </a:p>
        </p:txBody>
      </p:sp>
      <p:sp>
        <p:nvSpPr>
          <p:cNvPr id="6" name="Нижний колонтитул 5">
            <a:extLst>
              <a:ext uri="{FF2B5EF4-FFF2-40B4-BE49-F238E27FC236}">
                <a16:creationId xmlns:a16="http://schemas.microsoft.com/office/drawing/2014/main" id="{841409D4-424C-CF1C-1E5A-CEC38C01E634}"/>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25282F05-AB54-B66E-98C9-B158BC86910F}"/>
              </a:ext>
            </a:extLst>
          </p:cNvPr>
          <p:cNvSpPr>
            <a:spLocks noGrp="1"/>
          </p:cNvSpPr>
          <p:nvPr>
            <p:ph type="sldNum" sz="quarter" idx="12"/>
          </p:nvPr>
        </p:nvSpPr>
        <p:spPr/>
        <p:txBody>
          <a:bodyPr/>
          <a:lstStyle/>
          <a:p>
            <a:fld id="{DF0A5620-F89D-4EAB-99A5-71D974225ED3}" type="slidenum">
              <a:rPr lang="ru-RU" smtClean="0"/>
              <a:t>‹#›</a:t>
            </a:fld>
            <a:endParaRPr lang="ru-RU"/>
          </a:p>
        </p:txBody>
      </p:sp>
    </p:spTree>
    <p:extLst>
      <p:ext uri="{BB962C8B-B14F-4D97-AF65-F5344CB8AC3E}">
        <p14:creationId xmlns:p14="http://schemas.microsoft.com/office/powerpoint/2010/main" val="31085225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5AA66B8-621D-40C1-144F-BBF0DA90DD70}"/>
              </a:ext>
            </a:extLst>
          </p:cNvPr>
          <p:cNvSpPr>
            <a:spLocks noGrp="1"/>
          </p:cNvSpPr>
          <p:nvPr>
            <p:ph type="title"/>
          </p:nvPr>
        </p:nvSpPr>
        <p:spPr/>
        <p:txBody>
          <a:bodyPr/>
          <a:lstStyle/>
          <a:p>
            <a:r>
              <a:rPr lang="ru-RU"/>
              <a:t>Образец заголовка</a:t>
            </a:r>
          </a:p>
        </p:txBody>
      </p:sp>
      <p:sp>
        <p:nvSpPr>
          <p:cNvPr id="3" name="Вертикальный текст 2">
            <a:extLst>
              <a:ext uri="{FF2B5EF4-FFF2-40B4-BE49-F238E27FC236}">
                <a16:creationId xmlns:a16="http://schemas.microsoft.com/office/drawing/2014/main" id="{1A2BFC1C-4FFC-AAD3-2749-385D55B95379}"/>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B55C7B05-9002-574D-24B4-D075D668FDC7}"/>
              </a:ext>
            </a:extLst>
          </p:cNvPr>
          <p:cNvSpPr>
            <a:spLocks noGrp="1"/>
          </p:cNvSpPr>
          <p:nvPr>
            <p:ph type="dt" sz="half" idx="10"/>
          </p:nvPr>
        </p:nvSpPr>
        <p:spPr/>
        <p:txBody>
          <a:bodyPr/>
          <a:lstStyle/>
          <a:p>
            <a:fld id="{B6713B00-E534-444E-8EEB-3E406188CA9F}" type="datetimeFigureOut">
              <a:rPr lang="ru-RU" smtClean="0"/>
              <a:t>09.04.2026</a:t>
            </a:fld>
            <a:endParaRPr lang="ru-RU"/>
          </a:p>
        </p:txBody>
      </p:sp>
      <p:sp>
        <p:nvSpPr>
          <p:cNvPr id="5" name="Нижний колонтитул 4">
            <a:extLst>
              <a:ext uri="{FF2B5EF4-FFF2-40B4-BE49-F238E27FC236}">
                <a16:creationId xmlns:a16="http://schemas.microsoft.com/office/drawing/2014/main" id="{45545B07-6D0A-27B1-6D7A-DBD314FA2DB6}"/>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58319187-DEAE-B928-87DC-342D649ECD26}"/>
              </a:ext>
            </a:extLst>
          </p:cNvPr>
          <p:cNvSpPr>
            <a:spLocks noGrp="1"/>
          </p:cNvSpPr>
          <p:nvPr>
            <p:ph type="sldNum" sz="quarter" idx="12"/>
          </p:nvPr>
        </p:nvSpPr>
        <p:spPr/>
        <p:txBody>
          <a:bodyPr/>
          <a:lstStyle/>
          <a:p>
            <a:fld id="{DF0A5620-F89D-4EAB-99A5-71D974225ED3}" type="slidenum">
              <a:rPr lang="ru-RU" smtClean="0"/>
              <a:t>‹#›</a:t>
            </a:fld>
            <a:endParaRPr lang="ru-RU"/>
          </a:p>
        </p:txBody>
      </p:sp>
    </p:spTree>
    <p:extLst>
      <p:ext uri="{BB962C8B-B14F-4D97-AF65-F5344CB8AC3E}">
        <p14:creationId xmlns:p14="http://schemas.microsoft.com/office/powerpoint/2010/main" val="227734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935F14B5-8B73-68D3-A2D6-0E6BCC53A5B9}"/>
              </a:ext>
            </a:extLst>
          </p:cNvPr>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a:extLst>
              <a:ext uri="{FF2B5EF4-FFF2-40B4-BE49-F238E27FC236}">
                <a16:creationId xmlns:a16="http://schemas.microsoft.com/office/drawing/2014/main" id="{50101083-7BBB-8C02-733B-C1F588F21BFA}"/>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16752919-0E6B-A59F-461A-A2CD922B2347}"/>
              </a:ext>
            </a:extLst>
          </p:cNvPr>
          <p:cNvSpPr>
            <a:spLocks noGrp="1"/>
          </p:cNvSpPr>
          <p:nvPr>
            <p:ph type="dt" sz="half" idx="10"/>
          </p:nvPr>
        </p:nvSpPr>
        <p:spPr/>
        <p:txBody>
          <a:bodyPr/>
          <a:lstStyle/>
          <a:p>
            <a:fld id="{B6713B00-E534-444E-8EEB-3E406188CA9F}" type="datetimeFigureOut">
              <a:rPr lang="ru-RU" smtClean="0"/>
              <a:t>09.04.2026</a:t>
            </a:fld>
            <a:endParaRPr lang="ru-RU"/>
          </a:p>
        </p:txBody>
      </p:sp>
      <p:sp>
        <p:nvSpPr>
          <p:cNvPr id="5" name="Нижний колонтитул 4">
            <a:extLst>
              <a:ext uri="{FF2B5EF4-FFF2-40B4-BE49-F238E27FC236}">
                <a16:creationId xmlns:a16="http://schemas.microsoft.com/office/drawing/2014/main" id="{36C5D0AC-FAB6-7800-BDCF-42B407BBAB51}"/>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1EFF9CC0-8B41-1DEC-37E6-9DBDC29624BA}"/>
              </a:ext>
            </a:extLst>
          </p:cNvPr>
          <p:cNvSpPr>
            <a:spLocks noGrp="1"/>
          </p:cNvSpPr>
          <p:nvPr>
            <p:ph type="sldNum" sz="quarter" idx="12"/>
          </p:nvPr>
        </p:nvSpPr>
        <p:spPr/>
        <p:txBody>
          <a:bodyPr/>
          <a:lstStyle/>
          <a:p>
            <a:fld id="{DF0A5620-F89D-4EAB-99A5-71D974225ED3}" type="slidenum">
              <a:rPr lang="ru-RU" smtClean="0"/>
              <a:t>‹#›</a:t>
            </a:fld>
            <a:endParaRPr lang="ru-RU"/>
          </a:p>
        </p:txBody>
      </p:sp>
    </p:spTree>
    <p:extLst>
      <p:ext uri="{BB962C8B-B14F-4D97-AF65-F5344CB8AC3E}">
        <p14:creationId xmlns:p14="http://schemas.microsoft.com/office/powerpoint/2010/main" val="38022633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0599D0B-7FDF-3906-FAF5-6004E60921E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a:extLst>
              <a:ext uri="{FF2B5EF4-FFF2-40B4-BE49-F238E27FC236}">
                <a16:creationId xmlns:a16="http://schemas.microsoft.com/office/drawing/2014/main" id="{E98D24E2-71E0-674A-0BFA-54E509A17B6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70C5941E-A426-B72F-69E7-C29FA5CFA13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6713B00-E534-444E-8EEB-3E406188CA9F}" type="datetimeFigureOut">
              <a:rPr lang="ru-RU" smtClean="0"/>
              <a:t>09.04.2026</a:t>
            </a:fld>
            <a:endParaRPr lang="ru-RU"/>
          </a:p>
        </p:txBody>
      </p:sp>
      <p:sp>
        <p:nvSpPr>
          <p:cNvPr id="5" name="Нижний колонтитул 4">
            <a:extLst>
              <a:ext uri="{FF2B5EF4-FFF2-40B4-BE49-F238E27FC236}">
                <a16:creationId xmlns:a16="http://schemas.microsoft.com/office/drawing/2014/main" id="{E03B323A-93E1-0F48-B4CE-7741E9680B3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ru-RU"/>
          </a:p>
        </p:txBody>
      </p:sp>
      <p:sp>
        <p:nvSpPr>
          <p:cNvPr id="6" name="Номер слайда 5">
            <a:extLst>
              <a:ext uri="{FF2B5EF4-FFF2-40B4-BE49-F238E27FC236}">
                <a16:creationId xmlns:a16="http://schemas.microsoft.com/office/drawing/2014/main" id="{5E305F12-9A6D-0648-7065-B1B51761A50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F0A5620-F89D-4EAB-99A5-71D974225ED3}" type="slidenum">
              <a:rPr lang="ru-RU" smtClean="0"/>
              <a:t>‹#›</a:t>
            </a:fld>
            <a:endParaRPr lang="ru-RU"/>
          </a:p>
        </p:txBody>
      </p:sp>
    </p:spTree>
    <p:extLst>
      <p:ext uri="{BB962C8B-B14F-4D97-AF65-F5344CB8AC3E}">
        <p14:creationId xmlns:p14="http://schemas.microsoft.com/office/powerpoint/2010/main" val="26295473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4.gif"/><Relationship Id="rId2" Type="http://schemas.openxmlformats.org/officeDocument/2006/relationships/image" Target="../media/image111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4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51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61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81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4.gif"/><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9.gif"/><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510.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76.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8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8C2B95F-8F92-4BDA-C0D6-BDFAEE429F55}"/>
              </a:ext>
            </a:extLst>
          </p:cNvPr>
          <p:cNvSpPr>
            <a:spLocks noGrp="1"/>
          </p:cNvSpPr>
          <p:nvPr>
            <p:ph type="ctrTitle"/>
          </p:nvPr>
        </p:nvSpPr>
        <p:spPr>
          <a:xfrm>
            <a:off x="1116419" y="1122363"/>
            <a:ext cx="10217888" cy="2387600"/>
          </a:xfrm>
        </p:spPr>
        <p:txBody>
          <a:bodyPr>
            <a:normAutofit fontScale="90000"/>
          </a:bodyPr>
          <a:lstStyle/>
          <a:p>
            <a:r>
              <a:rPr lang="en-US" dirty="0">
                <a:latin typeface="Arial" panose="020B0604020202020204" pitchFamily="34" charset="0"/>
                <a:cs typeface="Arial" panose="020B0604020202020204" pitchFamily="34" charset="0"/>
              </a:rPr>
              <a:t>Lecture 1. Fundamentals of Circuit Modeling and Basic Laws</a:t>
            </a:r>
            <a:endParaRPr lang="ru-RU" dirty="0">
              <a:latin typeface="Arial" panose="020B0604020202020204" pitchFamily="34" charset="0"/>
              <a:cs typeface="Arial" panose="020B0604020202020204" pitchFamily="34" charset="0"/>
            </a:endParaRPr>
          </a:p>
        </p:txBody>
      </p:sp>
      <p:sp>
        <p:nvSpPr>
          <p:cNvPr id="3" name="Подзаголовок 2">
            <a:extLst>
              <a:ext uri="{FF2B5EF4-FFF2-40B4-BE49-F238E27FC236}">
                <a16:creationId xmlns:a16="http://schemas.microsoft.com/office/drawing/2014/main" id="{53C7CEDD-F2C9-E4A3-2059-EA99B38A1A95}"/>
              </a:ext>
            </a:extLst>
          </p:cNvPr>
          <p:cNvSpPr>
            <a:spLocks noGrp="1"/>
          </p:cNvSpPr>
          <p:nvPr>
            <p:ph type="subTitle" idx="1"/>
          </p:nvPr>
        </p:nvSpPr>
        <p:spPr/>
        <p:txBody>
          <a:bodyPr/>
          <a:lstStyle/>
          <a:p>
            <a:r>
              <a:rPr lang="en-US" dirty="0">
                <a:latin typeface="Arial" panose="020B0604020202020204" pitchFamily="34" charset="0"/>
                <a:cs typeface="Arial" panose="020B0604020202020204" pitchFamily="34" charset="0"/>
              </a:rPr>
              <a:t>Part (1). Circuit Models and Circuit Laws</a:t>
            </a:r>
            <a:endParaRPr lang="ru-RU" dirty="0">
              <a:latin typeface="Arial" panose="020B0604020202020204" pitchFamily="34" charset="0"/>
              <a:cs typeface="Arial" panose="020B0604020202020204" pitchFamily="34" charset="0"/>
            </a:endParaRPr>
          </a:p>
        </p:txBody>
      </p:sp>
      <p:sp>
        <p:nvSpPr>
          <p:cNvPr id="6" name="Прямоугольный треугольник 5">
            <a:extLst>
              <a:ext uri="{FF2B5EF4-FFF2-40B4-BE49-F238E27FC236}">
                <a16:creationId xmlns:a16="http://schemas.microsoft.com/office/drawing/2014/main" id="{DBE7AFF4-976D-94C2-FE22-977BD5D914AA}"/>
              </a:ext>
            </a:extLst>
          </p:cNvPr>
          <p:cNvSpPr/>
          <p:nvPr/>
        </p:nvSpPr>
        <p:spPr>
          <a:xfrm>
            <a:off x="0" y="3428999"/>
            <a:ext cx="3184275" cy="3419477"/>
          </a:xfrm>
          <a:prstGeom prst="rtTriangle">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 name="Прямоугольный треугольник 6">
            <a:extLst>
              <a:ext uri="{FF2B5EF4-FFF2-40B4-BE49-F238E27FC236}">
                <a16:creationId xmlns:a16="http://schemas.microsoft.com/office/drawing/2014/main" id="{A7419F8F-88A2-4460-2EA7-74FC70CCD877}"/>
              </a:ext>
            </a:extLst>
          </p:cNvPr>
          <p:cNvSpPr/>
          <p:nvPr/>
        </p:nvSpPr>
        <p:spPr>
          <a:xfrm rot="10800000">
            <a:off x="9007724" y="9522"/>
            <a:ext cx="3184275" cy="3419477"/>
          </a:xfrm>
          <a:prstGeom prst="rtTriangle">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37980259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Группа 7">
            <a:extLst>
              <a:ext uri="{FF2B5EF4-FFF2-40B4-BE49-F238E27FC236}">
                <a16:creationId xmlns:a16="http://schemas.microsoft.com/office/drawing/2014/main" id="{BDBE76FF-C39D-91E6-0C25-04C1272D57E4}"/>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609F7946-CFED-3445-89ED-5B0DF7AD5493}"/>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 name="Прямоугольник: скругленные углы 6">
              <a:extLst>
                <a:ext uri="{FF2B5EF4-FFF2-40B4-BE49-F238E27FC236}">
                  <a16:creationId xmlns:a16="http://schemas.microsoft.com/office/drawing/2014/main" id="{C2BF07B8-AEC4-CE3D-8F57-C726FD30604C}"/>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Fundamentals of Circuit Modeling</a:t>
              </a:r>
              <a:br>
                <a:rPr lang="en-US" sz="4000" cap="all" dirty="0">
                  <a:solidFill>
                    <a:schemeClr val="bg1"/>
                  </a:solidFill>
                  <a:latin typeface="Arial" panose="020B0604020202020204" pitchFamily="34" charset="0"/>
                  <a:cs typeface="Arial" panose="020B0604020202020204" pitchFamily="34" charset="0"/>
                </a:rPr>
              </a:br>
              <a:r>
                <a:rPr lang="en-US" sz="4000" cap="all" dirty="0">
                  <a:solidFill>
                    <a:schemeClr val="bg1"/>
                  </a:solidFill>
                  <a:latin typeface="Arial" panose="020B0604020202020204" pitchFamily="34" charset="0"/>
                  <a:cs typeface="Arial" panose="020B0604020202020204" pitchFamily="34" charset="0"/>
                </a:rPr>
                <a:t>and Basic Laws</a:t>
              </a:r>
              <a:endParaRPr lang="ru-RU" sz="4000" dirty="0"/>
            </a:p>
          </p:txBody>
        </p:sp>
      </p:grpSp>
      <p:sp>
        <p:nvSpPr>
          <p:cNvPr id="3" name="Объект 2">
            <a:extLst>
              <a:ext uri="{FF2B5EF4-FFF2-40B4-BE49-F238E27FC236}">
                <a16:creationId xmlns:a16="http://schemas.microsoft.com/office/drawing/2014/main" id="{38B32713-8DC8-A19D-A317-628052EECCD1}"/>
              </a:ext>
            </a:extLst>
          </p:cNvPr>
          <p:cNvSpPr>
            <a:spLocks noGrp="1"/>
          </p:cNvSpPr>
          <p:nvPr>
            <p:ph idx="1"/>
          </p:nvPr>
        </p:nvSpPr>
        <p:spPr/>
        <p:txBody>
          <a:bodyPr>
            <a:normAutofit fontScale="92500"/>
          </a:bodyPr>
          <a:lstStyle/>
          <a:p>
            <a:r>
              <a:rPr lang="en-US" dirty="0">
                <a:latin typeface="Arial" panose="020B0604020202020204" pitchFamily="34" charset="0"/>
                <a:cs typeface="Arial" panose="020B0604020202020204" pitchFamily="34" charset="0"/>
              </a:rPr>
              <a:t>Hello students! </a:t>
            </a:r>
          </a:p>
          <a:p>
            <a:r>
              <a:rPr lang="en-US" dirty="0">
                <a:latin typeface="Arial" panose="020B0604020202020204" pitchFamily="34" charset="0"/>
                <a:cs typeface="Arial" panose="020B0604020202020204" pitchFamily="34" charset="0"/>
              </a:rPr>
              <a:t>Nice to meet you at this place. </a:t>
            </a:r>
          </a:p>
          <a:p>
            <a:r>
              <a:rPr lang="en-US" dirty="0">
                <a:latin typeface="Arial" panose="020B0604020202020204" pitchFamily="34" charset="0"/>
                <a:cs typeface="Arial" panose="020B0604020202020204" pitchFamily="34" charset="0"/>
              </a:rPr>
              <a:t>Welcome to the course o</a:t>
            </a:r>
            <a:r>
              <a:rPr lang="en-US" dirty="0">
                <a:cs typeface="Arial" panose="020B0604020202020204" pitchFamily="34" charset="0"/>
              </a:rPr>
              <a:t>f</a:t>
            </a:r>
            <a:r>
              <a:rPr lang="en-US" dirty="0">
                <a:latin typeface="Arial" panose="020B0604020202020204" pitchFamily="34" charset="0"/>
                <a:cs typeface="Arial" panose="020B0604020202020204" pitchFamily="34" charset="0"/>
              </a:rPr>
              <a:t> The Principle of Circuit.  </a:t>
            </a:r>
          </a:p>
          <a:p>
            <a:r>
              <a:rPr lang="en-US" dirty="0">
                <a:latin typeface="Arial" panose="020B0604020202020204" pitchFamily="34" charset="0"/>
                <a:cs typeface="Arial" panose="020B0604020202020204" pitchFamily="34" charset="0"/>
              </a:rPr>
              <a:t>My name is Anrew </a:t>
            </a:r>
            <a:r>
              <a:rPr lang="en-US" dirty="0" err="1">
                <a:latin typeface="Arial" panose="020B0604020202020204" pitchFamily="34" charset="0"/>
                <a:cs typeface="Arial" panose="020B0604020202020204" pitchFamily="34" charset="0"/>
              </a:rPr>
              <a:t>Bochkarev</a:t>
            </a:r>
            <a:r>
              <a:rPr lang="en-US" dirty="0">
                <a:latin typeface="Arial" panose="020B0604020202020204" pitchFamily="34" charset="0"/>
                <a:cs typeface="Arial" panose="020B0604020202020204" pitchFamily="34" charset="0"/>
              </a:rPr>
              <a:t>, but you can just call me Mr. Teacher. </a:t>
            </a:r>
          </a:p>
          <a:p>
            <a:r>
              <a:rPr lang="en-US" dirty="0">
                <a:latin typeface="Arial" panose="020B0604020202020204" pitchFamily="34" charset="0"/>
                <a:cs typeface="Arial" panose="020B0604020202020204" pitchFamily="34" charset="0"/>
              </a:rPr>
              <a:t>I am an associate professor at Samara State Technical University.</a:t>
            </a:r>
          </a:p>
          <a:p>
            <a:r>
              <a:rPr lang="en-US" dirty="0">
                <a:latin typeface="Arial" panose="020B0604020202020204" pitchFamily="34" charset="0"/>
                <a:cs typeface="Arial" panose="020B0604020202020204" pitchFamily="34" charset="0"/>
              </a:rPr>
              <a:t>My specialization is measuring, electricity, electronics, web programming and microcontrollers programming. </a:t>
            </a:r>
          </a:p>
          <a:p>
            <a:r>
              <a:rPr lang="en-US" dirty="0">
                <a:latin typeface="Arial" panose="020B0604020202020204" pitchFamily="34" charset="0"/>
                <a:cs typeface="Arial" panose="020B0604020202020204" pitchFamily="34" charset="0"/>
              </a:rPr>
              <a:t>In addition, machine learning and similar things are a very big part of my work as teacher and scientist. </a:t>
            </a:r>
          </a:p>
        </p:txBody>
      </p:sp>
    </p:spTree>
    <p:extLst>
      <p:ext uri="{BB962C8B-B14F-4D97-AF65-F5344CB8AC3E}">
        <p14:creationId xmlns:p14="http://schemas.microsoft.com/office/powerpoint/2010/main" val="15106148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1A08D-95A3-598A-FDAC-28E5CC5C6338}"/>
            </a:ext>
          </a:extLst>
        </p:cNvPr>
        <p:cNvGrpSpPr/>
        <p:nvPr/>
      </p:nvGrpSpPr>
      <p:grpSpPr>
        <a:xfrm>
          <a:off x="0" y="0"/>
          <a:ext cx="0" cy="0"/>
          <a:chOff x="0" y="0"/>
          <a:chExt cx="0" cy="0"/>
        </a:xfrm>
      </p:grpSpPr>
      <p:grpSp>
        <p:nvGrpSpPr>
          <p:cNvPr id="8" name="Группа 7">
            <a:extLst>
              <a:ext uri="{FF2B5EF4-FFF2-40B4-BE49-F238E27FC236}">
                <a16:creationId xmlns:a16="http://schemas.microsoft.com/office/drawing/2014/main" id="{0FE1F2E9-6C45-7A83-50B1-DCF5751BFBEA}"/>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9867A2B3-475B-7081-52A1-7428ACAB0751}"/>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 name="Прямоугольник: скругленные углы 6">
              <a:extLst>
                <a:ext uri="{FF2B5EF4-FFF2-40B4-BE49-F238E27FC236}">
                  <a16:creationId xmlns:a16="http://schemas.microsoft.com/office/drawing/2014/main" id="{2344CD2A-22CC-1E3A-2529-65111EB10FF8}"/>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Fundamentals of Circuit Modeling</a:t>
              </a:r>
              <a:br>
                <a:rPr lang="en-US" sz="4000" cap="all" dirty="0">
                  <a:solidFill>
                    <a:schemeClr val="bg1"/>
                  </a:solidFill>
                  <a:latin typeface="Arial" panose="020B0604020202020204" pitchFamily="34" charset="0"/>
                  <a:cs typeface="Arial" panose="020B0604020202020204" pitchFamily="34" charset="0"/>
                </a:rPr>
              </a:br>
              <a:r>
                <a:rPr lang="en-US" sz="4000" cap="all" dirty="0">
                  <a:solidFill>
                    <a:schemeClr val="bg1"/>
                  </a:solidFill>
                  <a:latin typeface="Arial" panose="020B0604020202020204" pitchFamily="34" charset="0"/>
                  <a:cs typeface="Arial" panose="020B0604020202020204" pitchFamily="34" charset="0"/>
                </a:rPr>
                <a:t>and Basic Laws</a:t>
              </a:r>
              <a:endParaRPr lang="ru-RU" sz="4000" dirty="0"/>
            </a:p>
          </p:txBody>
        </p:sp>
      </p:grpSp>
      <p:sp>
        <p:nvSpPr>
          <p:cNvPr id="3" name="Объект 2">
            <a:extLst>
              <a:ext uri="{FF2B5EF4-FFF2-40B4-BE49-F238E27FC236}">
                <a16:creationId xmlns:a16="http://schemas.microsoft.com/office/drawing/2014/main" id="{21642150-1FD4-481D-235C-A6B624E19638}"/>
              </a:ext>
            </a:extLst>
          </p:cNvPr>
          <p:cNvSpPr>
            <a:spLocks noGrp="1"/>
          </p:cNvSpPr>
          <p:nvPr>
            <p:ph idx="1"/>
          </p:nvPr>
        </p:nvSpPr>
        <p:spPr>
          <a:xfrm>
            <a:off x="838200" y="1825625"/>
            <a:ext cx="10515600" cy="4843532"/>
          </a:xfrm>
        </p:spPr>
        <p:txBody>
          <a:bodyPr>
            <a:normAutofit/>
          </a:bodyPr>
          <a:lstStyle/>
          <a:p>
            <a:r>
              <a:rPr lang="en-US" dirty="0">
                <a:latin typeface="Arial" panose="020B0604020202020204" pitchFamily="34" charset="0"/>
                <a:cs typeface="Arial" panose="020B0604020202020204" pitchFamily="34" charset="0"/>
              </a:rPr>
              <a:t>If you want, you can ask me not only about circuits and electricity, but also about issues of interest in my field that I mentioned earlier.</a:t>
            </a:r>
          </a:p>
          <a:p>
            <a:r>
              <a:rPr lang="en-US" dirty="0">
                <a:latin typeface="Arial" panose="020B0604020202020204" pitchFamily="34" charset="0"/>
                <a:cs typeface="Arial" panose="020B0604020202020204" pitchFamily="34" charset="0"/>
              </a:rPr>
              <a:t>Let’s get started. </a:t>
            </a:r>
            <a:endParaRPr lang="ru-RU"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Important terms will be highlighted </a:t>
            </a:r>
            <a:r>
              <a:rPr lang="en-US" b="1" dirty="0">
                <a:latin typeface="Arial" panose="020B0604020202020204" pitchFamily="34" charset="0"/>
                <a:cs typeface="Arial" panose="020B0604020202020204" pitchFamily="34" charset="0"/>
              </a:rPr>
              <a:t>in bold text </a:t>
            </a:r>
            <a:r>
              <a:rPr lang="en-US" dirty="0">
                <a:latin typeface="Arial" panose="020B0604020202020204" pitchFamily="34" charset="0"/>
                <a:cs typeface="Arial" panose="020B0604020202020204" pitchFamily="34" charset="0"/>
              </a:rPr>
              <a:t>on subsequent slides.</a:t>
            </a:r>
            <a:r>
              <a:rPr lang="ru-RU"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You </a:t>
            </a:r>
            <a:r>
              <a:rPr lang="en-US" b="1" dirty="0">
                <a:latin typeface="Arial" panose="020B0604020202020204" pitchFamily="34" charset="0"/>
                <a:cs typeface="Arial" panose="020B0604020202020204" pitchFamily="34" charset="0"/>
              </a:rPr>
              <a:t>must write this </a:t>
            </a:r>
            <a:r>
              <a:rPr lang="en-US" dirty="0">
                <a:latin typeface="Arial" panose="020B0604020202020204" pitchFamily="34" charset="0"/>
                <a:cs typeface="Arial" panose="020B0604020202020204" pitchFamily="34" charset="0"/>
              </a:rPr>
              <a:t>in your textbook to help yourself </a:t>
            </a:r>
            <a:r>
              <a:rPr lang="en-US" dirty="0">
                <a:cs typeface="Arial" panose="020B0604020202020204" pitchFamily="34" charset="0"/>
              </a:rPr>
              <a:t>by your lecture notes at the preparing and, may be, passing the exam</a:t>
            </a:r>
            <a:endParaRPr lang="en-US" dirty="0">
              <a:latin typeface="Arial" panose="020B0604020202020204" pitchFamily="34" charset="0"/>
              <a:cs typeface="Arial" panose="020B0604020202020204" pitchFamily="34" charset="0"/>
            </a:endParaRPr>
          </a:p>
        </p:txBody>
      </p:sp>
      <p:pic>
        <p:nvPicPr>
          <p:cNvPr id="2" name="Рисунок 1">
            <a:extLst>
              <a:ext uri="{FF2B5EF4-FFF2-40B4-BE49-F238E27FC236}">
                <a16:creationId xmlns:a16="http://schemas.microsoft.com/office/drawing/2014/main" id="{C49BBE89-D58B-F20B-85B5-EB7A96C58266}"/>
              </a:ext>
            </a:extLst>
          </p:cNvPr>
          <p:cNvPicPr>
            <a:picLocks noChangeAspect="1"/>
          </p:cNvPicPr>
          <p:nvPr/>
        </p:nvPicPr>
        <p:blipFill>
          <a:blip r:embed="rId2" cstate="email">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a:ext>
            </a:extLst>
          </a:blip>
          <a:srcRect/>
          <a:stretch/>
        </p:blipFill>
        <p:spPr>
          <a:xfrm>
            <a:off x="5360504" y="4997990"/>
            <a:ext cx="2759765" cy="1671167"/>
          </a:xfrm>
          <a:prstGeom prst="rect">
            <a:avLst/>
          </a:prstGeom>
        </p:spPr>
      </p:pic>
    </p:spTree>
    <p:extLst>
      <p:ext uri="{BB962C8B-B14F-4D97-AF65-F5344CB8AC3E}">
        <p14:creationId xmlns:p14="http://schemas.microsoft.com/office/powerpoint/2010/main" val="19825270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6AEB14-8F93-9DFA-23AC-6D891FA6BB9C}"/>
            </a:ext>
          </a:extLst>
        </p:cNvPr>
        <p:cNvGrpSpPr/>
        <p:nvPr/>
      </p:nvGrpSpPr>
      <p:grpSpPr>
        <a:xfrm>
          <a:off x="0" y="0"/>
          <a:ext cx="0" cy="0"/>
          <a:chOff x="0" y="0"/>
          <a:chExt cx="0" cy="0"/>
        </a:xfrm>
      </p:grpSpPr>
      <p:grpSp>
        <p:nvGrpSpPr>
          <p:cNvPr id="8" name="Группа 7">
            <a:extLst>
              <a:ext uri="{FF2B5EF4-FFF2-40B4-BE49-F238E27FC236}">
                <a16:creationId xmlns:a16="http://schemas.microsoft.com/office/drawing/2014/main" id="{30F39DEC-B3B2-4813-67C6-261D9117854F}"/>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A6F2F357-A7B0-F165-EDC0-6ADC27B5F0BC}"/>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 name="Прямоугольник: скругленные углы 6">
              <a:extLst>
                <a:ext uri="{FF2B5EF4-FFF2-40B4-BE49-F238E27FC236}">
                  <a16:creationId xmlns:a16="http://schemas.microsoft.com/office/drawing/2014/main" id="{25340200-3B52-0B63-37F2-CEA5075EBF52}"/>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Fundamentals of Circuit Modeling</a:t>
              </a:r>
              <a:br>
                <a:rPr lang="en-US" sz="4000" cap="all" dirty="0">
                  <a:solidFill>
                    <a:schemeClr val="bg1"/>
                  </a:solidFill>
                  <a:latin typeface="Arial" panose="020B0604020202020204" pitchFamily="34" charset="0"/>
                  <a:cs typeface="Arial" panose="020B0604020202020204" pitchFamily="34" charset="0"/>
                </a:rPr>
              </a:br>
              <a:r>
                <a:rPr lang="en-US" sz="4000" cap="all" dirty="0">
                  <a:solidFill>
                    <a:schemeClr val="bg1"/>
                  </a:solidFill>
                  <a:latin typeface="Arial" panose="020B0604020202020204" pitchFamily="34" charset="0"/>
                  <a:cs typeface="Arial" panose="020B0604020202020204" pitchFamily="34" charset="0"/>
                </a:rPr>
                <a:t>and Basic Laws</a:t>
              </a:r>
              <a:endParaRPr lang="ru-RU" sz="4000" dirty="0"/>
            </a:p>
          </p:txBody>
        </p:sp>
      </p:grpSp>
      <p:sp>
        <p:nvSpPr>
          <p:cNvPr id="3" name="Объект 2">
            <a:extLst>
              <a:ext uri="{FF2B5EF4-FFF2-40B4-BE49-F238E27FC236}">
                <a16:creationId xmlns:a16="http://schemas.microsoft.com/office/drawing/2014/main" id="{FE9E8A91-F1D4-2F39-CE6A-E7E912DEB824}"/>
              </a:ext>
            </a:extLst>
          </p:cNvPr>
          <p:cNvSpPr>
            <a:spLocks noGrp="1"/>
          </p:cNvSpPr>
          <p:nvPr>
            <p:ph idx="1"/>
          </p:nvPr>
        </p:nvSpPr>
        <p:spPr>
          <a:xfrm>
            <a:off x="838200" y="1825625"/>
            <a:ext cx="10515600" cy="4843532"/>
          </a:xfrm>
        </p:spPr>
        <p:txBody>
          <a:bodyPr>
            <a:normAutofit/>
          </a:bodyPr>
          <a:lstStyle/>
          <a:p>
            <a:r>
              <a:rPr lang="en-US" dirty="0">
                <a:cs typeface="Arial" panose="020B0604020202020204" pitchFamily="34" charset="0"/>
              </a:rPr>
              <a:t>Before we begin, check out our rules in addition to your classic </a:t>
            </a:r>
            <a:r>
              <a:rPr lang="ru-RU" dirty="0">
                <a:cs typeface="Arial" panose="020B0604020202020204" pitchFamily="34" charset="0"/>
              </a:rPr>
              <a:t>«</a:t>
            </a:r>
            <a:r>
              <a:rPr lang="en-US" dirty="0">
                <a:cs typeface="Arial" panose="020B0604020202020204" pitchFamily="34" charset="0"/>
              </a:rPr>
              <a:t>rules of classroom behavior</a:t>
            </a:r>
            <a:r>
              <a:rPr lang="ru-RU" dirty="0">
                <a:cs typeface="Arial" panose="020B0604020202020204" pitchFamily="34" charset="0"/>
              </a:rPr>
              <a:t>»</a:t>
            </a:r>
            <a:r>
              <a:rPr lang="en-US" dirty="0">
                <a:cs typeface="Arial" panose="020B0604020202020204" pitchFamily="34" charset="0"/>
              </a:rPr>
              <a:t>:</a:t>
            </a:r>
          </a:p>
          <a:p>
            <a:r>
              <a:rPr lang="en-US" dirty="0">
                <a:cs typeface="Arial" panose="020B0604020202020204" pitchFamily="34" charset="0"/>
              </a:rPr>
              <a:t>If you don’t understand something – rise your hand and ask me</a:t>
            </a:r>
          </a:p>
          <a:p>
            <a:r>
              <a:rPr lang="en-US" dirty="0">
                <a:cs typeface="Arial" panose="020B0604020202020204" pitchFamily="34" charset="0"/>
              </a:rPr>
              <a:t>If want me to describe something in more detail – rise your hand and ask me</a:t>
            </a:r>
          </a:p>
          <a:p>
            <a:r>
              <a:rPr lang="en-US" i="1" u="sng" dirty="0">
                <a:cs typeface="Arial" panose="020B0604020202020204" pitchFamily="34" charset="0"/>
              </a:rPr>
              <a:t>Don’t be shy to ask even if you don’t speak English well</a:t>
            </a:r>
            <a:endParaRPr lang="ru-RU" i="1" u="sng" dirty="0">
              <a:cs typeface="Arial" panose="020B0604020202020204" pitchFamily="34" charset="0"/>
            </a:endParaRPr>
          </a:p>
        </p:txBody>
      </p:sp>
    </p:spTree>
    <p:extLst>
      <p:ext uri="{BB962C8B-B14F-4D97-AF65-F5344CB8AC3E}">
        <p14:creationId xmlns:p14="http://schemas.microsoft.com/office/powerpoint/2010/main" val="21134309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7902E1-A6C8-4C7F-488F-8F5F868FB852}"/>
            </a:ext>
          </a:extLst>
        </p:cNvPr>
        <p:cNvGrpSpPr/>
        <p:nvPr/>
      </p:nvGrpSpPr>
      <p:grpSpPr>
        <a:xfrm>
          <a:off x="0" y="0"/>
          <a:ext cx="0" cy="0"/>
          <a:chOff x="0" y="0"/>
          <a:chExt cx="0" cy="0"/>
        </a:xfrm>
      </p:grpSpPr>
      <p:grpSp>
        <p:nvGrpSpPr>
          <p:cNvPr id="8" name="Группа 7">
            <a:extLst>
              <a:ext uri="{FF2B5EF4-FFF2-40B4-BE49-F238E27FC236}">
                <a16:creationId xmlns:a16="http://schemas.microsoft.com/office/drawing/2014/main" id="{9B42B09A-50B2-B545-7ABB-1D3D7B03EF63}"/>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3DDB23CB-479C-BAB2-45FB-AE9325243F15}"/>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 name="Прямоугольник: скругленные углы 6">
              <a:extLst>
                <a:ext uri="{FF2B5EF4-FFF2-40B4-BE49-F238E27FC236}">
                  <a16:creationId xmlns:a16="http://schemas.microsoft.com/office/drawing/2014/main" id="{DA411B98-5987-AA38-9A7B-309499D83130}"/>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Fundamentals of Circuit Modeling</a:t>
              </a:r>
              <a:br>
                <a:rPr lang="en-US" sz="4000" cap="all" dirty="0">
                  <a:solidFill>
                    <a:schemeClr val="bg1"/>
                  </a:solidFill>
                  <a:latin typeface="Arial" panose="020B0604020202020204" pitchFamily="34" charset="0"/>
                  <a:cs typeface="Arial" panose="020B0604020202020204" pitchFamily="34" charset="0"/>
                </a:rPr>
              </a:br>
              <a:r>
                <a:rPr lang="en-US" sz="4000" cap="all" dirty="0">
                  <a:solidFill>
                    <a:schemeClr val="bg1"/>
                  </a:solidFill>
                  <a:latin typeface="Arial" panose="020B0604020202020204" pitchFamily="34" charset="0"/>
                  <a:cs typeface="Arial" panose="020B0604020202020204" pitchFamily="34" charset="0"/>
                </a:rPr>
                <a:t>and Basic Laws</a:t>
              </a:r>
              <a:endParaRPr lang="ru-RU" sz="4000" dirty="0"/>
            </a:p>
          </p:txBody>
        </p:sp>
      </p:grpSp>
      <p:sp>
        <p:nvSpPr>
          <p:cNvPr id="3" name="Объект 2">
            <a:extLst>
              <a:ext uri="{FF2B5EF4-FFF2-40B4-BE49-F238E27FC236}">
                <a16:creationId xmlns:a16="http://schemas.microsoft.com/office/drawing/2014/main" id="{B7BFC041-D2C5-C40A-002C-50B0915F337F}"/>
              </a:ext>
            </a:extLst>
          </p:cNvPr>
          <p:cNvSpPr>
            <a:spLocks noGrp="1"/>
          </p:cNvSpPr>
          <p:nvPr>
            <p:ph idx="1"/>
          </p:nvPr>
        </p:nvSpPr>
        <p:spPr>
          <a:xfrm>
            <a:off x="838200" y="1825625"/>
            <a:ext cx="10515600" cy="4843532"/>
          </a:xfrm>
        </p:spPr>
        <p:txBody>
          <a:bodyPr>
            <a:normAutofit/>
          </a:bodyPr>
          <a:lstStyle/>
          <a:p>
            <a:r>
              <a:rPr lang="en-US" dirty="0">
                <a:latin typeface="Arial" panose="020B0604020202020204" pitchFamily="34" charset="0"/>
                <a:cs typeface="Arial" panose="020B0604020202020204" pitchFamily="34" charset="0"/>
              </a:rPr>
              <a:t>Now we prepared to really start our lecture</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The Principle of Circuit is a professional basic course, which serves as a foundation for many courses in the automation major and related fields.</a:t>
            </a:r>
          </a:p>
          <a:p>
            <a:r>
              <a:rPr lang="en-US" dirty="0">
                <a:latin typeface="Arial" panose="020B0604020202020204" pitchFamily="34" charset="0"/>
                <a:cs typeface="Arial" panose="020B0604020202020204" pitchFamily="34" charset="0"/>
              </a:rPr>
              <a:t>The primary objective of this course is to enable students to master the basic theories of circuits and the general methods of circuit analysis.</a:t>
            </a:r>
            <a:endParaRPr lang="ru-RU"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An accurate understanding of these principles is essential for solving practical engineering problems.  </a:t>
            </a:r>
          </a:p>
        </p:txBody>
      </p:sp>
    </p:spTree>
    <p:extLst>
      <p:ext uri="{BB962C8B-B14F-4D97-AF65-F5344CB8AC3E}">
        <p14:creationId xmlns:p14="http://schemas.microsoft.com/office/powerpoint/2010/main" val="36555385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7FE18F-C7EC-6EE4-50AC-41CBEC72DAC2}"/>
            </a:ext>
          </a:extLst>
        </p:cNvPr>
        <p:cNvGrpSpPr/>
        <p:nvPr/>
      </p:nvGrpSpPr>
      <p:grpSpPr>
        <a:xfrm>
          <a:off x="0" y="0"/>
          <a:ext cx="0" cy="0"/>
          <a:chOff x="0" y="0"/>
          <a:chExt cx="0" cy="0"/>
        </a:xfrm>
      </p:grpSpPr>
      <p:grpSp>
        <p:nvGrpSpPr>
          <p:cNvPr id="8" name="Группа 7">
            <a:extLst>
              <a:ext uri="{FF2B5EF4-FFF2-40B4-BE49-F238E27FC236}">
                <a16:creationId xmlns:a16="http://schemas.microsoft.com/office/drawing/2014/main" id="{9F2B2A55-3275-240B-F3C5-C84E86C30107}"/>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5D45FD4D-6F6A-2B27-7674-53CDA3DFEAF6}"/>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 name="Прямоугольник: скругленные углы 6">
              <a:extLst>
                <a:ext uri="{FF2B5EF4-FFF2-40B4-BE49-F238E27FC236}">
                  <a16:creationId xmlns:a16="http://schemas.microsoft.com/office/drawing/2014/main" id="{6B3D2F1D-47BD-A471-784F-C0327B2E9251}"/>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Fundamentals of Circuit Modeling</a:t>
              </a:r>
              <a:br>
                <a:rPr lang="en-US" sz="4000" cap="all" dirty="0">
                  <a:solidFill>
                    <a:schemeClr val="bg1"/>
                  </a:solidFill>
                  <a:latin typeface="Arial" panose="020B0604020202020204" pitchFamily="34" charset="0"/>
                  <a:cs typeface="Arial" panose="020B0604020202020204" pitchFamily="34" charset="0"/>
                </a:rPr>
              </a:br>
              <a:r>
                <a:rPr lang="en-US" sz="4000" cap="all" dirty="0">
                  <a:solidFill>
                    <a:schemeClr val="bg1"/>
                  </a:solidFill>
                  <a:latin typeface="Arial" panose="020B0604020202020204" pitchFamily="34" charset="0"/>
                  <a:cs typeface="Arial" panose="020B0604020202020204" pitchFamily="34" charset="0"/>
                </a:rPr>
                <a:t>and Basic Laws</a:t>
              </a:r>
              <a:endParaRPr lang="ru-RU" sz="4000" dirty="0"/>
            </a:p>
          </p:txBody>
        </p:sp>
      </p:grpSp>
      <p:sp>
        <p:nvSpPr>
          <p:cNvPr id="3" name="Объект 2">
            <a:extLst>
              <a:ext uri="{FF2B5EF4-FFF2-40B4-BE49-F238E27FC236}">
                <a16:creationId xmlns:a16="http://schemas.microsoft.com/office/drawing/2014/main" id="{3318B3E7-8BD1-E4DA-C4D0-C083A1846FE3}"/>
              </a:ext>
            </a:extLst>
          </p:cNvPr>
          <p:cNvSpPr>
            <a:spLocks noGrp="1"/>
          </p:cNvSpPr>
          <p:nvPr>
            <p:ph idx="1"/>
          </p:nvPr>
        </p:nvSpPr>
        <p:spPr/>
        <p:txBody>
          <a:bodyPr>
            <a:normAutofit/>
          </a:bodyPr>
          <a:lstStyle/>
          <a:p>
            <a:r>
              <a:rPr lang="en-US" dirty="0">
                <a:latin typeface="Arial" panose="020B0604020202020204" pitchFamily="34" charset="0"/>
                <a:cs typeface="Arial" panose="020B0604020202020204" pitchFamily="34" charset="0"/>
              </a:rPr>
              <a:t>This first lecture begins our study with the most fundamental concepts. </a:t>
            </a:r>
          </a:p>
          <a:p>
            <a:r>
              <a:rPr lang="en-US" dirty="0">
                <a:latin typeface="Arial" panose="020B0604020202020204" pitchFamily="34" charset="0"/>
                <a:cs typeface="Arial" panose="020B0604020202020204" pitchFamily="34" charset="0"/>
              </a:rPr>
              <a:t>We will establish the terminology and conceptual framework used throughout our study.</a:t>
            </a:r>
          </a:p>
          <a:p>
            <a:r>
              <a:rPr lang="en-US" dirty="0">
                <a:latin typeface="Arial" panose="020B0604020202020204" pitchFamily="34" charset="0"/>
                <a:cs typeface="Arial" panose="020B0604020202020204" pitchFamily="34" charset="0"/>
              </a:rPr>
              <a:t>To begin our course, we must distinguish between the physical reality of electrical systems and the theoretical models used to analyze them. </a:t>
            </a:r>
            <a:endParaRPr lang="ru-RU"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An actual circuit is a collection of physical devices such as batteries, generators, transmission lines, and integrated circuits connected to perform a specific function. </a:t>
            </a:r>
            <a:endParaRPr lang="ru-RU"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706439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Группа 7">
            <a:extLst>
              <a:ext uri="{FF2B5EF4-FFF2-40B4-BE49-F238E27FC236}">
                <a16:creationId xmlns:a16="http://schemas.microsoft.com/office/drawing/2014/main" id="{BDBE76FF-C39D-91E6-0C25-04C1272D57E4}"/>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609F7946-CFED-3445-89ED-5B0DF7AD5493}"/>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 name="Прямоугольник: скругленные углы 6">
              <a:extLst>
                <a:ext uri="{FF2B5EF4-FFF2-40B4-BE49-F238E27FC236}">
                  <a16:creationId xmlns:a16="http://schemas.microsoft.com/office/drawing/2014/main" id="{C2BF07B8-AEC4-CE3D-8F57-C726FD30604C}"/>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Fundamentals of Circuit Modeling</a:t>
              </a:r>
              <a:br>
                <a:rPr lang="en-US" sz="4000" cap="all" dirty="0">
                  <a:solidFill>
                    <a:schemeClr val="bg1"/>
                  </a:solidFill>
                  <a:latin typeface="Arial" panose="020B0604020202020204" pitchFamily="34" charset="0"/>
                  <a:cs typeface="Arial" panose="020B0604020202020204" pitchFamily="34" charset="0"/>
                </a:rPr>
              </a:br>
              <a:r>
                <a:rPr lang="en-US" sz="4000" cap="all" dirty="0">
                  <a:solidFill>
                    <a:schemeClr val="bg1"/>
                  </a:solidFill>
                  <a:latin typeface="Arial" panose="020B0604020202020204" pitchFamily="34" charset="0"/>
                  <a:cs typeface="Arial" panose="020B0604020202020204" pitchFamily="34" charset="0"/>
                </a:rPr>
                <a:t>and Basic Laws</a:t>
              </a:r>
              <a:endParaRPr lang="ru-RU" sz="4000" dirty="0"/>
            </a:p>
          </p:txBody>
        </p:sp>
      </p:grpSp>
      <p:sp>
        <p:nvSpPr>
          <p:cNvPr id="3" name="Объект 2">
            <a:extLst>
              <a:ext uri="{FF2B5EF4-FFF2-40B4-BE49-F238E27FC236}">
                <a16:creationId xmlns:a16="http://schemas.microsoft.com/office/drawing/2014/main" id="{38B32713-8DC8-A19D-A317-628052EECCD1}"/>
              </a:ext>
            </a:extLst>
          </p:cNvPr>
          <p:cNvSpPr>
            <a:spLocks noGrp="1"/>
          </p:cNvSpPr>
          <p:nvPr>
            <p:ph idx="1"/>
          </p:nvPr>
        </p:nvSpPr>
        <p:spPr/>
        <p:txBody>
          <a:bodyPr>
            <a:normAutofit/>
          </a:bodyPr>
          <a:lstStyle/>
          <a:p>
            <a:r>
              <a:rPr lang="en-US" dirty="0">
                <a:latin typeface="Arial" panose="020B0604020202020204" pitchFamily="34" charset="0"/>
                <a:cs typeface="Arial" panose="020B0604020202020204" pitchFamily="34" charset="0"/>
              </a:rPr>
              <a:t>These elements are complex; a simple connecting wire, for instance, possesses resistance, inductance, and capacitance simultaneously. </a:t>
            </a:r>
          </a:p>
          <a:p>
            <a:r>
              <a:rPr lang="en-US" dirty="0">
                <a:latin typeface="Arial" panose="020B0604020202020204" pitchFamily="34" charset="0"/>
                <a:cs typeface="Arial" panose="020B0604020202020204" pitchFamily="34" charset="0"/>
              </a:rPr>
              <a:t>They can get hot, they can affect each other with magnetic fields, and they are not perfect. </a:t>
            </a:r>
            <a:endParaRPr lang="ru-RU"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Analyzing a physical device in its entirety, with all its parasitic effects and electromagnetic interferences, is mathematically complex and often unnecessary for the desired level of precision.</a:t>
            </a:r>
            <a:endParaRPr lang="ru-RU"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556677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Группа 7">
            <a:extLst>
              <a:ext uri="{FF2B5EF4-FFF2-40B4-BE49-F238E27FC236}">
                <a16:creationId xmlns:a16="http://schemas.microsoft.com/office/drawing/2014/main" id="{BDBE76FF-C39D-91E6-0C25-04C1272D57E4}"/>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609F7946-CFED-3445-89ED-5B0DF7AD5493}"/>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 name="Прямоугольник: скругленные углы 6">
              <a:extLst>
                <a:ext uri="{FF2B5EF4-FFF2-40B4-BE49-F238E27FC236}">
                  <a16:creationId xmlns:a16="http://schemas.microsoft.com/office/drawing/2014/main" id="{C2BF07B8-AEC4-CE3D-8F57-C726FD30604C}"/>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Fundamentals of Circuit Modeling</a:t>
              </a:r>
              <a:br>
                <a:rPr lang="en-US" sz="4000" cap="all" dirty="0">
                  <a:solidFill>
                    <a:schemeClr val="bg1"/>
                  </a:solidFill>
                  <a:latin typeface="Arial" panose="020B0604020202020204" pitchFamily="34" charset="0"/>
                  <a:cs typeface="Arial" panose="020B0604020202020204" pitchFamily="34" charset="0"/>
                </a:rPr>
              </a:br>
              <a:r>
                <a:rPr lang="en-US" sz="4000" cap="all" dirty="0">
                  <a:solidFill>
                    <a:schemeClr val="bg1"/>
                  </a:solidFill>
                  <a:latin typeface="Arial" panose="020B0604020202020204" pitchFamily="34" charset="0"/>
                  <a:cs typeface="Arial" panose="020B0604020202020204" pitchFamily="34" charset="0"/>
                </a:rPr>
                <a:t>and Basic Laws</a:t>
              </a:r>
              <a:endParaRPr lang="ru-RU" sz="4000" dirty="0"/>
            </a:p>
          </p:txBody>
        </p:sp>
      </p:grpSp>
      <p:sp>
        <p:nvSpPr>
          <p:cNvPr id="3" name="Объект 2">
            <a:extLst>
              <a:ext uri="{FF2B5EF4-FFF2-40B4-BE49-F238E27FC236}">
                <a16:creationId xmlns:a16="http://schemas.microsoft.com/office/drawing/2014/main" id="{38B32713-8DC8-A19D-A317-628052EECCD1}"/>
              </a:ext>
            </a:extLst>
          </p:cNvPr>
          <p:cNvSpPr>
            <a:spLocks noGrp="1"/>
          </p:cNvSpPr>
          <p:nvPr>
            <p:ph idx="1"/>
          </p:nvPr>
        </p:nvSpPr>
        <p:spPr/>
        <p:txBody>
          <a:bodyPr/>
          <a:lstStyle/>
          <a:p>
            <a:r>
              <a:rPr lang="en-US" b="1" dirty="0">
                <a:latin typeface="Arial" panose="020B0604020202020204" pitchFamily="34" charset="0"/>
                <a:cs typeface="Arial" panose="020B0604020202020204" pitchFamily="34" charset="0"/>
              </a:rPr>
              <a:t>We utilize the concept of the ideal «Circuit model» to simplify analysis while retaining essential behaviors.</a:t>
            </a:r>
            <a:endParaRPr lang="ru-RU" b="1" dirty="0">
              <a:latin typeface="Arial" panose="020B0604020202020204" pitchFamily="34" charset="0"/>
              <a:cs typeface="Arial" panose="020B0604020202020204" pitchFamily="34" charset="0"/>
            </a:endParaRPr>
          </a:p>
        </p:txBody>
      </p:sp>
      <p:pic>
        <p:nvPicPr>
          <p:cNvPr id="6" name="Рисунок 5" descr="Изображение выглядит как Электронная техника, Компонент схемы, Электронный компонент, Пассивный компонент цепи&#10;&#10;Автоматически созданное описание">
            <a:extLst>
              <a:ext uri="{FF2B5EF4-FFF2-40B4-BE49-F238E27FC236}">
                <a16:creationId xmlns:a16="http://schemas.microsoft.com/office/drawing/2014/main" id="{2281139E-8816-F0B6-8870-50BE3C9D3610}"/>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1990725" y="2708529"/>
            <a:ext cx="8210550" cy="4019550"/>
          </a:xfrm>
          <a:prstGeom prst="rect">
            <a:avLst/>
          </a:prstGeom>
        </p:spPr>
      </p:pic>
    </p:spTree>
    <p:extLst>
      <p:ext uri="{BB962C8B-B14F-4D97-AF65-F5344CB8AC3E}">
        <p14:creationId xmlns:p14="http://schemas.microsoft.com/office/powerpoint/2010/main" val="39584700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38B32713-8DC8-A19D-A317-628052EECCD1}"/>
              </a:ext>
            </a:extLst>
          </p:cNvPr>
          <p:cNvSpPr>
            <a:spLocks noGrp="1"/>
          </p:cNvSpPr>
          <p:nvPr>
            <p:ph idx="1"/>
          </p:nvPr>
        </p:nvSpPr>
        <p:spPr/>
        <p:txBody>
          <a:bodyPr/>
          <a:lstStyle/>
          <a:p>
            <a:r>
              <a:rPr lang="en-US" b="1" dirty="0">
                <a:latin typeface="Arial" panose="020B0604020202020204" pitchFamily="34" charset="0"/>
                <a:cs typeface="Arial" panose="020B0604020202020204" pitchFamily="34" charset="0"/>
              </a:rPr>
              <a:t>A circuit model is an idealization of an actual circuit where physical components are represented by ideal circuit elements</a:t>
            </a:r>
            <a:endParaRPr lang="ru-RU" b="1" dirty="0">
              <a:latin typeface="Arial" panose="020B0604020202020204" pitchFamily="34" charset="0"/>
              <a:cs typeface="Arial" panose="020B0604020202020204" pitchFamily="34" charset="0"/>
            </a:endParaRPr>
          </a:p>
        </p:txBody>
      </p:sp>
      <p:pic>
        <p:nvPicPr>
          <p:cNvPr id="5" name="Рисунок 4">
            <a:extLst>
              <a:ext uri="{FF2B5EF4-FFF2-40B4-BE49-F238E27FC236}">
                <a16:creationId xmlns:a16="http://schemas.microsoft.com/office/drawing/2014/main" id="{A9F7B5A3-3966-059B-5103-6A14A796F7BE}"/>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022757" y="3025354"/>
            <a:ext cx="8146486" cy="3673158"/>
          </a:xfrm>
          <a:prstGeom prst="rect">
            <a:avLst/>
          </a:prstGeom>
        </p:spPr>
      </p:pic>
      <p:sp>
        <p:nvSpPr>
          <p:cNvPr id="6" name="Заголовок 5">
            <a:extLst>
              <a:ext uri="{FF2B5EF4-FFF2-40B4-BE49-F238E27FC236}">
                <a16:creationId xmlns:a16="http://schemas.microsoft.com/office/drawing/2014/main" id="{9E53768E-52BD-51B1-AF89-7603D3913678}"/>
              </a:ext>
            </a:extLst>
          </p:cNvPr>
          <p:cNvSpPr>
            <a:spLocks noGrp="1"/>
          </p:cNvSpPr>
          <p:nvPr>
            <p:ph type="title"/>
          </p:nvPr>
        </p:nvSpPr>
        <p:spPr/>
        <p:txBody>
          <a:bodyPr/>
          <a:lstStyle/>
          <a:p>
            <a:endParaRPr lang="ru-RU"/>
          </a:p>
        </p:txBody>
      </p:sp>
      <p:grpSp>
        <p:nvGrpSpPr>
          <p:cNvPr id="7" name="Группа 6">
            <a:extLst>
              <a:ext uri="{FF2B5EF4-FFF2-40B4-BE49-F238E27FC236}">
                <a16:creationId xmlns:a16="http://schemas.microsoft.com/office/drawing/2014/main" id="{49B39035-D145-50E8-5AAD-305234A6B059}"/>
              </a:ext>
            </a:extLst>
          </p:cNvPr>
          <p:cNvGrpSpPr/>
          <p:nvPr/>
        </p:nvGrpSpPr>
        <p:grpSpPr>
          <a:xfrm>
            <a:off x="0" y="0"/>
            <a:ext cx="12192000" cy="1690688"/>
            <a:chOff x="0" y="0"/>
            <a:chExt cx="12192000" cy="1690688"/>
          </a:xfrm>
        </p:grpSpPr>
        <p:sp>
          <p:nvSpPr>
            <p:cNvPr id="8" name="Прямоугольник 7">
              <a:extLst>
                <a:ext uri="{FF2B5EF4-FFF2-40B4-BE49-F238E27FC236}">
                  <a16:creationId xmlns:a16="http://schemas.microsoft.com/office/drawing/2014/main" id="{B9D3DFF8-DCDE-0AA0-30C3-E6A1BD59F23D}"/>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 name="Прямоугольник: скругленные углы 8">
              <a:extLst>
                <a:ext uri="{FF2B5EF4-FFF2-40B4-BE49-F238E27FC236}">
                  <a16:creationId xmlns:a16="http://schemas.microsoft.com/office/drawing/2014/main" id="{AA8413B1-F7F3-6784-23C1-EB658A84C9FC}"/>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Fundamentals of Circuit Modeling</a:t>
              </a:r>
              <a:br>
                <a:rPr lang="en-US" sz="4000" cap="all" dirty="0">
                  <a:solidFill>
                    <a:schemeClr val="bg1"/>
                  </a:solidFill>
                  <a:latin typeface="Arial" panose="020B0604020202020204" pitchFamily="34" charset="0"/>
                  <a:cs typeface="Arial" panose="020B0604020202020204" pitchFamily="34" charset="0"/>
                </a:rPr>
              </a:br>
              <a:r>
                <a:rPr lang="en-US" sz="4000" cap="all" dirty="0">
                  <a:solidFill>
                    <a:schemeClr val="bg1"/>
                  </a:solidFill>
                  <a:latin typeface="Arial" panose="020B0604020202020204" pitchFamily="34" charset="0"/>
                  <a:cs typeface="Arial" panose="020B0604020202020204" pitchFamily="34" charset="0"/>
                </a:rPr>
                <a:t>and Basic Laws</a:t>
              </a:r>
              <a:endParaRPr lang="ru-RU" sz="4000" dirty="0"/>
            </a:p>
          </p:txBody>
        </p:sp>
      </p:grpSp>
    </p:spTree>
    <p:extLst>
      <p:ext uri="{BB962C8B-B14F-4D97-AF65-F5344CB8AC3E}">
        <p14:creationId xmlns:p14="http://schemas.microsoft.com/office/powerpoint/2010/main" val="27300799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38B32713-8DC8-A19D-A317-628052EECCD1}"/>
              </a:ext>
            </a:extLst>
          </p:cNvPr>
          <p:cNvSpPr>
            <a:spLocks noGrp="1"/>
          </p:cNvSpPr>
          <p:nvPr>
            <p:ph idx="1"/>
          </p:nvPr>
        </p:nvSpPr>
        <p:spPr/>
        <p:txBody>
          <a:bodyPr/>
          <a:lstStyle/>
          <a:p>
            <a:r>
              <a:rPr lang="en-US" dirty="0">
                <a:latin typeface="Arial" panose="020B0604020202020204" pitchFamily="34" charset="0"/>
                <a:cs typeface="Arial" panose="020B0604020202020204" pitchFamily="34" charset="0"/>
              </a:rPr>
              <a:t>Each ideal element represents a single primary electromagnetic property. </a:t>
            </a:r>
            <a:endParaRPr lang="ru-RU"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For example, a resistor in a circuit model represents only the dissipation of energy (energy is converted into heat), ignoring any magnetic or capacitive effects that a physical resistor might have.</a:t>
            </a:r>
            <a:endParaRPr lang="ru-RU" dirty="0">
              <a:latin typeface="Arial" panose="020B0604020202020204" pitchFamily="34" charset="0"/>
              <a:cs typeface="Arial" panose="020B0604020202020204" pitchFamily="34" charset="0"/>
            </a:endParaRPr>
          </a:p>
        </p:txBody>
      </p:sp>
      <p:sp>
        <p:nvSpPr>
          <p:cNvPr id="6" name="Заголовок 5">
            <a:extLst>
              <a:ext uri="{FF2B5EF4-FFF2-40B4-BE49-F238E27FC236}">
                <a16:creationId xmlns:a16="http://schemas.microsoft.com/office/drawing/2014/main" id="{9E53768E-52BD-51B1-AF89-7603D3913678}"/>
              </a:ext>
            </a:extLst>
          </p:cNvPr>
          <p:cNvSpPr>
            <a:spLocks noGrp="1"/>
          </p:cNvSpPr>
          <p:nvPr>
            <p:ph type="title"/>
          </p:nvPr>
        </p:nvSpPr>
        <p:spPr/>
        <p:txBody>
          <a:bodyPr/>
          <a:lstStyle/>
          <a:p>
            <a:endParaRPr lang="ru-RU"/>
          </a:p>
        </p:txBody>
      </p:sp>
      <p:grpSp>
        <p:nvGrpSpPr>
          <p:cNvPr id="7" name="Группа 6">
            <a:extLst>
              <a:ext uri="{FF2B5EF4-FFF2-40B4-BE49-F238E27FC236}">
                <a16:creationId xmlns:a16="http://schemas.microsoft.com/office/drawing/2014/main" id="{49B39035-D145-50E8-5AAD-305234A6B059}"/>
              </a:ext>
            </a:extLst>
          </p:cNvPr>
          <p:cNvGrpSpPr/>
          <p:nvPr/>
        </p:nvGrpSpPr>
        <p:grpSpPr>
          <a:xfrm>
            <a:off x="0" y="0"/>
            <a:ext cx="12192000" cy="1690688"/>
            <a:chOff x="0" y="0"/>
            <a:chExt cx="12192000" cy="1690688"/>
          </a:xfrm>
        </p:grpSpPr>
        <p:sp>
          <p:nvSpPr>
            <p:cNvPr id="8" name="Прямоугольник 7">
              <a:extLst>
                <a:ext uri="{FF2B5EF4-FFF2-40B4-BE49-F238E27FC236}">
                  <a16:creationId xmlns:a16="http://schemas.microsoft.com/office/drawing/2014/main" id="{B9D3DFF8-DCDE-0AA0-30C3-E6A1BD59F23D}"/>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 name="Прямоугольник: скругленные углы 8">
              <a:extLst>
                <a:ext uri="{FF2B5EF4-FFF2-40B4-BE49-F238E27FC236}">
                  <a16:creationId xmlns:a16="http://schemas.microsoft.com/office/drawing/2014/main" id="{AA8413B1-F7F3-6784-23C1-EB658A84C9FC}"/>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Fundamentals of Circuit Modeling</a:t>
              </a:r>
              <a:br>
                <a:rPr lang="en-US" sz="4000" cap="all" dirty="0">
                  <a:solidFill>
                    <a:schemeClr val="bg1"/>
                  </a:solidFill>
                  <a:latin typeface="Arial" panose="020B0604020202020204" pitchFamily="34" charset="0"/>
                  <a:cs typeface="Arial" panose="020B0604020202020204" pitchFamily="34" charset="0"/>
                </a:rPr>
              </a:br>
              <a:r>
                <a:rPr lang="en-US" sz="4000" cap="all" dirty="0">
                  <a:solidFill>
                    <a:schemeClr val="bg1"/>
                  </a:solidFill>
                  <a:latin typeface="Arial" panose="020B0604020202020204" pitchFamily="34" charset="0"/>
                  <a:cs typeface="Arial" panose="020B0604020202020204" pitchFamily="34" charset="0"/>
                </a:rPr>
                <a:t>and Basic Laws</a:t>
              </a:r>
              <a:endParaRPr lang="ru-RU" sz="4000" dirty="0"/>
            </a:p>
          </p:txBody>
        </p:sp>
      </p:grpSp>
      <p:pic>
        <p:nvPicPr>
          <p:cNvPr id="2" name="Рисунок 1">
            <a:extLst>
              <a:ext uri="{FF2B5EF4-FFF2-40B4-BE49-F238E27FC236}">
                <a16:creationId xmlns:a16="http://schemas.microsoft.com/office/drawing/2014/main" id="{ADAAB5F1-6850-2EEA-9394-818B3A246B79}"/>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598368" y="4331373"/>
            <a:ext cx="4995263" cy="2252307"/>
          </a:xfrm>
          <a:prstGeom prst="rect">
            <a:avLst/>
          </a:prstGeom>
        </p:spPr>
      </p:pic>
    </p:spTree>
    <p:extLst>
      <p:ext uri="{BB962C8B-B14F-4D97-AF65-F5344CB8AC3E}">
        <p14:creationId xmlns:p14="http://schemas.microsoft.com/office/powerpoint/2010/main" val="11882587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0461613-2ACC-C68B-06B3-BFE35799DAFB}"/>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Fundamentals of Circuit Modeling</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and Basic Laws</a:t>
            </a:r>
            <a:endParaRPr lang="ru-RU" dirty="0">
              <a:latin typeface="Arial" panose="020B0604020202020204" pitchFamily="34" charset="0"/>
              <a:cs typeface="Arial" panose="020B0604020202020204" pitchFamily="34" charset="0"/>
            </a:endParaRPr>
          </a:p>
        </p:txBody>
      </p:sp>
      <p:sp>
        <p:nvSpPr>
          <p:cNvPr id="3" name="Объект 2">
            <a:extLst>
              <a:ext uri="{FF2B5EF4-FFF2-40B4-BE49-F238E27FC236}">
                <a16:creationId xmlns:a16="http://schemas.microsoft.com/office/drawing/2014/main" id="{38B32713-8DC8-A19D-A317-628052EECCD1}"/>
              </a:ext>
            </a:extLst>
          </p:cNvPr>
          <p:cNvSpPr>
            <a:spLocks noGrp="1"/>
          </p:cNvSpPr>
          <p:nvPr>
            <p:ph idx="1"/>
          </p:nvPr>
        </p:nvSpPr>
        <p:spPr/>
        <p:txBody>
          <a:bodyPr>
            <a:normAutofit/>
          </a:bodyPr>
          <a:lstStyle/>
          <a:p>
            <a:pPr algn="just"/>
            <a:r>
              <a:rPr lang="en-US" b="1" dirty="0">
                <a:effectLst/>
                <a:latin typeface="Arial" panose="020B0604020202020204" pitchFamily="34" charset="0"/>
                <a:ea typeface="Aptos" panose="020B0004020202020204" pitchFamily="34" charset="0"/>
              </a:rPr>
              <a:t>«Lumped Parameter Hypothesis» assumes that the physical dimensions of the circuit are significantly smaller than the wavelength of the electromagnetic waves associated with the signals involved.</a:t>
            </a:r>
          </a:p>
          <a:p>
            <a:pPr algn="just"/>
            <a:r>
              <a:rPr lang="en-US" b="1" dirty="0">
                <a:latin typeface="Arial" panose="020B0604020202020204" pitchFamily="34" charset="0"/>
                <a:ea typeface="Aptos" panose="020B0004020202020204" pitchFamily="34" charset="0"/>
              </a:rPr>
              <a:t>V</a:t>
            </a:r>
            <a:r>
              <a:rPr lang="en-US" b="1" dirty="0">
                <a:effectLst/>
                <a:latin typeface="Arial" panose="020B0604020202020204" pitchFamily="34" charset="0"/>
                <a:ea typeface="Aptos" panose="020B0004020202020204" pitchFamily="34" charset="0"/>
              </a:rPr>
              <a:t>oltage and current are well-defined functions of time, independent of spatial coordinates along the conductor.</a:t>
            </a:r>
            <a:endParaRPr lang="ru-RU" b="1" dirty="0">
              <a:effectLst/>
              <a:latin typeface="Arial" panose="020B0604020202020204" pitchFamily="34" charset="0"/>
              <a:ea typeface="Aptos" panose="020B0004020202020204" pitchFamily="34" charset="0"/>
            </a:endParaRPr>
          </a:p>
        </p:txBody>
      </p:sp>
      <p:grpSp>
        <p:nvGrpSpPr>
          <p:cNvPr id="4" name="Группа 3">
            <a:extLst>
              <a:ext uri="{FF2B5EF4-FFF2-40B4-BE49-F238E27FC236}">
                <a16:creationId xmlns:a16="http://schemas.microsoft.com/office/drawing/2014/main" id="{882AECB5-794C-1E33-2B51-8F7B46695F10}"/>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87BF0D76-F19C-0EC3-1F72-94B1919358A4}"/>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D45F4A32-E577-A286-E61F-35D7D3F1D9ED}"/>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Fundamentals of Circuit Modeling</a:t>
              </a:r>
              <a:br>
                <a:rPr lang="en-US" sz="4000" cap="all" dirty="0">
                  <a:solidFill>
                    <a:schemeClr val="bg1"/>
                  </a:solidFill>
                  <a:latin typeface="Arial" panose="020B0604020202020204" pitchFamily="34" charset="0"/>
                  <a:cs typeface="Arial" panose="020B0604020202020204" pitchFamily="34" charset="0"/>
                </a:rPr>
              </a:br>
              <a:r>
                <a:rPr lang="en-US" sz="4000" cap="all" dirty="0">
                  <a:solidFill>
                    <a:schemeClr val="bg1"/>
                  </a:solidFill>
                  <a:latin typeface="Arial" panose="020B0604020202020204" pitchFamily="34" charset="0"/>
                  <a:cs typeface="Arial" panose="020B0604020202020204" pitchFamily="34" charset="0"/>
                </a:rPr>
                <a:t>and Basic Laws</a:t>
              </a:r>
              <a:endParaRPr lang="ru-RU" sz="4000" dirty="0"/>
            </a:p>
          </p:txBody>
        </p:sp>
      </p:grpSp>
    </p:spTree>
    <p:extLst>
      <p:ext uri="{BB962C8B-B14F-4D97-AF65-F5344CB8AC3E}">
        <p14:creationId xmlns:p14="http://schemas.microsoft.com/office/powerpoint/2010/main" val="13191978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0461613-2ACC-C68B-06B3-BFE35799DAFB}"/>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Fundamentals of Circuit Modeling</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and Basic Laws</a:t>
            </a:r>
            <a:endParaRPr lang="ru-RU" dirty="0">
              <a:latin typeface="Arial" panose="020B0604020202020204" pitchFamily="34" charset="0"/>
              <a:cs typeface="Arial" panose="020B0604020202020204" pitchFamily="34" charset="0"/>
            </a:endParaRPr>
          </a:p>
        </p:txBody>
      </p:sp>
      <p:sp>
        <p:nvSpPr>
          <p:cNvPr id="3" name="Объект 2">
            <a:extLst>
              <a:ext uri="{FF2B5EF4-FFF2-40B4-BE49-F238E27FC236}">
                <a16:creationId xmlns:a16="http://schemas.microsoft.com/office/drawing/2014/main" id="{38B32713-8DC8-A19D-A317-628052EECCD1}"/>
              </a:ext>
            </a:extLst>
          </p:cNvPr>
          <p:cNvSpPr>
            <a:spLocks noGrp="1"/>
          </p:cNvSpPr>
          <p:nvPr>
            <p:ph idx="1"/>
          </p:nvPr>
        </p:nvSpPr>
        <p:spPr/>
        <p:txBody>
          <a:bodyPr>
            <a:normAutofit/>
          </a:bodyPr>
          <a:lstStyle/>
          <a:p>
            <a:pPr algn="just"/>
            <a:r>
              <a:rPr lang="en-US" dirty="0">
                <a:effectLst/>
                <a:latin typeface="Arial" panose="020B0604020202020204" pitchFamily="34" charset="0"/>
                <a:ea typeface="Aptos" panose="020B0004020202020204" pitchFamily="34" charset="0"/>
              </a:rPr>
              <a:t>To understand the «Lumped Parameter Hypothesis» better, imagine a sound wave. </a:t>
            </a:r>
            <a:endParaRPr lang="ru-RU" dirty="0">
              <a:effectLst/>
              <a:latin typeface="Arial" panose="020B0604020202020204" pitchFamily="34" charset="0"/>
              <a:ea typeface="Aptos" panose="020B0004020202020204" pitchFamily="34" charset="0"/>
            </a:endParaRPr>
          </a:p>
        </p:txBody>
      </p:sp>
      <p:grpSp>
        <p:nvGrpSpPr>
          <p:cNvPr id="4" name="Группа 3">
            <a:extLst>
              <a:ext uri="{FF2B5EF4-FFF2-40B4-BE49-F238E27FC236}">
                <a16:creationId xmlns:a16="http://schemas.microsoft.com/office/drawing/2014/main" id="{882AECB5-794C-1E33-2B51-8F7B46695F10}"/>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87BF0D76-F19C-0EC3-1F72-94B1919358A4}"/>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D45F4A32-E577-A286-E61F-35D7D3F1D9ED}"/>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Fundamentals of Circuit Modeling</a:t>
              </a:r>
              <a:br>
                <a:rPr lang="en-US" sz="4000" cap="all" dirty="0">
                  <a:solidFill>
                    <a:schemeClr val="bg1"/>
                  </a:solidFill>
                  <a:latin typeface="Arial" panose="020B0604020202020204" pitchFamily="34" charset="0"/>
                  <a:cs typeface="Arial" panose="020B0604020202020204" pitchFamily="34" charset="0"/>
                </a:rPr>
              </a:br>
              <a:r>
                <a:rPr lang="en-US" sz="4000" cap="all" dirty="0">
                  <a:solidFill>
                    <a:schemeClr val="bg1"/>
                  </a:solidFill>
                  <a:latin typeface="Arial" panose="020B0604020202020204" pitchFamily="34" charset="0"/>
                  <a:cs typeface="Arial" panose="020B0604020202020204" pitchFamily="34" charset="0"/>
                </a:rPr>
                <a:t>and Basic Laws</a:t>
              </a:r>
              <a:endParaRPr lang="ru-RU" sz="4000" dirty="0"/>
            </a:p>
          </p:txBody>
        </p:sp>
      </p:grpSp>
      <p:pic>
        <p:nvPicPr>
          <p:cNvPr id="13" name="Рисунок 12">
            <a:extLst>
              <a:ext uri="{FF2B5EF4-FFF2-40B4-BE49-F238E27FC236}">
                <a16:creationId xmlns:a16="http://schemas.microsoft.com/office/drawing/2014/main" id="{433A52D8-8EAD-56ED-D29F-F139CEDDB396}"/>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384234" y="3033953"/>
            <a:ext cx="7423532" cy="2984653"/>
          </a:xfrm>
          <a:prstGeom prst="rect">
            <a:avLst/>
          </a:prstGeom>
        </p:spPr>
      </p:pic>
    </p:spTree>
    <p:extLst>
      <p:ext uri="{BB962C8B-B14F-4D97-AF65-F5344CB8AC3E}">
        <p14:creationId xmlns:p14="http://schemas.microsoft.com/office/powerpoint/2010/main" val="25864504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0461613-2ACC-C68B-06B3-BFE35799DAFB}"/>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Fundamentals of Circuit Modeling</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and Basic Laws</a:t>
            </a:r>
            <a:endParaRPr lang="ru-RU" dirty="0">
              <a:latin typeface="Arial" panose="020B0604020202020204" pitchFamily="34" charset="0"/>
              <a:cs typeface="Arial" panose="020B0604020202020204" pitchFamily="34" charset="0"/>
            </a:endParaRPr>
          </a:p>
        </p:txBody>
      </p:sp>
      <p:sp>
        <p:nvSpPr>
          <p:cNvPr id="3" name="Объект 2">
            <a:extLst>
              <a:ext uri="{FF2B5EF4-FFF2-40B4-BE49-F238E27FC236}">
                <a16:creationId xmlns:a16="http://schemas.microsoft.com/office/drawing/2014/main" id="{38B32713-8DC8-A19D-A317-628052EECCD1}"/>
              </a:ext>
            </a:extLst>
          </p:cNvPr>
          <p:cNvSpPr>
            <a:spLocks noGrp="1"/>
          </p:cNvSpPr>
          <p:nvPr>
            <p:ph idx="1"/>
          </p:nvPr>
        </p:nvSpPr>
        <p:spPr/>
        <p:txBody>
          <a:bodyPr>
            <a:normAutofit/>
          </a:bodyPr>
          <a:lstStyle/>
          <a:p>
            <a:pPr algn="just"/>
            <a:r>
              <a:rPr lang="en-US" dirty="0">
                <a:effectLst/>
                <a:latin typeface="Arial" panose="020B0604020202020204" pitchFamily="34" charset="0"/>
                <a:ea typeface="Aptos" panose="020B0004020202020204" pitchFamily="34" charset="0"/>
              </a:rPr>
              <a:t>If you speak to someone across a large stadium, there is a delay. </a:t>
            </a:r>
            <a:endParaRPr lang="ru-RU" dirty="0">
              <a:effectLst/>
              <a:latin typeface="Arial" panose="020B0604020202020204" pitchFamily="34" charset="0"/>
              <a:ea typeface="Aptos" panose="020B0004020202020204" pitchFamily="34" charset="0"/>
            </a:endParaRPr>
          </a:p>
        </p:txBody>
      </p:sp>
      <p:grpSp>
        <p:nvGrpSpPr>
          <p:cNvPr id="4" name="Группа 3">
            <a:extLst>
              <a:ext uri="{FF2B5EF4-FFF2-40B4-BE49-F238E27FC236}">
                <a16:creationId xmlns:a16="http://schemas.microsoft.com/office/drawing/2014/main" id="{882AECB5-794C-1E33-2B51-8F7B46695F10}"/>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87BF0D76-F19C-0EC3-1F72-94B1919358A4}"/>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D45F4A32-E577-A286-E61F-35D7D3F1D9ED}"/>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Fundamentals of Circuit Modeling</a:t>
              </a:r>
              <a:br>
                <a:rPr lang="en-US" sz="4000" cap="all" dirty="0">
                  <a:solidFill>
                    <a:schemeClr val="bg1"/>
                  </a:solidFill>
                  <a:latin typeface="Arial" panose="020B0604020202020204" pitchFamily="34" charset="0"/>
                  <a:cs typeface="Arial" panose="020B0604020202020204" pitchFamily="34" charset="0"/>
                </a:rPr>
              </a:br>
              <a:r>
                <a:rPr lang="en-US" sz="4000" cap="all" dirty="0">
                  <a:solidFill>
                    <a:schemeClr val="bg1"/>
                  </a:solidFill>
                  <a:latin typeface="Arial" panose="020B0604020202020204" pitchFamily="34" charset="0"/>
                  <a:cs typeface="Arial" panose="020B0604020202020204" pitchFamily="34" charset="0"/>
                </a:rPr>
                <a:t>and Basic Laws</a:t>
              </a:r>
              <a:endParaRPr lang="ru-RU" sz="4000" dirty="0"/>
            </a:p>
          </p:txBody>
        </p:sp>
      </p:grpSp>
      <p:pic>
        <p:nvPicPr>
          <p:cNvPr id="8" name="Рисунок 7" descr="Изображение выглядит как текст, мультфильм, снимок экрана, человек&#10;&#10;Контент, сгенерированный ИИ, может содержать ошибки.">
            <a:extLst>
              <a:ext uri="{FF2B5EF4-FFF2-40B4-BE49-F238E27FC236}">
                <a16:creationId xmlns:a16="http://schemas.microsoft.com/office/drawing/2014/main" id="{2726E77B-B222-E4A6-2881-58651D6DE587}"/>
              </a:ext>
            </a:extLst>
          </p:cNvPr>
          <p:cNvPicPr>
            <a:picLocks noChangeAspect="1"/>
          </p:cNvPicPr>
          <p:nvPr/>
        </p:nvPicPr>
        <p:blipFill>
          <a:blip r:embed="rId2" cstate="email">
            <a:extLst>
              <a:ext uri="{28A0092B-C50C-407E-A947-70E740481C1C}">
                <a14:useLocalDpi xmlns:a14="http://schemas.microsoft.com/office/drawing/2010/main"/>
              </a:ext>
            </a:extLst>
          </a:blip>
          <a:srcRect/>
          <a:stretch/>
        </p:blipFill>
        <p:spPr>
          <a:xfrm>
            <a:off x="2621280" y="2716212"/>
            <a:ext cx="6949440" cy="3776663"/>
          </a:xfrm>
          <a:prstGeom prst="rect">
            <a:avLst/>
          </a:prstGeom>
        </p:spPr>
      </p:pic>
    </p:spTree>
    <p:extLst>
      <p:ext uri="{BB962C8B-B14F-4D97-AF65-F5344CB8AC3E}">
        <p14:creationId xmlns:p14="http://schemas.microsoft.com/office/powerpoint/2010/main" val="620527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0461613-2ACC-C68B-06B3-BFE35799DAFB}"/>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Fundamentals of Circuit Modeling</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and Basic Laws</a:t>
            </a:r>
            <a:endParaRPr lang="ru-RU" dirty="0">
              <a:latin typeface="Arial" panose="020B0604020202020204" pitchFamily="34" charset="0"/>
              <a:cs typeface="Arial" panose="020B0604020202020204" pitchFamily="34" charset="0"/>
            </a:endParaRPr>
          </a:p>
        </p:txBody>
      </p:sp>
      <p:sp>
        <p:nvSpPr>
          <p:cNvPr id="3" name="Объект 2">
            <a:extLst>
              <a:ext uri="{FF2B5EF4-FFF2-40B4-BE49-F238E27FC236}">
                <a16:creationId xmlns:a16="http://schemas.microsoft.com/office/drawing/2014/main" id="{38B32713-8DC8-A19D-A317-628052EECCD1}"/>
              </a:ext>
            </a:extLst>
          </p:cNvPr>
          <p:cNvSpPr>
            <a:spLocks noGrp="1"/>
          </p:cNvSpPr>
          <p:nvPr>
            <p:ph idx="1"/>
          </p:nvPr>
        </p:nvSpPr>
        <p:spPr/>
        <p:txBody>
          <a:bodyPr>
            <a:normAutofit/>
          </a:bodyPr>
          <a:lstStyle/>
          <a:p>
            <a:pPr algn="just"/>
            <a:r>
              <a:rPr lang="en-US" dirty="0">
                <a:effectLst/>
                <a:latin typeface="Arial" panose="020B0604020202020204" pitchFamily="34" charset="0"/>
                <a:ea typeface="Aptos" panose="020B0004020202020204" pitchFamily="34" charset="0"/>
              </a:rPr>
              <a:t>But if you speak to someone right next to you, the sound seems instant. </a:t>
            </a:r>
            <a:endParaRPr lang="ru-RU" dirty="0">
              <a:effectLst/>
              <a:latin typeface="Arial" panose="020B0604020202020204" pitchFamily="34" charset="0"/>
              <a:ea typeface="Aptos" panose="020B0004020202020204" pitchFamily="34" charset="0"/>
            </a:endParaRPr>
          </a:p>
        </p:txBody>
      </p:sp>
      <p:grpSp>
        <p:nvGrpSpPr>
          <p:cNvPr id="4" name="Группа 3">
            <a:extLst>
              <a:ext uri="{FF2B5EF4-FFF2-40B4-BE49-F238E27FC236}">
                <a16:creationId xmlns:a16="http://schemas.microsoft.com/office/drawing/2014/main" id="{882AECB5-794C-1E33-2B51-8F7B46695F10}"/>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87BF0D76-F19C-0EC3-1F72-94B1919358A4}"/>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D45F4A32-E577-A286-E61F-35D7D3F1D9ED}"/>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Fundamentals of Circuit Modeling</a:t>
              </a:r>
              <a:br>
                <a:rPr lang="en-US" sz="4000" cap="all" dirty="0">
                  <a:solidFill>
                    <a:schemeClr val="bg1"/>
                  </a:solidFill>
                  <a:latin typeface="Arial" panose="020B0604020202020204" pitchFamily="34" charset="0"/>
                  <a:cs typeface="Arial" panose="020B0604020202020204" pitchFamily="34" charset="0"/>
                </a:rPr>
              </a:br>
              <a:r>
                <a:rPr lang="en-US" sz="4000" cap="all" dirty="0">
                  <a:solidFill>
                    <a:schemeClr val="bg1"/>
                  </a:solidFill>
                  <a:latin typeface="Arial" panose="020B0604020202020204" pitchFamily="34" charset="0"/>
                  <a:cs typeface="Arial" panose="020B0604020202020204" pitchFamily="34" charset="0"/>
                </a:rPr>
                <a:t>and Basic Laws</a:t>
              </a:r>
              <a:endParaRPr lang="ru-RU" sz="4000" dirty="0"/>
            </a:p>
          </p:txBody>
        </p:sp>
      </p:grpSp>
      <p:pic>
        <p:nvPicPr>
          <p:cNvPr id="7" name="Рисунок 6" descr="Изображение выглядит как текст, мультфильм, снимок экрана, человек&#10;&#10;Контент, сгенерированный ИИ, может содержать ошибки.">
            <a:extLst>
              <a:ext uri="{FF2B5EF4-FFF2-40B4-BE49-F238E27FC236}">
                <a16:creationId xmlns:a16="http://schemas.microsoft.com/office/drawing/2014/main" id="{7E5601D8-E536-3209-4BA7-C6AF6BED8659}"/>
              </a:ext>
            </a:extLst>
          </p:cNvPr>
          <p:cNvPicPr>
            <a:picLocks noChangeAspect="1"/>
          </p:cNvPicPr>
          <p:nvPr/>
        </p:nvPicPr>
        <p:blipFill>
          <a:blip r:embed="rId2" cstate="email">
            <a:extLst>
              <a:ext uri="{28A0092B-C50C-407E-A947-70E740481C1C}">
                <a14:useLocalDpi xmlns:a14="http://schemas.microsoft.com/office/drawing/2010/main"/>
              </a:ext>
            </a:extLst>
          </a:blip>
          <a:srcRect/>
          <a:stretch/>
        </p:blipFill>
        <p:spPr>
          <a:xfrm>
            <a:off x="3482340" y="2899092"/>
            <a:ext cx="5227320" cy="3776663"/>
          </a:xfrm>
          <a:prstGeom prst="rect">
            <a:avLst/>
          </a:prstGeom>
        </p:spPr>
      </p:pic>
    </p:spTree>
    <p:extLst>
      <p:ext uri="{BB962C8B-B14F-4D97-AF65-F5344CB8AC3E}">
        <p14:creationId xmlns:p14="http://schemas.microsoft.com/office/powerpoint/2010/main" val="27239300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0461613-2ACC-C68B-06B3-BFE35799DAFB}"/>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Fundamentals of Circuit Modeling</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and Basic Laws</a:t>
            </a:r>
            <a:endParaRPr lang="ru-RU" dirty="0">
              <a:latin typeface="Arial" panose="020B0604020202020204" pitchFamily="34" charset="0"/>
              <a:cs typeface="Arial" panose="020B0604020202020204" pitchFamily="34" charset="0"/>
            </a:endParaRPr>
          </a:p>
        </p:txBody>
      </p:sp>
      <p:sp>
        <p:nvSpPr>
          <p:cNvPr id="3" name="Объект 2">
            <a:extLst>
              <a:ext uri="{FF2B5EF4-FFF2-40B4-BE49-F238E27FC236}">
                <a16:creationId xmlns:a16="http://schemas.microsoft.com/office/drawing/2014/main" id="{38B32713-8DC8-A19D-A317-628052EECCD1}"/>
              </a:ext>
            </a:extLst>
          </p:cNvPr>
          <p:cNvSpPr>
            <a:spLocks noGrp="1"/>
          </p:cNvSpPr>
          <p:nvPr>
            <p:ph idx="1"/>
          </p:nvPr>
        </p:nvSpPr>
        <p:spPr/>
        <p:txBody>
          <a:bodyPr>
            <a:normAutofit/>
          </a:bodyPr>
          <a:lstStyle/>
          <a:p>
            <a:pPr algn="just"/>
            <a:r>
              <a:rPr lang="en-US" dirty="0">
                <a:effectLst/>
                <a:latin typeface="Arial" panose="020B0604020202020204" pitchFamily="34" charset="0"/>
                <a:ea typeface="Aptos" panose="020B0004020202020204" pitchFamily="34" charset="0"/>
              </a:rPr>
              <a:t>Circuits are similar. If the circuit is small or signals travel fast, we simplify by treating components as </a:t>
            </a:r>
            <a:r>
              <a:rPr lang="ru-RU" dirty="0">
                <a:effectLst/>
                <a:latin typeface="Arial" panose="020B0604020202020204" pitchFamily="34" charset="0"/>
                <a:ea typeface="Aptos" panose="020B0004020202020204" pitchFamily="34" charset="0"/>
              </a:rPr>
              <a:t>«</a:t>
            </a:r>
            <a:r>
              <a:rPr lang="en-US" dirty="0">
                <a:effectLst/>
                <a:latin typeface="Arial" panose="020B0604020202020204" pitchFamily="34" charset="0"/>
                <a:ea typeface="Aptos" panose="020B0004020202020204" pitchFamily="34" charset="0"/>
              </a:rPr>
              <a:t>lumped</a:t>
            </a:r>
            <a:r>
              <a:rPr lang="ru-RU" dirty="0">
                <a:effectLst/>
                <a:latin typeface="Arial" panose="020B0604020202020204" pitchFamily="34" charset="0"/>
                <a:ea typeface="Aptos" panose="020B0004020202020204" pitchFamily="34" charset="0"/>
              </a:rPr>
              <a:t>»</a:t>
            </a:r>
            <a:r>
              <a:rPr lang="en-US" dirty="0">
                <a:effectLst/>
                <a:latin typeface="Arial" panose="020B0604020202020204" pitchFamily="34" charset="0"/>
                <a:ea typeface="Aptos" panose="020B0004020202020204" pitchFamily="34" charset="0"/>
              </a:rPr>
              <a:t> together, ignoring travel time, just like speaking close up.</a:t>
            </a:r>
            <a:endParaRPr lang="ru-RU" dirty="0">
              <a:effectLst/>
              <a:latin typeface="Arial" panose="020B0604020202020204" pitchFamily="34" charset="0"/>
              <a:ea typeface="Aptos" panose="020B0004020202020204" pitchFamily="34" charset="0"/>
            </a:endParaRPr>
          </a:p>
        </p:txBody>
      </p:sp>
      <p:grpSp>
        <p:nvGrpSpPr>
          <p:cNvPr id="4" name="Группа 3">
            <a:extLst>
              <a:ext uri="{FF2B5EF4-FFF2-40B4-BE49-F238E27FC236}">
                <a16:creationId xmlns:a16="http://schemas.microsoft.com/office/drawing/2014/main" id="{882AECB5-794C-1E33-2B51-8F7B46695F10}"/>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87BF0D76-F19C-0EC3-1F72-94B1919358A4}"/>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D45F4A32-E577-A286-E61F-35D7D3F1D9ED}"/>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Fundamentals of Circuit Modeling</a:t>
              </a:r>
              <a:br>
                <a:rPr lang="en-US" sz="4000" cap="all" dirty="0">
                  <a:solidFill>
                    <a:schemeClr val="bg1"/>
                  </a:solidFill>
                  <a:latin typeface="Arial" panose="020B0604020202020204" pitchFamily="34" charset="0"/>
                  <a:cs typeface="Arial" panose="020B0604020202020204" pitchFamily="34" charset="0"/>
                </a:rPr>
              </a:br>
              <a:r>
                <a:rPr lang="en-US" sz="4000" cap="all" dirty="0">
                  <a:solidFill>
                    <a:schemeClr val="bg1"/>
                  </a:solidFill>
                  <a:latin typeface="Arial" panose="020B0604020202020204" pitchFamily="34" charset="0"/>
                  <a:cs typeface="Arial" panose="020B0604020202020204" pitchFamily="34" charset="0"/>
                </a:rPr>
                <a:t>and Basic Laws</a:t>
              </a:r>
              <a:endParaRPr lang="ru-RU" sz="4000" dirty="0"/>
            </a:p>
          </p:txBody>
        </p:sp>
      </p:grpSp>
      <p:pic>
        <p:nvPicPr>
          <p:cNvPr id="7" name="Рисунок 6" descr="Изображение выглядит как текст, мультфильм, снимок экрана, человек&#10;&#10;Контент, сгенерированный ИИ, может содержать ошибки.">
            <a:extLst>
              <a:ext uri="{FF2B5EF4-FFF2-40B4-BE49-F238E27FC236}">
                <a16:creationId xmlns:a16="http://schemas.microsoft.com/office/drawing/2014/main" id="{7E5601D8-E536-3209-4BA7-C6AF6BED8659}"/>
              </a:ext>
            </a:extLst>
          </p:cNvPr>
          <p:cNvPicPr>
            <a:picLocks noChangeAspect="1"/>
          </p:cNvPicPr>
          <p:nvPr/>
        </p:nvPicPr>
        <p:blipFill>
          <a:blip r:embed="rId2" cstate="email">
            <a:extLst>
              <a:ext uri="{28A0092B-C50C-407E-A947-70E740481C1C}">
                <a14:useLocalDpi xmlns:a14="http://schemas.microsoft.com/office/drawing/2010/main"/>
              </a:ext>
            </a:extLst>
          </a:blip>
          <a:srcRect/>
          <a:stretch/>
        </p:blipFill>
        <p:spPr>
          <a:xfrm>
            <a:off x="0" y="3429000"/>
            <a:ext cx="12070080" cy="1543050"/>
          </a:xfrm>
          <a:prstGeom prst="rect">
            <a:avLst/>
          </a:prstGeom>
        </p:spPr>
      </p:pic>
    </p:spTree>
    <p:extLst>
      <p:ext uri="{BB962C8B-B14F-4D97-AF65-F5344CB8AC3E}">
        <p14:creationId xmlns:p14="http://schemas.microsoft.com/office/powerpoint/2010/main" val="18848248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0461613-2ACC-C68B-06B3-BFE35799DAFB}"/>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Fundamentals of Circuit Modeling</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and Basic Laws</a:t>
            </a:r>
            <a:endParaRPr lang="ru-RU" dirty="0">
              <a:latin typeface="Arial" panose="020B0604020202020204" pitchFamily="34" charset="0"/>
              <a:cs typeface="Arial" panose="020B0604020202020204" pitchFamily="34" charset="0"/>
            </a:endParaRPr>
          </a:p>
        </p:txBody>
      </p:sp>
      <p:sp>
        <p:nvSpPr>
          <p:cNvPr id="3" name="Объект 2">
            <a:extLst>
              <a:ext uri="{FF2B5EF4-FFF2-40B4-BE49-F238E27FC236}">
                <a16:creationId xmlns:a16="http://schemas.microsoft.com/office/drawing/2014/main" id="{38B32713-8DC8-A19D-A317-628052EECCD1}"/>
              </a:ext>
            </a:extLst>
          </p:cNvPr>
          <p:cNvSpPr>
            <a:spLocks noGrp="1"/>
          </p:cNvSpPr>
          <p:nvPr>
            <p:ph idx="1"/>
          </p:nvPr>
        </p:nvSpPr>
        <p:spPr/>
        <p:txBody>
          <a:bodyPr>
            <a:normAutofit/>
          </a:bodyPr>
          <a:lstStyle/>
          <a:p>
            <a:pPr algn="just"/>
            <a:r>
              <a:rPr lang="en-US" b="1" dirty="0">
                <a:effectLst/>
                <a:latin typeface="Arial" panose="020B0604020202020204" pitchFamily="34" charset="0"/>
                <a:ea typeface="Aptos" panose="020B0004020202020204" pitchFamily="34" charset="0"/>
              </a:rPr>
              <a:t>If the physical size of the circuit is small compared to the wavelength of the electromagnetic signal, we can treat the circuit as «lumped». </a:t>
            </a:r>
          </a:p>
        </p:txBody>
      </p:sp>
      <p:grpSp>
        <p:nvGrpSpPr>
          <p:cNvPr id="4" name="Группа 3">
            <a:extLst>
              <a:ext uri="{FF2B5EF4-FFF2-40B4-BE49-F238E27FC236}">
                <a16:creationId xmlns:a16="http://schemas.microsoft.com/office/drawing/2014/main" id="{183787E0-445C-30EC-0265-0800EA3619A5}"/>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A05A07ED-CA54-E77D-2E20-D003F79A245E}"/>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1730FC4D-C5D3-7561-BBC9-F1DDD9E0622A}"/>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Fundamentals of Circuit Modeling</a:t>
              </a:r>
              <a:br>
                <a:rPr lang="en-US" sz="4000" cap="all" dirty="0">
                  <a:solidFill>
                    <a:schemeClr val="bg1"/>
                  </a:solidFill>
                  <a:latin typeface="Arial" panose="020B0604020202020204" pitchFamily="34" charset="0"/>
                  <a:cs typeface="Arial" panose="020B0604020202020204" pitchFamily="34" charset="0"/>
                </a:rPr>
              </a:br>
              <a:r>
                <a:rPr lang="en-US" sz="4000" cap="all" dirty="0">
                  <a:solidFill>
                    <a:schemeClr val="bg1"/>
                  </a:solidFill>
                  <a:latin typeface="Arial" panose="020B0604020202020204" pitchFamily="34" charset="0"/>
                  <a:cs typeface="Arial" panose="020B0604020202020204" pitchFamily="34" charset="0"/>
                </a:rPr>
                <a:t>and Basic Laws</a:t>
              </a:r>
              <a:endParaRPr lang="ru-RU" sz="4000" dirty="0"/>
            </a:p>
          </p:txBody>
        </p:sp>
      </p:grpSp>
      <p:grpSp>
        <p:nvGrpSpPr>
          <p:cNvPr id="11" name="Группа 10">
            <a:extLst>
              <a:ext uri="{FF2B5EF4-FFF2-40B4-BE49-F238E27FC236}">
                <a16:creationId xmlns:a16="http://schemas.microsoft.com/office/drawing/2014/main" id="{A4BDE7AE-96EB-9A30-602E-5972E3400CFF}"/>
              </a:ext>
            </a:extLst>
          </p:cNvPr>
          <p:cNvGrpSpPr/>
          <p:nvPr/>
        </p:nvGrpSpPr>
        <p:grpSpPr>
          <a:xfrm>
            <a:off x="2162174" y="3132944"/>
            <a:ext cx="7867651" cy="3725056"/>
            <a:chOff x="2398424" y="3147934"/>
            <a:chExt cx="8421711" cy="3987384"/>
          </a:xfrm>
        </p:grpSpPr>
        <p:pic>
          <p:nvPicPr>
            <p:cNvPr id="12" name="Рисунок 11">
              <a:extLst>
                <a:ext uri="{FF2B5EF4-FFF2-40B4-BE49-F238E27FC236}">
                  <a16:creationId xmlns:a16="http://schemas.microsoft.com/office/drawing/2014/main" id="{E51CDBD5-131B-D9AB-55C4-B994BC7981B6}"/>
                </a:ext>
              </a:extLst>
            </p:cNvPr>
            <p:cNvPicPr>
              <a:picLocks noChangeAspect="1"/>
            </p:cNvPicPr>
            <p:nvPr/>
          </p:nvPicPr>
          <p:blipFill>
            <a:blip r:embed="rId2" cstate="email">
              <a:extLst>
                <a:ext uri="{28A0092B-C50C-407E-A947-70E740481C1C}">
                  <a14:useLocalDpi xmlns:a14="http://schemas.microsoft.com/office/drawing/2010/main"/>
                </a:ext>
              </a:extLst>
            </a:blip>
            <a:srcRect/>
            <a:stretch/>
          </p:blipFill>
          <p:spPr>
            <a:xfrm>
              <a:off x="2398424" y="3684960"/>
              <a:ext cx="8421711" cy="3450358"/>
            </a:xfrm>
            <a:prstGeom prst="rect">
              <a:avLst/>
            </a:prstGeom>
          </p:spPr>
        </p:pic>
        <p:pic>
          <p:nvPicPr>
            <p:cNvPr id="13" name="Рисунок 12">
              <a:extLst>
                <a:ext uri="{FF2B5EF4-FFF2-40B4-BE49-F238E27FC236}">
                  <a16:creationId xmlns:a16="http://schemas.microsoft.com/office/drawing/2014/main" id="{AA18464F-4C1A-ACD8-F27D-93C6D1DA34AB}"/>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582172" y="3147934"/>
              <a:ext cx="5657495" cy="2009027"/>
            </a:xfrm>
            <a:prstGeom prst="rect">
              <a:avLst/>
            </a:prstGeom>
          </p:spPr>
        </p:pic>
      </p:grpSp>
    </p:spTree>
    <p:extLst>
      <p:ext uri="{BB962C8B-B14F-4D97-AF65-F5344CB8AC3E}">
        <p14:creationId xmlns:p14="http://schemas.microsoft.com/office/powerpoint/2010/main" val="42555708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A3D57-26A9-E657-705A-4A94959A1299}"/>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1F8AB9DE-1053-8325-BDF9-08DEA0DFD18F}"/>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Fundamentals of Circuit Modeling</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and Basic Laws</a:t>
            </a:r>
            <a:endParaRPr lang="ru-RU" dirty="0">
              <a:latin typeface="Arial" panose="020B0604020202020204" pitchFamily="34" charset="0"/>
              <a:cs typeface="Arial" panose="020B0604020202020204" pitchFamily="34" charset="0"/>
            </a:endParaRPr>
          </a:p>
        </p:txBody>
      </p:sp>
      <p:sp>
        <p:nvSpPr>
          <p:cNvPr id="3" name="Объект 2">
            <a:extLst>
              <a:ext uri="{FF2B5EF4-FFF2-40B4-BE49-F238E27FC236}">
                <a16:creationId xmlns:a16="http://schemas.microsoft.com/office/drawing/2014/main" id="{B699CDB5-E8A1-64A1-40E2-4F7F6F82FB60}"/>
              </a:ext>
            </a:extLst>
          </p:cNvPr>
          <p:cNvSpPr>
            <a:spLocks noGrp="1"/>
          </p:cNvSpPr>
          <p:nvPr>
            <p:ph idx="1"/>
          </p:nvPr>
        </p:nvSpPr>
        <p:spPr/>
        <p:txBody>
          <a:bodyPr>
            <a:normAutofit/>
          </a:bodyPr>
          <a:lstStyle/>
          <a:p>
            <a:pPr algn="just"/>
            <a:r>
              <a:rPr lang="en-US" dirty="0">
                <a:effectLst/>
                <a:latin typeface="Arial" panose="020B0604020202020204" pitchFamily="34" charset="0"/>
                <a:ea typeface="Aptos" panose="020B0004020202020204" pitchFamily="34" charset="0"/>
              </a:rPr>
              <a:t>This means we assume the current entering a wire at one end arrives at the other end instantly. </a:t>
            </a:r>
          </a:p>
          <a:p>
            <a:pPr algn="just"/>
            <a:r>
              <a:rPr lang="en-US" dirty="0">
                <a:effectLst/>
                <a:latin typeface="Arial" panose="020B0604020202020204" pitchFamily="34" charset="0"/>
                <a:ea typeface="Aptos" panose="020B0004020202020204" pitchFamily="34" charset="0"/>
              </a:rPr>
              <a:t>For 50Hz or 60Hz power lines, the wavelength is thousands of kilometers. </a:t>
            </a:r>
          </a:p>
          <a:p>
            <a:pPr algn="just"/>
            <a:r>
              <a:rPr lang="en-US" dirty="0">
                <a:effectLst/>
                <a:latin typeface="Arial" panose="020B0604020202020204" pitchFamily="34" charset="0"/>
                <a:ea typeface="Aptos" panose="020B0004020202020204" pitchFamily="34" charset="0"/>
              </a:rPr>
              <a:t>So, even a house is a «small» point. But for high-speed computer chips working at Gigahertz frequencies, the wavelength is very short, and we might need to treat wires as «distributed» elements, like transmission lines.</a:t>
            </a:r>
            <a:endParaRPr lang="ru-RU" dirty="0">
              <a:effectLst/>
              <a:latin typeface="Arial" panose="020B0604020202020204" pitchFamily="34" charset="0"/>
              <a:ea typeface="Aptos" panose="020B0004020202020204" pitchFamily="34" charset="0"/>
            </a:endParaRPr>
          </a:p>
        </p:txBody>
      </p:sp>
      <p:grpSp>
        <p:nvGrpSpPr>
          <p:cNvPr id="4" name="Группа 3">
            <a:extLst>
              <a:ext uri="{FF2B5EF4-FFF2-40B4-BE49-F238E27FC236}">
                <a16:creationId xmlns:a16="http://schemas.microsoft.com/office/drawing/2014/main" id="{42A7A58E-464F-DF3D-88AA-382C67F7F21A}"/>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A81506F5-1A60-CC67-04C7-9F1CC5059F2D}"/>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3A6865FC-0329-C125-AE81-DDCD893821E0}"/>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Fundamentals of Circuit Modeling</a:t>
              </a:r>
              <a:br>
                <a:rPr lang="en-US" sz="4000" cap="all" dirty="0">
                  <a:solidFill>
                    <a:schemeClr val="bg1"/>
                  </a:solidFill>
                  <a:latin typeface="Arial" panose="020B0604020202020204" pitchFamily="34" charset="0"/>
                  <a:cs typeface="Arial" panose="020B0604020202020204" pitchFamily="34" charset="0"/>
                </a:rPr>
              </a:br>
              <a:r>
                <a:rPr lang="en-US" sz="4000" cap="all" dirty="0">
                  <a:solidFill>
                    <a:schemeClr val="bg1"/>
                  </a:solidFill>
                  <a:latin typeface="Arial" panose="020B0604020202020204" pitchFamily="34" charset="0"/>
                  <a:cs typeface="Arial" panose="020B0604020202020204" pitchFamily="34" charset="0"/>
                </a:rPr>
                <a:t>and Basic Laws</a:t>
              </a:r>
              <a:endParaRPr lang="ru-RU" sz="4000" dirty="0"/>
            </a:p>
          </p:txBody>
        </p:sp>
      </p:grpSp>
    </p:spTree>
    <p:extLst>
      <p:ext uri="{BB962C8B-B14F-4D97-AF65-F5344CB8AC3E}">
        <p14:creationId xmlns:p14="http://schemas.microsoft.com/office/powerpoint/2010/main" val="39200174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9DEA9F-80AF-9B2C-AB24-00C161912C27}"/>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97BCDB59-E030-173D-A318-A1DE47D9916A}"/>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Fundamentals of Circuit Modeling</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and Basic Laws</a:t>
            </a:r>
            <a:endParaRPr lang="ru-RU" dirty="0">
              <a:latin typeface="Arial" panose="020B0604020202020204" pitchFamily="34" charset="0"/>
              <a:cs typeface="Arial" panose="020B0604020202020204" pitchFamily="34" charset="0"/>
            </a:endParaRPr>
          </a:p>
        </p:txBody>
      </p:sp>
      <p:sp>
        <p:nvSpPr>
          <p:cNvPr id="3" name="Объект 2">
            <a:extLst>
              <a:ext uri="{FF2B5EF4-FFF2-40B4-BE49-F238E27FC236}">
                <a16:creationId xmlns:a16="http://schemas.microsoft.com/office/drawing/2014/main" id="{6FF928D7-B7F5-E36D-1569-030F1F64BD35}"/>
              </a:ext>
            </a:extLst>
          </p:cNvPr>
          <p:cNvSpPr>
            <a:spLocks noGrp="1"/>
          </p:cNvSpPr>
          <p:nvPr>
            <p:ph idx="1"/>
          </p:nvPr>
        </p:nvSpPr>
        <p:spPr/>
        <p:txBody>
          <a:bodyPr>
            <a:normAutofit/>
          </a:bodyPr>
          <a:lstStyle/>
          <a:p>
            <a:pPr algn="just"/>
            <a:r>
              <a:rPr lang="en-US" dirty="0">
                <a:effectLst/>
                <a:latin typeface="Arial" panose="020B0604020202020204" pitchFamily="34" charset="0"/>
                <a:ea typeface="Aptos" panose="020B0004020202020204" pitchFamily="34" charset="0"/>
              </a:rPr>
              <a:t>If frequency of signal is high enough to its wavelength be comparable with elements in circuit and lengths of wires in it there isn’t valid to use lumped parameter hypothesis.</a:t>
            </a:r>
          </a:p>
          <a:p>
            <a:pPr algn="just"/>
            <a:r>
              <a:rPr lang="en-US" dirty="0">
                <a:ea typeface="Aptos" panose="020B0004020202020204" pitchFamily="34" charset="0"/>
              </a:rPr>
              <a:t>In this case we need to use distributed analysis.</a:t>
            </a:r>
            <a:endParaRPr lang="en-US" dirty="0">
              <a:effectLst/>
              <a:latin typeface="Arial" panose="020B0604020202020204" pitchFamily="34" charset="0"/>
              <a:ea typeface="Aptos" panose="020B0004020202020204" pitchFamily="34" charset="0"/>
            </a:endParaRPr>
          </a:p>
        </p:txBody>
      </p:sp>
      <p:grpSp>
        <p:nvGrpSpPr>
          <p:cNvPr id="4" name="Группа 3">
            <a:extLst>
              <a:ext uri="{FF2B5EF4-FFF2-40B4-BE49-F238E27FC236}">
                <a16:creationId xmlns:a16="http://schemas.microsoft.com/office/drawing/2014/main" id="{430C691B-2A92-91B7-3BB0-395839E31CCE}"/>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91AAF306-A33B-F5C0-EEE8-C3BE2533FF9C}"/>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ACAFF243-198C-B92C-AF01-62245184D326}"/>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Fundamentals of Circuit Modeling</a:t>
              </a:r>
              <a:br>
                <a:rPr lang="en-US" sz="4000" cap="all" dirty="0">
                  <a:solidFill>
                    <a:schemeClr val="bg1"/>
                  </a:solidFill>
                  <a:latin typeface="Arial" panose="020B0604020202020204" pitchFamily="34" charset="0"/>
                  <a:cs typeface="Arial" panose="020B0604020202020204" pitchFamily="34" charset="0"/>
                </a:rPr>
              </a:br>
              <a:r>
                <a:rPr lang="en-US" sz="4000" cap="all" dirty="0">
                  <a:solidFill>
                    <a:schemeClr val="bg1"/>
                  </a:solidFill>
                  <a:latin typeface="Arial" panose="020B0604020202020204" pitchFamily="34" charset="0"/>
                  <a:cs typeface="Arial" panose="020B0604020202020204" pitchFamily="34" charset="0"/>
                </a:rPr>
                <a:t>and Basic Laws</a:t>
              </a:r>
              <a:endParaRPr lang="ru-RU" sz="4000" dirty="0"/>
            </a:p>
          </p:txBody>
        </p:sp>
      </p:grpSp>
      <p:pic>
        <p:nvPicPr>
          <p:cNvPr id="7" name="Рисунок 6">
            <a:extLst>
              <a:ext uri="{FF2B5EF4-FFF2-40B4-BE49-F238E27FC236}">
                <a16:creationId xmlns:a16="http://schemas.microsoft.com/office/drawing/2014/main" id="{CD2B2E1E-9A1F-71FA-1421-A9C3D3B11A83}"/>
              </a:ext>
            </a:extLst>
          </p:cNvPr>
          <p:cNvPicPr>
            <a:picLocks noChangeAspect="1"/>
          </p:cNvPicPr>
          <p:nvPr/>
        </p:nvPicPr>
        <p:blipFill>
          <a:blip r:embed="rId2"/>
          <a:stretch>
            <a:fillRect/>
          </a:stretch>
        </p:blipFill>
        <p:spPr>
          <a:xfrm>
            <a:off x="4008340" y="3695259"/>
            <a:ext cx="5134692" cy="3162741"/>
          </a:xfrm>
          <a:prstGeom prst="rect">
            <a:avLst/>
          </a:prstGeom>
        </p:spPr>
      </p:pic>
    </p:spTree>
    <p:extLst>
      <p:ext uri="{BB962C8B-B14F-4D97-AF65-F5344CB8AC3E}">
        <p14:creationId xmlns:p14="http://schemas.microsoft.com/office/powerpoint/2010/main" val="25954432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27B02A-5CE8-A416-D434-30C82917418B}"/>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1CEBEDB1-C1B0-6AEB-6ED9-0F973629DD9F}"/>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Fundamentals of Circuit Modeling</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and Basic Laws</a:t>
            </a:r>
            <a:endParaRPr lang="ru-RU" dirty="0">
              <a:latin typeface="Arial" panose="020B0604020202020204" pitchFamily="34" charset="0"/>
              <a:cs typeface="Arial" panose="020B0604020202020204" pitchFamily="34" charset="0"/>
            </a:endParaRPr>
          </a:p>
        </p:txBody>
      </p:sp>
      <p:sp>
        <p:nvSpPr>
          <p:cNvPr id="3" name="Объект 2">
            <a:extLst>
              <a:ext uri="{FF2B5EF4-FFF2-40B4-BE49-F238E27FC236}">
                <a16:creationId xmlns:a16="http://schemas.microsoft.com/office/drawing/2014/main" id="{D06C9F2D-CCF7-7B5A-80EE-56425A7022C2}"/>
              </a:ext>
            </a:extLst>
          </p:cNvPr>
          <p:cNvSpPr>
            <a:spLocks noGrp="1"/>
          </p:cNvSpPr>
          <p:nvPr>
            <p:ph idx="1"/>
          </p:nvPr>
        </p:nvSpPr>
        <p:spPr/>
        <p:txBody>
          <a:bodyPr>
            <a:normAutofit/>
          </a:bodyPr>
          <a:lstStyle/>
          <a:p>
            <a:pPr algn="just"/>
            <a:r>
              <a:rPr lang="en-US" b="1" dirty="0">
                <a:effectLst/>
                <a:latin typeface="Arial" panose="020B0604020202020204" pitchFamily="34" charset="0"/>
                <a:ea typeface="Aptos" panose="020B0004020202020204" pitchFamily="34" charset="0"/>
              </a:rPr>
              <a:t>In this course, we assume all circuits are lumped, meaning signals travel instantly across wires.</a:t>
            </a:r>
          </a:p>
          <a:p>
            <a:pPr algn="just"/>
            <a:r>
              <a:rPr lang="en-US" dirty="0">
                <a:effectLst/>
                <a:latin typeface="Arial" panose="020B0604020202020204" pitchFamily="34" charset="0"/>
                <a:ea typeface="Aptos" panose="020B0004020202020204" pitchFamily="34" charset="0"/>
              </a:rPr>
              <a:t>We proceed to the quantification of electrical phenomena. The most fundamental quantity in circuit analysis is electric charge.</a:t>
            </a:r>
          </a:p>
          <a:p>
            <a:pPr algn="just"/>
            <a:r>
              <a:rPr lang="en-US" dirty="0">
                <a:effectLst/>
                <a:latin typeface="Arial" panose="020B0604020202020204" pitchFamily="34" charset="0"/>
                <a:ea typeface="Aptos" panose="020B0004020202020204" pitchFamily="34" charset="0"/>
              </a:rPr>
              <a:t>However, in dynamic circuits, we are primarily interested in the flow of this charge. </a:t>
            </a:r>
            <a:endParaRPr lang="ru-RU" dirty="0">
              <a:effectLst/>
              <a:latin typeface="Arial" panose="020B0604020202020204" pitchFamily="34" charset="0"/>
              <a:ea typeface="Aptos" panose="020B0004020202020204" pitchFamily="34" charset="0"/>
            </a:endParaRPr>
          </a:p>
        </p:txBody>
      </p:sp>
      <p:grpSp>
        <p:nvGrpSpPr>
          <p:cNvPr id="4" name="Группа 3">
            <a:extLst>
              <a:ext uri="{FF2B5EF4-FFF2-40B4-BE49-F238E27FC236}">
                <a16:creationId xmlns:a16="http://schemas.microsoft.com/office/drawing/2014/main" id="{B738648B-D947-C946-9F42-0F1A7C3C57AC}"/>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2AEAC1A4-93D4-AA64-0DA8-C0686C8ABF75}"/>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F7054864-863D-DB3C-7859-97FE135674CD}"/>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Fundamentals of Circuit Modeling</a:t>
              </a:r>
              <a:br>
                <a:rPr lang="en-US" sz="4000" cap="all" dirty="0">
                  <a:solidFill>
                    <a:schemeClr val="bg1"/>
                  </a:solidFill>
                  <a:latin typeface="Arial" panose="020B0604020202020204" pitchFamily="34" charset="0"/>
                  <a:cs typeface="Arial" panose="020B0604020202020204" pitchFamily="34" charset="0"/>
                </a:rPr>
              </a:br>
              <a:r>
                <a:rPr lang="en-US" sz="4000" cap="all" dirty="0">
                  <a:solidFill>
                    <a:schemeClr val="bg1"/>
                  </a:solidFill>
                  <a:latin typeface="Arial" panose="020B0604020202020204" pitchFamily="34" charset="0"/>
                  <a:cs typeface="Arial" panose="020B0604020202020204" pitchFamily="34" charset="0"/>
                </a:rPr>
                <a:t>and Basic Laws</a:t>
              </a:r>
              <a:endParaRPr lang="ru-RU" sz="4000" dirty="0"/>
            </a:p>
          </p:txBody>
        </p:sp>
      </p:grpSp>
    </p:spTree>
    <p:extLst>
      <p:ext uri="{BB962C8B-B14F-4D97-AF65-F5344CB8AC3E}">
        <p14:creationId xmlns:p14="http://schemas.microsoft.com/office/powerpoint/2010/main" val="18140941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AB6A6B-168A-76DA-A600-CCB120CC8DD9}"/>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4A60C480-0F08-1E84-5715-75956CC09C35}"/>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Fundamentals of Circuit Modeling</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and Basic Laws</a:t>
            </a:r>
            <a:endParaRPr lang="ru-RU"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E2D75E53-EA8F-ABBB-8C3D-D41DD1DD383C}"/>
                  </a:ext>
                </a:extLst>
              </p:cNvPr>
              <p:cNvSpPr>
                <a:spLocks noGrp="1"/>
              </p:cNvSpPr>
              <p:nvPr>
                <p:ph idx="1"/>
              </p:nvPr>
            </p:nvSpPr>
            <p:spPr>
              <a:xfrm>
                <a:off x="838200" y="1825624"/>
                <a:ext cx="10515600" cy="4758055"/>
              </a:xfrm>
            </p:spPr>
            <p:txBody>
              <a:bodyPr>
                <a:normAutofit/>
              </a:bodyPr>
              <a:lstStyle/>
              <a:p>
                <a:pPr algn="just"/>
                <a:r>
                  <a:rPr lang="en-US" b="1" dirty="0">
                    <a:effectLst/>
                    <a:ea typeface="Aptos" panose="020B0004020202020204" pitchFamily="34" charset="0"/>
                    <a:cs typeface="Arial" panose="020B0604020202020204" pitchFamily="34" charset="0"/>
                  </a:rPr>
                  <a:t>Electric current is defined as the time rate of change, measured in amperes (A). </a:t>
                </a:r>
              </a:p>
              <a:p>
                <a:pPr algn="just"/>
                <a:r>
                  <a:rPr lang="en-US" dirty="0">
                    <a:effectLst/>
                    <a:ea typeface="Aptos" panose="020B0004020202020204" pitchFamily="34" charset="0"/>
                    <a:cs typeface="Arial" panose="020B0604020202020204" pitchFamily="34" charset="0"/>
                  </a:rPr>
                  <a:t>Mathematically, this is expressed as the derivative of charge with respect to time: </a:t>
                </a:r>
                <a14:m>
                  <m:oMath xmlns:m="http://schemas.openxmlformats.org/officeDocument/2006/math">
                    <m:r>
                      <a:rPr lang="en-US" i="1">
                        <a:effectLst/>
                        <a:latin typeface="Cambria Math" panose="02040503050406030204" pitchFamily="18" charset="0"/>
                        <a:ea typeface="Aptos" panose="020B0004020202020204" pitchFamily="34" charset="0"/>
                        <a:cs typeface="Arial" panose="020B0604020202020204" pitchFamily="34" charset="0"/>
                      </a:rPr>
                      <m:t>𝑖</m:t>
                    </m:r>
                    <m:r>
                      <a:rPr lang="en-US">
                        <a:effectLst/>
                        <a:latin typeface="Cambria Math" panose="02040503050406030204" pitchFamily="18" charset="0"/>
                        <a:ea typeface="Aptos" panose="020B0004020202020204" pitchFamily="34" charset="0"/>
                        <a:cs typeface="Arial" panose="020B0604020202020204" pitchFamily="34" charset="0"/>
                      </a:rPr>
                      <m:t>=</m:t>
                    </m:r>
                    <m:f>
                      <m:fPr>
                        <m:ctrlPr>
                          <a:rPr lang="ru-RU" i="1">
                            <a:effectLst/>
                            <a:latin typeface="Cambria Math" panose="02040503050406030204" pitchFamily="18" charset="0"/>
                            <a:cs typeface="Arial" panose="020B0604020202020204" pitchFamily="34" charset="0"/>
                          </a:rPr>
                        </m:ctrlPr>
                      </m:fPr>
                      <m:num>
                        <m:r>
                          <a:rPr lang="en-US" i="1">
                            <a:effectLst/>
                            <a:latin typeface="Cambria Math" panose="02040503050406030204" pitchFamily="18" charset="0"/>
                            <a:ea typeface="Aptos" panose="020B0004020202020204" pitchFamily="34" charset="0"/>
                            <a:cs typeface="Arial" panose="020B0604020202020204" pitchFamily="34" charset="0"/>
                          </a:rPr>
                          <m:t>𝑑𝑞</m:t>
                        </m:r>
                      </m:num>
                      <m:den>
                        <m:r>
                          <a:rPr lang="en-US" i="1">
                            <a:effectLst/>
                            <a:latin typeface="Cambria Math" panose="02040503050406030204" pitchFamily="18" charset="0"/>
                            <a:ea typeface="Aptos" panose="020B0004020202020204" pitchFamily="34" charset="0"/>
                            <a:cs typeface="Arial" panose="020B0604020202020204" pitchFamily="34" charset="0"/>
                          </a:rPr>
                          <m:t>𝑑𝑡</m:t>
                        </m:r>
                      </m:den>
                    </m:f>
                  </m:oMath>
                </a14:m>
                <a:r>
                  <a:rPr lang="en-US" dirty="0">
                    <a:effectLst/>
                    <a:ea typeface="Aptos" panose="020B0004020202020204" pitchFamily="34" charset="0"/>
                    <a:cs typeface="Arial" panose="020B0604020202020204" pitchFamily="34" charset="0"/>
                  </a:rPr>
                  <a:t>.</a:t>
                </a:r>
                <a:endParaRPr lang="en-US" b="1" dirty="0">
                  <a:effectLst/>
                  <a:ea typeface="Aptos" panose="020B0004020202020204" pitchFamily="34" charset="0"/>
                  <a:cs typeface="Arial" panose="020B0604020202020204" pitchFamily="34" charset="0"/>
                </a:endParaRPr>
              </a:p>
              <a:p>
                <a:pPr algn="just"/>
                <a:r>
                  <a:rPr lang="en-US" b="1" dirty="0">
                    <a:effectLst/>
                    <a:ea typeface="Aptos" panose="020B0004020202020204" pitchFamily="34" charset="0"/>
                    <a:cs typeface="Arial" panose="020B0604020202020204" pitchFamily="34" charset="0"/>
                  </a:rPr>
                  <a:t>A current of one ampere is equivalent to one coulomb of charge passing through a specific cross-section of a conductor in one second. </a:t>
                </a:r>
              </a:p>
              <a:p>
                <a:pPr algn="just"/>
                <a:r>
                  <a:rPr lang="en-US" dirty="0">
                    <a:effectLst/>
                    <a:ea typeface="Aptos" panose="020B0004020202020204" pitchFamily="34" charset="0"/>
                    <a:cs typeface="Arial" panose="020B0604020202020204" pitchFamily="34" charset="0"/>
                  </a:rPr>
                  <a:t>It is imperative to understand that while charge is the physical carrier, current is the variable we measure and calculate in the most engineering applications.</a:t>
                </a:r>
                <a:endParaRPr lang="ru-RU" dirty="0">
                  <a:effectLst/>
                  <a:ea typeface="Aptos" panose="020B0004020202020204" pitchFamily="34" charset="0"/>
                  <a:cs typeface="Arial" panose="020B0604020202020204" pitchFamily="34" charset="0"/>
                </a:endParaRPr>
              </a:p>
            </p:txBody>
          </p:sp>
        </mc:Choice>
        <mc:Fallback xmlns="">
          <p:sp>
            <p:nvSpPr>
              <p:cNvPr id="3" name="Объект 2">
                <a:extLst>
                  <a:ext uri="{FF2B5EF4-FFF2-40B4-BE49-F238E27FC236}">
                    <a16:creationId xmlns:a16="http://schemas.microsoft.com/office/drawing/2014/main" id="{E2D75E53-EA8F-ABBB-8C3D-D41DD1DD383C}"/>
                  </a:ext>
                </a:extLst>
              </p:cNvPr>
              <p:cNvSpPr>
                <a:spLocks noGrp="1" noRot="1" noChangeAspect="1" noMove="1" noResize="1" noEditPoints="1" noAdjustHandles="1" noChangeArrowheads="1" noChangeShapeType="1" noTextEdit="1"/>
              </p:cNvSpPr>
              <p:nvPr>
                <p:ph idx="1"/>
              </p:nvPr>
            </p:nvSpPr>
            <p:spPr>
              <a:xfrm>
                <a:off x="838200" y="1825624"/>
                <a:ext cx="10515600" cy="4758055"/>
              </a:xfrm>
              <a:blipFill>
                <a:blip r:embed="rId2"/>
                <a:stretch>
                  <a:fillRect l="-1043" t="-2177" r="-1159"/>
                </a:stretch>
              </a:blipFill>
            </p:spPr>
            <p:txBody>
              <a:bodyPr/>
              <a:lstStyle/>
              <a:p>
                <a:r>
                  <a:rPr lang="ru-RU">
                    <a:noFill/>
                  </a:rPr>
                  <a:t> </a:t>
                </a:r>
              </a:p>
            </p:txBody>
          </p:sp>
        </mc:Fallback>
      </mc:AlternateContent>
      <p:grpSp>
        <p:nvGrpSpPr>
          <p:cNvPr id="4" name="Группа 3">
            <a:extLst>
              <a:ext uri="{FF2B5EF4-FFF2-40B4-BE49-F238E27FC236}">
                <a16:creationId xmlns:a16="http://schemas.microsoft.com/office/drawing/2014/main" id="{309A913A-772D-2A88-3EAA-7DB26598CBE3}"/>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55AB9757-FD0C-7F47-650F-9E50854DCE73}"/>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2124D318-391E-DB54-CB63-6F55039110C6}"/>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Fundamentals of Circuit Modeling</a:t>
              </a:r>
              <a:br>
                <a:rPr lang="en-US" sz="4000" cap="all" dirty="0">
                  <a:solidFill>
                    <a:schemeClr val="bg1"/>
                  </a:solidFill>
                  <a:latin typeface="Arial" panose="020B0604020202020204" pitchFamily="34" charset="0"/>
                  <a:cs typeface="Arial" panose="020B0604020202020204" pitchFamily="34" charset="0"/>
                </a:rPr>
              </a:br>
              <a:r>
                <a:rPr lang="en-US" sz="4000" cap="all" dirty="0">
                  <a:solidFill>
                    <a:schemeClr val="bg1"/>
                  </a:solidFill>
                  <a:latin typeface="Arial" panose="020B0604020202020204" pitchFamily="34" charset="0"/>
                  <a:cs typeface="Arial" panose="020B0604020202020204" pitchFamily="34" charset="0"/>
                </a:rPr>
                <a:t>and Basic Laws</a:t>
              </a:r>
              <a:endParaRPr lang="ru-RU" sz="4000" dirty="0"/>
            </a:p>
          </p:txBody>
        </p:sp>
      </p:grpSp>
    </p:spTree>
    <p:extLst>
      <p:ext uri="{BB962C8B-B14F-4D97-AF65-F5344CB8AC3E}">
        <p14:creationId xmlns:p14="http://schemas.microsoft.com/office/powerpoint/2010/main" val="439760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F0219B-FDDD-C3DE-47A4-319B7339F120}"/>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3B6C9A5B-923A-F184-5522-AA5E69455C72}"/>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Fundamentals of Circuit Modeling</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and Basic Laws</a:t>
            </a:r>
            <a:endParaRPr lang="ru-RU" dirty="0">
              <a:latin typeface="Arial" panose="020B0604020202020204" pitchFamily="34" charset="0"/>
              <a:cs typeface="Arial" panose="020B0604020202020204" pitchFamily="34" charset="0"/>
            </a:endParaRPr>
          </a:p>
        </p:txBody>
      </p:sp>
      <p:pic>
        <p:nvPicPr>
          <p:cNvPr id="6" name="Объект 5" descr="Изображение выглядит как снимок экрана, Красочность, Графика&#10;&#10;Автоматически созданное описание">
            <a:extLst>
              <a:ext uri="{FF2B5EF4-FFF2-40B4-BE49-F238E27FC236}">
                <a16:creationId xmlns:a16="http://schemas.microsoft.com/office/drawing/2014/main" id="{FD191E31-CF09-0CF6-5116-974C79704DA0}"/>
              </a:ext>
            </a:extLst>
          </p:cNvPr>
          <p:cNvPicPr>
            <a:picLocks noGrp="1" noChangeAspect="1"/>
          </p:cNvPicPr>
          <p:nvPr>
            <p:ph idx="1"/>
          </p:nvPr>
        </p:nvPicPr>
        <p:blipFill>
          <a:blip r:embed="rId2" cstate="email">
            <a:extLst>
              <a:ext uri="{28A0092B-C50C-407E-A947-70E740481C1C}">
                <a14:useLocalDpi xmlns:a14="http://schemas.microsoft.com/office/drawing/2010/main"/>
              </a:ext>
            </a:extLst>
          </a:blip>
          <a:stretch>
            <a:fillRect/>
          </a:stretch>
        </p:blipFill>
        <p:spPr>
          <a:xfrm>
            <a:off x="838200" y="3171391"/>
            <a:ext cx="10515600" cy="3547224"/>
          </a:xfrm>
        </p:spPr>
      </p:pic>
      <p:grpSp>
        <p:nvGrpSpPr>
          <p:cNvPr id="3" name="Группа 2">
            <a:extLst>
              <a:ext uri="{FF2B5EF4-FFF2-40B4-BE49-F238E27FC236}">
                <a16:creationId xmlns:a16="http://schemas.microsoft.com/office/drawing/2014/main" id="{AFC5290F-0DB8-1308-149D-43DFB55C9395}"/>
              </a:ext>
            </a:extLst>
          </p:cNvPr>
          <p:cNvGrpSpPr/>
          <p:nvPr/>
        </p:nvGrpSpPr>
        <p:grpSpPr>
          <a:xfrm>
            <a:off x="0" y="0"/>
            <a:ext cx="12192000" cy="1690688"/>
            <a:chOff x="0" y="0"/>
            <a:chExt cx="12192000" cy="1690688"/>
          </a:xfrm>
        </p:grpSpPr>
        <p:sp>
          <p:nvSpPr>
            <p:cNvPr id="4" name="Прямоугольник 3">
              <a:extLst>
                <a:ext uri="{FF2B5EF4-FFF2-40B4-BE49-F238E27FC236}">
                  <a16:creationId xmlns:a16="http://schemas.microsoft.com/office/drawing/2014/main" id="{3B9BC0D0-FCB4-6543-F80A-A59A9921648B}"/>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 name="Прямоугольник: скругленные углы 4">
              <a:extLst>
                <a:ext uri="{FF2B5EF4-FFF2-40B4-BE49-F238E27FC236}">
                  <a16:creationId xmlns:a16="http://schemas.microsoft.com/office/drawing/2014/main" id="{C97B5CB0-5BB7-8137-BF76-CE983385D072}"/>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Fundamentals of Circuit Modeling</a:t>
              </a:r>
              <a:br>
                <a:rPr lang="en-US" sz="4000" cap="all" dirty="0">
                  <a:solidFill>
                    <a:schemeClr val="bg1"/>
                  </a:solidFill>
                  <a:latin typeface="Arial" panose="020B0604020202020204" pitchFamily="34" charset="0"/>
                  <a:cs typeface="Arial" panose="020B0604020202020204" pitchFamily="34" charset="0"/>
                </a:rPr>
              </a:br>
              <a:r>
                <a:rPr lang="en-US" sz="4000" cap="all" dirty="0">
                  <a:solidFill>
                    <a:schemeClr val="bg1"/>
                  </a:solidFill>
                  <a:latin typeface="Arial" panose="020B0604020202020204" pitchFamily="34" charset="0"/>
                  <a:cs typeface="Arial" panose="020B0604020202020204" pitchFamily="34" charset="0"/>
                </a:rPr>
                <a:t>and Basic Laws</a:t>
              </a:r>
              <a:endParaRPr lang="ru-RU" sz="4000" dirty="0"/>
            </a:p>
          </p:txBody>
        </p:sp>
      </p:grpSp>
      <p:sp>
        <p:nvSpPr>
          <p:cNvPr id="7" name="Объект 2">
            <a:extLst>
              <a:ext uri="{FF2B5EF4-FFF2-40B4-BE49-F238E27FC236}">
                <a16:creationId xmlns:a16="http://schemas.microsoft.com/office/drawing/2014/main" id="{E9AAEAED-3B83-76B2-A497-A660ACF9E2F1}"/>
              </a:ext>
            </a:extLst>
          </p:cNvPr>
          <p:cNvSpPr txBox="1">
            <a:spLocks/>
          </p:cNvSpPr>
          <p:nvPr/>
        </p:nvSpPr>
        <p:spPr>
          <a:xfrm>
            <a:off x="838200" y="1825624"/>
            <a:ext cx="10515600" cy="475805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dirty="0">
                <a:ea typeface="Aptos" panose="020B0004020202020204" pitchFamily="34" charset="0"/>
                <a:cs typeface="Arial" panose="020B0604020202020204" pitchFamily="34" charset="0"/>
              </a:rPr>
              <a:t>Here's a simple illustration of this phenomenon. </a:t>
            </a:r>
          </a:p>
          <a:p>
            <a:pPr algn="just"/>
            <a:r>
              <a:rPr lang="en-US" dirty="0">
                <a:ea typeface="Aptos" panose="020B0004020202020204" pitchFamily="34" charset="0"/>
                <a:cs typeface="Arial" panose="020B0604020202020204" pitchFamily="34" charset="0"/>
              </a:rPr>
              <a:t>Imagine that counter of the red electrons is the yellow line perpendicular to the blue wire.</a:t>
            </a:r>
            <a:endParaRPr lang="ru-RU" dirty="0">
              <a:ea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26114994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E573A3-2511-3037-7B23-556A62410532}"/>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35B47784-BCC2-BDD1-1B4B-22F3DCB1C626}"/>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Fundamentals of Circuit Modeling</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and Basic Laws</a:t>
            </a:r>
            <a:endParaRPr lang="ru-RU" dirty="0">
              <a:latin typeface="Arial" panose="020B0604020202020204" pitchFamily="34" charset="0"/>
              <a:cs typeface="Arial" panose="020B0604020202020204" pitchFamily="34" charset="0"/>
            </a:endParaRPr>
          </a:p>
        </p:txBody>
      </p:sp>
      <p:grpSp>
        <p:nvGrpSpPr>
          <p:cNvPr id="3" name="Группа 2">
            <a:extLst>
              <a:ext uri="{FF2B5EF4-FFF2-40B4-BE49-F238E27FC236}">
                <a16:creationId xmlns:a16="http://schemas.microsoft.com/office/drawing/2014/main" id="{2E119035-80EA-0EBC-9D2B-E3AE2940E50E}"/>
              </a:ext>
            </a:extLst>
          </p:cNvPr>
          <p:cNvGrpSpPr/>
          <p:nvPr/>
        </p:nvGrpSpPr>
        <p:grpSpPr>
          <a:xfrm>
            <a:off x="0" y="0"/>
            <a:ext cx="12192000" cy="1690688"/>
            <a:chOff x="0" y="0"/>
            <a:chExt cx="12192000" cy="1690688"/>
          </a:xfrm>
        </p:grpSpPr>
        <p:sp>
          <p:nvSpPr>
            <p:cNvPr id="4" name="Прямоугольник 3">
              <a:extLst>
                <a:ext uri="{FF2B5EF4-FFF2-40B4-BE49-F238E27FC236}">
                  <a16:creationId xmlns:a16="http://schemas.microsoft.com/office/drawing/2014/main" id="{CCA060EA-BC15-8991-F801-FB82AB287E3D}"/>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 name="Прямоугольник: скругленные углы 4">
              <a:extLst>
                <a:ext uri="{FF2B5EF4-FFF2-40B4-BE49-F238E27FC236}">
                  <a16:creationId xmlns:a16="http://schemas.microsoft.com/office/drawing/2014/main" id="{FF4C7051-08C2-8F07-9E34-45C8C65114A3}"/>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Fundamentals of Circuit Modeling</a:t>
              </a:r>
              <a:br>
                <a:rPr lang="en-US" sz="4000" cap="all" dirty="0">
                  <a:solidFill>
                    <a:schemeClr val="bg1"/>
                  </a:solidFill>
                  <a:latin typeface="Arial" panose="020B0604020202020204" pitchFamily="34" charset="0"/>
                  <a:cs typeface="Arial" panose="020B0604020202020204" pitchFamily="34" charset="0"/>
                </a:rPr>
              </a:br>
              <a:r>
                <a:rPr lang="en-US" sz="4000" cap="all" dirty="0">
                  <a:solidFill>
                    <a:schemeClr val="bg1"/>
                  </a:solidFill>
                  <a:latin typeface="Arial" panose="020B0604020202020204" pitchFamily="34" charset="0"/>
                  <a:cs typeface="Arial" panose="020B0604020202020204" pitchFamily="34" charset="0"/>
                </a:rPr>
                <a:t>and Basic Laws</a:t>
              </a:r>
              <a:endParaRPr lang="ru-RU" sz="4000" dirty="0"/>
            </a:p>
          </p:txBody>
        </p:sp>
      </p:grpSp>
      <p:sp>
        <p:nvSpPr>
          <p:cNvPr id="7" name="Объект 2">
            <a:extLst>
              <a:ext uri="{FF2B5EF4-FFF2-40B4-BE49-F238E27FC236}">
                <a16:creationId xmlns:a16="http://schemas.microsoft.com/office/drawing/2014/main" id="{FE986006-60B4-A559-F8C6-A831241A12F2}"/>
              </a:ext>
            </a:extLst>
          </p:cNvPr>
          <p:cNvSpPr txBox="1">
            <a:spLocks/>
          </p:cNvSpPr>
          <p:nvPr/>
        </p:nvSpPr>
        <p:spPr>
          <a:xfrm>
            <a:off x="838200" y="1825624"/>
            <a:ext cx="10515600" cy="475805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dirty="0">
                <a:ea typeface="Aptos" panose="020B0004020202020204" pitchFamily="34" charset="0"/>
                <a:cs typeface="Arial" panose="020B0604020202020204" pitchFamily="34" charset="0"/>
              </a:rPr>
              <a:t>A very important aspect of analyzing current is understanding direction. </a:t>
            </a:r>
          </a:p>
          <a:p>
            <a:pPr algn="just"/>
            <a:r>
              <a:rPr lang="en-US" b="1" dirty="0">
                <a:ea typeface="Aptos" panose="020B0004020202020204" pitchFamily="34" charset="0"/>
                <a:cs typeface="Arial" panose="020B0604020202020204" pitchFamily="34" charset="0"/>
              </a:rPr>
              <a:t>Here are the differences between the actual directions and reference directions of current and voltage. </a:t>
            </a:r>
          </a:p>
          <a:p>
            <a:pPr algn="just"/>
            <a:r>
              <a:rPr lang="en-US" dirty="0">
                <a:ea typeface="Aptos" panose="020B0004020202020204" pitchFamily="34" charset="0"/>
                <a:cs typeface="Arial" panose="020B0604020202020204" pitchFamily="34" charset="0"/>
              </a:rPr>
              <a:t>The actual direction of current flow is physically defined by the movement of positive charge. </a:t>
            </a:r>
          </a:p>
          <a:p>
            <a:pPr algn="just"/>
            <a:r>
              <a:rPr lang="en-US" dirty="0">
                <a:ea typeface="Aptos" panose="020B0004020202020204" pitchFamily="34" charset="0"/>
                <a:cs typeface="Arial" panose="020B0604020202020204" pitchFamily="34" charset="0"/>
              </a:rPr>
              <a:t>Historically, this was established before the discovery of the electron. </a:t>
            </a:r>
            <a:endParaRPr lang="ru-RU" dirty="0">
              <a:ea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8075875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0461613-2ACC-C68B-06B3-BFE35799DAFB}"/>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Fundamentals of Circuit Modeling</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and Basic Laws</a:t>
            </a:r>
            <a:endParaRPr lang="ru-RU" dirty="0">
              <a:latin typeface="Arial" panose="020B0604020202020204" pitchFamily="34" charset="0"/>
              <a:cs typeface="Arial" panose="020B0604020202020204" pitchFamily="34" charset="0"/>
            </a:endParaRPr>
          </a:p>
        </p:txBody>
      </p:sp>
      <p:sp>
        <p:nvSpPr>
          <p:cNvPr id="11" name="Объект 2">
            <a:extLst>
              <a:ext uri="{FF2B5EF4-FFF2-40B4-BE49-F238E27FC236}">
                <a16:creationId xmlns:a16="http://schemas.microsoft.com/office/drawing/2014/main" id="{45E58F03-FA22-B762-663A-0D489B5100BF}"/>
              </a:ext>
            </a:extLst>
          </p:cNvPr>
          <p:cNvSpPr txBox="1">
            <a:spLocks/>
          </p:cNvSpPr>
          <p:nvPr/>
        </p:nvSpPr>
        <p:spPr>
          <a:xfrm>
            <a:off x="838201" y="1825624"/>
            <a:ext cx="5845068" cy="466724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b="1" dirty="0">
                <a:effectLst/>
                <a:latin typeface="Arial" panose="020B0604020202020204" pitchFamily="34" charset="0"/>
                <a:ea typeface="Aptos" panose="020B0004020202020204" pitchFamily="34" charset="0"/>
              </a:rPr>
              <a:t>The actual direction of current is the direction of positive charge movement; consequently, electrons, being negatively charged, move in the direction opposite to the actual current.</a:t>
            </a:r>
          </a:p>
        </p:txBody>
      </p:sp>
      <p:pic>
        <p:nvPicPr>
          <p:cNvPr id="3" name="Рисунок 2">
            <a:extLst>
              <a:ext uri="{FF2B5EF4-FFF2-40B4-BE49-F238E27FC236}">
                <a16:creationId xmlns:a16="http://schemas.microsoft.com/office/drawing/2014/main" id="{11589048-E7C4-6229-BB42-4858FBDE3375}"/>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683269" y="2011680"/>
            <a:ext cx="5424326" cy="4138898"/>
          </a:xfrm>
          <a:prstGeom prst="rect">
            <a:avLst/>
          </a:prstGeom>
        </p:spPr>
      </p:pic>
      <p:grpSp>
        <p:nvGrpSpPr>
          <p:cNvPr id="4" name="Группа 3">
            <a:extLst>
              <a:ext uri="{FF2B5EF4-FFF2-40B4-BE49-F238E27FC236}">
                <a16:creationId xmlns:a16="http://schemas.microsoft.com/office/drawing/2014/main" id="{42E29046-3DBA-465D-7BED-01879254EA99}"/>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A22EF374-1397-F8E0-88EB-0DC39B5CF9CF}"/>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40229D15-F864-4D3B-AE23-8DC82A66E2D2}"/>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Fundamentals of Circuit Modeling</a:t>
              </a:r>
              <a:br>
                <a:rPr lang="en-US" sz="4000" cap="all" dirty="0">
                  <a:solidFill>
                    <a:schemeClr val="bg1"/>
                  </a:solidFill>
                  <a:latin typeface="Arial" panose="020B0604020202020204" pitchFamily="34" charset="0"/>
                  <a:cs typeface="Arial" panose="020B0604020202020204" pitchFamily="34" charset="0"/>
                </a:rPr>
              </a:br>
              <a:r>
                <a:rPr lang="en-US" sz="4000" cap="all" dirty="0">
                  <a:solidFill>
                    <a:schemeClr val="bg1"/>
                  </a:solidFill>
                  <a:latin typeface="Arial" panose="020B0604020202020204" pitchFamily="34" charset="0"/>
                  <a:cs typeface="Arial" panose="020B0604020202020204" pitchFamily="34" charset="0"/>
                </a:rPr>
                <a:t>and Basic Laws</a:t>
              </a:r>
              <a:endParaRPr lang="ru-RU" sz="4000" dirty="0"/>
            </a:p>
          </p:txBody>
        </p:sp>
      </p:grpSp>
    </p:spTree>
    <p:extLst>
      <p:ext uri="{BB962C8B-B14F-4D97-AF65-F5344CB8AC3E}">
        <p14:creationId xmlns:p14="http://schemas.microsoft.com/office/powerpoint/2010/main" val="18706022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0003CB-A09B-AA6F-5D02-6EAFC8044CD4}"/>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C59649E0-E319-EBAD-E263-71E16E7C669F}"/>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Fundamentals of Circuit Modeling</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and Basic Laws</a:t>
            </a:r>
            <a:endParaRPr lang="ru-RU" dirty="0">
              <a:latin typeface="Arial" panose="020B0604020202020204" pitchFamily="34" charset="0"/>
              <a:cs typeface="Arial" panose="020B0604020202020204" pitchFamily="34" charset="0"/>
            </a:endParaRPr>
          </a:p>
        </p:txBody>
      </p:sp>
      <p:grpSp>
        <p:nvGrpSpPr>
          <p:cNvPr id="3" name="Группа 2">
            <a:extLst>
              <a:ext uri="{FF2B5EF4-FFF2-40B4-BE49-F238E27FC236}">
                <a16:creationId xmlns:a16="http://schemas.microsoft.com/office/drawing/2014/main" id="{0F2625FE-AF09-0724-1933-472A016C4A2F}"/>
              </a:ext>
            </a:extLst>
          </p:cNvPr>
          <p:cNvGrpSpPr/>
          <p:nvPr/>
        </p:nvGrpSpPr>
        <p:grpSpPr>
          <a:xfrm>
            <a:off x="0" y="0"/>
            <a:ext cx="12192000" cy="1690688"/>
            <a:chOff x="0" y="0"/>
            <a:chExt cx="12192000" cy="1690688"/>
          </a:xfrm>
        </p:grpSpPr>
        <p:sp>
          <p:nvSpPr>
            <p:cNvPr id="4" name="Прямоугольник 3">
              <a:extLst>
                <a:ext uri="{FF2B5EF4-FFF2-40B4-BE49-F238E27FC236}">
                  <a16:creationId xmlns:a16="http://schemas.microsoft.com/office/drawing/2014/main" id="{9EF4C865-0EA5-C26C-C6CB-772AAD920112}"/>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 name="Прямоугольник: скругленные углы 4">
              <a:extLst>
                <a:ext uri="{FF2B5EF4-FFF2-40B4-BE49-F238E27FC236}">
                  <a16:creationId xmlns:a16="http://schemas.microsoft.com/office/drawing/2014/main" id="{795419CE-75F1-2969-3B63-13B198CBD26C}"/>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Fundamentals of Circuit Modeling</a:t>
              </a:r>
              <a:br>
                <a:rPr lang="en-US" sz="4000" cap="all" dirty="0">
                  <a:solidFill>
                    <a:schemeClr val="bg1"/>
                  </a:solidFill>
                  <a:latin typeface="Arial" panose="020B0604020202020204" pitchFamily="34" charset="0"/>
                  <a:cs typeface="Arial" panose="020B0604020202020204" pitchFamily="34" charset="0"/>
                </a:rPr>
              </a:br>
              <a:r>
                <a:rPr lang="en-US" sz="4000" cap="all" dirty="0">
                  <a:solidFill>
                    <a:schemeClr val="bg1"/>
                  </a:solidFill>
                  <a:latin typeface="Arial" panose="020B0604020202020204" pitchFamily="34" charset="0"/>
                  <a:cs typeface="Arial" panose="020B0604020202020204" pitchFamily="34" charset="0"/>
                </a:rPr>
                <a:t>and Basic Laws</a:t>
              </a:r>
              <a:endParaRPr lang="ru-RU" sz="4000" dirty="0"/>
            </a:p>
          </p:txBody>
        </p:sp>
      </p:grpSp>
      <p:sp>
        <p:nvSpPr>
          <p:cNvPr id="7" name="Объект 2">
            <a:extLst>
              <a:ext uri="{FF2B5EF4-FFF2-40B4-BE49-F238E27FC236}">
                <a16:creationId xmlns:a16="http://schemas.microsoft.com/office/drawing/2014/main" id="{A7D61641-3E88-65EB-2322-3D12932B372A}"/>
              </a:ext>
            </a:extLst>
          </p:cNvPr>
          <p:cNvSpPr txBox="1">
            <a:spLocks/>
          </p:cNvSpPr>
          <p:nvPr/>
        </p:nvSpPr>
        <p:spPr>
          <a:xfrm>
            <a:off x="838200" y="1825624"/>
            <a:ext cx="10515600" cy="475805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dirty="0">
                <a:ea typeface="Aptos" panose="020B0004020202020204" pitchFamily="34" charset="0"/>
                <a:cs typeface="Arial" panose="020B0604020202020204" pitchFamily="34" charset="0"/>
              </a:rPr>
              <a:t>In a metallic conductor, the physical charge carriers are electrons moving from negative to positive potential (later we will talk about potential), but for the purposes of circuit theory, we analyze the conventional current flowing from positive to negative.</a:t>
            </a:r>
          </a:p>
          <a:p>
            <a:pPr algn="just"/>
            <a:r>
              <a:rPr lang="en-US" dirty="0">
                <a:ea typeface="Aptos" panose="020B0004020202020204" pitchFamily="34" charset="0"/>
                <a:cs typeface="Arial" panose="020B0604020202020204" pitchFamily="34" charset="0"/>
              </a:rPr>
              <a:t>In complex network analysis, determining the actual direction of current before solving the circuit is often impossible. </a:t>
            </a:r>
          </a:p>
          <a:p>
            <a:pPr algn="just"/>
            <a:r>
              <a:rPr lang="en-US" dirty="0">
                <a:ea typeface="Aptos" panose="020B0004020202020204" pitchFamily="34" charset="0"/>
                <a:cs typeface="Arial" panose="020B0604020202020204" pitchFamily="34" charset="0"/>
              </a:rPr>
              <a:t>Therefore, we employ the concept of reference direction. </a:t>
            </a:r>
            <a:endParaRPr lang="ru-RU" dirty="0">
              <a:ea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31895201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0461613-2ACC-C68B-06B3-BFE35799DAFB}"/>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Fundamentals of Circuit Modeling</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and Basic Laws</a:t>
            </a:r>
            <a:endParaRPr lang="ru-RU" dirty="0">
              <a:latin typeface="Arial" panose="020B0604020202020204" pitchFamily="34" charset="0"/>
              <a:cs typeface="Arial" panose="020B0604020202020204" pitchFamily="34" charset="0"/>
            </a:endParaRPr>
          </a:p>
        </p:txBody>
      </p:sp>
      <p:sp>
        <p:nvSpPr>
          <p:cNvPr id="3" name="Объект 2">
            <a:extLst>
              <a:ext uri="{FF2B5EF4-FFF2-40B4-BE49-F238E27FC236}">
                <a16:creationId xmlns:a16="http://schemas.microsoft.com/office/drawing/2014/main" id="{38B32713-8DC8-A19D-A317-628052EECCD1}"/>
              </a:ext>
            </a:extLst>
          </p:cNvPr>
          <p:cNvSpPr>
            <a:spLocks noGrp="1"/>
          </p:cNvSpPr>
          <p:nvPr>
            <p:ph idx="1"/>
          </p:nvPr>
        </p:nvSpPr>
        <p:spPr>
          <a:xfrm>
            <a:off x="838200" y="1825624"/>
            <a:ext cx="10515600" cy="4758055"/>
          </a:xfrm>
        </p:spPr>
        <p:txBody>
          <a:bodyPr>
            <a:normAutofit/>
          </a:bodyPr>
          <a:lstStyle/>
          <a:p>
            <a:pPr algn="just"/>
            <a:r>
              <a:rPr lang="en-US" b="1" dirty="0">
                <a:effectLst/>
                <a:latin typeface="Arial" panose="020B0604020202020204" pitchFamily="34" charset="0"/>
                <a:ea typeface="Aptos" panose="020B0004020202020204" pitchFamily="34" charset="0"/>
              </a:rPr>
              <a:t>A reference direction is an arbitrarily selected direction of current flow used to set up algebraic equations for circuit analysis. </a:t>
            </a:r>
            <a:endParaRPr lang="en-US" dirty="0">
              <a:effectLst/>
              <a:latin typeface="Arial" panose="020B0604020202020204" pitchFamily="34" charset="0"/>
              <a:ea typeface="Aptos" panose="020B0004020202020204" pitchFamily="34" charset="0"/>
            </a:endParaRPr>
          </a:p>
          <a:p>
            <a:pPr algn="just"/>
            <a:r>
              <a:rPr lang="en-US" dirty="0">
                <a:effectLst/>
                <a:latin typeface="Arial" panose="020B0604020202020204" pitchFamily="34" charset="0"/>
                <a:ea typeface="Aptos" panose="020B0004020202020204" pitchFamily="34" charset="0"/>
              </a:rPr>
              <a:t>We assign an arrow to a branch in the circuit diagram to indicate this reference. </a:t>
            </a:r>
          </a:p>
          <a:p>
            <a:pPr algn="just"/>
            <a:r>
              <a:rPr lang="en-US" dirty="0">
                <a:effectLst/>
                <a:latin typeface="Arial" panose="020B0604020202020204" pitchFamily="34" charset="0"/>
                <a:ea typeface="Aptos" panose="020B0004020202020204" pitchFamily="34" charset="0"/>
              </a:rPr>
              <a:t>This assignment does not necessarily match the actual physical flow. </a:t>
            </a:r>
          </a:p>
          <a:p>
            <a:pPr algn="just"/>
            <a:r>
              <a:rPr lang="en-US" dirty="0">
                <a:effectLst/>
                <a:latin typeface="Arial" panose="020B0604020202020204" pitchFamily="34" charset="0"/>
                <a:ea typeface="Aptos" panose="020B0004020202020204" pitchFamily="34" charset="0"/>
              </a:rPr>
              <a:t>It serves as a coordinate system for the electrical variable. </a:t>
            </a:r>
          </a:p>
          <a:p>
            <a:pPr algn="just"/>
            <a:r>
              <a:rPr lang="en-US" dirty="0">
                <a:effectLst/>
                <a:latin typeface="Arial" panose="020B0604020202020204" pitchFamily="34" charset="0"/>
                <a:ea typeface="Aptos" panose="020B0004020202020204" pitchFamily="34" charset="0"/>
              </a:rPr>
              <a:t>Without a reference direction, the algebraic value of a current is meaningless, much like a vector quantity without a defined axis.</a:t>
            </a:r>
            <a:endParaRPr lang="ru-RU" dirty="0">
              <a:effectLst/>
              <a:latin typeface="Arial" panose="020B0604020202020204" pitchFamily="34" charset="0"/>
              <a:ea typeface="Aptos" panose="020B0004020202020204" pitchFamily="34" charset="0"/>
            </a:endParaRPr>
          </a:p>
        </p:txBody>
      </p:sp>
      <p:grpSp>
        <p:nvGrpSpPr>
          <p:cNvPr id="4" name="Группа 3">
            <a:extLst>
              <a:ext uri="{FF2B5EF4-FFF2-40B4-BE49-F238E27FC236}">
                <a16:creationId xmlns:a16="http://schemas.microsoft.com/office/drawing/2014/main" id="{AAC28011-AE19-6573-E26D-2D421D548158}"/>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9B7450EF-771A-EEF7-91B5-60C1DE2D488A}"/>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14E0F61F-AFEC-F27A-26AA-F9F8EC151568}"/>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Fundamentals of Circuit Modeling</a:t>
              </a:r>
              <a:br>
                <a:rPr lang="en-US" sz="4000" cap="all" dirty="0">
                  <a:solidFill>
                    <a:schemeClr val="bg1"/>
                  </a:solidFill>
                  <a:latin typeface="Arial" panose="020B0604020202020204" pitchFamily="34" charset="0"/>
                  <a:cs typeface="Arial" panose="020B0604020202020204" pitchFamily="34" charset="0"/>
                </a:rPr>
              </a:br>
              <a:r>
                <a:rPr lang="en-US" sz="4000" cap="all" dirty="0">
                  <a:solidFill>
                    <a:schemeClr val="bg1"/>
                  </a:solidFill>
                  <a:latin typeface="Arial" panose="020B0604020202020204" pitchFamily="34" charset="0"/>
                  <a:cs typeface="Arial" panose="020B0604020202020204" pitchFamily="34" charset="0"/>
                </a:rPr>
                <a:t>and Basic Laws</a:t>
              </a:r>
              <a:endParaRPr lang="ru-RU" sz="4000" dirty="0"/>
            </a:p>
          </p:txBody>
        </p:sp>
      </p:grpSp>
    </p:spTree>
    <p:extLst>
      <p:ext uri="{BB962C8B-B14F-4D97-AF65-F5344CB8AC3E}">
        <p14:creationId xmlns:p14="http://schemas.microsoft.com/office/powerpoint/2010/main" val="5947526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5BA131-00E4-CD53-1622-CE55B70EA9F2}"/>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9E7FAF53-7B0F-2312-DB98-B13CC9B007ED}"/>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Fundamentals of Circuit Modeling</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and Basic Laws</a:t>
            </a:r>
            <a:endParaRPr lang="ru-RU"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CB07D9D4-5146-8D1A-EFC8-B54ACE0D63FA}"/>
                  </a:ext>
                </a:extLst>
              </p:cNvPr>
              <p:cNvSpPr>
                <a:spLocks noGrp="1"/>
              </p:cNvSpPr>
              <p:nvPr>
                <p:ph idx="1"/>
              </p:nvPr>
            </p:nvSpPr>
            <p:spPr/>
            <p:txBody>
              <a:bodyPr>
                <a:normAutofit/>
              </a:bodyPr>
              <a:lstStyle/>
              <a:p>
                <a:pPr algn="just"/>
                <a:r>
                  <a:rPr lang="en-US" dirty="0">
                    <a:effectLst/>
                    <a:latin typeface="Arial" panose="020B0604020202020204" pitchFamily="34" charset="0"/>
                    <a:ea typeface="Aptos" panose="020B0004020202020204" pitchFamily="34" charset="0"/>
                  </a:rPr>
                  <a:t>Here is an illustration of current </a:t>
                </a:r>
                <a14:m>
                  <m:oMath xmlns:m="http://schemas.openxmlformats.org/officeDocument/2006/math">
                    <m:r>
                      <a:rPr lang="en-US" i="1" dirty="0" smtClean="0">
                        <a:effectLst/>
                        <a:latin typeface="Cambria Math" panose="02040503050406030204" pitchFamily="18" charset="0"/>
                        <a:ea typeface="Aptos" panose="020B0004020202020204" pitchFamily="34" charset="0"/>
                      </a:rPr>
                      <m:t>𝑖</m:t>
                    </m:r>
                  </m:oMath>
                </a14:m>
                <a:r>
                  <a:rPr lang="en-US" dirty="0">
                    <a:effectLst/>
                    <a:latin typeface="Arial" panose="020B0604020202020204" pitchFamily="34" charset="0"/>
                    <a:ea typeface="Aptos" panose="020B0004020202020204" pitchFamily="34" charset="0"/>
                  </a:rPr>
                  <a:t>, also represented as moving yellow dots. </a:t>
                </a:r>
              </a:p>
              <a:p>
                <a:pPr algn="just"/>
                <a:r>
                  <a:rPr lang="en-US" dirty="0">
                    <a:effectLst/>
                    <a:latin typeface="Arial" panose="020B0604020202020204" pitchFamily="34" charset="0"/>
                    <a:ea typeface="Aptos" panose="020B0004020202020204" pitchFamily="34" charset="0"/>
                  </a:rPr>
                  <a:t>Here you see a simulation program which clearly shows the direction of current, but in real circuits, it can be reversed.</a:t>
                </a:r>
                <a:endParaRPr lang="ru-RU" dirty="0">
                  <a:effectLst/>
                  <a:latin typeface="Arial" panose="020B0604020202020204" pitchFamily="34" charset="0"/>
                  <a:ea typeface="Aptos" panose="020B0004020202020204" pitchFamily="34" charset="0"/>
                </a:endParaRPr>
              </a:p>
            </p:txBody>
          </p:sp>
        </mc:Choice>
        <mc:Fallback xmlns="">
          <p:sp>
            <p:nvSpPr>
              <p:cNvPr id="3" name="Объект 2">
                <a:extLst>
                  <a:ext uri="{FF2B5EF4-FFF2-40B4-BE49-F238E27FC236}">
                    <a16:creationId xmlns:a16="http://schemas.microsoft.com/office/drawing/2014/main" id="{CB07D9D4-5146-8D1A-EFC8-B54ACE0D63FA}"/>
                  </a:ext>
                </a:extLst>
              </p:cNvPr>
              <p:cNvSpPr>
                <a:spLocks noGrp="1" noRot="1" noChangeAspect="1" noMove="1" noResize="1" noEditPoints="1" noAdjustHandles="1" noChangeArrowheads="1" noChangeShapeType="1" noTextEdit="1"/>
              </p:cNvSpPr>
              <p:nvPr>
                <p:ph idx="1"/>
              </p:nvPr>
            </p:nvSpPr>
            <p:spPr>
              <a:blipFill>
                <a:blip r:embed="rId2"/>
                <a:stretch>
                  <a:fillRect l="-1043" t="-2381" r="-1159"/>
                </a:stretch>
              </a:blipFill>
            </p:spPr>
            <p:txBody>
              <a:bodyPr/>
              <a:lstStyle/>
              <a:p>
                <a:r>
                  <a:rPr lang="ru-RU">
                    <a:noFill/>
                  </a:rPr>
                  <a:t> </a:t>
                </a:r>
              </a:p>
            </p:txBody>
          </p:sp>
        </mc:Fallback>
      </mc:AlternateContent>
      <p:grpSp>
        <p:nvGrpSpPr>
          <p:cNvPr id="4" name="Группа 3">
            <a:extLst>
              <a:ext uri="{FF2B5EF4-FFF2-40B4-BE49-F238E27FC236}">
                <a16:creationId xmlns:a16="http://schemas.microsoft.com/office/drawing/2014/main" id="{A95E7375-8F9C-89F7-7194-258A1DAAA375}"/>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9A74E61B-5FD2-C2E9-E0A3-094CB6AFA33E}"/>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7833A9DE-5047-0FB3-8164-944C7BD59774}"/>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Fundamentals of Circuit Modeling</a:t>
              </a:r>
              <a:br>
                <a:rPr lang="en-US" sz="4000" cap="all" dirty="0">
                  <a:solidFill>
                    <a:schemeClr val="bg1"/>
                  </a:solidFill>
                  <a:latin typeface="Arial" panose="020B0604020202020204" pitchFamily="34" charset="0"/>
                  <a:cs typeface="Arial" panose="020B0604020202020204" pitchFamily="34" charset="0"/>
                </a:rPr>
              </a:br>
              <a:r>
                <a:rPr lang="en-US" sz="4000" cap="all" dirty="0">
                  <a:solidFill>
                    <a:schemeClr val="bg1"/>
                  </a:solidFill>
                  <a:latin typeface="Arial" panose="020B0604020202020204" pitchFamily="34" charset="0"/>
                  <a:cs typeface="Arial" panose="020B0604020202020204" pitchFamily="34" charset="0"/>
                </a:rPr>
                <a:t>and Basic Laws</a:t>
              </a:r>
              <a:endParaRPr lang="ru-RU" sz="4000" dirty="0"/>
            </a:p>
          </p:txBody>
        </p:sp>
      </p:grpSp>
      <p:pic>
        <p:nvPicPr>
          <p:cNvPr id="8" name="Рисунок 7" descr="Изображение выглядит как диаграмма, линия, снимок экрана, Параллельный&#10;&#10;Автоматически созданное описание">
            <a:extLst>
              <a:ext uri="{FF2B5EF4-FFF2-40B4-BE49-F238E27FC236}">
                <a16:creationId xmlns:a16="http://schemas.microsoft.com/office/drawing/2014/main" id="{6DEC6DFF-B36F-AFE3-CCE2-534CF2534CF3}"/>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416444" y="3648104"/>
            <a:ext cx="4958629" cy="3209896"/>
          </a:xfrm>
          <a:prstGeom prst="rect">
            <a:avLst/>
          </a:prstGeom>
        </p:spPr>
      </p:pic>
    </p:spTree>
    <p:extLst>
      <p:ext uri="{BB962C8B-B14F-4D97-AF65-F5344CB8AC3E}">
        <p14:creationId xmlns:p14="http://schemas.microsoft.com/office/powerpoint/2010/main" val="42106112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F52671-C50D-EAFC-E11B-B06A37FA8472}"/>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47079B85-CDD5-5F1C-D46F-E22E441E0705}"/>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Fundamentals of Circuit Modeling</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and Basic Laws</a:t>
            </a:r>
            <a:endParaRPr lang="ru-RU" dirty="0">
              <a:latin typeface="Arial" panose="020B0604020202020204" pitchFamily="34" charset="0"/>
              <a:cs typeface="Arial" panose="020B0604020202020204" pitchFamily="34" charset="0"/>
            </a:endParaRPr>
          </a:p>
        </p:txBody>
      </p:sp>
      <p:sp>
        <p:nvSpPr>
          <p:cNvPr id="3" name="Объект 2">
            <a:extLst>
              <a:ext uri="{FF2B5EF4-FFF2-40B4-BE49-F238E27FC236}">
                <a16:creationId xmlns:a16="http://schemas.microsoft.com/office/drawing/2014/main" id="{52F81891-B070-E771-9A4C-08CF4FEC16B3}"/>
              </a:ext>
            </a:extLst>
          </p:cNvPr>
          <p:cNvSpPr>
            <a:spLocks noGrp="1"/>
          </p:cNvSpPr>
          <p:nvPr>
            <p:ph idx="1"/>
          </p:nvPr>
        </p:nvSpPr>
        <p:spPr/>
        <p:txBody>
          <a:bodyPr>
            <a:normAutofit/>
          </a:bodyPr>
          <a:lstStyle/>
          <a:p>
            <a:pPr algn="just"/>
            <a:r>
              <a:rPr lang="en-US" dirty="0">
                <a:effectLst/>
                <a:latin typeface="Arial" panose="020B0604020202020204" pitchFamily="34" charset="0"/>
                <a:ea typeface="Aptos" panose="020B0004020202020204" pitchFamily="34" charset="0"/>
              </a:rPr>
              <a:t>The algebraic sign of the calculated current indicates the relationship between the reference direction and the actual direction.</a:t>
            </a:r>
          </a:p>
          <a:p>
            <a:pPr algn="just"/>
            <a:r>
              <a:rPr lang="en-US" b="1" dirty="0">
                <a:effectLst/>
                <a:latin typeface="Arial" panose="020B0604020202020204" pitchFamily="34" charset="0"/>
                <a:ea typeface="Aptos" panose="020B0004020202020204" pitchFamily="34" charset="0"/>
              </a:rPr>
              <a:t>If the calculated value of current is positive, the actual direction of current flow coincides with the chosen reference direction. </a:t>
            </a:r>
          </a:p>
          <a:p>
            <a:pPr algn="just"/>
            <a:r>
              <a:rPr lang="en-US" b="1" dirty="0">
                <a:effectLst/>
                <a:latin typeface="Arial" panose="020B0604020202020204" pitchFamily="34" charset="0"/>
                <a:ea typeface="Aptos" panose="020B0004020202020204" pitchFamily="34" charset="0"/>
              </a:rPr>
              <a:t>Conversely, if the calculated value is negative, the actual direction of current flow is opposite to the chosen reference direction. </a:t>
            </a:r>
            <a:endParaRPr lang="ru-RU" b="1" dirty="0">
              <a:effectLst/>
              <a:latin typeface="Arial" panose="020B0604020202020204" pitchFamily="34" charset="0"/>
              <a:ea typeface="Aptos" panose="020B0004020202020204" pitchFamily="34" charset="0"/>
            </a:endParaRPr>
          </a:p>
        </p:txBody>
      </p:sp>
      <p:grpSp>
        <p:nvGrpSpPr>
          <p:cNvPr id="4" name="Группа 3">
            <a:extLst>
              <a:ext uri="{FF2B5EF4-FFF2-40B4-BE49-F238E27FC236}">
                <a16:creationId xmlns:a16="http://schemas.microsoft.com/office/drawing/2014/main" id="{52390429-E263-745D-EFCE-148C3E596241}"/>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B27C6DE6-AF80-ACEB-35FB-EB334A77AAA1}"/>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C1D71D53-D00F-20B2-AA41-64F8E0200439}"/>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Fundamentals of Circuit Modeling</a:t>
              </a:r>
              <a:br>
                <a:rPr lang="en-US" sz="4000" cap="all" dirty="0">
                  <a:solidFill>
                    <a:schemeClr val="bg1"/>
                  </a:solidFill>
                  <a:latin typeface="Arial" panose="020B0604020202020204" pitchFamily="34" charset="0"/>
                  <a:cs typeface="Arial" panose="020B0604020202020204" pitchFamily="34" charset="0"/>
                </a:rPr>
              </a:br>
              <a:r>
                <a:rPr lang="en-US" sz="4000" cap="all" dirty="0">
                  <a:solidFill>
                    <a:schemeClr val="bg1"/>
                  </a:solidFill>
                  <a:latin typeface="Arial" panose="020B0604020202020204" pitchFamily="34" charset="0"/>
                  <a:cs typeface="Arial" panose="020B0604020202020204" pitchFamily="34" charset="0"/>
                </a:rPr>
                <a:t>and Basic Laws</a:t>
              </a:r>
              <a:endParaRPr lang="ru-RU" sz="4000" dirty="0"/>
            </a:p>
          </p:txBody>
        </p:sp>
      </p:grpSp>
    </p:spTree>
    <p:extLst>
      <p:ext uri="{BB962C8B-B14F-4D97-AF65-F5344CB8AC3E}">
        <p14:creationId xmlns:p14="http://schemas.microsoft.com/office/powerpoint/2010/main" val="25799382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0461613-2ACC-C68B-06B3-BFE35799DAFB}"/>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Fundamentals of Circuit Modeling</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and Basic Laws</a:t>
            </a:r>
            <a:endParaRPr lang="ru-RU" dirty="0">
              <a:latin typeface="Arial" panose="020B0604020202020204" pitchFamily="34" charset="0"/>
              <a:cs typeface="Arial" panose="020B0604020202020204" pitchFamily="34" charset="0"/>
            </a:endParaRPr>
          </a:p>
        </p:txBody>
      </p:sp>
      <p:sp>
        <p:nvSpPr>
          <p:cNvPr id="3" name="Объект 2">
            <a:extLst>
              <a:ext uri="{FF2B5EF4-FFF2-40B4-BE49-F238E27FC236}">
                <a16:creationId xmlns:a16="http://schemas.microsoft.com/office/drawing/2014/main" id="{38B32713-8DC8-A19D-A317-628052EECCD1}"/>
              </a:ext>
            </a:extLst>
          </p:cNvPr>
          <p:cNvSpPr>
            <a:spLocks noGrp="1"/>
          </p:cNvSpPr>
          <p:nvPr>
            <p:ph idx="1"/>
          </p:nvPr>
        </p:nvSpPr>
        <p:spPr/>
        <p:txBody>
          <a:bodyPr>
            <a:normAutofit/>
          </a:bodyPr>
          <a:lstStyle/>
          <a:p>
            <a:pPr algn="just"/>
            <a:r>
              <a:rPr lang="en-US" dirty="0">
                <a:effectLst/>
                <a:latin typeface="Arial" panose="020B0604020202020204" pitchFamily="34" charset="0"/>
                <a:ea typeface="Aptos" panose="020B0004020202020204" pitchFamily="34" charset="0"/>
              </a:rPr>
              <a:t>This principle allows us to assume directions arbitrarily, solve the linear equations governing the circuit, and interpret the physical reality based on the resulting signs. </a:t>
            </a:r>
          </a:p>
          <a:p>
            <a:pPr algn="just"/>
            <a:r>
              <a:rPr lang="en-US" dirty="0">
                <a:effectLst/>
                <a:latin typeface="Arial" panose="020B0604020202020204" pitchFamily="34" charset="0"/>
                <a:ea typeface="Aptos" panose="020B0004020202020204" pitchFamily="34" charset="0"/>
              </a:rPr>
              <a:t>This abstraction is necessary for analyzing alternating current (AC) where the direction changes periodically.</a:t>
            </a:r>
            <a:endParaRPr lang="ru-RU" b="1" dirty="0">
              <a:effectLst/>
              <a:latin typeface="Arial" panose="020B0604020202020204" pitchFamily="34" charset="0"/>
              <a:ea typeface="Aptos" panose="020B0004020202020204" pitchFamily="34" charset="0"/>
            </a:endParaRPr>
          </a:p>
        </p:txBody>
      </p:sp>
      <p:grpSp>
        <p:nvGrpSpPr>
          <p:cNvPr id="4" name="Группа 3">
            <a:extLst>
              <a:ext uri="{FF2B5EF4-FFF2-40B4-BE49-F238E27FC236}">
                <a16:creationId xmlns:a16="http://schemas.microsoft.com/office/drawing/2014/main" id="{3BEE670A-928E-9AA5-F5E5-09040DD5820E}"/>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EFEF4D4A-2171-0CCB-61AE-1A58B290714F}"/>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A5132AA3-805F-4720-12C7-0799CC45989E}"/>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Fundamentals of Circuit Modeling</a:t>
              </a:r>
              <a:br>
                <a:rPr lang="en-US" sz="4000" cap="all" dirty="0">
                  <a:solidFill>
                    <a:schemeClr val="bg1"/>
                  </a:solidFill>
                  <a:latin typeface="Arial" panose="020B0604020202020204" pitchFamily="34" charset="0"/>
                  <a:cs typeface="Arial" panose="020B0604020202020204" pitchFamily="34" charset="0"/>
                </a:rPr>
              </a:br>
              <a:r>
                <a:rPr lang="en-US" sz="4000" cap="all" dirty="0">
                  <a:solidFill>
                    <a:schemeClr val="bg1"/>
                  </a:solidFill>
                  <a:latin typeface="Arial" panose="020B0604020202020204" pitchFamily="34" charset="0"/>
                  <a:cs typeface="Arial" panose="020B0604020202020204" pitchFamily="34" charset="0"/>
                </a:rPr>
                <a:t>and Basic Laws</a:t>
              </a:r>
              <a:endParaRPr lang="ru-RU" sz="4000" dirty="0"/>
            </a:p>
          </p:txBody>
        </p:sp>
      </p:grpSp>
      <p:pic>
        <p:nvPicPr>
          <p:cNvPr id="7" name="Рисунок 6">
            <a:extLst>
              <a:ext uri="{FF2B5EF4-FFF2-40B4-BE49-F238E27FC236}">
                <a16:creationId xmlns:a16="http://schemas.microsoft.com/office/drawing/2014/main" id="{9FAF0D1B-CF5F-086D-F062-491704568689}"/>
              </a:ext>
            </a:extLst>
          </p:cNvPr>
          <p:cNvPicPr>
            <a:picLocks noChangeAspect="1"/>
          </p:cNvPicPr>
          <p:nvPr/>
        </p:nvPicPr>
        <p:blipFill>
          <a:blip r:embed="rId2" cstate="email">
            <a:extLst>
              <a:ext uri="{28A0092B-C50C-407E-A947-70E740481C1C}">
                <a14:useLocalDpi xmlns:a14="http://schemas.microsoft.com/office/drawing/2010/main"/>
              </a:ext>
            </a:extLst>
          </a:blip>
          <a:srcRect/>
          <a:stretch/>
        </p:blipFill>
        <p:spPr>
          <a:xfrm>
            <a:off x="3181662" y="3994803"/>
            <a:ext cx="5828676" cy="2709547"/>
          </a:xfrm>
          <a:prstGeom prst="rect">
            <a:avLst/>
          </a:prstGeom>
        </p:spPr>
      </p:pic>
    </p:spTree>
    <p:extLst>
      <p:ext uri="{BB962C8B-B14F-4D97-AF65-F5344CB8AC3E}">
        <p14:creationId xmlns:p14="http://schemas.microsoft.com/office/powerpoint/2010/main" val="21156408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A48386-9C0C-35A7-54D1-3376342845A4}"/>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457E576B-409F-308F-DD62-EDFFF7E61A14}"/>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Fundamentals of Circuit Modeling</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and Basic Laws</a:t>
            </a:r>
            <a:endParaRPr lang="ru-RU" dirty="0">
              <a:latin typeface="Arial" panose="020B0604020202020204" pitchFamily="34" charset="0"/>
              <a:cs typeface="Arial" panose="020B0604020202020204" pitchFamily="34" charset="0"/>
            </a:endParaRPr>
          </a:p>
        </p:txBody>
      </p:sp>
      <p:sp>
        <p:nvSpPr>
          <p:cNvPr id="3" name="Объект 2">
            <a:extLst>
              <a:ext uri="{FF2B5EF4-FFF2-40B4-BE49-F238E27FC236}">
                <a16:creationId xmlns:a16="http://schemas.microsoft.com/office/drawing/2014/main" id="{5DB75DB4-CE72-5536-A305-C84D39D9451E}"/>
              </a:ext>
            </a:extLst>
          </p:cNvPr>
          <p:cNvSpPr>
            <a:spLocks noGrp="1"/>
          </p:cNvSpPr>
          <p:nvPr>
            <p:ph idx="1"/>
          </p:nvPr>
        </p:nvSpPr>
        <p:spPr/>
        <p:txBody>
          <a:bodyPr>
            <a:noAutofit/>
          </a:bodyPr>
          <a:lstStyle/>
          <a:p>
            <a:pPr algn="just">
              <a:lnSpc>
                <a:spcPct val="120000"/>
              </a:lnSpc>
            </a:pPr>
            <a:r>
              <a:rPr lang="en-US" dirty="0">
                <a:effectLst/>
                <a:ea typeface="Aptos" panose="020B0004020202020204" pitchFamily="34" charset="0"/>
              </a:rPr>
              <a:t>Let's practice reading signs with an example. </a:t>
            </a:r>
          </a:p>
          <a:p>
            <a:pPr algn="just">
              <a:lnSpc>
                <a:spcPct val="120000"/>
              </a:lnSpc>
            </a:pPr>
            <a:r>
              <a:rPr lang="en-US" dirty="0">
                <a:effectLst/>
                <a:ea typeface="Aptos" panose="020B0004020202020204" pitchFamily="34" charset="0"/>
              </a:rPr>
              <a:t>Imagine a battery and a light bulb and charging process for the rechargeable battery</a:t>
            </a:r>
          </a:p>
          <a:p>
            <a:pPr algn="just">
              <a:lnSpc>
                <a:spcPct val="120000"/>
              </a:lnSpc>
            </a:pPr>
            <a:r>
              <a:rPr lang="en-US" dirty="0">
                <a:ea typeface="Aptos" panose="020B0004020202020204" pitchFamily="34" charset="0"/>
              </a:rPr>
              <a:t>The point is to determine signs of current in both cases.</a:t>
            </a:r>
            <a:endParaRPr lang="en-US" dirty="0">
              <a:effectLst/>
              <a:ea typeface="Aptos" panose="020B0004020202020204" pitchFamily="34" charset="0"/>
            </a:endParaRPr>
          </a:p>
          <a:p>
            <a:pPr algn="just">
              <a:lnSpc>
                <a:spcPct val="120000"/>
              </a:lnSpc>
            </a:pPr>
            <a:r>
              <a:rPr lang="en-US" dirty="0">
                <a:effectLst/>
                <a:ea typeface="Aptos" panose="020B0004020202020204" pitchFamily="34" charset="0"/>
              </a:rPr>
              <a:t>Next slide is used to illustrate this example.</a:t>
            </a:r>
            <a:endParaRPr lang="ru-RU" dirty="0">
              <a:effectLst/>
              <a:ea typeface="Aptos" panose="020B0004020202020204" pitchFamily="34" charset="0"/>
            </a:endParaRPr>
          </a:p>
        </p:txBody>
      </p:sp>
      <p:grpSp>
        <p:nvGrpSpPr>
          <p:cNvPr id="4" name="Группа 3">
            <a:extLst>
              <a:ext uri="{FF2B5EF4-FFF2-40B4-BE49-F238E27FC236}">
                <a16:creationId xmlns:a16="http://schemas.microsoft.com/office/drawing/2014/main" id="{DE448EFB-AE41-00B4-9DA2-918813F80AC9}"/>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128B68B3-6068-A05B-1BB0-0B971EC38A37}"/>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EB7EF8E5-9A7A-B53D-8755-560B990B565E}"/>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Fundamentals of Circuit Modeling</a:t>
              </a:r>
              <a:br>
                <a:rPr lang="en-US" sz="4000" cap="all" dirty="0">
                  <a:solidFill>
                    <a:schemeClr val="bg1"/>
                  </a:solidFill>
                  <a:latin typeface="Arial" panose="020B0604020202020204" pitchFamily="34" charset="0"/>
                  <a:cs typeface="Arial" panose="020B0604020202020204" pitchFamily="34" charset="0"/>
                </a:rPr>
              </a:br>
              <a:r>
                <a:rPr lang="en-US" sz="4000" cap="all" dirty="0">
                  <a:solidFill>
                    <a:schemeClr val="bg1"/>
                  </a:solidFill>
                  <a:latin typeface="Arial" panose="020B0604020202020204" pitchFamily="34" charset="0"/>
                  <a:cs typeface="Arial" panose="020B0604020202020204" pitchFamily="34" charset="0"/>
                </a:rPr>
                <a:t>and Basic Laws</a:t>
              </a:r>
              <a:endParaRPr lang="ru-RU" sz="4000" dirty="0"/>
            </a:p>
          </p:txBody>
        </p:sp>
      </p:grpSp>
    </p:spTree>
    <p:extLst>
      <p:ext uri="{BB962C8B-B14F-4D97-AF65-F5344CB8AC3E}">
        <p14:creationId xmlns:p14="http://schemas.microsoft.com/office/powerpoint/2010/main" val="14940931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0461613-2ACC-C68B-06B3-BFE35799DAFB}"/>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Fundamentals of Circuit Modeling</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and Basic Laws</a:t>
            </a:r>
            <a:endParaRPr lang="ru-RU" dirty="0">
              <a:latin typeface="Arial" panose="020B0604020202020204" pitchFamily="34" charset="0"/>
              <a:cs typeface="Arial" panose="020B0604020202020204" pitchFamily="34" charset="0"/>
            </a:endParaRPr>
          </a:p>
        </p:txBody>
      </p:sp>
      <p:sp>
        <p:nvSpPr>
          <p:cNvPr id="3" name="Объект 2">
            <a:extLst>
              <a:ext uri="{FF2B5EF4-FFF2-40B4-BE49-F238E27FC236}">
                <a16:creationId xmlns:a16="http://schemas.microsoft.com/office/drawing/2014/main" id="{38B32713-8DC8-A19D-A317-628052EECCD1}"/>
              </a:ext>
            </a:extLst>
          </p:cNvPr>
          <p:cNvSpPr>
            <a:spLocks noGrp="1"/>
          </p:cNvSpPr>
          <p:nvPr>
            <p:ph idx="1"/>
          </p:nvPr>
        </p:nvSpPr>
        <p:spPr/>
        <p:txBody>
          <a:bodyPr>
            <a:normAutofit/>
          </a:bodyPr>
          <a:lstStyle/>
          <a:p>
            <a:pPr algn="just"/>
            <a:r>
              <a:rPr lang="en-US" dirty="0">
                <a:effectLst/>
                <a:latin typeface="Arial" panose="020B0604020202020204" pitchFamily="34" charset="0"/>
                <a:ea typeface="Aptos" panose="020B0004020202020204" pitchFamily="34" charset="0"/>
              </a:rPr>
              <a:t>If the calculated value of current is positive, the actual direction of current flow coincides with the chosen reference direction. Conversely, if the calculated value is negative, the actual direction of current flow is opposite to the chosen reference direction. </a:t>
            </a:r>
            <a:endParaRPr lang="ru-RU" dirty="0">
              <a:effectLst/>
              <a:latin typeface="Arial" panose="020B0604020202020204" pitchFamily="34" charset="0"/>
              <a:ea typeface="Aptos" panose="020B0004020202020204" pitchFamily="34" charset="0"/>
            </a:endParaRPr>
          </a:p>
        </p:txBody>
      </p:sp>
      <p:pic>
        <p:nvPicPr>
          <p:cNvPr id="4" name="Рисунок 3">
            <a:extLst>
              <a:ext uri="{FF2B5EF4-FFF2-40B4-BE49-F238E27FC236}">
                <a16:creationId xmlns:a16="http://schemas.microsoft.com/office/drawing/2014/main" id="{1E17A573-04D2-6CB3-7069-0C84191B6DAC}"/>
              </a:ext>
            </a:extLst>
          </p:cNvPr>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bwMode="auto">
          <a:xfrm>
            <a:off x="0" y="0"/>
            <a:ext cx="12192000" cy="6804942"/>
          </a:xfrm>
          <a:prstGeom prst="rect">
            <a:avLst/>
          </a:prstGeom>
          <a:noFill/>
          <a:ln>
            <a:noFill/>
          </a:ln>
        </p:spPr>
      </p:pic>
    </p:spTree>
    <p:extLst>
      <p:ext uri="{BB962C8B-B14F-4D97-AF65-F5344CB8AC3E}">
        <p14:creationId xmlns:p14="http://schemas.microsoft.com/office/powerpoint/2010/main" val="2560561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A29D45-1C12-C6BA-C47D-CCC752EB3819}"/>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CF0A1BFA-487C-911F-BB37-FC290E173032}"/>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Fundamentals of Circuit Modeling</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and Basic Laws</a:t>
            </a:r>
            <a:endParaRPr lang="ru-RU"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8EFBDEEF-E4A4-E96E-05DC-68CE329F667C}"/>
                  </a:ext>
                </a:extLst>
              </p:cNvPr>
              <p:cNvSpPr>
                <a:spLocks noGrp="1"/>
              </p:cNvSpPr>
              <p:nvPr>
                <p:ph idx="1"/>
              </p:nvPr>
            </p:nvSpPr>
            <p:spPr/>
            <p:txBody>
              <a:bodyPr>
                <a:noAutofit/>
              </a:bodyPr>
              <a:lstStyle/>
              <a:p>
                <a:pPr algn="just">
                  <a:lnSpc>
                    <a:spcPct val="120000"/>
                  </a:lnSpc>
                </a:pPr>
                <a:r>
                  <a:rPr lang="en-US" dirty="0">
                    <a:effectLst/>
                    <a:ea typeface="Aptos" panose="020B0004020202020204" pitchFamily="34" charset="0"/>
                  </a:rPr>
                  <a:t>In the first case with the lamp </a:t>
                </a:r>
                <a:r>
                  <a:rPr lang="en-US" dirty="0">
                    <a:ea typeface="Aptos" panose="020B0004020202020204" pitchFamily="34" charset="0"/>
                  </a:rPr>
                  <a:t>w</a:t>
                </a:r>
                <a:r>
                  <a:rPr lang="en-US" dirty="0">
                    <a:effectLst/>
                    <a:ea typeface="Aptos" panose="020B0004020202020204" pitchFamily="34" charset="0"/>
                  </a:rPr>
                  <a:t>e draw a reference arrow for current pointing from the battery to the bulb. </a:t>
                </a:r>
              </a:p>
              <a:p>
                <a:pPr algn="just">
                  <a:lnSpc>
                    <a:spcPct val="120000"/>
                  </a:lnSpc>
                </a:pPr>
                <a:r>
                  <a:rPr lang="en-US" dirty="0">
                    <a:effectLst/>
                    <a:ea typeface="Aptos" panose="020B0004020202020204" pitchFamily="34" charset="0"/>
                  </a:rPr>
                  <a:t>We calculate the current and get a result of </a:t>
                </a:r>
                <a14:m>
                  <m:oMath xmlns:m="http://schemas.openxmlformats.org/officeDocument/2006/math">
                    <m:r>
                      <a:rPr lang="en-US">
                        <a:effectLst/>
                        <a:latin typeface="Cambria Math" panose="02040503050406030204" pitchFamily="18" charset="0"/>
                        <a:ea typeface="Aptos" panose="020B0004020202020204" pitchFamily="34" charset="0"/>
                      </a:rPr>
                      <m:t>+</m:t>
                    </m:r>
                    <m:r>
                      <a:rPr lang="en-US" i="1">
                        <a:effectLst/>
                        <a:latin typeface="Cambria Math" panose="02040503050406030204" pitchFamily="18" charset="0"/>
                        <a:ea typeface="Aptos" panose="020B0004020202020204" pitchFamily="34" charset="0"/>
                      </a:rPr>
                      <m:t>2</m:t>
                    </m:r>
                  </m:oMath>
                </a14:m>
                <a:r>
                  <a:rPr lang="en-US" dirty="0">
                    <a:effectLst/>
                    <a:ea typeface="Aptos" panose="020B0004020202020204" pitchFamily="34" charset="0"/>
                  </a:rPr>
                  <a:t> A. </a:t>
                </a:r>
              </a:p>
              <a:p>
                <a:pPr algn="just">
                  <a:lnSpc>
                    <a:spcPct val="120000"/>
                  </a:lnSpc>
                </a:pPr>
                <a:r>
                  <a:rPr lang="en-US" dirty="0">
                    <a:effectLst/>
                    <a:ea typeface="Aptos" panose="020B0004020202020204" pitchFamily="34" charset="0"/>
                  </a:rPr>
                  <a:t>A positive result (+2 A) confirms that the physical current flows in the direction of our arrow. </a:t>
                </a:r>
                <a:endParaRPr lang="ru-RU" dirty="0">
                  <a:effectLst/>
                  <a:ea typeface="Aptos" panose="020B0004020202020204" pitchFamily="34" charset="0"/>
                </a:endParaRPr>
              </a:p>
            </p:txBody>
          </p:sp>
        </mc:Choice>
        <mc:Fallback xmlns="">
          <p:sp>
            <p:nvSpPr>
              <p:cNvPr id="3" name="Объект 2">
                <a:extLst>
                  <a:ext uri="{FF2B5EF4-FFF2-40B4-BE49-F238E27FC236}">
                    <a16:creationId xmlns:a16="http://schemas.microsoft.com/office/drawing/2014/main" id="{8EFBDEEF-E4A4-E96E-05DC-68CE329F667C}"/>
                  </a:ext>
                </a:extLst>
              </p:cNvPr>
              <p:cNvSpPr>
                <a:spLocks noGrp="1" noRot="1" noChangeAspect="1" noMove="1" noResize="1" noEditPoints="1" noAdjustHandles="1" noChangeArrowheads="1" noChangeShapeType="1" noTextEdit="1"/>
              </p:cNvSpPr>
              <p:nvPr>
                <p:ph idx="1"/>
              </p:nvPr>
            </p:nvSpPr>
            <p:spPr>
              <a:blipFill>
                <a:blip r:embed="rId2"/>
                <a:stretch>
                  <a:fillRect l="-1043" t="-560" r="-1159"/>
                </a:stretch>
              </a:blipFill>
            </p:spPr>
            <p:txBody>
              <a:bodyPr/>
              <a:lstStyle/>
              <a:p>
                <a:r>
                  <a:rPr lang="ru-RU">
                    <a:noFill/>
                  </a:rPr>
                  <a:t> </a:t>
                </a:r>
              </a:p>
            </p:txBody>
          </p:sp>
        </mc:Fallback>
      </mc:AlternateContent>
      <p:grpSp>
        <p:nvGrpSpPr>
          <p:cNvPr id="4" name="Группа 3">
            <a:extLst>
              <a:ext uri="{FF2B5EF4-FFF2-40B4-BE49-F238E27FC236}">
                <a16:creationId xmlns:a16="http://schemas.microsoft.com/office/drawing/2014/main" id="{D930622A-29A7-4024-7B6C-2CB23F64402D}"/>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5A59E29B-5E94-BAFB-CA8D-71CD7C21E5D2}"/>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CE3695BD-EAE2-2288-6C3B-CE47ED72B098}"/>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Fundamentals of Circuit Modeling</a:t>
              </a:r>
              <a:br>
                <a:rPr lang="en-US" sz="4000" cap="all" dirty="0">
                  <a:solidFill>
                    <a:schemeClr val="bg1"/>
                  </a:solidFill>
                  <a:latin typeface="Arial" panose="020B0604020202020204" pitchFamily="34" charset="0"/>
                  <a:cs typeface="Arial" panose="020B0604020202020204" pitchFamily="34" charset="0"/>
                </a:rPr>
              </a:br>
              <a:r>
                <a:rPr lang="en-US" sz="4000" cap="all" dirty="0">
                  <a:solidFill>
                    <a:schemeClr val="bg1"/>
                  </a:solidFill>
                  <a:latin typeface="Arial" panose="020B0604020202020204" pitchFamily="34" charset="0"/>
                  <a:cs typeface="Arial" panose="020B0604020202020204" pitchFamily="34" charset="0"/>
                </a:rPr>
                <a:t>and Basic Laws</a:t>
              </a:r>
              <a:endParaRPr lang="ru-RU" sz="4000" dirty="0"/>
            </a:p>
          </p:txBody>
        </p:sp>
      </p:grpSp>
    </p:spTree>
    <p:extLst>
      <p:ext uri="{BB962C8B-B14F-4D97-AF65-F5344CB8AC3E}">
        <p14:creationId xmlns:p14="http://schemas.microsoft.com/office/powerpoint/2010/main" val="11148808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9ABFD9-F755-8C53-786B-CB556D227CBF}"/>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E29A9D3F-CE55-9F26-64BE-12F124A89BA6}"/>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Fundamentals of Circuit Modeling</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and Basic Laws</a:t>
            </a:r>
            <a:endParaRPr lang="ru-RU"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509B738E-F41C-9E3C-F786-8FD61BBACDE0}"/>
                  </a:ext>
                </a:extLst>
              </p:cNvPr>
              <p:cNvSpPr>
                <a:spLocks noGrp="1"/>
              </p:cNvSpPr>
              <p:nvPr>
                <p:ph idx="1"/>
              </p:nvPr>
            </p:nvSpPr>
            <p:spPr>
              <a:xfrm>
                <a:off x="623454" y="1825625"/>
                <a:ext cx="11139055" cy="4351338"/>
              </a:xfrm>
            </p:spPr>
            <p:txBody>
              <a:bodyPr>
                <a:noAutofit/>
              </a:bodyPr>
              <a:lstStyle/>
              <a:p>
                <a:pPr algn="just">
                  <a:lnSpc>
                    <a:spcPct val="120000"/>
                  </a:lnSpc>
                </a:pPr>
                <a:r>
                  <a:rPr lang="en-US" dirty="0">
                    <a:effectLst/>
                    <a:ea typeface="Aptos" panose="020B0004020202020204" pitchFamily="34" charset="0"/>
                  </a:rPr>
                  <a:t>In the second case </a:t>
                </a:r>
                <a:r>
                  <a:rPr lang="en-US" dirty="0">
                    <a:ea typeface="Aptos" panose="020B0004020202020204" pitchFamily="34" charset="0"/>
                  </a:rPr>
                  <a:t>w</a:t>
                </a:r>
                <a:r>
                  <a:rPr lang="en-US" dirty="0">
                    <a:effectLst/>
                    <a:ea typeface="Aptos" panose="020B0004020202020204" pitchFamily="34" charset="0"/>
                  </a:rPr>
                  <a:t>e might guess the current flows out of it, so we draw the arrow pointing out. </a:t>
                </a:r>
              </a:p>
              <a:p>
                <a:pPr algn="just">
                  <a:lnSpc>
                    <a:spcPct val="120000"/>
                  </a:lnSpc>
                </a:pPr>
                <a:r>
                  <a:rPr lang="en-US" dirty="0">
                    <a:effectLst/>
                    <a:ea typeface="Aptos" panose="020B0004020202020204" pitchFamily="34" charset="0"/>
                  </a:rPr>
                  <a:t>But when we calculate, we get </a:t>
                </a:r>
                <a14:m>
                  <m:oMath xmlns:m="http://schemas.openxmlformats.org/officeDocument/2006/math">
                    <m:r>
                      <a:rPr lang="en-US" i="1">
                        <a:effectLst/>
                        <a:latin typeface="Cambria Math" panose="02040503050406030204" pitchFamily="18" charset="0"/>
                        <a:ea typeface="Aptos" panose="020B0004020202020204" pitchFamily="34" charset="0"/>
                      </a:rPr>
                      <m:t>−2</m:t>
                    </m:r>
                  </m:oMath>
                </a14:m>
                <a:r>
                  <a:rPr lang="en-US" dirty="0">
                    <a:effectLst/>
                    <a:ea typeface="Aptos" panose="020B0004020202020204" pitchFamily="34" charset="0"/>
                  </a:rPr>
                  <a:t> A. </a:t>
                </a:r>
              </a:p>
              <a:p>
                <a:pPr algn="just">
                  <a:lnSpc>
                    <a:spcPct val="120000"/>
                  </a:lnSpc>
                </a:pPr>
                <a:r>
                  <a:rPr lang="en-US" dirty="0">
                    <a:effectLst/>
                    <a:ea typeface="Aptos" panose="020B0004020202020204" pitchFamily="34" charset="0"/>
                  </a:rPr>
                  <a:t>A negative result (-2 A) acts as a mathematical correction; it tells us the real current is flowing opposite to our arrow, into the battery.</a:t>
                </a:r>
              </a:p>
              <a:p>
                <a:pPr algn="just">
                  <a:lnSpc>
                    <a:spcPct val="120000"/>
                  </a:lnSpc>
                </a:pPr>
                <a:r>
                  <a:rPr lang="en-US" dirty="0">
                    <a:effectLst/>
                    <a:ea typeface="Aptos" panose="020B0004020202020204" pitchFamily="34" charset="0"/>
                  </a:rPr>
                  <a:t>We do not need to erase our arrow; we just carry the negative sign in our math.</a:t>
                </a:r>
                <a:endParaRPr lang="ru-RU" dirty="0">
                  <a:effectLst/>
                  <a:ea typeface="Aptos" panose="020B0004020202020204" pitchFamily="34" charset="0"/>
                </a:endParaRPr>
              </a:p>
            </p:txBody>
          </p:sp>
        </mc:Choice>
        <mc:Fallback xmlns="">
          <p:sp>
            <p:nvSpPr>
              <p:cNvPr id="3" name="Объект 2">
                <a:extLst>
                  <a:ext uri="{FF2B5EF4-FFF2-40B4-BE49-F238E27FC236}">
                    <a16:creationId xmlns:a16="http://schemas.microsoft.com/office/drawing/2014/main" id="{509B738E-F41C-9E3C-F786-8FD61BBACDE0}"/>
                  </a:ext>
                </a:extLst>
              </p:cNvPr>
              <p:cNvSpPr>
                <a:spLocks noGrp="1" noRot="1" noChangeAspect="1" noMove="1" noResize="1" noEditPoints="1" noAdjustHandles="1" noChangeArrowheads="1" noChangeShapeType="1" noTextEdit="1"/>
              </p:cNvSpPr>
              <p:nvPr>
                <p:ph idx="1"/>
              </p:nvPr>
            </p:nvSpPr>
            <p:spPr>
              <a:xfrm>
                <a:off x="623454" y="1825625"/>
                <a:ext cx="11139055" cy="4351338"/>
              </a:xfrm>
              <a:blipFill>
                <a:blip r:embed="rId2"/>
                <a:stretch>
                  <a:fillRect l="-985" t="-560" r="-1094"/>
                </a:stretch>
              </a:blipFill>
            </p:spPr>
            <p:txBody>
              <a:bodyPr/>
              <a:lstStyle/>
              <a:p>
                <a:r>
                  <a:rPr lang="ru-RU">
                    <a:noFill/>
                  </a:rPr>
                  <a:t> </a:t>
                </a:r>
              </a:p>
            </p:txBody>
          </p:sp>
        </mc:Fallback>
      </mc:AlternateContent>
      <p:grpSp>
        <p:nvGrpSpPr>
          <p:cNvPr id="4" name="Группа 3">
            <a:extLst>
              <a:ext uri="{FF2B5EF4-FFF2-40B4-BE49-F238E27FC236}">
                <a16:creationId xmlns:a16="http://schemas.microsoft.com/office/drawing/2014/main" id="{9C474B62-DD8F-E594-C16E-1B4CB47FB91F}"/>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EAD4050D-611B-C86A-34CF-1A227FF3A2C6}"/>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E888AEF9-91D7-8DF9-3E70-D18B3893265C}"/>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Fundamentals of Circuit Modeling</a:t>
              </a:r>
              <a:br>
                <a:rPr lang="en-US" sz="4000" cap="all" dirty="0">
                  <a:solidFill>
                    <a:schemeClr val="bg1"/>
                  </a:solidFill>
                  <a:latin typeface="Arial" panose="020B0604020202020204" pitchFamily="34" charset="0"/>
                  <a:cs typeface="Arial" panose="020B0604020202020204" pitchFamily="34" charset="0"/>
                </a:rPr>
              </a:br>
              <a:r>
                <a:rPr lang="en-US" sz="4000" cap="all" dirty="0">
                  <a:solidFill>
                    <a:schemeClr val="bg1"/>
                  </a:solidFill>
                  <a:latin typeface="Arial" panose="020B0604020202020204" pitchFamily="34" charset="0"/>
                  <a:cs typeface="Arial" panose="020B0604020202020204" pitchFamily="34" charset="0"/>
                </a:rPr>
                <a:t>and Basic Laws</a:t>
              </a:r>
              <a:endParaRPr lang="ru-RU" sz="4000" dirty="0"/>
            </a:p>
          </p:txBody>
        </p:sp>
      </p:grpSp>
    </p:spTree>
    <p:extLst>
      <p:ext uri="{BB962C8B-B14F-4D97-AF65-F5344CB8AC3E}">
        <p14:creationId xmlns:p14="http://schemas.microsoft.com/office/powerpoint/2010/main" val="154563475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0461613-2ACC-C68B-06B3-BFE35799DAFB}"/>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Fundamentals of Circuit Modeling</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and Basic Laws</a:t>
            </a:r>
            <a:endParaRPr lang="ru-RU"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38B32713-8DC8-A19D-A317-628052EECCD1}"/>
                  </a:ext>
                </a:extLst>
              </p:cNvPr>
              <p:cNvSpPr>
                <a:spLocks noGrp="1"/>
              </p:cNvSpPr>
              <p:nvPr>
                <p:ph idx="1"/>
              </p:nvPr>
            </p:nvSpPr>
            <p:spPr/>
            <p:txBody>
              <a:bodyPr>
                <a:normAutofit/>
              </a:bodyPr>
              <a:lstStyle/>
              <a:p>
                <a:pPr algn="just"/>
                <a:r>
                  <a:rPr lang="en-US" dirty="0">
                    <a:effectLst/>
                    <a:latin typeface="Arial" panose="020B0604020202020204" pitchFamily="34" charset="0"/>
                    <a:ea typeface="Aptos" panose="020B0004020202020204" pitchFamily="34" charset="0"/>
                  </a:rPr>
                  <a:t>We turn our attention to the driving force of the current: voltage. </a:t>
                </a:r>
              </a:p>
              <a:p>
                <a:pPr algn="just"/>
                <a:r>
                  <a:rPr lang="en-US" b="1" dirty="0">
                    <a:effectLst/>
                    <a:latin typeface="Arial" panose="020B0604020202020204" pitchFamily="34" charset="0"/>
                    <a:ea typeface="Aptos" panose="020B0004020202020204" pitchFamily="34" charset="0"/>
                  </a:rPr>
                  <a:t>Voltage, or potential difference, is the energy required to move a unit charge through an element, measured in volts (V)</a:t>
                </a:r>
              </a:p>
              <a:p>
                <a:pPr algn="just"/>
                <a:r>
                  <a:rPr lang="en-US" dirty="0">
                    <a:effectLst/>
                    <a:latin typeface="Arial" panose="020B0604020202020204" pitchFamily="34" charset="0"/>
                    <a:ea typeface="Aptos" panose="020B0004020202020204" pitchFamily="34" charset="0"/>
                  </a:rPr>
                  <a:t>Mathematically, </a:t>
                </a:r>
                <a14:m>
                  <m:oMath xmlns:m="http://schemas.openxmlformats.org/officeDocument/2006/math">
                    <m:r>
                      <a:rPr lang="en-US" b="1" i="1" smtClean="0">
                        <a:effectLst/>
                        <a:latin typeface="Cambria Math" panose="02040503050406030204" pitchFamily="18" charset="0"/>
                        <a:ea typeface="Aptos" panose="020B0004020202020204" pitchFamily="34" charset="0"/>
                        <a:cs typeface="Times New Roman" panose="02020603050405020304" pitchFamily="18" charset="0"/>
                      </a:rPr>
                      <m:t>𝒗</m:t>
                    </m:r>
                    <m:r>
                      <a:rPr lang="en-US">
                        <a:effectLst/>
                        <a:latin typeface="Cambria Math" panose="02040503050406030204" pitchFamily="18" charset="0"/>
                        <a:ea typeface="Aptos" panose="020B0004020202020204" pitchFamily="34" charset="0"/>
                        <a:cs typeface="Times New Roman" panose="02020603050405020304" pitchFamily="18" charset="0"/>
                      </a:rPr>
                      <m:t>=</m:t>
                    </m:r>
                    <m:f>
                      <m:fPr>
                        <m:ctrlPr>
                          <a:rPr lang="ru-RU" i="1">
                            <a:effectLst/>
                            <a:latin typeface="Cambria Math" panose="02040503050406030204" pitchFamily="18" charset="0"/>
                          </a:rPr>
                        </m:ctrlPr>
                      </m:fPr>
                      <m:num>
                        <m:r>
                          <a:rPr lang="en-US" b="1" i="1">
                            <a:effectLst/>
                            <a:latin typeface="Cambria Math" panose="02040503050406030204" pitchFamily="18" charset="0"/>
                            <a:ea typeface="Aptos" panose="020B0004020202020204" pitchFamily="34" charset="0"/>
                            <a:cs typeface="Times New Roman" panose="02020603050405020304" pitchFamily="18" charset="0"/>
                          </a:rPr>
                          <m:t>𝒅𝒘</m:t>
                        </m:r>
                      </m:num>
                      <m:den>
                        <m:r>
                          <a:rPr lang="en-US" b="1" i="1">
                            <a:effectLst/>
                            <a:latin typeface="Cambria Math" panose="02040503050406030204" pitchFamily="18" charset="0"/>
                            <a:ea typeface="Aptos" panose="020B0004020202020204" pitchFamily="34" charset="0"/>
                            <a:cs typeface="Times New Roman" panose="02020603050405020304" pitchFamily="18" charset="0"/>
                          </a:rPr>
                          <m:t>𝒅𝒒</m:t>
                        </m:r>
                      </m:den>
                    </m:f>
                  </m:oMath>
                </a14:m>
                <a:endParaRPr lang="en-US" b="1" dirty="0">
                  <a:effectLst/>
                  <a:ea typeface="Aptos" panose="020B0004020202020204" pitchFamily="34" charset="0"/>
                </a:endParaRPr>
              </a:p>
              <a:p>
                <a:pPr algn="just"/>
                <a:r>
                  <a:rPr lang="en-US" b="1" dirty="0">
                    <a:effectLst/>
                    <a:latin typeface="Arial" panose="020B0604020202020204" pitchFamily="34" charset="0"/>
                    <a:ea typeface="Aptos" panose="020B0004020202020204" pitchFamily="34" charset="0"/>
                  </a:rPr>
                  <a:t>One volt is defined as one joule of energy w per coulomb of charge q. </a:t>
                </a:r>
                <a:endParaRPr lang="ru-RU" b="1" dirty="0">
                  <a:effectLst/>
                  <a:latin typeface="Arial" panose="020B0604020202020204" pitchFamily="34" charset="0"/>
                  <a:ea typeface="Aptos" panose="020B0004020202020204" pitchFamily="34" charset="0"/>
                </a:endParaRPr>
              </a:p>
            </p:txBody>
          </p:sp>
        </mc:Choice>
        <mc:Fallback xmlns="">
          <p:sp>
            <p:nvSpPr>
              <p:cNvPr id="3" name="Объект 2">
                <a:extLst>
                  <a:ext uri="{FF2B5EF4-FFF2-40B4-BE49-F238E27FC236}">
                    <a16:creationId xmlns:a16="http://schemas.microsoft.com/office/drawing/2014/main" id="{38B32713-8DC8-A19D-A317-628052EECCD1}"/>
                  </a:ext>
                </a:extLst>
              </p:cNvPr>
              <p:cNvSpPr>
                <a:spLocks noGrp="1" noRot="1" noChangeAspect="1" noMove="1" noResize="1" noEditPoints="1" noAdjustHandles="1" noChangeArrowheads="1" noChangeShapeType="1" noTextEdit="1"/>
              </p:cNvSpPr>
              <p:nvPr>
                <p:ph idx="1"/>
              </p:nvPr>
            </p:nvSpPr>
            <p:spPr>
              <a:blipFill>
                <a:blip r:embed="rId2"/>
                <a:stretch>
                  <a:fillRect l="-1043" t="-2381" r="-1159"/>
                </a:stretch>
              </a:blipFill>
            </p:spPr>
            <p:txBody>
              <a:bodyPr/>
              <a:lstStyle/>
              <a:p>
                <a:r>
                  <a:rPr lang="ru-RU">
                    <a:noFill/>
                  </a:rPr>
                  <a:t> </a:t>
                </a:r>
              </a:p>
            </p:txBody>
          </p:sp>
        </mc:Fallback>
      </mc:AlternateContent>
      <p:grpSp>
        <p:nvGrpSpPr>
          <p:cNvPr id="4" name="Группа 3">
            <a:extLst>
              <a:ext uri="{FF2B5EF4-FFF2-40B4-BE49-F238E27FC236}">
                <a16:creationId xmlns:a16="http://schemas.microsoft.com/office/drawing/2014/main" id="{31BD5CC0-41DD-55A5-2B30-060886FA0AF6}"/>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8F4FD60D-1D47-94D9-A6C4-1860B568FD26}"/>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6988AD45-91F5-9FDB-94C9-9648F2A69E25}"/>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Fundamentals of Circuit Modeling</a:t>
              </a:r>
              <a:br>
                <a:rPr lang="en-US" sz="4000" cap="all" dirty="0">
                  <a:solidFill>
                    <a:schemeClr val="bg1"/>
                  </a:solidFill>
                  <a:latin typeface="Arial" panose="020B0604020202020204" pitchFamily="34" charset="0"/>
                  <a:cs typeface="Arial" panose="020B0604020202020204" pitchFamily="34" charset="0"/>
                </a:rPr>
              </a:br>
              <a:r>
                <a:rPr lang="en-US" sz="4000" cap="all" dirty="0">
                  <a:solidFill>
                    <a:schemeClr val="bg1"/>
                  </a:solidFill>
                  <a:latin typeface="Arial" panose="020B0604020202020204" pitchFamily="34" charset="0"/>
                  <a:cs typeface="Arial" panose="020B0604020202020204" pitchFamily="34" charset="0"/>
                </a:rPr>
                <a:t>and Basic Laws</a:t>
              </a:r>
              <a:endParaRPr lang="ru-RU" sz="4000" dirty="0"/>
            </a:p>
          </p:txBody>
        </p:sp>
      </p:grpSp>
    </p:spTree>
    <p:extLst>
      <p:ext uri="{BB962C8B-B14F-4D97-AF65-F5344CB8AC3E}">
        <p14:creationId xmlns:p14="http://schemas.microsoft.com/office/powerpoint/2010/main" val="59161794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C79007-DF08-6BDE-27BE-B3651B117A0D}"/>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4A78981A-7A12-5E98-08A6-2FE8F462F14D}"/>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Fundamentals of Circuit Modeling</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and Basic Laws</a:t>
            </a:r>
            <a:endParaRPr lang="ru-RU" dirty="0">
              <a:latin typeface="Arial" panose="020B0604020202020204" pitchFamily="34" charset="0"/>
              <a:cs typeface="Arial" panose="020B0604020202020204" pitchFamily="34" charset="0"/>
            </a:endParaRPr>
          </a:p>
        </p:txBody>
      </p:sp>
      <p:sp>
        <p:nvSpPr>
          <p:cNvPr id="3" name="Объект 2">
            <a:extLst>
              <a:ext uri="{FF2B5EF4-FFF2-40B4-BE49-F238E27FC236}">
                <a16:creationId xmlns:a16="http://schemas.microsoft.com/office/drawing/2014/main" id="{353888BE-4200-8A32-06AC-25A9E1080B64}"/>
              </a:ext>
            </a:extLst>
          </p:cNvPr>
          <p:cNvSpPr>
            <a:spLocks noGrp="1"/>
          </p:cNvSpPr>
          <p:nvPr>
            <p:ph idx="1"/>
          </p:nvPr>
        </p:nvSpPr>
        <p:spPr/>
        <p:txBody>
          <a:bodyPr>
            <a:normAutofit/>
          </a:bodyPr>
          <a:lstStyle/>
          <a:p>
            <a:pPr algn="just"/>
            <a:r>
              <a:rPr lang="en-US" dirty="0">
                <a:effectLst/>
                <a:latin typeface="Arial" panose="020B0604020202020204" pitchFamily="34" charset="0"/>
                <a:ea typeface="Aptos" panose="020B0004020202020204" pitchFamily="34" charset="0"/>
              </a:rPr>
              <a:t>It represents the work done by the electric field in moving charge between two distinct points. </a:t>
            </a:r>
          </a:p>
          <a:p>
            <a:pPr algn="just"/>
            <a:r>
              <a:rPr lang="en-US" dirty="0">
                <a:effectLst/>
                <a:latin typeface="Arial" panose="020B0604020202020204" pitchFamily="34" charset="0"/>
                <a:ea typeface="Aptos" panose="020B0004020202020204" pitchFamily="34" charset="0"/>
              </a:rPr>
              <a:t>Similar to current, voltage is a signed quantity that requires a polarity definition to be algebraically useful in circuit analysis. </a:t>
            </a:r>
          </a:p>
          <a:p>
            <a:pPr algn="just"/>
            <a:r>
              <a:rPr lang="en-US" dirty="0">
                <a:effectLst/>
                <a:latin typeface="Arial" panose="020B0604020202020204" pitchFamily="34" charset="0"/>
                <a:ea typeface="Aptos" panose="020B0004020202020204" pitchFamily="34" charset="0"/>
              </a:rPr>
              <a:t>It is the pressure that pushes charge through the resistance of the circuit components.</a:t>
            </a:r>
            <a:endParaRPr lang="ru-RU" b="1" dirty="0">
              <a:effectLst/>
              <a:latin typeface="Arial" panose="020B0604020202020204" pitchFamily="34" charset="0"/>
              <a:ea typeface="Aptos" panose="020B0004020202020204" pitchFamily="34" charset="0"/>
            </a:endParaRPr>
          </a:p>
        </p:txBody>
      </p:sp>
      <p:grpSp>
        <p:nvGrpSpPr>
          <p:cNvPr id="4" name="Группа 3">
            <a:extLst>
              <a:ext uri="{FF2B5EF4-FFF2-40B4-BE49-F238E27FC236}">
                <a16:creationId xmlns:a16="http://schemas.microsoft.com/office/drawing/2014/main" id="{3345CF73-2067-AAA7-3B7E-668BC5106FBD}"/>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82D5B741-0BB1-9B7A-E23E-A2F83667AF3D}"/>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B1F84652-6D9A-7D1E-F657-FCDCCD19E2AD}"/>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Fundamentals of Circuit Modeling</a:t>
              </a:r>
              <a:br>
                <a:rPr lang="en-US" sz="4000" cap="all" dirty="0">
                  <a:solidFill>
                    <a:schemeClr val="bg1"/>
                  </a:solidFill>
                  <a:latin typeface="Arial" panose="020B0604020202020204" pitchFamily="34" charset="0"/>
                  <a:cs typeface="Arial" panose="020B0604020202020204" pitchFamily="34" charset="0"/>
                </a:rPr>
              </a:br>
              <a:r>
                <a:rPr lang="en-US" sz="4000" cap="all" dirty="0">
                  <a:solidFill>
                    <a:schemeClr val="bg1"/>
                  </a:solidFill>
                  <a:latin typeface="Arial" panose="020B0604020202020204" pitchFamily="34" charset="0"/>
                  <a:cs typeface="Arial" panose="020B0604020202020204" pitchFamily="34" charset="0"/>
                </a:rPr>
                <a:t>and Basic Laws</a:t>
              </a:r>
              <a:endParaRPr lang="ru-RU" sz="4000" dirty="0"/>
            </a:p>
          </p:txBody>
        </p:sp>
      </p:grpSp>
    </p:spTree>
    <p:extLst>
      <p:ext uri="{BB962C8B-B14F-4D97-AF65-F5344CB8AC3E}">
        <p14:creationId xmlns:p14="http://schemas.microsoft.com/office/powerpoint/2010/main" val="37252578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386ECE-62CE-4D3F-0F70-5262E7D7940B}"/>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B44BC30A-7633-9FE9-FC7E-030A70CD327A}"/>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Fundamentals of Circuit Modeling</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and Basic Laws</a:t>
            </a:r>
            <a:endParaRPr lang="ru-RU" dirty="0">
              <a:latin typeface="Arial" panose="020B0604020202020204" pitchFamily="34" charset="0"/>
              <a:cs typeface="Arial" panose="020B0604020202020204" pitchFamily="34" charset="0"/>
            </a:endParaRPr>
          </a:p>
        </p:txBody>
      </p:sp>
      <p:sp>
        <p:nvSpPr>
          <p:cNvPr id="3" name="Объект 2">
            <a:extLst>
              <a:ext uri="{FF2B5EF4-FFF2-40B4-BE49-F238E27FC236}">
                <a16:creationId xmlns:a16="http://schemas.microsoft.com/office/drawing/2014/main" id="{9BAE5907-0432-EDE3-1B80-698388ACAC40}"/>
              </a:ext>
            </a:extLst>
          </p:cNvPr>
          <p:cNvSpPr>
            <a:spLocks noGrp="1"/>
          </p:cNvSpPr>
          <p:nvPr>
            <p:ph idx="1"/>
          </p:nvPr>
        </p:nvSpPr>
        <p:spPr/>
        <p:txBody>
          <a:bodyPr>
            <a:normAutofit/>
          </a:bodyPr>
          <a:lstStyle/>
          <a:p>
            <a:pPr algn="just"/>
            <a:r>
              <a:rPr lang="en-US" dirty="0">
                <a:effectLst/>
                <a:latin typeface="Arial" panose="020B0604020202020204" pitchFamily="34" charset="0"/>
                <a:ea typeface="Aptos" panose="020B0004020202020204" pitchFamily="34" charset="0"/>
              </a:rPr>
              <a:t>Here is an illustration of voltage with water analogy. </a:t>
            </a:r>
          </a:p>
          <a:p>
            <a:pPr algn="just"/>
            <a:r>
              <a:rPr lang="en-US" dirty="0">
                <a:effectLst/>
                <a:latin typeface="Arial" panose="020B0604020202020204" pitchFamily="34" charset="0"/>
                <a:ea typeface="Aptos" panose="020B0004020202020204" pitchFamily="34" charset="0"/>
              </a:rPr>
              <a:t>If we connect two water boils at their bottoms, the difference of the levels in boils will be affects to speed of water leaking from the left boil to the right one. </a:t>
            </a:r>
          </a:p>
        </p:txBody>
      </p:sp>
      <p:grpSp>
        <p:nvGrpSpPr>
          <p:cNvPr id="4" name="Группа 3">
            <a:extLst>
              <a:ext uri="{FF2B5EF4-FFF2-40B4-BE49-F238E27FC236}">
                <a16:creationId xmlns:a16="http://schemas.microsoft.com/office/drawing/2014/main" id="{EBD0BE9E-5C8D-738E-611C-ED6BECF72680}"/>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FBAE98D9-947F-59FA-B7FB-70646C9F5C17}"/>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8978E2DD-B990-2689-C18F-E623FA66F798}"/>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Fundamentals of Circuit Modeling</a:t>
              </a:r>
              <a:br>
                <a:rPr lang="en-US" sz="4000" cap="all" dirty="0">
                  <a:solidFill>
                    <a:schemeClr val="bg1"/>
                  </a:solidFill>
                  <a:latin typeface="Arial" panose="020B0604020202020204" pitchFamily="34" charset="0"/>
                  <a:cs typeface="Arial" panose="020B0604020202020204" pitchFamily="34" charset="0"/>
                </a:rPr>
              </a:br>
              <a:r>
                <a:rPr lang="en-US" sz="4000" cap="all" dirty="0">
                  <a:solidFill>
                    <a:schemeClr val="bg1"/>
                  </a:solidFill>
                  <a:latin typeface="Arial" panose="020B0604020202020204" pitchFamily="34" charset="0"/>
                  <a:cs typeface="Arial" panose="020B0604020202020204" pitchFamily="34" charset="0"/>
                </a:rPr>
                <a:t>and Basic Laws</a:t>
              </a:r>
              <a:endParaRPr lang="ru-RU" sz="4000" dirty="0"/>
            </a:p>
          </p:txBody>
        </p:sp>
      </p:grpSp>
      <p:pic>
        <p:nvPicPr>
          <p:cNvPr id="15" name="Рисунок 14">
            <a:extLst>
              <a:ext uri="{FF2B5EF4-FFF2-40B4-BE49-F238E27FC236}">
                <a16:creationId xmlns:a16="http://schemas.microsoft.com/office/drawing/2014/main" id="{93040902-8ABD-939D-8155-36FD1DAE1120}"/>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567614" y="3716090"/>
            <a:ext cx="5056771" cy="3141910"/>
          </a:xfrm>
          <a:prstGeom prst="rect">
            <a:avLst/>
          </a:prstGeom>
        </p:spPr>
      </p:pic>
    </p:spTree>
    <p:extLst>
      <p:ext uri="{BB962C8B-B14F-4D97-AF65-F5344CB8AC3E}">
        <p14:creationId xmlns:p14="http://schemas.microsoft.com/office/powerpoint/2010/main" val="195591928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A0C0DF-2E6B-B523-7238-D02FC21B9D67}"/>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FADE7E42-E962-BF75-97BC-92C0C99586EB}"/>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Fundamentals of Circuit Modeling</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and Basic Laws</a:t>
            </a:r>
            <a:endParaRPr lang="ru-RU"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F8EA2343-F451-04DF-82EA-AF4CDE952398}"/>
                  </a:ext>
                </a:extLst>
              </p:cNvPr>
              <p:cNvSpPr>
                <a:spLocks noGrp="1"/>
              </p:cNvSpPr>
              <p:nvPr>
                <p:ph idx="1"/>
              </p:nvPr>
            </p:nvSpPr>
            <p:spPr/>
            <p:txBody>
              <a:bodyPr>
                <a:normAutofit/>
              </a:bodyPr>
              <a:lstStyle/>
              <a:p>
                <a:pPr algn="just"/>
                <a:r>
                  <a:rPr lang="en-US" dirty="0">
                    <a:effectLst/>
                    <a:latin typeface="Arial" panose="020B0604020202020204" pitchFamily="34" charset="0"/>
                    <a:ea typeface="Aptos" panose="020B0004020202020204" pitchFamily="34" charset="0"/>
                  </a:rPr>
                  <a:t>In electricity it’s all the same but instead of levels of water potentials of two different dots in circuits affects to the electrons speed that moved through wires from first point to the second. </a:t>
                </a:r>
              </a:p>
              <a:p>
                <a:pPr algn="just"/>
                <a:r>
                  <a:rPr lang="en-US" dirty="0">
                    <a:effectLst/>
                    <a:latin typeface="Arial" panose="020B0604020202020204" pitchFamily="34" charset="0"/>
                    <a:ea typeface="Aptos" panose="020B0004020202020204" pitchFamily="34" charset="0"/>
                  </a:rPr>
                  <a:t>Also, if electrons move, we know that some current </a:t>
                </a:r>
                <a14:m>
                  <m:oMath xmlns:m="http://schemas.openxmlformats.org/officeDocument/2006/math">
                    <m:r>
                      <a:rPr lang="en-US" i="1" dirty="0" smtClean="0">
                        <a:effectLst/>
                        <a:latin typeface="Cambria Math" panose="02040503050406030204" pitchFamily="18" charset="0"/>
                        <a:ea typeface="Aptos" panose="020B0004020202020204" pitchFamily="34" charset="0"/>
                      </a:rPr>
                      <m:t>𝑖</m:t>
                    </m:r>
                  </m:oMath>
                </a14:m>
                <a:r>
                  <a:rPr lang="en-US" dirty="0">
                    <a:effectLst/>
                    <a:latin typeface="Arial" panose="020B0604020202020204" pitchFamily="34" charset="0"/>
                    <a:ea typeface="Aptos" panose="020B0004020202020204" pitchFamily="34" charset="0"/>
                  </a:rPr>
                  <a:t> will appear in circuit.</a:t>
                </a:r>
                <a:endParaRPr lang="ru-RU" b="1" dirty="0">
                  <a:effectLst/>
                  <a:latin typeface="Arial" panose="020B0604020202020204" pitchFamily="34" charset="0"/>
                  <a:ea typeface="Aptos" panose="020B0004020202020204" pitchFamily="34" charset="0"/>
                </a:endParaRPr>
              </a:p>
            </p:txBody>
          </p:sp>
        </mc:Choice>
        <mc:Fallback xmlns="">
          <p:sp>
            <p:nvSpPr>
              <p:cNvPr id="3" name="Объект 2">
                <a:extLst>
                  <a:ext uri="{FF2B5EF4-FFF2-40B4-BE49-F238E27FC236}">
                    <a16:creationId xmlns:a16="http://schemas.microsoft.com/office/drawing/2014/main" id="{F8EA2343-F451-04DF-82EA-AF4CDE952398}"/>
                  </a:ext>
                </a:extLst>
              </p:cNvPr>
              <p:cNvSpPr>
                <a:spLocks noGrp="1" noRot="1" noChangeAspect="1" noMove="1" noResize="1" noEditPoints="1" noAdjustHandles="1" noChangeArrowheads="1" noChangeShapeType="1" noTextEdit="1"/>
              </p:cNvSpPr>
              <p:nvPr>
                <p:ph idx="1"/>
              </p:nvPr>
            </p:nvSpPr>
            <p:spPr>
              <a:blipFill>
                <a:blip r:embed="rId2"/>
                <a:stretch>
                  <a:fillRect l="-1043" t="-2381" r="-1159"/>
                </a:stretch>
              </a:blipFill>
            </p:spPr>
            <p:txBody>
              <a:bodyPr/>
              <a:lstStyle/>
              <a:p>
                <a:r>
                  <a:rPr lang="ru-RU">
                    <a:noFill/>
                  </a:rPr>
                  <a:t> </a:t>
                </a:r>
              </a:p>
            </p:txBody>
          </p:sp>
        </mc:Fallback>
      </mc:AlternateContent>
      <p:grpSp>
        <p:nvGrpSpPr>
          <p:cNvPr id="4" name="Группа 3">
            <a:extLst>
              <a:ext uri="{FF2B5EF4-FFF2-40B4-BE49-F238E27FC236}">
                <a16:creationId xmlns:a16="http://schemas.microsoft.com/office/drawing/2014/main" id="{E7A385AA-67AE-819E-2E64-D48667698BAC}"/>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4307F14A-57C0-D366-C791-3333DEFD2AE9}"/>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82C8AE6E-AD95-34A3-3410-97159D5EEDF9}"/>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Fundamentals of Circuit Modeling</a:t>
              </a:r>
              <a:br>
                <a:rPr lang="en-US" sz="4000" cap="all" dirty="0">
                  <a:solidFill>
                    <a:schemeClr val="bg1"/>
                  </a:solidFill>
                  <a:latin typeface="Arial" panose="020B0604020202020204" pitchFamily="34" charset="0"/>
                  <a:cs typeface="Arial" panose="020B0604020202020204" pitchFamily="34" charset="0"/>
                </a:rPr>
              </a:br>
              <a:r>
                <a:rPr lang="en-US" sz="4000" cap="all" dirty="0">
                  <a:solidFill>
                    <a:schemeClr val="bg1"/>
                  </a:solidFill>
                  <a:latin typeface="Arial" panose="020B0604020202020204" pitchFamily="34" charset="0"/>
                  <a:cs typeface="Arial" panose="020B0604020202020204" pitchFamily="34" charset="0"/>
                </a:rPr>
                <a:t>and Basic Laws</a:t>
              </a:r>
              <a:endParaRPr lang="ru-RU" sz="4000" dirty="0"/>
            </a:p>
          </p:txBody>
        </p:sp>
      </p:grpSp>
    </p:spTree>
    <p:extLst>
      <p:ext uri="{BB962C8B-B14F-4D97-AF65-F5344CB8AC3E}">
        <p14:creationId xmlns:p14="http://schemas.microsoft.com/office/powerpoint/2010/main" val="232451173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5EE625-E2F7-67CF-939C-3364F183746F}"/>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8037C696-12BC-3442-1117-2EB6E4A599E9}"/>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Fundamentals of Circuit Modeling</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and Basic Laws</a:t>
            </a:r>
            <a:endParaRPr lang="ru-RU" dirty="0">
              <a:latin typeface="Arial" panose="020B0604020202020204" pitchFamily="34" charset="0"/>
              <a:cs typeface="Arial" panose="020B0604020202020204" pitchFamily="34" charset="0"/>
            </a:endParaRPr>
          </a:p>
        </p:txBody>
      </p:sp>
      <p:sp>
        <p:nvSpPr>
          <p:cNvPr id="3" name="Объект 2">
            <a:extLst>
              <a:ext uri="{FF2B5EF4-FFF2-40B4-BE49-F238E27FC236}">
                <a16:creationId xmlns:a16="http://schemas.microsoft.com/office/drawing/2014/main" id="{34D3CCC3-93C9-1760-8F96-36810688F0E5}"/>
              </a:ext>
            </a:extLst>
          </p:cNvPr>
          <p:cNvSpPr>
            <a:spLocks noGrp="1"/>
          </p:cNvSpPr>
          <p:nvPr>
            <p:ph idx="1"/>
          </p:nvPr>
        </p:nvSpPr>
        <p:spPr>
          <a:xfrm>
            <a:off x="609600" y="1825625"/>
            <a:ext cx="5791200" cy="4758055"/>
          </a:xfrm>
        </p:spPr>
        <p:txBody>
          <a:bodyPr>
            <a:normAutofit/>
          </a:bodyPr>
          <a:lstStyle/>
          <a:p>
            <a:pPr algn="just"/>
            <a:r>
              <a:rPr lang="en-US" dirty="0">
                <a:effectLst/>
                <a:latin typeface="Arial" panose="020B0604020202020204" pitchFamily="34" charset="0"/>
                <a:ea typeface="Aptos" panose="020B0004020202020204" pitchFamily="34" charset="0"/>
              </a:rPr>
              <a:t>And here is a special case of last illustration. If there is no difference of levels in boils – there is no water leaking from one boil to another. </a:t>
            </a:r>
          </a:p>
          <a:p>
            <a:pPr algn="just"/>
            <a:r>
              <a:rPr lang="en-US" dirty="0">
                <a:effectLst/>
                <a:latin typeface="Arial" panose="020B0604020202020204" pitchFamily="34" charset="0"/>
                <a:ea typeface="Aptos" panose="020B0004020202020204" pitchFamily="34" charset="0"/>
              </a:rPr>
              <a:t>Therefore, if potentials of two points in the circuit are the same, the voltage between these points equals zero. </a:t>
            </a:r>
          </a:p>
          <a:p>
            <a:pPr algn="just"/>
            <a:r>
              <a:rPr lang="en-US" dirty="0">
                <a:effectLst/>
                <a:latin typeface="Arial" panose="020B0604020202020204" pitchFamily="34" charset="0"/>
                <a:ea typeface="Aptos" panose="020B0004020202020204" pitchFamily="34" charset="0"/>
              </a:rPr>
              <a:t>Thus, the current also equals zero.</a:t>
            </a:r>
            <a:endParaRPr lang="ru-RU" b="1" dirty="0">
              <a:effectLst/>
              <a:latin typeface="Arial" panose="020B0604020202020204" pitchFamily="34" charset="0"/>
              <a:ea typeface="Aptos" panose="020B0004020202020204" pitchFamily="34" charset="0"/>
            </a:endParaRPr>
          </a:p>
        </p:txBody>
      </p:sp>
      <p:grpSp>
        <p:nvGrpSpPr>
          <p:cNvPr id="4" name="Группа 3">
            <a:extLst>
              <a:ext uri="{FF2B5EF4-FFF2-40B4-BE49-F238E27FC236}">
                <a16:creationId xmlns:a16="http://schemas.microsoft.com/office/drawing/2014/main" id="{062F43C0-7E6C-D00C-BB7B-E4B4961B2D82}"/>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C7B3A382-9963-0DEB-0D37-A9C3B8360803}"/>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F9ABA29D-D0A9-091A-2484-81CD3C44EF8E}"/>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Fundamentals of Circuit Modeling</a:t>
              </a:r>
              <a:br>
                <a:rPr lang="en-US" sz="4000" cap="all" dirty="0">
                  <a:solidFill>
                    <a:schemeClr val="bg1"/>
                  </a:solidFill>
                  <a:latin typeface="Arial" panose="020B0604020202020204" pitchFamily="34" charset="0"/>
                  <a:cs typeface="Arial" panose="020B0604020202020204" pitchFamily="34" charset="0"/>
                </a:rPr>
              </a:br>
              <a:r>
                <a:rPr lang="en-US" sz="4000" cap="all" dirty="0">
                  <a:solidFill>
                    <a:schemeClr val="bg1"/>
                  </a:solidFill>
                  <a:latin typeface="Arial" panose="020B0604020202020204" pitchFamily="34" charset="0"/>
                  <a:cs typeface="Arial" panose="020B0604020202020204" pitchFamily="34" charset="0"/>
                </a:rPr>
                <a:t>and Basic Laws</a:t>
              </a:r>
              <a:endParaRPr lang="ru-RU" sz="4000" dirty="0"/>
            </a:p>
          </p:txBody>
        </p:sp>
      </p:grpSp>
      <p:pic>
        <p:nvPicPr>
          <p:cNvPr id="7" name="Рисунок 6">
            <a:extLst>
              <a:ext uri="{FF2B5EF4-FFF2-40B4-BE49-F238E27FC236}">
                <a16:creationId xmlns:a16="http://schemas.microsoft.com/office/drawing/2014/main" id="{631AE330-845E-E76C-26E9-1557C25B827B}"/>
              </a:ext>
            </a:extLst>
          </p:cNvPr>
          <p:cNvPicPr>
            <a:picLocks noChangeAspect="1"/>
          </p:cNvPicPr>
          <p:nvPr/>
        </p:nvPicPr>
        <p:blipFill>
          <a:blip r:embed="rId2" cstate="email">
            <a:alphaModFix/>
            <a:extLst>
              <a:ext uri="{28A0092B-C50C-407E-A947-70E740481C1C}">
                <a14:useLocalDpi xmlns:a14="http://schemas.microsoft.com/office/drawing/2010/main"/>
              </a:ext>
            </a:extLst>
          </a:blip>
          <a:srcRect b="-1"/>
          <a:stretch/>
        </p:blipFill>
        <p:spPr>
          <a:xfrm>
            <a:off x="6483245" y="2555588"/>
            <a:ext cx="5597503" cy="3298128"/>
          </a:xfrm>
          <a:prstGeom prst="rect">
            <a:avLst/>
          </a:prstGeom>
        </p:spPr>
      </p:pic>
    </p:spTree>
    <p:extLst>
      <p:ext uri="{BB962C8B-B14F-4D97-AF65-F5344CB8AC3E}">
        <p14:creationId xmlns:p14="http://schemas.microsoft.com/office/powerpoint/2010/main" val="309798531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0461613-2ACC-C68B-06B3-BFE35799DAFB}"/>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Fundamentals of Circuit Modeling</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and Basic Laws</a:t>
            </a:r>
            <a:endParaRPr lang="ru-RU" dirty="0">
              <a:latin typeface="Arial" panose="020B0604020202020204" pitchFamily="34" charset="0"/>
              <a:cs typeface="Arial" panose="020B0604020202020204" pitchFamily="34" charset="0"/>
            </a:endParaRPr>
          </a:p>
        </p:txBody>
      </p:sp>
      <p:sp>
        <p:nvSpPr>
          <p:cNvPr id="3" name="Объект 2">
            <a:extLst>
              <a:ext uri="{FF2B5EF4-FFF2-40B4-BE49-F238E27FC236}">
                <a16:creationId xmlns:a16="http://schemas.microsoft.com/office/drawing/2014/main" id="{38B32713-8DC8-A19D-A317-628052EECCD1}"/>
              </a:ext>
            </a:extLst>
          </p:cNvPr>
          <p:cNvSpPr>
            <a:spLocks noGrp="1"/>
          </p:cNvSpPr>
          <p:nvPr>
            <p:ph idx="1"/>
          </p:nvPr>
        </p:nvSpPr>
        <p:spPr/>
        <p:txBody>
          <a:bodyPr>
            <a:normAutofit/>
          </a:bodyPr>
          <a:lstStyle/>
          <a:p>
            <a:pPr algn="just"/>
            <a:r>
              <a:rPr lang="en-US" dirty="0">
                <a:effectLst/>
                <a:latin typeface="Arial" panose="020B0604020202020204" pitchFamily="34" charset="0"/>
                <a:ea typeface="Aptos" panose="020B0004020202020204" pitchFamily="34" charset="0"/>
              </a:rPr>
              <a:t>Just as current requires a reference arrow, voltage requires reference polarity. </a:t>
            </a:r>
          </a:p>
          <a:p>
            <a:pPr algn="just"/>
            <a:r>
              <a:rPr lang="en-US" b="1" dirty="0">
                <a:effectLst/>
                <a:latin typeface="Arial" panose="020B0604020202020204" pitchFamily="34" charset="0"/>
                <a:ea typeface="Aptos" panose="020B0004020202020204" pitchFamily="34" charset="0"/>
              </a:rPr>
              <a:t>The reference polarity indicates the assumed high and low potential terminals of an element, typically denoted by plus (+) and minus (-) signs. </a:t>
            </a:r>
          </a:p>
          <a:p>
            <a:pPr algn="just"/>
            <a:r>
              <a:rPr lang="en-US" b="1" dirty="0">
                <a:effectLst/>
                <a:latin typeface="Arial" panose="020B0604020202020204" pitchFamily="34" charset="0"/>
                <a:ea typeface="Aptos" panose="020B0004020202020204" pitchFamily="34" charset="0"/>
              </a:rPr>
              <a:t>The positive sign represents the point of assumed higher potential.</a:t>
            </a:r>
            <a:endParaRPr lang="ru-RU" b="1" dirty="0">
              <a:effectLst/>
              <a:latin typeface="Arial" panose="020B0604020202020204" pitchFamily="34" charset="0"/>
              <a:ea typeface="Aptos" panose="020B0004020202020204" pitchFamily="34" charset="0"/>
            </a:endParaRPr>
          </a:p>
        </p:txBody>
      </p:sp>
      <p:grpSp>
        <p:nvGrpSpPr>
          <p:cNvPr id="4" name="Группа 3">
            <a:extLst>
              <a:ext uri="{FF2B5EF4-FFF2-40B4-BE49-F238E27FC236}">
                <a16:creationId xmlns:a16="http://schemas.microsoft.com/office/drawing/2014/main" id="{3DB16F26-1378-634E-82DD-C7E80918AD07}"/>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4E01F791-A9C6-1E8C-1F5E-42C3008DA459}"/>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4D28FD16-16F0-11C4-ADD3-4E5EDF05777B}"/>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Fundamentals of Circuit Modeling</a:t>
              </a:r>
              <a:br>
                <a:rPr lang="en-US" sz="4000" cap="all" dirty="0">
                  <a:solidFill>
                    <a:schemeClr val="bg1"/>
                  </a:solidFill>
                  <a:latin typeface="Arial" panose="020B0604020202020204" pitchFamily="34" charset="0"/>
                  <a:cs typeface="Arial" panose="020B0604020202020204" pitchFamily="34" charset="0"/>
                </a:rPr>
              </a:br>
              <a:r>
                <a:rPr lang="en-US" sz="4000" cap="all" dirty="0">
                  <a:solidFill>
                    <a:schemeClr val="bg1"/>
                  </a:solidFill>
                  <a:latin typeface="Arial" panose="020B0604020202020204" pitchFamily="34" charset="0"/>
                  <a:cs typeface="Arial" panose="020B0604020202020204" pitchFamily="34" charset="0"/>
                </a:rPr>
                <a:t>and Basic Laws</a:t>
              </a:r>
              <a:endParaRPr lang="ru-RU" sz="4000" dirty="0"/>
            </a:p>
          </p:txBody>
        </p:sp>
      </p:grpSp>
    </p:spTree>
    <p:extLst>
      <p:ext uri="{BB962C8B-B14F-4D97-AF65-F5344CB8AC3E}">
        <p14:creationId xmlns:p14="http://schemas.microsoft.com/office/powerpoint/2010/main" val="144804638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316403-287A-69E8-CA3A-9F84A5E2CFDD}"/>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398EF88F-7B75-60A6-05E0-F3E97D96C3D6}"/>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Fundamentals of Circuit Modeling</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and Basic Laws</a:t>
            </a:r>
            <a:endParaRPr lang="ru-RU" dirty="0">
              <a:latin typeface="Arial" panose="020B0604020202020204" pitchFamily="34" charset="0"/>
              <a:cs typeface="Arial" panose="020B0604020202020204" pitchFamily="34" charset="0"/>
            </a:endParaRPr>
          </a:p>
        </p:txBody>
      </p:sp>
      <p:sp>
        <p:nvSpPr>
          <p:cNvPr id="3" name="Объект 2">
            <a:extLst>
              <a:ext uri="{FF2B5EF4-FFF2-40B4-BE49-F238E27FC236}">
                <a16:creationId xmlns:a16="http://schemas.microsoft.com/office/drawing/2014/main" id="{F9415A0B-5168-6DEB-B820-DE038945E6F1}"/>
              </a:ext>
            </a:extLst>
          </p:cNvPr>
          <p:cNvSpPr>
            <a:spLocks noGrp="1"/>
          </p:cNvSpPr>
          <p:nvPr>
            <p:ph idx="1"/>
          </p:nvPr>
        </p:nvSpPr>
        <p:spPr/>
        <p:txBody>
          <a:bodyPr>
            <a:normAutofit/>
          </a:bodyPr>
          <a:lstStyle/>
          <a:p>
            <a:pPr algn="just"/>
            <a:r>
              <a:rPr lang="en-US" dirty="0">
                <a:effectLst/>
                <a:latin typeface="Arial" panose="020B0604020202020204" pitchFamily="34" charset="0"/>
                <a:ea typeface="Aptos" panose="020B0004020202020204" pitchFamily="34" charset="0"/>
              </a:rPr>
              <a:t>If the calculated voltage is positive, the actual potential at the (+) terminal is higher than at the (-) terminal. </a:t>
            </a:r>
          </a:p>
          <a:p>
            <a:pPr algn="just"/>
            <a:r>
              <a:rPr lang="en-US" dirty="0">
                <a:effectLst/>
                <a:latin typeface="Arial" panose="020B0604020202020204" pitchFamily="34" charset="0"/>
                <a:ea typeface="Aptos" panose="020B0004020202020204" pitchFamily="34" charset="0"/>
              </a:rPr>
              <a:t>If the result is negative, the physical potential at the terminal marked (+) is actually lower than that at the terminal marked (-). </a:t>
            </a:r>
          </a:p>
          <a:p>
            <a:pPr algn="just"/>
            <a:r>
              <a:rPr lang="en-US" dirty="0">
                <a:effectLst/>
                <a:latin typeface="Arial" panose="020B0604020202020204" pitchFamily="34" charset="0"/>
                <a:ea typeface="Aptos" panose="020B0004020202020204" pitchFamily="34" charset="0"/>
              </a:rPr>
              <a:t>This distinction is vital when applying Kirchhoff’s Voltage Law.</a:t>
            </a:r>
            <a:endParaRPr lang="ru-RU" b="1" dirty="0">
              <a:effectLst/>
              <a:latin typeface="Arial" panose="020B0604020202020204" pitchFamily="34" charset="0"/>
              <a:ea typeface="Aptos" panose="020B0004020202020204" pitchFamily="34" charset="0"/>
            </a:endParaRPr>
          </a:p>
        </p:txBody>
      </p:sp>
      <p:grpSp>
        <p:nvGrpSpPr>
          <p:cNvPr id="4" name="Группа 3">
            <a:extLst>
              <a:ext uri="{FF2B5EF4-FFF2-40B4-BE49-F238E27FC236}">
                <a16:creationId xmlns:a16="http://schemas.microsoft.com/office/drawing/2014/main" id="{2DF7426B-52AF-5440-884E-A7ADB82DA3B4}"/>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FFB79F72-2391-2FA1-DA30-B434DBA9E09B}"/>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1C7C0C5C-DF62-CCE7-E42A-4C8D14F1FDB8}"/>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Fundamentals of Circuit Modeling</a:t>
              </a:r>
              <a:br>
                <a:rPr lang="en-US" sz="4000" cap="all" dirty="0">
                  <a:solidFill>
                    <a:schemeClr val="bg1"/>
                  </a:solidFill>
                  <a:latin typeface="Arial" panose="020B0604020202020204" pitchFamily="34" charset="0"/>
                  <a:cs typeface="Arial" panose="020B0604020202020204" pitchFamily="34" charset="0"/>
                </a:rPr>
              </a:br>
              <a:r>
                <a:rPr lang="en-US" sz="4000" cap="all" dirty="0">
                  <a:solidFill>
                    <a:schemeClr val="bg1"/>
                  </a:solidFill>
                  <a:latin typeface="Arial" panose="020B0604020202020204" pitchFamily="34" charset="0"/>
                  <a:cs typeface="Arial" panose="020B0604020202020204" pitchFamily="34" charset="0"/>
                </a:rPr>
                <a:t>and Basic Laws</a:t>
              </a:r>
              <a:endParaRPr lang="ru-RU" sz="4000" dirty="0"/>
            </a:p>
          </p:txBody>
        </p:sp>
      </p:grpSp>
    </p:spTree>
    <p:extLst>
      <p:ext uri="{BB962C8B-B14F-4D97-AF65-F5344CB8AC3E}">
        <p14:creationId xmlns:p14="http://schemas.microsoft.com/office/powerpoint/2010/main" val="229734453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35DEE6-C71A-2AE1-A933-325D160C374A}"/>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047C4506-93CE-2DF2-BC00-111B4A2C2A49}"/>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Fundamentals of Circuit Modeling</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and Basic Laws</a:t>
            </a:r>
            <a:endParaRPr lang="ru-RU"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CEEAA322-6E84-E0FB-C124-667C1D270A14}"/>
                  </a:ext>
                </a:extLst>
              </p:cNvPr>
              <p:cNvSpPr>
                <a:spLocks noGrp="1"/>
              </p:cNvSpPr>
              <p:nvPr>
                <p:ph idx="1"/>
              </p:nvPr>
            </p:nvSpPr>
            <p:spPr/>
            <p:txBody>
              <a:bodyPr>
                <a:normAutofit/>
              </a:bodyPr>
              <a:lstStyle/>
              <a:p>
                <a:r>
                  <a:rPr lang="en-US" dirty="0"/>
                  <a:t>The illustration here shows the direction of the current from the energy source – </a:t>
                </a:r>
                <a14:m>
                  <m:oMath xmlns:m="http://schemas.openxmlformats.org/officeDocument/2006/math">
                    <m:sSub>
                      <m:sSubPr>
                        <m:ctrlPr>
                          <a:rPr lang="ru-RU" i="1">
                            <a:latin typeface="Cambria Math" panose="02040503050406030204" pitchFamily="18" charset="0"/>
                          </a:rPr>
                        </m:ctrlPr>
                      </m:sSubPr>
                      <m:e>
                        <m:r>
                          <a:rPr lang="en-US" i="1">
                            <a:latin typeface="Cambria Math" panose="02040503050406030204" pitchFamily="18" charset="0"/>
                          </a:rPr>
                          <m:t>𝑖</m:t>
                        </m:r>
                      </m:e>
                      <m:sub>
                        <m:r>
                          <a:rPr lang="en-US" i="1">
                            <a:latin typeface="Cambria Math" panose="02040503050406030204" pitchFamily="18" charset="0"/>
                          </a:rPr>
                          <m:t>𝑆</m:t>
                        </m:r>
                      </m:sub>
                    </m:sSub>
                  </m:oMath>
                </a14:m>
                <a:r>
                  <a:rPr lang="en-US" dirty="0"/>
                  <a:t>.</a:t>
                </a:r>
                <a:endParaRPr lang="ru-RU" dirty="0"/>
              </a:p>
            </p:txBody>
          </p:sp>
        </mc:Choice>
        <mc:Fallback xmlns="">
          <p:sp>
            <p:nvSpPr>
              <p:cNvPr id="3" name="Объект 2">
                <a:extLst>
                  <a:ext uri="{FF2B5EF4-FFF2-40B4-BE49-F238E27FC236}">
                    <a16:creationId xmlns:a16="http://schemas.microsoft.com/office/drawing/2014/main" id="{CEEAA322-6E84-E0FB-C124-667C1D270A14}"/>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ru-RU">
                    <a:noFill/>
                  </a:rPr>
                  <a:t> </a:t>
                </a:r>
              </a:p>
            </p:txBody>
          </p:sp>
        </mc:Fallback>
      </mc:AlternateContent>
      <p:grpSp>
        <p:nvGrpSpPr>
          <p:cNvPr id="4" name="Группа 3">
            <a:extLst>
              <a:ext uri="{FF2B5EF4-FFF2-40B4-BE49-F238E27FC236}">
                <a16:creationId xmlns:a16="http://schemas.microsoft.com/office/drawing/2014/main" id="{77953763-306F-6CA3-56BA-98EE12C799E9}"/>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9DB91F90-32D9-DC82-5DA9-514FC1584D7A}"/>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ED3F3B27-D6AF-2267-1992-2D85AD7DF929}"/>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Fundamentals of Circuit Modeling</a:t>
              </a:r>
              <a:br>
                <a:rPr lang="en-US" sz="4000" cap="all" dirty="0">
                  <a:solidFill>
                    <a:schemeClr val="bg1"/>
                  </a:solidFill>
                  <a:latin typeface="Arial" panose="020B0604020202020204" pitchFamily="34" charset="0"/>
                  <a:cs typeface="Arial" panose="020B0604020202020204" pitchFamily="34" charset="0"/>
                </a:rPr>
              </a:br>
              <a:r>
                <a:rPr lang="en-US" sz="4000" cap="all" dirty="0">
                  <a:solidFill>
                    <a:schemeClr val="bg1"/>
                  </a:solidFill>
                  <a:latin typeface="Arial" panose="020B0604020202020204" pitchFamily="34" charset="0"/>
                  <a:cs typeface="Arial" panose="020B0604020202020204" pitchFamily="34" charset="0"/>
                </a:rPr>
                <a:t>and Basic Laws</a:t>
              </a:r>
              <a:endParaRPr lang="ru-RU" sz="4000" dirty="0"/>
            </a:p>
          </p:txBody>
        </p:sp>
      </p:grpSp>
      <p:pic>
        <p:nvPicPr>
          <p:cNvPr id="8" name="Рисунок 7" descr="Изображение выглядит как диаграмма, линия, снимок экрана, Параллельный&#10;&#10;Автоматически созданное описание">
            <a:extLst>
              <a:ext uri="{FF2B5EF4-FFF2-40B4-BE49-F238E27FC236}">
                <a16:creationId xmlns:a16="http://schemas.microsoft.com/office/drawing/2014/main" id="{3B3D637E-1984-A8F3-5121-798A32399F0B}"/>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416444" y="3102004"/>
            <a:ext cx="4958629" cy="3209896"/>
          </a:xfrm>
          <a:prstGeom prst="rect">
            <a:avLst/>
          </a:prstGeom>
        </p:spPr>
      </p:pic>
    </p:spTree>
    <p:extLst>
      <p:ext uri="{BB962C8B-B14F-4D97-AF65-F5344CB8AC3E}">
        <p14:creationId xmlns:p14="http://schemas.microsoft.com/office/powerpoint/2010/main" val="79332309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2C36E-AB0E-4C34-E3C4-72D1AB7BDE85}"/>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08653126-14EC-B9A8-5498-662ADA528E2A}"/>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Fundamentals of Circuit Modeling</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and Basic Laws</a:t>
            </a:r>
            <a:endParaRPr lang="ru-RU" dirty="0">
              <a:latin typeface="Arial" panose="020B0604020202020204" pitchFamily="34" charset="0"/>
              <a:cs typeface="Arial" panose="020B0604020202020204" pitchFamily="34" charset="0"/>
            </a:endParaRPr>
          </a:p>
        </p:txBody>
      </p:sp>
      <p:sp>
        <p:nvSpPr>
          <p:cNvPr id="3" name="Объект 2">
            <a:extLst>
              <a:ext uri="{FF2B5EF4-FFF2-40B4-BE49-F238E27FC236}">
                <a16:creationId xmlns:a16="http://schemas.microsoft.com/office/drawing/2014/main" id="{5FBD8B5D-3C10-477C-1C9C-CC5C3FAE72CB}"/>
              </a:ext>
            </a:extLst>
          </p:cNvPr>
          <p:cNvSpPr>
            <a:spLocks noGrp="1"/>
          </p:cNvSpPr>
          <p:nvPr>
            <p:ph idx="1"/>
          </p:nvPr>
        </p:nvSpPr>
        <p:spPr/>
        <p:txBody>
          <a:bodyPr>
            <a:normAutofit/>
          </a:bodyPr>
          <a:lstStyle/>
          <a:p>
            <a:r>
              <a:rPr lang="en-US" dirty="0"/>
              <a:t>The relationship between the reference directions of voltage and current defines how we calculate power. </a:t>
            </a:r>
          </a:p>
          <a:p>
            <a:r>
              <a:rPr lang="en-US" dirty="0"/>
              <a:t>This brings us to the «Associated Reference Direction» or Passive Sign Convention. </a:t>
            </a:r>
            <a:endParaRPr lang="ru-RU" dirty="0"/>
          </a:p>
        </p:txBody>
      </p:sp>
      <p:grpSp>
        <p:nvGrpSpPr>
          <p:cNvPr id="4" name="Группа 3">
            <a:extLst>
              <a:ext uri="{FF2B5EF4-FFF2-40B4-BE49-F238E27FC236}">
                <a16:creationId xmlns:a16="http://schemas.microsoft.com/office/drawing/2014/main" id="{6F519513-86A1-EEAD-4255-7B72380C321E}"/>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061DFB95-949A-3C9B-9071-60F37B3E168C}"/>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AAD26F0E-A809-FD4F-8D60-C88FD5BA0848}"/>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Fundamentals of Circuit Modeling</a:t>
              </a:r>
              <a:br>
                <a:rPr lang="en-US" sz="4000" cap="all" dirty="0">
                  <a:solidFill>
                    <a:schemeClr val="bg1"/>
                  </a:solidFill>
                  <a:latin typeface="Arial" panose="020B0604020202020204" pitchFamily="34" charset="0"/>
                  <a:cs typeface="Arial" panose="020B0604020202020204" pitchFamily="34" charset="0"/>
                </a:rPr>
              </a:br>
              <a:r>
                <a:rPr lang="en-US" sz="4000" cap="all" dirty="0">
                  <a:solidFill>
                    <a:schemeClr val="bg1"/>
                  </a:solidFill>
                  <a:latin typeface="Arial" panose="020B0604020202020204" pitchFamily="34" charset="0"/>
                  <a:cs typeface="Arial" panose="020B0604020202020204" pitchFamily="34" charset="0"/>
                </a:rPr>
                <a:t>and Basic Laws</a:t>
              </a:r>
              <a:endParaRPr lang="ru-RU" sz="4000" dirty="0"/>
            </a:p>
          </p:txBody>
        </p:sp>
      </p:grpSp>
    </p:spTree>
    <p:extLst>
      <p:ext uri="{BB962C8B-B14F-4D97-AF65-F5344CB8AC3E}">
        <p14:creationId xmlns:p14="http://schemas.microsoft.com/office/powerpoint/2010/main" val="371917075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28F0D7-FCF0-2A21-05C6-EB83A5A5F6D1}"/>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518F0B4D-B9D1-5775-39BD-FCB44B6C8B8D}"/>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Fundamentals of Circuit Modeling</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and Basic Laws</a:t>
            </a:r>
            <a:endParaRPr lang="ru-RU" dirty="0">
              <a:latin typeface="Arial" panose="020B0604020202020204" pitchFamily="34" charset="0"/>
              <a:cs typeface="Arial" panose="020B0604020202020204" pitchFamily="34" charset="0"/>
            </a:endParaRPr>
          </a:p>
        </p:txBody>
      </p:sp>
      <p:sp>
        <p:nvSpPr>
          <p:cNvPr id="3" name="Объект 2">
            <a:extLst>
              <a:ext uri="{FF2B5EF4-FFF2-40B4-BE49-F238E27FC236}">
                <a16:creationId xmlns:a16="http://schemas.microsoft.com/office/drawing/2014/main" id="{FBD6AAE5-6CA0-5236-5DC3-F22046419FA4}"/>
              </a:ext>
            </a:extLst>
          </p:cNvPr>
          <p:cNvSpPr>
            <a:spLocks noGrp="1"/>
          </p:cNvSpPr>
          <p:nvPr>
            <p:ph idx="1"/>
          </p:nvPr>
        </p:nvSpPr>
        <p:spPr/>
        <p:txBody>
          <a:bodyPr>
            <a:normAutofit/>
          </a:bodyPr>
          <a:lstStyle/>
          <a:p>
            <a:pPr algn="just"/>
            <a:r>
              <a:rPr lang="en-US" b="1" dirty="0">
                <a:effectLst/>
                <a:latin typeface="Arial" panose="020B0604020202020204" pitchFamily="34" charset="0"/>
                <a:ea typeface="Aptos" panose="020B0004020202020204" pitchFamily="34" charset="0"/>
              </a:rPr>
              <a:t>In the associated reference direction, the reference current is defined as entering the positive reference terminal of the voltage. </a:t>
            </a:r>
            <a:endParaRPr lang="ru-RU" b="1" dirty="0">
              <a:effectLst/>
              <a:latin typeface="Arial" panose="020B0604020202020204" pitchFamily="34" charset="0"/>
              <a:ea typeface="Aptos" panose="020B0004020202020204" pitchFamily="34" charset="0"/>
            </a:endParaRPr>
          </a:p>
        </p:txBody>
      </p:sp>
      <p:pic>
        <p:nvPicPr>
          <p:cNvPr id="10" name="Рисунок 9" descr="Изображение выглядит как диаграмма, линия, снимок экрана, План&#10;&#10;Автоматически созданное описание">
            <a:extLst>
              <a:ext uri="{FF2B5EF4-FFF2-40B4-BE49-F238E27FC236}">
                <a16:creationId xmlns:a16="http://schemas.microsoft.com/office/drawing/2014/main" id="{ABF3790B-F49D-FE0E-47A1-E2D613624EEC}"/>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3138487" y="2743200"/>
            <a:ext cx="5915025" cy="4114800"/>
          </a:xfrm>
          <a:prstGeom prst="rect">
            <a:avLst/>
          </a:prstGeom>
        </p:spPr>
      </p:pic>
      <p:grpSp>
        <p:nvGrpSpPr>
          <p:cNvPr id="4" name="Группа 3">
            <a:extLst>
              <a:ext uri="{FF2B5EF4-FFF2-40B4-BE49-F238E27FC236}">
                <a16:creationId xmlns:a16="http://schemas.microsoft.com/office/drawing/2014/main" id="{AB779E3F-4E54-2E36-40BD-760B47C41D07}"/>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FE7F155F-0F78-FA3C-D9E5-48E87C7EF14C}"/>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7304417B-952B-ACEC-B2AB-C0A9C0845C17}"/>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Fundamentals of Circuit Modeling</a:t>
              </a:r>
              <a:br>
                <a:rPr lang="en-US" sz="4000" cap="all" dirty="0">
                  <a:solidFill>
                    <a:schemeClr val="bg1"/>
                  </a:solidFill>
                  <a:latin typeface="Arial" panose="020B0604020202020204" pitchFamily="34" charset="0"/>
                  <a:cs typeface="Arial" panose="020B0604020202020204" pitchFamily="34" charset="0"/>
                </a:rPr>
              </a:br>
              <a:r>
                <a:rPr lang="en-US" sz="4000" cap="all" dirty="0">
                  <a:solidFill>
                    <a:schemeClr val="bg1"/>
                  </a:solidFill>
                  <a:latin typeface="Arial" panose="020B0604020202020204" pitchFamily="34" charset="0"/>
                  <a:cs typeface="Arial" panose="020B0604020202020204" pitchFamily="34" charset="0"/>
                </a:rPr>
                <a:t>and Basic Laws</a:t>
              </a:r>
              <a:endParaRPr lang="ru-RU" sz="4000" dirty="0"/>
            </a:p>
          </p:txBody>
        </p:sp>
      </p:grpSp>
    </p:spTree>
    <p:extLst>
      <p:ext uri="{BB962C8B-B14F-4D97-AF65-F5344CB8AC3E}">
        <p14:creationId xmlns:p14="http://schemas.microsoft.com/office/powerpoint/2010/main" val="300556302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C614E9-FEE8-420E-B107-B909E8221F76}"/>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634D005A-8F77-B2E6-37CD-126FC76FCC69}"/>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Fundamentals of Circuit Modeling</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and Basic Laws</a:t>
            </a:r>
            <a:endParaRPr lang="ru-RU" dirty="0">
              <a:latin typeface="Arial" panose="020B0604020202020204" pitchFamily="34" charset="0"/>
              <a:cs typeface="Arial" panose="020B0604020202020204" pitchFamily="34" charset="0"/>
            </a:endParaRPr>
          </a:p>
        </p:txBody>
      </p:sp>
      <p:sp>
        <p:nvSpPr>
          <p:cNvPr id="3" name="Объект 2">
            <a:extLst>
              <a:ext uri="{FF2B5EF4-FFF2-40B4-BE49-F238E27FC236}">
                <a16:creationId xmlns:a16="http://schemas.microsoft.com/office/drawing/2014/main" id="{01B154F9-83E1-A4AC-A793-EDE35A2BF061}"/>
              </a:ext>
            </a:extLst>
          </p:cNvPr>
          <p:cNvSpPr>
            <a:spLocks noGrp="1"/>
          </p:cNvSpPr>
          <p:nvPr>
            <p:ph idx="1"/>
          </p:nvPr>
        </p:nvSpPr>
        <p:spPr>
          <a:xfrm>
            <a:off x="838200" y="1825624"/>
            <a:ext cx="10515600" cy="4758055"/>
          </a:xfrm>
        </p:spPr>
        <p:txBody>
          <a:bodyPr>
            <a:normAutofit/>
          </a:bodyPr>
          <a:lstStyle/>
          <a:p>
            <a:r>
              <a:rPr lang="en-US" dirty="0"/>
              <a:t>This is the standard convention used for passive components like resistors, inductors, and capacitors. </a:t>
            </a:r>
          </a:p>
          <a:p>
            <a:r>
              <a:rPr lang="en-US" dirty="0"/>
              <a:t>It implies that we are analyzing the element as a load that consumes energy from the circuit. </a:t>
            </a:r>
          </a:p>
          <a:p>
            <a:r>
              <a:rPr lang="en-US" dirty="0"/>
              <a:t>If we define the current as leaving the positive terminal, we are utilizing the non-associated reference direction, typically used for active sources.</a:t>
            </a:r>
          </a:p>
          <a:p>
            <a:r>
              <a:rPr lang="en-US" dirty="0"/>
              <a:t>Thus, when analyzing circuits, we assume that the current from the power source goes from its positive pole to its negative pole and the current of passive components goes in the opposite direction.</a:t>
            </a:r>
            <a:endParaRPr lang="ru-RU" dirty="0"/>
          </a:p>
        </p:txBody>
      </p:sp>
      <p:grpSp>
        <p:nvGrpSpPr>
          <p:cNvPr id="4" name="Группа 3">
            <a:extLst>
              <a:ext uri="{FF2B5EF4-FFF2-40B4-BE49-F238E27FC236}">
                <a16:creationId xmlns:a16="http://schemas.microsoft.com/office/drawing/2014/main" id="{B7086BD3-1066-DB30-97AD-84E214E458AE}"/>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B5B78997-7777-D718-0FF7-C86FF91CBE0C}"/>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14749186-806E-5580-EBCE-44AC9A5D64F5}"/>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Fundamentals of Circuit Modeling</a:t>
              </a:r>
              <a:br>
                <a:rPr lang="en-US" sz="4000" cap="all" dirty="0">
                  <a:solidFill>
                    <a:schemeClr val="bg1"/>
                  </a:solidFill>
                  <a:latin typeface="Arial" panose="020B0604020202020204" pitchFamily="34" charset="0"/>
                  <a:cs typeface="Arial" panose="020B0604020202020204" pitchFamily="34" charset="0"/>
                </a:rPr>
              </a:br>
              <a:r>
                <a:rPr lang="en-US" sz="4000" cap="all" dirty="0">
                  <a:solidFill>
                    <a:schemeClr val="bg1"/>
                  </a:solidFill>
                  <a:latin typeface="Arial" panose="020B0604020202020204" pitchFamily="34" charset="0"/>
                  <a:cs typeface="Arial" panose="020B0604020202020204" pitchFamily="34" charset="0"/>
                </a:rPr>
                <a:t>and Basic Laws</a:t>
              </a:r>
              <a:endParaRPr lang="ru-RU" sz="4000" dirty="0"/>
            </a:p>
          </p:txBody>
        </p:sp>
      </p:grpSp>
    </p:spTree>
    <p:extLst>
      <p:ext uri="{BB962C8B-B14F-4D97-AF65-F5344CB8AC3E}">
        <p14:creationId xmlns:p14="http://schemas.microsoft.com/office/powerpoint/2010/main" val="414194696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0461613-2ACC-C68B-06B3-BFE35799DAFB}"/>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Fundamentals of Circuit Modeling</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and Basic Laws</a:t>
            </a:r>
            <a:endParaRPr lang="ru-RU"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38B32713-8DC8-A19D-A317-628052EECCD1}"/>
                  </a:ext>
                </a:extLst>
              </p:cNvPr>
              <p:cNvSpPr>
                <a:spLocks noGrp="1"/>
              </p:cNvSpPr>
              <p:nvPr>
                <p:ph idx="1"/>
              </p:nvPr>
            </p:nvSpPr>
            <p:spPr/>
            <p:txBody>
              <a:bodyPr>
                <a:normAutofit/>
              </a:bodyPr>
              <a:lstStyle/>
              <a:p>
                <a:pPr algn="just"/>
                <a:r>
                  <a:rPr lang="en-US" dirty="0">
                    <a:effectLst/>
                    <a:latin typeface="Arial" panose="020B0604020202020204" pitchFamily="34" charset="0"/>
                    <a:ea typeface="Aptos" panose="020B0004020202020204" pitchFamily="34" charset="0"/>
                  </a:rPr>
                  <a:t>The ultimate purpose of most circuit analyses is to determine power distribution. </a:t>
                </a:r>
              </a:p>
              <a:p>
                <a:pPr algn="just"/>
                <a:r>
                  <a:rPr lang="en-US" b="1" dirty="0">
                    <a:effectLst/>
                    <a:latin typeface="Arial" panose="020B0604020202020204" pitchFamily="34" charset="0"/>
                    <a:ea typeface="Aptos" panose="020B0004020202020204" pitchFamily="34" charset="0"/>
                  </a:rPr>
                  <a:t>The main purpose of this course is to analyze and calculate the three physical quantities of voltage, current and power in circuits. </a:t>
                </a:r>
              </a:p>
              <a:p>
                <a:pPr algn="just"/>
                <a:r>
                  <a:rPr lang="en-US" dirty="0">
                    <a:effectLst/>
                    <a:latin typeface="Arial" panose="020B0604020202020204" pitchFamily="34" charset="0"/>
                    <a:ea typeface="Aptos" panose="020B0004020202020204" pitchFamily="34" charset="0"/>
                  </a:rPr>
                  <a:t>Power is the time rate of expending or absorbing energy, measured in watts (W). </a:t>
                </a:r>
              </a:p>
              <a:p>
                <a:pPr algn="just"/>
                <a:r>
                  <a:rPr lang="en-US" b="1" dirty="0">
                    <a:effectLst/>
                    <a:latin typeface="Arial" panose="020B0604020202020204" pitchFamily="34" charset="0"/>
                    <a:ea typeface="Aptos" panose="020B0004020202020204" pitchFamily="34" charset="0"/>
                  </a:rPr>
                  <a:t>Power is defined as the product of voltage and current:</a:t>
                </a:r>
              </a:p>
              <a:p>
                <a:pPr marL="0" indent="0" algn="just">
                  <a:buNone/>
                </a:pPr>
                <a14:m>
                  <m:oMathPara xmlns:m="http://schemas.openxmlformats.org/officeDocument/2006/math">
                    <m:oMathParaPr>
                      <m:jc m:val="centerGroup"/>
                    </m:oMathParaPr>
                    <m:oMath xmlns:m="http://schemas.openxmlformats.org/officeDocument/2006/math">
                      <m:r>
                        <a:rPr lang="en-US" b="1" i="1" dirty="0" smtClean="0">
                          <a:effectLst/>
                          <a:latin typeface="Cambria Math" panose="02040503050406030204" pitchFamily="18" charset="0"/>
                          <a:ea typeface="Aptos" panose="020B0004020202020204" pitchFamily="34" charset="0"/>
                        </a:rPr>
                        <m:t> </m:t>
                      </m:r>
                      <m:r>
                        <a:rPr lang="en-US" b="1" i="1" dirty="0" smtClean="0">
                          <a:effectLst/>
                          <a:latin typeface="Cambria Math" panose="02040503050406030204" pitchFamily="18" charset="0"/>
                          <a:ea typeface="Aptos" panose="020B0004020202020204" pitchFamily="34" charset="0"/>
                        </a:rPr>
                        <m:t>𝒑</m:t>
                      </m:r>
                      <m:r>
                        <a:rPr lang="en-US" b="1" i="1" dirty="0" smtClean="0">
                          <a:effectLst/>
                          <a:latin typeface="Cambria Math" panose="02040503050406030204" pitchFamily="18" charset="0"/>
                          <a:ea typeface="Aptos" panose="020B0004020202020204" pitchFamily="34" charset="0"/>
                        </a:rPr>
                        <m:t>=</m:t>
                      </m:r>
                      <m:r>
                        <a:rPr lang="en-US" b="1" i="1" dirty="0" smtClean="0">
                          <a:effectLst/>
                          <a:latin typeface="Cambria Math" panose="02040503050406030204" pitchFamily="18" charset="0"/>
                          <a:ea typeface="Aptos" panose="020B0004020202020204" pitchFamily="34" charset="0"/>
                        </a:rPr>
                        <m:t>𝒗</m:t>
                      </m:r>
                      <m:r>
                        <a:rPr lang="en-US" b="1" i="1" dirty="0" smtClean="0">
                          <a:effectLst/>
                          <a:latin typeface="Cambria Math" panose="02040503050406030204" pitchFamily="18" charset="0"/>
                          <a:ea typeface="Aptos" panose="020B0004020202020204" pitchFamily="34" charset="0"/>
                        </a:rPr>
                        <m:t>×</m:t>
                      </m:r>
                      <m:r>
                        <a:rPr lang="en-US" b="1" i="1" dirty="0" smtClean="0">
                          <a:effectLst/>
                          <a:latin typeface="Cambria Math" panose="02040503050406030204" pitchFamily="18" charset="0"/>
                          <a:ea typeface="Aptos" panose="020B0004020202020204" pitchFamily="34" charset="0"/>
                        </a:rPr>
                        <m:t>𝒊</m:t>
                      </m:r>
                      <m:r>
                        <a:rPr lang="en-US" b="1" i="1" dirty="0" smtClean="0">
                          <a:effectLst/>
                          <a:latin typeface="Cambria Math" panose="02040503050406030204" pitchFamily="18" charset="0"/>
                          <a:ea typeface="Aptos" panose="020B0004020202020204" pitchFamily="34" charset="0"/>
                        </a:rPr>
                        <m:t>.</m:t>
                      </m:r>
                    </m:oMath>
                  </m:oMathPara>
                </a14:m>
                <a:endParaRPr lang="en-US" b="1" dirty="0">
                  <a:effectLst/>
                  <a:latin typeface="Arial" panose="020B0604020202020204" pitchFamily="34" charset="0"/>
                  <a:ea typeface="Aptos" panose="020B0004020202020204" pitchFamily="34" charset="0"/>
                </a:endParaRPr>
              </a:p>
              <a:p>
                <a:pPr algn="just"/>
                <a:endParaRPr lang="ru-RU" b="1" dirty="0">
                  <a:effectLst/>
                  <a:latin typeface="Arial" panose="020B0604020202020204" pitchFamily="34" charset="0"/>
                  <a:ea typeface="Aptos" panose="020B0004020202020204" pitchFamily="34" charset="0"/>
                </a:endParaRPr>
              </a:p>
            </p:txBody>
          </p:sp>
        </mc:Choice>
        <mc:Fallback xmlns="">
          <p:sp>
            <p:nvSpPr>
              <p:cNvPr id="3" name="Объект 2">
                <a:extLst>
                  <a:ext uri="{FF2B5EF4-FFF2-40B4-BE49-F238E27FC236}">
                    <a16:creationId xmlns:a16="http://schemas.microsoft.com/office/drawing/2014/main" id="{38B32713-8DC8-A19D-A317-628052EECCD1}"/>
                  </a:ext>
                </a:extLst>
              </p:cNvPr>
              <p:cNvSpPr>
                <a:spLocks noGrp="1" noRot="1" noChangeAspect="1" noMove="1" noResize="1" noEditPoints="1" noAdjustHandles="1" noChangeArrowheads="1" noChangeShapeType="1" noTextEdit="1"/>
              </p:cNvSpPr>
              <p:nvPr>
                <p:ph idx="1"/>
              </p:nvPr>
            </p:nvSpPr>
            <p:spPr>
              <a:blipFill>
                <a:blip r:embed="rId2"/>
                <a:stretch>
                  <a:fillRect l="-1043" t="-2381" r="-1159"/>
                </a:stretch>
              </a:blipFill>
            </p:spPr>
            <p:txBody>
              <a:bodyPr/>
              <a:lstStyle/>
              <a:p>
                <a:r>
                  <a:rPr lang="ru-RU">
                    <a:noFill/>
                  </a:rPr>
                  <a:t> </a:t>
                </a:r>
              </a:p>
            </p:txBody>
          </p:sp>
        </mc:Fallback>
      </mc:AlternateContent>
      <p:grpSp>
        <p:nvGrpSpPr>
          <p:cNvPr id="4" name="Группа 3">
            <a:extLst>
              <a:ext uri="{FF2B5EF4-FFF2-40B4-BE49-F238E27FC236}">
                <a16:creationId xmlns:a16="http://schemas.microsoft.com/office/drawing/2014/main" id="{A054AD54-3A99-6E1B-0112-2B492B984021}"/>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49085B87-C24B-E345-B74E-9376E67A4F06}"/>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D4F67954-0CE8-F40F-F4CA-CD1B9015B335}"/>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Fundamentals of Circuit Modeling</a:t>
              </a:r>
              <a:br>
                <a:rPr lang="en-US" sz="4000" cap="all" dirty="0">
                  <a:solidFill>
                    <a:schemeClr val="bg1"/>
                  </a:solidFill>
                  <a:latin typeface="Arial" panose="020B0604020202020204" pitchFamily="34" charset="0"/>
                  <a:cs typeface="Arial" panose="020B0604020202020204" pitchFamily="34" charset="0"/>
                </a:rPr>
              </a:br>
              <a:r>
                <a:rPr lang="en-US" sz="4000" cap="all" dirty="0">
                  <a:solidFill>
                    <a:schemeClr val="bg1"/>
                  </a:solidFill>
                  <a:latin typeface="Arial" panose="020B0604020202020204" pitchFamily="34" charset="0"/>
                  <a:cs typeface="Arial" panose="020B0604020202020204" pitchFamily="34" charset="0"/>
                </a:rPr>
                <a:t>and Basic Laws</a:t>
              </a:r>
              <a:endParaRPr lang="ru-RU" sz="4000" dirty="0"/>
            </a:p>
          </p:txBody>
        </p:sp>
      </p:grpSp>
    </p:spTree>
    <p:extLst>
      <p:ext uri="{BB962C8B-B14F-4D97-AF65-F5344CB8AC3E}">
        <p14:creationId xmlns:p14="http://schemas.microsoft.com/office/powerpoint/2010/main" val="121855061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C2FD9C-E556-F39B-94E5-57BBFB7A17A3}"/>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4C9CB0B9-F8BD-4B7C-6CE4-E220826FBA48}"/>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Fundamentals of Circuit Modeling</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and Basic Laws</a:t>
            </a:r>
            <a:endParaRPr lang="ru-RU" dirty="0">
              <a:latin typeface="Arial" panose="020B0604020202020204" pitchFamily="34" charset="0"/>
              <a:cs typeface="Arial" panose="020B0604020202020204" pitchFamily="34" charset="0"/>
            </a:endParaRPr>
          </a:p>
        </p:txBody>
      </p:sp>
      <p:sp>
        <p:nvSpPr>
          <p:cNvPr id="3" name="Объект 2">
            <a:extLst>
              <a:ext uri="{FF2B5EF4-FFF2-40B4-BE49-F238E27FC236}">
                <a16:creationId xmlns:a16="http://schemas.microsoft.com/office/drawing/2014/main" id="{6683DCCF-339D-F8A1-F149-AEDBF141A101}"/>
              </a:ext>
            </a:extLst>
          </p:cNvPr>
          <p:cNvSpPr>
            <a:spLocks noGrp="1"/>
          </p:cNvSpPr>
          <p:nvPr>
            <p:ph idx="1"/>
          </p:nvPr>
        </p:nvSpPr>
        <p:spPr/>
        <p:txBody>
          <a:bodyPr>
            <a:normAutofit/>
          </a:bodyPr>
          <a:lstStyle/>
          <a:p>
            <a:pPr algn="just"/>
            <a:r>
              <a:rPr lang="en-US" dirty="0">
                <a:ea typeface="Aptos" panose="020B0004020202020204" pitchFamily="34" charset="0"/>
                <a:cs typeface="Arial" panose="020B0604020202020204" pitchFamily="34" charset="0"/>
              </a:rPr>
              <a:t>Since both voltage and current are functions of time, this product represents the instantaneous power. </a:t>
            </a:r>
          </a:p>
          <a:p>
            <a:pPr algn="just"/>
            <a:r>
              <a:rPr lang="en-US" dirty="0">
                <a:ea typeface="Aptos" panose="020B0004020202020204" pitchFamily="34" charset="0"/>
                <a:cs typeface="Arial" panose="020B0604020202020204" pitchFamily="34" charset="0"/>
              </a:rPr>
              <a:t>To determine whether an element is absorbing or supplying power, we must strictly adhere to the sign conventions established in the previous slides regarding associated directions.</a:t>
            </a:r>
            <a:endParaRPr lang="ru-RU" dirty="0">
              <a:effectLst/>
              <a:ea typeface="Aptos" panose="020B0004020202020204" pitchFamily="34" charset="0"/>
              <a:cs typeface="Arial" panose="020B0604020202020204" pitchFamily="34" charset="0"/>
            </a:endParaRPr>
          </a:p>
        </p:txBody>
      </p:sp>
      <p:grpSp>
        <p:nvGrpSpPr>
          <p:cNvPr id="4" name="Группа 3">
            <a:extLst>
              <a:ext uri="{FF2B5EF4-FFF2-40B4-BE49-F238E27FC236}">
                <a16:creationId xmlns:a16="http://schemas.microsoft.com/office/drawing/2014/main" id="{6134C522-4DB7-1BA8-3CA7-FD6CAF62465B}"/>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C14BB964-C271-A3F1-AE42-F6AB9281DA47}"/>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726D8CD4-31F1-AC45-90BF-8B59E0F10973}"/>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Fundamentals of Circuit Modeling</a:t>
              </a:r>
              <a:br>
                <a:rPr lang="en-US" sz="4000" cap="all" dirty="0">
                  <a:solidFill>
                    <a:schemeClr val="bg1"/>
                  </a:solidFill>
                  <a:latin typeface="Arial" panose="020B0604020202020204" pitchFamily="34" charset="0"/>
                  <a:cs typeface="Arial" panose="020B0604020202020204" pitchFamily="34" charset="0"/>
                </a:rPr>
              </a:br>
              <a:r>
                <a:rPr lang="en-US" sz="4000" cap="all" dirty="0">
                  <a:solidFill>
                    <a:schemeClr val="bg1"/>
                  </a:solidFill>
                  <a:latin typeface="Arial" panose="020B0604020202020204" pitchFamily="34" charset="0"/>
                  <a:cs typeface="Arial" panose="020B0604020202020204" pitchFamily="34" charset="0"/>
                </a:rPr>
                <a:t>and Basic Laws</a:t>
              </a:r>
              <a:endParaRPr lang="ru-RU" sz="4000" dirty="0"/>
            </a:p>
          </p:txBody>
        </p:sp>
      </p:grpSp>
    </p:spTree>
    <p:extLst>
      <p:ext uri="{BB962C8B-B14F-4D97-AF65-F5344CB8AC3E}">
        <p14:creationId xmlns:p14="http://schemas.microsoft.com/office/powerpoint/2010/main" val="154412819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0461613-2ACC-C68B-06B3-BFE35799DAFB}"/>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Fundamentals of Circuit Modeling</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and Basic Laws</a:t>
            </a:r>
            <a:endParaRPr lang="ru-RU"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38B32713-8DC8-A19D-A317-628052EECCD1}"/>
                  </a:ext>
                </a:extLst>
              </p:cNvPr>
              <p:cNvSpPr>
                <a:spLocks noGrp="1"/>
              </p:cNvSpPr>
              <p:nvPr>
                <p:ph idx="1"/>
              </p:nvPr>
            </p:nvSpPr>
            <p:spPr>
              <a:xfrm>
                <a:off x="838200" y="1825625"/>
                <a:ext cx="7451361" cy="4351338"/>
              </a:xfrm>
            </p:spPr>
            <p:txBody>
              <a:bodyPr>
                <a:normAutofit/>
              </a:bodyPr>
              <a:lstStyle/>
              <a:p>
                <a:pPr algn="just"/>
                <a:r>
                  <a:rPr lang="en-US" dirty="0">
                    <a:effectLst/>
                    <a:ea typeface="Aptos" panose="020B0004020202020204" pitchFamily="34" charset="0"/>
                    <a:cs typeface="Arial" panose="020B0604020202020204" pitchFamily="34" charset="0"/>
                  </a:rPr>
                  <a:t>When using the associated reference direction (current enters positive), the formula </a:t>
                </a:r>
                <a14:m>
                  <m:oMath xmlns:m="http://schemas.openxmlformats.org/officeDocument/2006/math">
                    <m:r>
                      <a:rPr lang="en-US" i="1" dirty="0" smtClean="0">
                        <a:effectLst/>
                        <a:latin typeface="Cambria Math" panose="02040503050406030204" pitchFamily="18" charset="0"/>
                        <a:ea typeface="Aptos" panose="020B0004020202020204" pitchFamily="34" charset="0"/>
                        <a:cs typeface="Arial" panose="020B0604020202020204" pitchFamily="34" charset="0"/>
                      </a:rPr>
                      <m:t>𝑝</m:t>
                    </m:r>
                    <m:r>
                      <a:rPr lang="en-US" i="1" dirty="0" smtClean="0">
                        <a:effectLst/>
                        <a:latin typeface="Cambria Math" panose="02040503050406030204" pitchFamily="18" charset="0"/>
                        <a:ea typeface="Aptos" panose="020B0004020202020204" pitchFamily="34" charset="0"/>
                        <a:cs typeface="Arial" panose="020B0604020202020204" pitchFamily="34" charset="0"/>
                      </a:rPr>
                      <m:t>=</m:t>
                    </m:r>
                    <m:r>
                      <a:rPr lang="en-US" i="1" dirty="0" smtClean="0">
                        <a:effectLst/>
                        <a:latin typeface="Cambria Math" panose="02040503050406030204" pitchFamily="18" charset="0"/>
                        <a:ea typeface="Aptos" panose="020B0004020202020204" pitchFamily="34" charset="0"/>
                        <a:cs typeface="Arial" panose="020B0604020202020204" pitchFamily="34" charset="0"/>
                      </a:rPr>
                      <m:t>𝑣𝑖</m:t>
                    </m:r>
                  </m:oMath>
                </a14:m>
                <a:r>
                  <a:rPr lang="en-US" dirty="0">
                    <a:effectLst/>
                    <a:ea typeface="Aptos" panose="020B0004020202020204" pitchFamily="34" charset="0"/>
                    <a:cs typeface="Arial" panose="020B0604020202020204" pitchFamily="34" charset="0"/>
                  </a:rPr>
                  <a:t> applies directly. </a:t>
                </a:r>
              </a:p>
              <a:p>
                <a:pPr algn="just"/>
                <a:r>
                  <a:rPr lang="en-US" b="1" dirty="0">
                    <a:effectLst/>
                    <a:ea typeface="Aptos" panose="020B0004020202020204" pitchFamily="34" charset="0"/>
                    <a:cs typeface="Arial" panose="020B0604020202020204" pitchFamily="34" charset="0"/>
                  </a:rPr>
                  <a:t>If the calculated power is positive (</a:t>
                </a:r>
                <a14:m>
                  <m:oMath xmlns:m="http://schemas.openxmlformats.org/officeDocument/2006/math">
                    <m:r>
                      <a:rPr lang="en-US" b="1" i="1">
                        <a:effectLst/>
                        <a:latin typeface="Cambria Math" panose="02040503050406030204" pitchFamily="18" charset="0"/>
                        <a:ea typeface="Aptos" panose="020B0004020202020204" pitchFamily="34" charset="0"/>
                        <a:cs typeface="Times New Roman" panose="02020603050405020304" pitchFamily="18" charset="0"/>
                      </a:rPr>
                      <m:t>𝒑</m:t>
                    </m:r>
                    <m:r>
                      <a:rPr lang="en-US" b="1">
                        <a:effectLst/>
                        <a:latin typeface="Cambria Math" panose="02040503050406030204" pitchFamily="18" charset="0"/>
                        <a:ea typeface="Aptos" panose="020B0004020202020204" pitchFamily="34" charset="0"/>
                        <a:cs typeface="Times New Roman" panose="02020603050405020304" pitchFamily="18" charset="0"/>
                      </a:rPr>
                      <m:t>&gt;</m:t>
                    </m:r>
                    <m:r>
                      <a:rPr lang="en-US" b="1" i="1">
                        <a:effectLst/>
                        <a:latin typeface="Cambria Math" panose="02040503050406030204" pitchFamily="18" charset="0"/>
                        <a:ea typeface="Aptos" panose="020B0004020202020204" pitchFamily="34" charset="0"/>
                        <a:cs typeface="Times New Roman" panose="02020603050405020304" pitchFamily="18" charset="0"/>
                      </a:rPr>
                      <m:t>𝟎</m:t>
                    </m:r>
                  </m:oMath>
                </a14:m>
                <a:r>
                  <a:rPr lang="en-US" b="1" dirty="0">
                    <a:effectLst/>
                    <a:ea typeface="Aptos" panose="020B0004020202020204" pitchFamily="34" charset="0"/>
                    <a:cs typeface="Arial" panose="020B0604020202020204" pitchFamily="34" charset="0"/>
                  </a:rPr>
                  <a:t>), the element is absorbing power from the circuit. </a:t>
                </a:r>
              </a:p>
              <a:p>
                <a:pPr algn="just"/>
                <a:r>
                  <a:rPr lang="en-US" dirty="0">
                    <a:ea typeface="Aptos" panose="020B0004020202020204" pitchFamily="34" charset="0"/>
                    <a:cs typeface="Arial" panose="020B0604020202020204" pitchFamily="34" charset="0"/>
                  </a:rPr>
                  <a:t>This energy is typically converted into heat (in resistors), stored in a field (in capacitors or inductors), or converted to mechanical work (in motors and other devices). </a:t>
                </a:r>
                <a:endParaRPr lang="ru-RU" dirty="0">
                  <a:effectLst/>
                  <a:ea typeface="Aptos" panose="020B0004020202020204" pitchFamily="34" charset="0"/>
                  <a:cs typeface="Arial" panose="020B0604020202020204" pitchFamily="34" charset="0"/>
                </a:endParaRPr>
              </a:p>
            </p:txBody>
          </p:sp>
        </mc:Choice>
        <mc:Fallback xmlns="">
          <p:sp>
            <p:nvSpPr>
              <p:cNvPr id="3" name="Объект 2">
                <a:extLst>
                  <a:ext uri="{FF2B5EF4-FFF2-40B4-BE49-F238E27FC236}">
                    <a16:creationId xmlns:a16="http://schemas.microsoft.com/office/drawing/2014/main" id="{38B32713-8DC8-A19D-A317-628052EECCD1}"/>
                  </a:ext>
                </a:extLst>
              </p:cNvPr>
              <p:cNvSpPr>
                <a:spLocks noGrp="1" noRot="1" noChangeAspect="1" noMove="1" noResize="1" noEditPoints="1" noAdjustHandles="1" noChangeArrowheads="1" noChangeShapeType="1" noTextEdit="1"/>
              </p:cNvSpPr>
              <p:nvPr>
                <p:ph idx="1"/>
              </p:nvPr>
            </p:nvSpPr>
            <p:spPr>
              <a:xfrm>
                <a:off x="838200" y="1825625"/>
                <a:ext cx="7451361" cy="4351338"/>
              </a:xfrm>
              <a:blipFill>
                <a:blip r:embed="rId2"/>
                <a:stretch>
                  <a:fillRect l="-1473" t="-2381" r="-1637"/>
                </a:stretch>
              </a:blipFill>
            </p:spPr>
            <p:txBody>
              <a:bodyPr/>
              <a:lstStyle/>
              <a:p>
                <a:r>
                  <a:rPr lang="ru-RU">
                    <a:noFill/>
                  </a:rPr>
                  <a:t> </a:t>
                </a:r>
              </a:p>
            </p:txBody>
          </p:sp>
        </mc:Fallback>
      </mc:AlternateContent>
      <p:grpSp>
        <p:nvGrpSpPr>
          <p:cNvPr id="4" name="Группа 3">
            <a:extLst>
              <a:ext uri="{FF2B5EF4-FFF2-40B4-BE49-F238E27FC236}">
                <a16:creationId xmlns:a16="http://schemas.microsoft.com/office/drawing/2014/main" id="{3119BC0F-29B4-A901-D44A-A2C5A80BD83E}"/>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CD2E88BD-BAD8-1E0B-5E3F-6B0CEFBF8634}"/>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69243FDF-D3E9-3025-0804-C8127BA5AE13}"/>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Fundamentals of Circuit Modeling</a:t>
              </a:r>
              <a:br>
                <a:rPr lang="en-US" sz="4000" cap="all" dirty="0">
                  <a:solidFill>
                    <a:schemeClr val="bg1"/>
                  </a:solidFill>
                  <a:latin typeface="Arial" panose="020B0604020202020204" pitchFamily="34" charset="0"/>
                  <a:cs typeface="Arial" panose="020B0604020202020204" pitchFamily="34" charset="0"/>
                </a:rPr>
              </a:br>
              <a:r>
                <a:rPr lang="en-US" sz="4000" cap="all" dirty="0">
                  <a:solidFill>
                    <a:schemeClr val="bg1"/>
                  </a:solidFill>
                  <a:latin typeface="Arial" panose="020B0604020202020204" pitchFamily="34" charset="0"/>
                  <a:cs typeface="Arial" panose="020B0604020202020204" pitchFamily="34" charset="0"/>
                </a:rPr>
                <a:t>and Basic Laws</a:t>
              </a:r>
              <a:endParaRPr lang="ru-RU" sz="4000" dirty="0"/>
            </a:p>
          </p:txBody>
        </p:sp>
      </p:grpSp>
      <p:pic>
        <p:nvPicPr>
          <p:cNvPr id="8" name="Рисунок 7">
            <a:extLst>
              <a:ext uri="{FF2B5EF4-FFF2-40B4-BE49-F238E27FC236}">
                <a16:creationId xmlns:a16="http://schemas.microsoft.com/office/drawing/2014/main" id="{00543C2F-E8FE-DC9F-F4DA-150E1EB463DE}"/>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8680105" y="2329147"/>
            <a:ext cx="3210464" cy="3344293"/>
          </a:xfrm>
          <a:prstGeom prst="rect">
            <a:avLst/>
          </a:prstGeom>
        </p:spPr>
      </p:pic>
      <p:sp>
        <p:nvSpPr>
          <p:cNvPr id="9" name="TextBox 8">
            <a:extLst>
              <a:ext uri="{FF2B5EF4-FFF2-40B4-BE49-F238E27FC236}">
                <a16:creationId xmlns:a16="http://schemas.microsoft.com/office/drawing/2014/main" id="{C8FE5186-9263-EA9E-AC60-B3485B9FB6C8}"/>
              </a:ext>
            </a:extLst>
          </p:cNvPr>
          <p:cNvSpPr txBox="1"/>
          <p:nvPr/>
        </p:nvSpPr>
        <p:spPr>
          <a:xfrm>
            <a:off x="9434783" y="1805927"/>
            <a:ext cx="1701107" cy="523220"/>
          </a:xfrm>
          <a:prstGeom prst="rect">
            <a:avLst/>
          </a:prstGeom>
          <a:noFill/>
        </p:spPr>
        <p:txBody>
          <a:bodyPr wrap="none" rtlCol="0">
            <a:spAutoFit/>
          </a:bodyPr>
          <a:lstStyle/>
          <a:p>
            <a:r>
              <a:rPr lang="en-US" sz="2800" i="1" dirty="0">
                <a:latin typeface="Arial" panose="020B0604020202020204" pitchFamily="34" charset="0"/>
                <a:cs typeface="Arial" panose="020B0604020202020204" pitchFamily="34" charset="0"/>
              </a:rPr>
              <a:t>OM NOM</a:t>
            </a:r>
            <a:endParaRPr lang="ru-RU" sz="2800" i="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4974726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335BB3-9A14-0E27-A96F-8C080C2226F7}"/>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D3582254-0009-09C8-1EBA-A34D9A9E3BF2}"/>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Fundamentals of Circuit Modeling</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and Basic Laws</a:t>
            </a:r>
            <a:endParaRPr lang="ru-RU"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DCBEF849-5409-E951-BE2C-A4D305EE8D74}"/>
                  </a:ext>
                </a:extLst>
              </p:cNvPr>
              <p:cNvSpPr>
                <a:spLocks noGrp="1"/>
              </p:cNvSpPr>
              <p:nvPr>
                <p:ph idx="1"/>
              </p:nvPr>
            </p:nvSpPr>
            <p:spPr>
              <a:xfrm>
                <a:off x="838200" y="1825625"/>
                <a:ext cx="8050967" cy="4889968"/>
              </a:xfrm>
            </p:spPr>
            <p:txBody>
              <a:bodyPr>
                <a:normAutofit lnSpcReduction="10000"/>
              </a:bodyPr>
              <a:lstStyle/>
              <a:p>
                <a:pPr algn="just"/>
                <a:r>
                  <a:rPr lang="en-US" b="1" dirty="0">
                    <a:effectLst/>
                    <a:ea typeface="Aptos" panose="020B0004020202020204" pitchFamily="34" charset="0"/>
                    <a:cs typeface="Arial" panose="020B0604020202020204" pitchFamily="34" charset="0"/>
                  </a:rPr>
                  <a:t>If the calculated power is negative (</a:t>
                </a:r>
                <a14:m>
                  <m:oMath xmlns:m="http://schemas.openxmlformats.org/officeDocument/2006/math">
                    <m:r>
                      <a:rPr lang="en-US" b="1" i="1">
                        <a:effectLst/>
                        <a:latin typeface="Cambria Math" panose="02040503050406030204" pitchFamily="18" charset="0"/>
                        <a:ea typeface="Aptos" panose="020B0004020202020204" pitchFamily="34" charset="0"/>
                        <a:cs typeface="Times New Roman" panose="02020603050405020304" pitchFamily="18" charset="0"/>
                      </a:rPr>
                      <m:t>𝒑</m:t>
                    </m:r>
                    <m:r>
                      <a:rPr lang="en-US" b="1">
                        <a:effectLst/>
                        <a:latin typeface="Cambria Math" panose="02040503050406030204" pitchFamily="18" charset="0"/>
                        <a:ea typeface="Aptos" panose="020B0004020202020204" pitchFamily="34" charset="0"/>
                        <a:cs typeface="Times New Roman" panose="02020603050405020304" pitchFamily="18" charset="0"/>
                      </a:rPr>
                      <m:t>&lt;</m:t>
                    </m:r>
                    <m:r>
                      <a:rPr lang="en-US" b="1" i="1">
                        <a:effectLst/>
                        <a:latin typeface="Cambria Math" panose="02040503050406030204" pitchFamily="18" charset="0"/>
                        <a:ea typeface="Aptos" panose="020B0004020202020204" pitchFamily="34" charset="0"/>
                        <a:cs typeface="Times New Roman" panose="02020603050405020304" pitchFamily="18" charset="0"/>
                      </a:rPr>
                      <m:t>𝟎</m:t>
                    </m:r>
                  </m:oMath>
                </a14:m>
                <a:r>
                  <a:rPr lang="en-US" b="1" dirty="0">
                    <a:effectLst/>
                    <a:ea typeface="Aptos" panose="020B0004020202020204" pitchFamily="34" charset="0"/>
                    <a:cs typeface="Arial" panose="020B0604020202020204" pitchFamily="34" charset="0"/>
                  </a:rPr>
                  <a:t>), the element is delivering power to the circuit.</a:t>
                </a:r>
              </a:p>
              <a:p>
                <a:pPr algn="just"/>
                <a:r>
                  <a:rPr lang="en-US" dirty="0">
                    <a:ea typeface="Aptos" panose="020B0004020202020204" pitchFamily="34" charset="0"/>
                    <a:cs typeface="Arial" panose="020B0604020202020204" pitchFamily="34" charset="0"/>
                  </a:rPr>
                  <a:t>This indicates the element is acting as a source, such as a battery or generator, pushing energy into the system.</a:t>
                </a:r>
              </a:p>
              <a:p>
                <a:pPr algn="just"/>
                <a:r>
                  <a:rPr lang="en-US" b="1" dirty="0">
                    <a:effectLst/>
                    <a:ea typeface="Aptos" panose="020B0004020202020204" pitchFamily="34" charset="0"/>
                    <a:cs typeface="Arial" panose="020B0604020202020204" pitchFamily="34" charset="0"/>
                  </a:rPr>
                  <a:t>Alternatively,</a:t>
                </a:r>
                <a:r>
                  <a:rPr lang="en-US" dirty="0">
                    <a:effectLst/>
                    <a:ea typeface="Aptos" panose="020B0004020202020204" pitchFamily="34" charset="0"/>
                    <a:cs typeface="Arial" panose="020B0604020202020204" pitchFamily="34" charset="0"/>
                  </a:rPr>
                  <a:t> </a:t>
                </a:r>
                <a:r>
                  <a:rPr lang="en-US" b="1" dirty="0">
                    <a:effectLst/>
                    <a:ea typeface="Aptos" panose="020B0004020202020204" pitchFamily="34" charset="0"/>
                    <a:cs typeface="Arial" panose="020B0604020202020204" pitchFamily="34" charset="0"/>
                  </a:rPr>
                  <a:t>if we analyze an element using the non-associated reference direction (current leaves positive), the power formula is modified to</a:t>
                </a:r>
                <a14:m>
                  <m:oMath xmlns:m="http://schemas.openxmlformats.org/officeDocument/2006/math">
                    <m:r>
                      <a:rPr lang="en-US" b="1" i="1">
                        <a:effectLst/>
                        <a:latin typeface="Cambria Math" panose="02040503050406030204" pitchFamily="18" charset="0"/>
                        <a:ea typeface="Aptos" panose="020B0004020202020204" pitchFamily="34" charset="0"/>
                        <a:cs typeface="Times New Roman" panose="02020603050405020304" pitchFamily="18" charset="0"/>
                      </a:rPr>
                      <m:t> </m:t>
                    </m:r>
                    <m:r>
                      <a:rPr lang="en-US" b="1" i="1">
                        <a:effectLst/>
                        <a:latin typeface="Cambria Math" panose="02040503050406030204" pitchFamily="18" charset="0"/>
                        <a:ea typeface="Aptos" panose="020B0004020202020204" pitchFamily="34" charset="0"/>
                        <a:cs typeface="Times New Roman" panose="02020603050405020304" pitchFamily="18" charset="0"/>
                      </a:rPr>
                      <m:t>𝒑</m:t>
                    </m:r>
                    <m:r>
                      <a:rPr lang="en-US">
                        <a:effectLst/>
                        <a:latin typeface="Cambria Math" panose="02040503050406030204" pitchFamily="18" charset="0"/>
                        <a:ea typeface="Aptos" panose="020B0004020202020204" pitchFamily="34" charset="0"/>
                        <a:cs typeface="Times New Roman" panose="02020603050405020304" pitchFamily="18" charset="0"/>
                      </a:rPr>
                      <m:t>=</m:t>
                    </m:r>
                    <m:r>
                      <a:rPr lang="en-US" i="1">
                        <a:effectLst/>
                        <a:latin typeface="Cambria Math" panose="02040503050406030204" pitchFamily="18" charset="0"/>
                        <a:ea typeface="Aptos" panose="020B0004020202020204" pitchFamily="34" charset="0"/>
                        <a:cs typeface="Times New Roman" panose="02020603050405020304" pitchFamily="18" charset="0"/>
                      </a:rPr>
                      <m:t>−</m:t>
                    </m:r>
                    <m:r>
                      <a:rPr lang="en-US" b="1" i="1">
                        <a:effectLst/>
                        <a:latin typeface="Cambria Math" panose="02040503050406030204" pitchFamily="18" charset="0"/>
                        <a:ea typeface="Aptos" panose="020B0004020202020204" pitchFamily="34" charset="0"/>
                        <a:cs typeface="Times New Roman" panose="02020603050405020304" pitchFamily="18" charset="0"/>
                      </a:rPr>
                      <m:t>𝒗𝒊</m:t>
                    </m:r>
                  </m:oMath>
                </a14:m>
                <a:r>
                  <a:rPr lang="en-US" dirty="0">
                    <a:effectLst/>
                    <a:ea typeface="Aptos" panose="020B0004020202020204" pitchFamily="34" charset="0"/>
                    <a:cs typeface="Arial" panose="020B0604020202020204" pitchFamily="34" charset="0"/>
                  </a:rPr>
                  <a:t>. </a:t>
                </a:r>
              </a:p>
              <a:p>
                <a:pPr algn="just"/>
                <a:r>
                  <a:rPr lang="en-US" dirty="0">
                    <a:effectLst/>
                    <a:ea typeface="Aptos" panose="020B0004020202020204" pitchFamily="34" charset="0"/>
                    <a:cs typeface="Arial" panose="020B0604020202020204" pitchFamily="34" charset="0"/>
                  </a:rPr>
                  <a:t>In this convention, a positive result implies the element is delivering power, while a negative result implies absorption. </a:t>
                </a:r>
                <a:endParaRPr lang="ru-RU" dirty="0">
                  <a:effectLst/>
                  <a:ea typeface="Aptos" panose="020B0004020202020204" pitchFamily="34" charset="0"/>
                  <a:cs typeface="Arial" panose="020B0604020202020204" pitchFamily="34" charset="0"/>
                </a:endParaRPr>
              </a:p>
            </p:txBody>
          </p:sp>
        </mc:Choice>
        <mc:Fallback xmlns="">
          <p:sp>
            <p:nvSpPr>
              <p:cNvPr id="3" name="Объект 2">
                <a:extLst>
                  <a:ext uri="{FF2B5EF4-FFF2-40B4-BE49-F238E27FC236}">
                    <a16:creationId xmlns:a16="http://schemas.microsoft.com/office/drawing/2014/main" id="{DCBEF849-5409-E951-BE2C-A4D305EE8D74}"/>
                  </a:ext>
                </a:extLst>
              </p:cNvPr>
              <p:cNvSpPr>
                <a:spLocks noGrp="1" noRot="1" noChangeAspect="1" noMove="1" noResize="1" noEditPoints="1" noAdjustHandles="1" noChangeArrowheads="1" noChangeShapeType="1" noTextEdit="1"/>
              </p:cNvSpPr>
              <p:nvPr>
                <p:ph idx="1"/>
              </p:nvPr>
            </p:nvSpPr>
            <p:spPr>
              <a:xfrm>
                <a:off x="838200" y="1825625"/>
                <a:ext cx="8050967" cy="4889968"/>
              </a:xfrm>
              <a:blipFill>
                <a:blip r:embed="rId2"/>
                <a:stretch>
                  <a:fillRect l="-1364" t="-2989" r="-1591"/>
                </a:stretch>
              </a:blipFill>
            </p:spPr>
            <p:txBody>
              <a:bodyPr/>
              <a:lstStyle/>
              <a:p>
                <a:r>
                  <a:rPr lang="ru-RU">
                    <a:noFill/>
                  </a:rPr>
                  <a:t> </a:t>
                </a:r>
              </a:p>
            </p:txBody>
          </p:sp>
        </mc:Fallback>
      </mc:AlternateContent>
      <p:grpSp>
        <p:nvGrpSpPr>
          <p:cNvPr id="4" name="Группа 3">
            <a:extLst>
              <a:ext uri="{FF2B5EF4-FFF2-40B4-BE49-F238E27FC236}">
                <a16:creationId xmlns:a16="http://schemas.microsoft.com/office/drawing/2014/main" id="{7C52C113-7BCF-C5F9-4AD2-8B5881AA07C8}"/>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E3471BA5-11FE-A664-90C7-7F82370388B8}"/>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F170AE8B-4B75-FB9F-FC80-21B2283B68B4}"/>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Fundamentals of Circuit Modeling</a:t>
              </a:r>
              <a:br>
                <a:rPr lang="en-US" sz="4000" cap="all" dirty="0">
                  <a:solidFill>
                    <a:schemeClr val="bg1"/>
                  </a:solidFill>
                  <a:latin typeface="Arial" panose="020B0604020202020204" pitchFamily="34" charset="0"/>
                  <a:cs typeface="Arial" panose="020B0604020202020204" pitchFamily="34" charset="0"/>
                </a:rPr>
              </a:br>
              <a:r>
                <a:rPr lang="en-US" sz="4000" cap="all" dirty="0">
                  <a:solidFill>
                    <a:schemeClr val="bg1"/>
                  </a:solidFill>
                  <a:latin typeface="Arial" panose="020B0604020202020204" pitchFamily="34" charset="0"/>
                  <a:cs typeface="Arial" panose="020B0604020202020204" pitchFamily="34" charset="0"/>
                </a:rPr>
                <a:t>and Basic Laws</a:t>
              </a:r>
              <a:endParaRPr lang="ru-RU" sz="4000" dirty="0"/>
            </a:p>
          </p:txBody>
        </p:sp>
      </p:grpSp>
      <p:grpSp>
        <p:nvGrpSpPr>
          <p:cNvPr id="9" name="Группа 8">
            <a:extLst>
              <a:ext uri="{FF2B5EF4-FFF2-40B4-BE49-F238E27FC236}">
                <a16:creationId xmlns:a16="http://schemas.microsoft.com/office/drawing/2014/main" id="{625C11AC-EB73-E51A-3660-12B6FA39A12C}"/>
              </a:ext>
            </a:extLst>
          </p:cNvPr>
          <p:cNvGrpSpPr/>
          <p:nvPr/>
        </p:nvGrpSpPr>
        <p:grpSpPr>
          <a:xfrm>
            <a:off x="8914305" y="2355508"/>
            <a:ext cx="3166443" cy="3467209"/>
            <a:chOff x="8889167" y="2273615"/>
            <a:chExt cx="3280427" cy="3592020"/>
          </a:xfrm>
        </p:grpSpPr>
        <p:pic>
          <p:nvPicPr>
            <p:cNvPr id="7" name="Рисунок 6">
              <a:extLst>
                <a:ext uri="{FF2B5EF4-FFF2-40B4-BE49-F238E27FC236}">
                  <a16:creationId xmlns:a16="http://schemas.microsoft.com/office/drawing/2014/main" id="{13D655BC-84C0-C1F2-4EF0-81BC0A656227}"/>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10508105" y="2273616"/>
              <a:ext cx="1661489" cy="3592019"/>
            </a:xfrm>
            <a:prstGeom prst="rect">
              <a:avLst/>
            </a:prstGeom>
          </p:spPr>
        </p:pic>
        <p:pic>
          <p:nvPicPr>
            <p:cNvPr id="8" name="Рисунок 7">
              <a:extLst>
                <a:ext uri="{FF2B5EF4-FFF2-40B4-BE49-F238E27FC236}">
                  <a16:creationId xmlns:a16="http://schemas.microsoft.com/office/drawing/2014/main" id="{8F680FEA-ED50-7684-C981-2A9C56511EB3}"/>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flipH="1">
              <a:off x="8889167" y="2273615"/>
              <a:ext cx="1661489" cy="3592019"/>
            </a:xfrm>
            <a:prstGeom prst="rect">
              <a:avLst/>
            </a:prstGeom>
          </p:spPr>
        </p:pic>
      </p:grpSp>
    </p:spTree>
    <p:extLst>
      <p:ext uri="{BB962C8B-B14F-4D97-AF65-F5344CB8AC3E}">
        <p14:creationId xmlns:p14="http://schemas.microsoft.com/office/powerpoint/2010/main" val="59285663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4765E-E764-1EF0-CF1F-1F6A97660710}"/>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7DA7E901-15D4-3960-B5B4-6651075A0EE3}"/>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Fundamentals of Circuit Modeling</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and Basic Laws</a:t>
            </a:r>
            <a:endParaRPr lang="ru-RU" dirty="0">
              <a:latin typeface="Arial" panose="020B0604020202020204" pitchFamily="34" charset="0"/>
              <a:cs typeface="Arial" panose="020B0604020202020204" pitchFamily="34" charset="0"/>
            </a:endParaRPr>
          </a:p>
        </p:txBody>
      </p:sp>
      <p:sp>
        <p:nvSpPr>
          <p:cNvPr id="3" name="Объект 2">
            <a:extLst>
              <a:ext uri="{FF2B5EF4-FFF2-40B4-BE49-F238E27FC236}">
                <a16:creationId xmlns:a16="http://schemas.microsoft.com/office/drawing/2014/main" id="{D2398140-2EDD-C695-174F-D46D13BC3430}"/>
              </a:ext>
            </a:extLst>
          </p:cNvPr>
          <p:cNvSpPr>
            <a:spLocks noGrp="1"/>
          </p:cNvSpPr>
          <p:nvPr>
            <p:ph idx="1"/>
          </p:nvPr>
        </p:nvSpPr>
        <p:spPr/>
        <p:txBody>
          <a:bodyPr>
            <a:normAutofit/>
          </a:bodyPr>
          <a:lstStyle/>
          <a:p>
            <a:pPr algn="just"/>
            <a:r>
              <a:rPr lang="en-US" dirty="0">
                <a:ea typeface="Aptos" panose="020B0004020202020204" pitchFamily="34" charset="0"/>
                <a:cs typeface="Arial" panose="020B0604020202020204" pitchFamily="34" charset="0"/>
              </a:rPr>
              <a:t>To avoid confusion, I strongly recommend consistently using the associated reference direction for all passive components and carefully observing the arrows for sources.</a:t>
            </a:r>
          </a:p>
          <a:p>
            <a:pPr algn="just"/>
            <a:r>
              <a:rPr lang="en-US" dirty="0">
                <a:effectLst/>
                <a:ea typeface="Aptos" panose="020B0004020202020204" pitchFamily="34" charset="0"/>
                <a:cs typeface="Arial" panose="020B0604020202020204" pitchFamily="34" charset="0"/>
              </a:rPr>
              <a:t>A fundamental law of physics is the conservation of energy, which applies strictly to electrical circuits as </a:t>
            </a:r>
            <a:r>
              <a:rPr lang="en-US" dirty="0" err="1">
                <a:effectLst/>
                <a:ea typeface="Aptos" panose="020B0004020202020204" pitchFamily="34" charset="0"/>
                <a:cs typeface="Arial" panose="020B0604020202020204" pitchFamily="34" charset="0"/>
              </a:rPr>
              <a:t>Tellegen's</a:t>
            </a:r>
            <a:r>
              <a:rPr lang="en-US" dirty="0">
                <a:effectLst/>
                <a:ea typeface="Aptos" panose="020B0004020202020204" pitchFamily="34" charset="0"/>
                <a:cs typeface="Arial" panose="020B0604020202020204" pitchFamily="34" charset="0"/>
              </a:rPr>
              <a:t> Theorem (though we will address that formally later). </a:t>
            </a:r>
          </a:p>
          <a:p>
            <a:pPr algn="just"/>
            <a:r>
              <a:rPr lang="en-US" dirty="0">
                <a:effectLst/>
                <a:ea typeface="Aptos" panose="020B0004020202020204" pitchFamily="34" charset="0"/>
                <a:cs typeface="Arial" panose="020B0604020202020204" pitchFamily="34" charset="0"/>
              </a:rPr>
              <a:t>In any isolated electrical circuit, energy cannot be created or destroyed. </a:t>
            </a:r>
            <a:endParaRPr lang="ru-RU" dirty="0">
              <a:effectLst/>
              <a:ea typeface="Aptos" panose="020B0004020202020204" pitchFamily="34" charset="0"/>
              <a:cs typeface="Arial" panose="020B0604020202020204" pitchFamily="34" charset="0"/>
            </a:endParaRPr>
          </a:p>
        </p:txBody>
      </p:sp>
      <p:grpSp>
        <p:nvGrpSpPr>
          <p:cNvPr id="4" name="Группа 3">
            <a:extLst>
              <a:ext uri="{FF2B5EF4-FFF2-40B4-BE49-F238E27FC236}">
                <a16:creationId xmlns:a16="http://schemas.microsoft.com/office/drawing/2014/main" id="{A16EDB3A-A997-64F4-6B98-39B5C3B01AA5}"/>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9FB146BF-47CE-A2DF-92F9-E167CE229653}"/>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BD421BD9-B325-B0D5-F0F9-B4F851516993}"/>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Fundamentals of Circuit Modeling</a:t>
              </a:r>
              <a:br>
                <a:rPr lang="en-US" sz="4000" cap="all" dirty="0">
                  <a:solidFill>
                    <a:schemeClr val="bg1"/>
                  </a:solidFill>
                  <a:latin typeface="Arial" panose="020B0604020202020204" pitchFamily="34" charset="0"/>
                  <a:cs typeface="Arial" panose="020B0604020202020204" pitchFamily="34" charset="0"/>
                </a:rPr>
              </a:br>
              <a:r>
                <a:rPr lang="en-US" sz="4000" cap="all" dirty="0">
                  <a:solidFill>
                    <a:schemeClr val="bg1"/>
                  </a:solidFill>
                  <a:latin typeface="Arial" panose="020B0604020202020204" pitchFamily="34" charset="0"/>
                  <a:cs typeface="Arial" panose="020B0604020202020204" pitchFamily="34" charset="0"/>
                </a:rPr>
                <a:t>and Basic Laws</a:t>
              </a:r>
              <a:endParaRPr lang="ru-RU" sz="4000" dirty="0"/>
            </a:p>
          </p:txBody>
        </p:sp>
      </p:grpSp>
    </p:spTree>
    <p:extLst>
      <p:ext uri="{BB962C8B-B14F-4D97-AF65-F5344CB8AC3E}">
        <p14:creationId xmlns:p14="http://schemas.microsoft.com/office/powerpoint/2010/main" val="157857145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0461613-2ACC-C68B-06B3-BFE35799DAFB}"/>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Fundamentals of Circuit Modeling</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and Basic Laws</a:t>
            </a:r>
            <a:endParaRPr lang="ru-RU" dirty="0">
              <a:latin typeface="Arial" panose="020B0604020202020204" pitchFamily="34" charset="0"/>
              <a:cs typeface="Arial" panose="020B0604020202020204" pitchFamily="34" charset="0"/>
            </a:endParaRPr>
          </a:p>
        </p:txBody>
      </p:sp>
      <p:sp>
        <p:nvSpPr>
          <p:cNvPr id="3" name="Объект 2">
            <a:extLst>
              <a:ext uri="{FF2B5EF4-FFF2-40B4-BE49-F238E27FC236}">
                <a16:creationId xmlns:a16="http://schemas.microsoft.com/office/drawing/2014/main" id="{38B32713-8DC8-A19D-A317-628052EECCD1}"/>
              </a:ext>
            </a:extLst>
          </p:cNvPr>
          <p:cNvSpPr>
            <a:spLocks noGrp="1"/>
          </p:cNvSpPr>
          <p:nvPr>
            <p:ph idx="1"/>
          </p:nvPr>
        </p:nvSpPr>
        <p:spPr>
          <a:xfrm>
            <a:off x="838200" y="1825625"/>
            <a:ext cx="7016646" cy="4351338"/>
          </a:xfrm>
        </p:spPr>
        <p:txBody>
          <a:bodyPr>
            <a:normAutofit/>
          </a:bodyPr>
          <a:lstStyle/>
          <a:p>
            <a:pPr algn="just"/>
            <a:r>
              <a:rPr lang="en-US" b="1" dirty="0">
                <a:latin typeface="Arial" panose="020B0604020202020204" pitchFamily="34" charset="0"/>
                <a:ea typeface="Aptos" panose="020B0004020202020204" pitchFamily="34" charset="0"/>
                <a:cs typeface="Arial" panose="020B0604020202020204" pitchFamily="34" charset="0"/>
              </a:rPr>
              <a:t>The algebraic sum of power in a circuit is zero at any instant of time.</a:t>
            </a:r>
          </a:p>
          <a:p>
            <a:pPr algn="just"/>
            <a:r>
              <a:rPr lang="en-US" dirty="0">
                <a:latin typeface="Arial" panose="020B0604020202020204" pitchFamily="34" charset="0"/>
                <a:ea typeface="Aptos" panose="020B0004020202020204" pitchFamily="34" charset="0"/>
                <a:cs typeface="Arial" panose="020B0604020202020204" pitchFamily="34" charset="0"/>
              </a:rPr>
              <a:t>This means that the total power supplied by the active sources must exactly equal the total power absorbed by the passive elements. </a:t>
            </a:r>
          </a:p>
          <a:p>
            <a:pPr algn="just"/>
            <a:r>
              <a:rPr lang="en-US" dirty="0">
                <a:latin typeface="Arial" panose="020B0604020202020204" pitchFamily="34" charset="0"/>
                <a:ea typeface="Aptos" panose="020B0004020202020204" pitchFamily="34" charset="0"/>
                <a:cs typeface="Arial" panose="020B0604020202020204" pitchFamily="34" charset="0"/>
              </a:rPr>
              <a:t>This balance serves as a powerful verification tool for your circuit calculations; if your powers do not sum to zero, an error exists in your analysis.</a:t>
            </a:r>
            <a:endParaRPr lang="ru-RU" dirty="0">
              <a:effectLst/>
              <a:latin typeface="Arial" panose="020B0604020202020204" pitchFamily="34" charset="0"/>
              <a:ea typeface="Aptos" panose="020B0004020202020204" pitchFamily="34" charset="0"/>
              <a:cs typeface="Arial" panose="020B0604020202020204" pitchFamily="34" charset="0"/>
            </a:endParaRPr>
          </a:p>
        </p:txBody>
      </p:sp>
      <p:grpSp>
        <p:nvGrpSpPr>
          <p:cNvPr id="4" name="Группа 3">
            <a:extLst>
              <a:ext uri="{FF2B5EF4-FFF2-40B4-BE49-F238E27FC236}">
                <a16:creationId xmlns:a16="http://schemas.microsoft.com/office/drawing/2014/main" id="{D1F5A9D4-6CBA-F622-7B13-8C958D5BCBB6}"/>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D46E6456-B95A-954F-E738-889AC58656E3}"/>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E4B7E154-5EA5-0FD1-38E4-FCF9EF4A9FB3}"/>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Fundamentals of Circuit Modeling</a:t>
              </a:r>
              <a:br>
                <a:rPr lang="en-US" sz="4000" cap="all" dirty="0">
                  <a:solidFill>
                    <a:schemeClr val="bg1"/>
                  </a:solidFill>
                  <a:latin typeface="Arial" panose="020B0604020202020204" pitchFamily="34" charset="0"/>
                  <a:cs typeface="Arial" panose="020B0604020202020204" pitchFamily="34" charset="0"/>
                </a:rPr>
              </a:br>
              <a:r>
                <a:rPr lang="en-US" sz="4000" cap="all" dirty="0">
                  <a:solidFill>
                    <a:schemeClr val="bg1"/>
                  </a:solidFill>
                  <a:latin typeface="Arial" panose="020B0604020202020204" pitchFamily="34" charset="0"/>
                  <a:cs typeface="Arial" panose="020B0604020202020204" pitchFamily="34" charset="0"/>
                </a:rPr>
                <a:t>and Basic Laws</a:t>
              </a:r>
              <a:endParaRPr lang="ru-RU" sz="4000" dirty="0"/>
            </a:p>
          </p:txBody>
        </p:sp>
      </p:grpSp>
      <p:pic>
        <p:nvPicPr>
          <p:cNvPr id="7" name="Рисунок 6">
            <a:extLst>
              <a:ext uri="{FF2B5EF4-FFF2-40B4-BE49-F238E27FC236}">
                <a16:creationId xmlns:a16="http://schemas.microsoft.com/office/drawing/2014/main" id="{54395107-0862-488E-FEEA-19AD060B9BB0}"/>
              </a:ext>
            </a:extLst>
          </p:cNvPr>
          <p:cNvPicPr>
            <a:picLocks noChangeAspect="1"/>
          </p:cNvPicPr>
          <p:nvPr/>
        </p:nvPicPr>
        <p:blipFill>
          <a:blip r:embed="rId2" cstate="email">
            <a:extLst>
              <a:ext uri="{28A0092B-C50C-407E-A947-70E740481C1C}">
                <a14:useLocalDpi xmlns:a14="http://schemas.microsoft.com/office/drawing/2010/main"/>
              </a:ext>
            </a:extLst>
          </a:blip>
          <a:srcRect/>
          <a:stretch/>
        </p:blipFill>
        <p:spPr>
          <a:xfrm>
            <a:off x="7974767" y="2385254"/>
            <a:ext cx="3958230" cy="3232080"/>
          </a:xfrm>
          <a:prstGeom prst="rect">
            <a:avLst/>
          </a:prstGeom>
        </p:spPr>
      </p:pic>
    </p:spTree>
    <p:extLst>
      <p:ext uri="{BB962C8B-B14F-4D97-AF65-F5344CB8AC3E}">
        <p14:creationId xmlns:p14="http://schemas.microsoft.com/office/powerpoint/2010/main" val="87909200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9B23E8-064B-5A84-1162-94FD1D326663}"/>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E0D4E2A0-960B-6154-E2E6-7592F674FC85}"/>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Fundamentals of Circuit Modeling</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and Basic Laws</a:t>
            </a:r>
            <a:endParaRPr lang="ru-RU" dirty="0">
              <a:latin typeface="Arial" panose="020B0604020202020204" pitchFamily="34" charset="0"/>
              <a:cs typeface="Arial" panose="020B0604020202020204" pitchFamily="34" charset="0"/>
            </a:endParaRPr>
          </a:p>
        </p:txBody>
      </p:sp>
      <p:sp>
        <p:nvSpPr>
          <p:cNvPr id="3" name="Объект 2">
            <a:extLst>
              <a:ext uri="{FF2B5EF4-FFF2-40B4-BE49-F238E27FC236}">
                <a16:creationId xmlns:a16="http://schemas.microsoft.com/office/drawing/2014/main" id="{41EF34C1-DA96-B46C-6A1E-4472705E32A9}"/>
              </a:ext>
            </a:extLst>
          </p:cNvPr>
          <p:cNvSpPr>
            <a:spLocks noGrp="1"/>
          </p:cNvSpPr>
          <p:nvPr>
            <p:ph idx="1"/>
          </p:nvPr>
        </p:nvSpPr>
        <p:spPr>
          <a:xfrm>
            <a:off x="838200" y="1825625"/>
            <a:ext cx="10717530" cy="4351338"/>
          </a:xfrm>
        </p:spPr>
        <p:txBody>
          <a:bodyPr>
            <a:normAutofit/>
          </a:bodyPr>
          <a:lstStyle/>
          <a:p>
            <a:pPr algn="just"/>
            <a:r>
              <a:rPr lang="en-US" dirty="0">
                <a:latin typeface="Arial" panose="020B0604020202020204" pitchFamily="34" charset="0"/>
                <a:ea typeface="Aptos" panose="020B0004020202020204" pitchFamily="34" charset="0"/>
                <a:cs typeface="Arial" panose="020B0604020202020204" pitchFamily="34" charset="0"/>
              </a:rPr>
              <a:t>We now expand our understanding of voltage by introducing the concept of Electric Potential. </a:t>
            </a:r>
          </a:p>
          <a:p>
            <a:pPr algn="just"/>
            <a:r>
              <a:rPr lang="en-US" dirty="0">
                <a:latin typeface="Arial" panose="020B0604020202020204" pitchFamily="34" charset="0"/>
                <a:ea typeface="Aptos" panose="020B0004020202020204" pitchFamily="34" charset="0"/>
                <a:cs typeface="Arial" panose="020B0604020202020204" pitchFamily="34" charset="0"/>
              </a:rPr>
              <a:t>While voltage is the difference in potential between two points, </a:t>
            </a:r>
            <a:r>
              <a:rPr lang="en-US" b="1" dirty="0">
                <a:ea typeface="Aptos" panose="020B0004020202020204" pitchFamily="34" charset="0"/>
                <a:cs typeface="Arial" panose="020B0604020202020204" pitchFamily="34" charset="0"/>
              </a:rPr>
              <a:t>e</a:t>
            </a:r>
            <a:r>
              <a:rPr lang="en-US" b="1" dirty="0">
                <a:effectLst/>
                <a:latin typeface="Arial" panose="020B0604020202020204" pitchFamily="34" charset="0"/>
                <a:ea typeface="Aptos" panose="020B0004020202020204" pitchFamily="34" charset="0"/>
                <a:cs typeface="Arial" panose="020B0604020202020204" pitchFamily="34" charset="0"/>
              </a:rPr>
              <a:t>lectric potential is the voltage at a specific point with respect to a common reference point, often called «ground».</a:t>
            </a:r>
          </a:p>
        </p:txBody>
      </p:sp>
      <p:grpSp>
        <p:nvGrpSpPr>
          <p:cNvPr id="4" name="Группа 3">
            <a:extLst>
              <a:ext uri="{FF2B5EF4-FFF2-40B4-BE49-F238E27FC236}">
                <a16:creationId xmlns:a16="http://schemas.microsoft.com/office/drawing/2014/main" id="{0ED7E60A-1662-B88D-1001-AE9714C7EC25}"/>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0339B905-8844-6F40-E274-19A55B8E4995}"/>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1DEC01EC-C513-F40C-4115-5FCE3646EE90}"/>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Fundamentals of Circuit Modeling</a:t>
              </a:r>
              <a:br>
                <a:rPr lang="en-US" sz="4000" cap="all" dirty="0">
                  <a:solidFill>
                    <a:schemeClr val="bg1"/>
                  </a:solidFill>
                  <a:latin typeface="Arial" panose="020B0604020202020204" pitchFamily="34" charset="0"/>
                  <a:cs typeface="Arial" panose="020B0604020202020204" pitchFamily="34" charset="0"/>
                </a:rPr>
              </a:br>
              <a:r>
                <a:rPr lang="en-US" sz="4000" cap="all" dirty="0">
                  <a:solidFill>
                    <a:schemeClr val="bg1"/>
                  </a:solidFill>
                  <a:latin typeface="Arial" panose="020B0604020202020204" pitchFamily="34" charset="0"/>
                  <a:cs typeface="Arial" panose="020B0604020202020204" pitchFamily="34" charset="0"/>
                </a:rPr>
                <a:t>and Basic Laws</a:t>
              </a:r>
              <a:endParaRPr lang="ru-RU" sz="4000" dirty="0"/>
            </a:p>
          </p:txBody>
        </p:sp>
      </p:grpSp>
    </p:spTree>
    <p:extLst>
      <p:ext uri="{BB962C8B-B14F-4D97-AF65-F5344CB8AC3E}">
        <p14:creationId xmlns:p14="http://schemas.microsoft.com/office/powerpoint/2010/main" val="343710189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6A1C36-8D15-4EBE-A24E-0064744F3981}"/>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075586BA-DCB0-EA44-AB3B-E201A1E88B58}"/>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Fundamentals of Circuit Modeling</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and Basic Laws</a:t>
            </a:r>
            <a:endParaRPr lang="ru-RU" dirty="0">
              <a:latin typeface="Arial" panose="020B0604020202020204" pitchFamily="34" charset="0"/>
              <a:cs typeface="Arial" panose="020B0604020202020204" pitchFamily="34" charset="0"/>
            </a:endParaRPr>
          </a:p>
        </p:txBody>
      </p:sp>
      <p:sp>
        <p:nvSpPr>
          <p:cNvPr id="3" name="Объект 2">
            <a:extLst>
              <a:ext uri="{FF2B5EF4-FFF2-40B4-BE49-F238E27FC236}">
                <a16:creationId xmlns:a16="http://schemas.microsoft.com/office/drawing/2014/main" id="{DE0E17D8-E4C9-1DA5-7C8B-44519A6C2CD9}"/>
              </a:ext>
            </a:extLst>
          </p:cNvPr>
          <p:cNvSpPr>
            <a:spLocks noGrp="1"/>
          </p:cNvSpPr>
          <p:nvPr>
            <p:ph idx="1"/>
          </p:nvPr>
        </p:nvSpPr>
        <p:spPr>
          <a:xfrm>
            <a:off x="838200" y="1825624"/>
            <a:ext cx="8200869" cy="5032375"/>
          </a:xfrm>
        </p:spPr>
        <p:txBody>
          <a:bodyPr>
            <a:normAutofit/>
          </a:bodyPr>
          <a:lstStyle/>
          <a:p>
            <a:pPr algn="just"/>
            <a:r>
              <a:rPr lang="en-US" b="1" dirty="0">
                <a:effectLst/>
                <a:latin typeface="Arial" panose="020B0604020202020204" pitchFamily="34" charset="0"/>
                <a:ea typeface="Aptos" panose="020B0004020202020204" pitchFamily="34" charset="0"/>
                <a:cs typeface="Arial" panose="020B0604020202020204" pitchFamily="34" charset="0"/>
              </a:rPr>
              <a:t>The potential of the reference point is arbitrarily defined as zero volts.</a:t>
            </a:r>
          </a:p>
          <a:p>
            <a:pPr algn="just"/>
            <a:r>
              <a:rPr lang="en-US" dirty="0">
                <a:effectLst/>
                <a:latin typeface="Arial" panose="020B0604020202020204" pitchFamily="34" charset="0"/>
                <a:ea typeface="Aptos" panose="020B0004020202020204" pitchFamily="34" charset="0"/>
                <a:cs typeface="Arial" panose="020B0604020202020204" pitchFamily="34" charset="0"/>
              </a:rPr>
              <a:t>The potential at any other point in the circuit is simply the voltage drop from that point to the ground reference.</a:t>
            </a:r>
            <a:endParaRPr lang="ru-RU" dirty="0">
              <a:effectLst/>
              <a:latin typeface="Arial" panose="020B0604020202020204" pitchFamily="34" charset="0"/>
              <a:ea typeface="Aptos" panose="020B0004020202020204" pitchFamily="34" charset="0"/>
              <a:cs typeface="Arial" panose="020B0604020202020204" pitchFamily="34" charset="0"/>
            </a:endParaRPr>
          </a:p>
          <a:p>
            <a:pPr algn="just"/>
            <a:r>
              <a:rPr lang="en-US" dirty="0">
                <a:effectLst/>
                <a:latin typeface="Arial" panose="020B0604020202020204" pitchFamily="34" charset="0"/>
                <a:ea typeface="Aptos" panose="020B0004020202020204" pitchFamily="34" charset="0"/>
                <a:cs typeface="Arial" panose="020B0604020202020204" pitchFamily="34" charset="0"/>
              </a:rPr>
              <a:t>It’s called </a:t>
            </a:r>
            <a:r>
              <a:rPr lang="ru-RU" dirty="0">
                <a:effectLst/>
                <a:latin typeface="Arial" panose="020B0604020202020204" pitchFamily="34" charset="0"/>
                <a:ea typeface="Aptos" panose="020B0004020202020204" pitchFamily="34" charset="0"/>
                <a:cs typeface="Arial" panose="020B0604020202020204" pitchFamily="34" charset="0"/>
              </a:rPr>
              <a:t>«</a:t>
            </a:r>
            <a:r>
              <a:rPr lang="en-US" dirty="0">
                <a:effectLst/>
                <a:latin typeface="Arial" panose="020B0604020202020204" pitchFamily="34" charset="0"/>
                <a:ea typeface="Aptos" panose="020B0004020202020204" pitchFamily="34" charset="0"/>
                <a:cs typeface="Arial" panose="020B0604020202020204" pitchFamily="34" charset="0"/>
              </a:rPr>
              <a:t>ground</a:t>
            </a:r>
            <a:r>
              <a:rPr lang="ru-RU" dirty="0">
                <a:effectLst/>
                <a:latin typeface="Arial" panose="020B0604020202020204" pitchFamily="34" charset="0"/>
                <a:ea typeface="Aptos" panose="020B0004020202020204" pitchFamily="34" charset="0"/>
                <a:cs typeface="Arial" panose="020B0604020202020204" pitchFamily="34" charset="0"/>
              </a:rPr>
              <a:t>»</a:t>
            </a:r>
            <a:r>
              <a:rPr lang="en-US" dirty="0">
                <a:effectLst/>
                <a:latin typeface="Arial" panose="020B0604020202020204" pitchFamily="34" charset="0"/>
                <a:ea typeface="Aptos" panose="020B0004020202020204" pitchFamily="34" charset="0"/>
                <a:cs typeface="Arial" panose="020B0604020202020204" pitchFamily="34" charset="0"/>
              </a:rPr>
              <a:t> because we assume </a:t>
            </a:r>
          </a:p>
          <a:p>
            <a:pPr marL="0" indent="0" algn="just">
              <a:buNone/>
            </a:pPr>
            <a:r>
              <a:rPr lang="en-US" dirty="0">
                <a:ea typeface="Aptos" panose="020B0004020202020204" pitchFamily="34" charset="0"/>
                <a:cs typeface="Arial" panose="020B0604020202020204" pitchFamily="34" charset="0"/>
              </a:rPr>
              <a:t>the ground on Earth has zero potential</a:t>
            </a:r>
          </a:p>
          <a:p>
            <a:pPr algn="just"/>
            <a:r>
              <a:rPr lang="en-US" dirty="0">
                <a:effectLst/>
                <a:latin typeface="Arial" panose="020B0604020202020204" pitchFamily="34" charset="0"/>
                <a:ea typeface="Aptos" panose="020B0004020202020204" pitchFamily="34" charset="0"/>
                <a:cs typeface="Arial" panose="020B0604020202020204" pitchFamily="34" charset="0"/>
              </a:rPr>
              <a:t>Furthermore</a:t>
            </a:r>
            <a:r>
              <a:rPr lang="en-US" dirty="0">
                <a:ea typeface="Aptos" panose="020B0004020202020204" pitchFamily="34" charset="0"/>
                <a:cs typeface="Arial" panose="020B0604020202020204" pitchFamily="34" charset="0"/>
              </a:rPr>
              <a:t>, electrical grounding is often </a:t>
            </a:r>
          </a:p>
          <a:p>
            <a:pPr marL="0" indent="0" algn="just">
              <a:buNone/>
            </a:pPr>
            <a:r>
              <a:rPr lang="en-US" dirty="0">
                <a:ea typeface="Aptos" panose="020B0004020202020204" pitchFamily="34" charset="0"/>
                <a:cs typeface="Arial" panose="020B0604020202020204" pitchFamily="34" charset="0"/>
              </a:rPr>
              <a:t>connected </a:t>
            </a:r>
            <a:r>
              <a:rPr lang="en-US" dirty="0">
                <a:effectLst/>
                <a:latin typeface="Arial" panose="020B0604020202020204" pitchFamily="34" charset="0"/>
                <a:ea typeface="Aptos" panose="020B0004020202020204" pitchFamily="34" charset="0"/>
                <a:cs typeface="Arial" panose="020B0604020202020204" pitchFamily="34" charset="0"/>
              </a:rPr>
              <a:t>to the actual earth </a:t>
            </a:r>
            <a:r>
              <a:rPr lang="en-US" dirty="0">
                <a:ea typeface="Aptos" panose="020B0004020202020204" pitchFamily="34" charset="0"/>
                <a:cs typeface="Arial" panose="020B0604020202020204" pitchFamily="34" charset="0"/>
              </a:rPr>
              <a:t>for safety </a:t>
            </a:r>
          </a:p>
          <a:p>
            <a:pPr marL="0" indent="0" algn="just">
              <a:buNone/>
            </a:pPr>
            <a:r>
              <a:rPr lang="en-US" dirty="0">
                <a:ea typeface="Aptos" panose="020B0004020202020204" pitchFamily="34" charset="0"/>
                <a:cs typeface="Arial" panose="020B0604020202020204" pitchFamily="34" charset="0"/>
              </a:rPr>
              <a:t>reasons</a:t>
            </a:r>
            <a:endParaRPr lang="en-US" dirty="0">
              <a:effectLst/>
              <a:latin typeface="Arial" panose="020B0604020202020204" pitchFamily="34" charset="0"/>
              <a:ea typeface="Aptos" panose="020B0004020202020204" pitchFamily="34" charset="0"/>
              <a:cs typeface="Arial" panose="020B0604020202020204" pitchFamily="34" charset="0"/>
            </a:endParaRPr>
          </a:p>
        </p:txBody>
      </p:sp>
      <p:grpSp>
        <p:nvGrpSpPr>
          <p:cNvPr id="4" name="Группа 3">
            <a:extLst>
              <a:ext uri="{FF2B5EF4-FFF2-40B4-BE49-F238E27FC236}">
                <a16:creationId xmlns:a16="http://schemas.microsoft.com/office/drawing/2014/main" id="{E069EFB6-C515-63B7-3725-F9F38EAC4187}"/>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716902B4-612B-678F-6EF8-232B24A83ECD}"/>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2B833C36-8FA7-5BFE-31B7-5FF63F0B3D08}"/>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Fundamentals of Circuit Modeling</a:t>
              </a:r>
              <a:br>
                <a:rPr lang="en-US" sz="4000" cap="all" dirty="0">
                  <a:solidFill>
                    <a:schemeClr val="bg1"/>
                  </a:solidFill>
                  <a:latin typeface="Arial" panose="020B0604020202020204" pitchFamily="34" charset="0"/>
                  <a:cs typeface="Arial" panose="020B0604020202020204" pitchFamily="34" charset="0"/>
                </a:rPr>
              </a:br>
              <a:r>
                <a:rPr lang="en-US" sz="4000" cap="all" dirty="0">
                  <a:solidFill>
                    <a:schemeClr val="bg1"/>
                  </a:solidFill>
                  <a:latin typeface="Arial" panose="020B0604020202020204" pitchFamily="34" charset="0"/>
                  <a:cs typeface="Arial" panose="020B0604020202020204" pitchFamily="34" charset="0"/>
                </a:rPr>
                <a:t>and Basic Laws</a:t>
              </a:r>
              <a:endParaRPr lang="ru-RU" sz="4000" dirty="0"/>
            </a:p>
          </p:txBody>
        </p:sp>
      </p:grpSp>
      <p:pic>
        <p:nvPicPr>
          <p:cNvPr id="7" name="Рисунок 6">
            <a:extLst>
              <a:ext uri="{FF2B5EF4-FFF2-40B4-BE49-F238E27FC236}">
                <a16:creationId xmlns:a16="http://schemas.microsoft.com/office/drawing/2014/main" id="{F400E31F-1BB2-B641-74EF-84A7346A755B}"/>
              </a:ext>
            </a:extLst>
          </p:cNvPr>
          <p:cNvPicPr>
            <a:picLocks noChangeAspect="1"/>
          </p:cNvPicPr>
          <p:nvPr/>
        </p:nvPicPr>
        <p:blipFill>
          <a:blip r:embed="rId2" cstate="email">
            <a:extLst>
              <a:ext uri="{28A0092B-C50C-407E-A947-70E740481C1C}">
                <a14:useLocalDpi xmlns:a14="http://schemas.microsoft.com/office/drawing/2010/main"/>
              </a:ext>
            </a:extLst>
          </a:blip>
          <a:srcRect/>
          <a:stretch/>
        </p:blipFill>
        <p:spPr>
          <a:xfrm>
            <a:off x="7779894" y="3825293"/>
            <a:ext cx="4300853" cy="2758387"/>
          </a:xfrm>
          <a:prstGeom prst="rect">
            <a:avLst/>
          </a:prstGeom>
        </p:spPr>
      </p:pic>
    </p:spTree>
    <p:extLst>
      <p:ext uri="{BB962C8B-B14F-4D97-AF65-F5344CB8AC3E}">
        <p14:creationId xmlns:p14="http://schemas.microsoft.com/office/powerpoint/2010/main" val="74917608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6E6AC8-BA4E-0066-B520-0C5B211CC990}"/>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BA46217B-642E-6ABF-0A23-6C82DAC8A110}"/>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Fundamentals of Circuit Modeling</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and Basic Laws</a:t>
            </a:r>
            <a:endParaRPr lang="ru-RU"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E86E96BE-C009-1707-8EFF-129107D34019}"/>
                  </a:ext>
                </a:extLst>
              </p:cNvPr>
              <p:cNvSpPr>
                <a:spLocks noGrp="1"/>
              </p:cNvSpPr>
              <p:nvPr>
                <p:ph idx="1"/>
              </p:nvPr>
            </p:nvSpPr>
            <p:spPr>
              <a:xfrm>
                <a:off x="602673" y="1825624"/>
                <a:ext cx="11326091" cy="5032376"/>
              </a:xfrm>
            </p:spPr>
            <p:txBody>
              <a:bodyPr>
                <a:normAutofit/>
              </a:bodyPr>
              <a:lstStyle/>
              <a:p>
                <a:pPr algn="just"/>
                <a:r>
                  <a:rPr lang="en-US" dirty="0">
                    <a:latin typeface="Arial" panose="020B0604020202020204" pitchFamily="34" charset="0"/>
                    <a:ea typeface="Aptos" panose="020B0004020202020204" pitchFamily="34" charset="0"/>
                    <a:cs typeface="Arial" panose="020B0604020202020204" pitchFamily="34" charset="0"/>
                  </a:rPr>
                  <a:t>The calculation of potential difference is path-independent. </a:t>
                </a:r>
              </a:p>
              <a:p>
                <a:pPr algn="just"/>
                <a:r>
                  <a:rPr lang="en-US" b="1" dirty="0">
                    <a:effectLst/>
                    <a:latin typeface="Arial" panose="020B0604020202020204" pitchFamily="34" charset="0"/>
                    <a:ea typeface="Aptos" panose="020B0004020202020204" pitchFamily="34" charset="0"/>
                    <a:cs typeface="Arial" panose="020B0604020202020204" pitchFamily="34" charset="0"/>
                  </a:rPr>
                  <a:t>The voltage between points A and B, denoted as </a:t>
                </a:r>
                <a14:m>
                  <m:oMath xmlns:m="http://schemas.openxmlformats.org/officeDocument/2006/math">
                    <m:sSub>
                      <m:sSubPr>
                        <m:ctrlPr>
                          <a:rPr lang="ru-RU" b="1" i="1">
                            <a:effectLst/>
                            <a:latin typeface="Cambria Math" panose="02040503050406030204" pitchFamily="18" charset="0"/>
                            <a:cs typeface="Arial" panose="020B0604020202020204" pitchFamily="34" charset="0"/>
                          </a:rPr>
                        </m:ctrlPr>
                      </m:sSubPr>
                      <m:e>
                        <m:r>
                          <a:rPr lang="en-US" b="1" i="1" smtClean="0">
                            <a:effectLst/>
                            <a:latin typeface="Cambria Math" panose="02040503050406030204" pitchFamily="18" charset="0"/>
                            <a:ea typeface="Aptos" panose="020B0004020202020204" pitchFamily="34" charset="0"/>
                            <a:cs typeface="Arial" panose="020B0604020202020204" pitchFamily="34" charset="0"/>
                          </a:rPr>
                          <m:t>𝒗</m:t>
                        </m:r>
                      </m:e>
                      <m:sub>
                        <m:r>
                          <a:rPr lang="en-US" b="1" i="1" smtClean="0">
                            <a:effectLst/>
                            <a:latin typeface="Cambria Math" panose="02040503050406030204" pitchFamily="18" charset="0"/>
                            <a:ea typeface="Aptos" panose="020B0004020202020204" pitchFamily="34" charset="0"/>
                            <a:cs typeface="Arial" panose="020B0604020202020204" pitchFamily="34" charset="0"/>
                          </a:rPr>
                          <m:t>𝑨𝑩</m:t>
                        </m:r>
                      </m:sub>
                    </m:sSub>
                  </m:oMath>
                </a14:m>
                <a:r>
                  <a:rPr lang="en-US" b="1" dirty="0">
                    <a:effectLst/>
                    <a:latin typeface="Arial" panose="020B0604020202020204" pitchFamily="34" charset="0"/>
                    <a:ea typeface="Aptos" panose="020B0004020202020204" pitchFamily="34" charset="0"/>
                    <a:cs typeface="Arial" panose="020B0604020202020204" pitchFamily="34" charset="0"/>
                  </a:rPr>
                  <a:t>, is equal to the potential at A minus the potential at B (</a:t>
                </a:r>
                <a14:m>
                  <m:oMath xmlns:m="http://schemas.openxmlformats.org/officeDocument/2006/math">
                    <m:sSub>
                      <m:sSubPr>
                        <m:ctrlPr>
                          <a:rPr lang="ru-RU" b="1" i="1">
                            <a:effectLst/>
                            <a:latin typeface="Cambria Math" panose="02040503050406030204" pitchFamily="18" charset="0"/>
                            <a:cs typeface="Arial" panose="020B0604020202020204" pitchFamily="34" charset="0"/>
                          </a:rPr>
                        </m:ctrlPr>
                      </m:sSubPr>
                      <m:e>
                        <m:r>
                          <a:rPr lang="en-US" b="1" i="1" smtClean="0">
                            <a:effectLst/>
                            <a:latin typeface="Cambria Math" panose="02040503050406030204" pitchFamily="18" charset="0"/>
                            <a:ea typeface="Aptos" panose="020B0004020202020204" pitchFamily="34" charset="0"/>
                            <a:cs typeface="Arial" panose="020B0604020202020204" pitchFamily="34" charset="0"/>
                          </a:rPr>
                          <m:t>𝒗</m:t>
                        </m:r>
                      </m:e>
                      <m:sub>
                        <m:r>
                          <a:rPr lang="en-US" b="1" i="1" smtClean="0">
                            <a:effectLst/>
                            <a:latin typeface="Cambria Math" panose="02040503050406030204" pitchFamily="18" charset="0"/>
                            <a:ea typeface="Aptos" panose="020B0004020202020204" pitchFamily="34" charset="0"/>
                            <a:cs typeface="Arial" panose="020B0604020202020204" pitchFamily="34" charset="0"/>
                          </a:rPr>
                          <m:t>𝑨</m:t>
                        </m:r>
                      </m:sub>
                    </m:sSub>
                    <m:r>
                      <a:rPr lang="en-US" b="1" i="1" smtClean="0">
                        <a:effectLst/>
                        <a:latin typeface="Cambria Math" panose="02040503050406030204" pitchFamily="18" charset="0"/>
                        <a:ea typeface="Aptos" panose="020B0004020202020204" pitchFamily="34" charset="0"/>
                        <a:cs typeface="Arial" panose="020B0604020202020204" pitchFamily="34" charset="0"/>
                      </a:rPr>
                      <m:t>−</m:t>
                    </m:r>
                    <m:sSub>
                      <m:sSubPr>
                        <m:ctrlPr>
                          <a:rPr lang="ru-RU" b="1" i="1">
                            <a:effectLst/>
                            <a:latin typeface="Cambria Math" panose="02040503050406030204" pitchFamily="18" charset="0"/>
                            <a:cs typeface="Arial" panose="020B0604020202020204" pitchFamily="34" charset="0"/>
                          </a:rPr>
                        </m:ctrlPr>
                      </m:sSubPr>
                      <m:e>
                        <m:r>
                          <a:rPr lang="en-US" b="1" i="1" smtClean="0">
                            <a:effectLst/>
                            <a:latin typeface="Cambria Math" panose="02040503050406030204" pitchFamily="18" charset="0"/>
                            <a:ea typeface="Aptos" panose="020B0004020202020204" pitchFamily="34" charset="0"/>
                            <a:cs typeface="Arial" panose="020B0604020202020204" pitchFamily="34" charset="0"/>
                          </a:rPr>
                          <m:t>𝒗</m:t>
                        </m:r>
                      </m:e>
                      <m:sub>
                        <m:r>
                          <a:rPr lang="en-US" b="1" i="1" smtClean="0">
                            <a:effectLst/>
                            <a:latin typeface="Cambria Math" panose="02040503050406030204" pitchFamily="18" charset="0"/>
                            <a:ea typeface="Aptos" panose="020B0004020202020204" pitchFamily="34" charset="0"/>
                            <a:cs typeface="Arial" panose="020B0604020202020204" pitchFamily="34" charset="0"/>
                          </a:rPr>
                          <m:t>𝑩</m:t>
                        </m:r>
                      </m:sub>
                    </m:sSub>
                  </m:oMath>
                </a14:m>
                <a:r>
                  <a:rPr lang="en-US" b="1" dirty="0">
                    <a:effectLst/>
                    <a:latin typeface="Arial" panose="020B0604020202020204" pitchFamily="34" charset="0"/>
                    <a:ea typeface="Aptos" panose="020B0004020202020204" pitchFamily="34" charset="0"/>
                    <a:cs typeface="Arial" panose="020B0604020202020204" pitchFamily="34" charset="0"/>
                  </a:rPr>
                  <a:t>).</a:t>
                </a:r>
              </a:p>
              <a:p>
                <a:pPr algn="just"/>
                <a:r>
                  <a:rPr lang="en-US" dirty="0">
                    <a:effectLst/>
                    <a:ea typeface="Aptos" panose="020B0004020202020204" pitchFamily="34" charset="0"/>
                    <a:cs typeface="Times New Roman" panose="02020603050405020304" pitchFamily="18" charset="0"/>
                  </a:rPr>
                  <a:t>No matter which route one takes through the circuit network to get from A to B, the summation of voltage drops and rises will yield the same potential difference. </a:t>
                </a:r>
              </a:p>
              <a:p>
                <a:pPr algn="just"/>
                <a:r>
                  <a:rPr lang="en-US" dirty="0">
                    <a:effectLst/>
                    <a:ea typeface="Aptos" panose="020B0004020202020204" pitchFamily="34" charset="0"/>
                    <a:cs typeface="Times New Roman" panose="02020603050405020304" pitchFamily="18" charset="0"/>
                  </a:rPr>
                  <a:t>This property is derived from the conservative nature of the electrostatic field.</a:t>
                </a:r>
              </a:p>
              <a:p>
                <a:pPr algn="just"/>
                <a:r>
                  <a:rPr lang="en-US" dirty="0">
                    <a:effectLst/>
                    <a:ea typeface="Aptos" panose="020B0004020202020204" pitchFamily="34" charset="0"/>
                    <a:cs typeface="Arial" panose="020B0604020202020204" pitchFamily="34" charset="0"/>
                  </a:rPr>
                  <a:t>Changing the location of the reference ground point changes the absolute potential values at specific nodes (</a:t>
                </a:r>
                <a14:m>
                  <m:oMath xmlns:m="http://schemas.openxmlformats.org/officeDocument/2006/math">
                    <m:sSub>
                      <m:sSubPr>
                        <m:ctrlPr>
                          <a:rPr lang="ru-RU" i="1">
                            <a:effectLst/>
                            <a:latin typeface="Cambria Math" panose="02040503050406030204" pitchFamily="18" charset="0"/>
                          </a:rPr>
                        </m:ctrlPr>
                      </m:sSubPr>
                      <m:e>
                        <m:r>
                          <a:rPr lang="en-US" i="1">
                            <a:effectLst/>
                            <a:latin typeface="Cambria Math" panose="02040503050406030204" pitchFamily="18" charset="0"/>
                            <a:ea typeface="Aptos" panose="020B0004020202020204" pitchFamily="34" charset="0"/>
                            <a:cs typeface="Times New Roman" panose="02020603050405020304" pitchFamily="18" charset="0"/>
                          </a:rPr>
                          <m:t>𝑣</m:t>
                        </m:r>
                      </m:e>
                      <m:sub>
                        <m:r>
                          <a:rPr lang="en-US" i="1">
                            <a:effectLst/>
                            <a:latin typeface="Cambria Math" panose="02040503050406030204" pitchFamily="18" charset="0"/>
                            <a:ea typeface="Aptos" panose="020B0004020202020204" pitchFamily="34" charset="0"/>
                            <a:cs typeface="Times New Roman" panose="02020603050405020304" pitchFamily="18" charset="0"/>
                          </a:rPr>
                          <m:t>𝐴</m:t>
                        </m:r>
                      </m:sub>
                    </m:sSub>
                  </m:oMath>
                </a14:m>
                <a:r>
                  <a:rPr lang="en-US" dirty="0">
                    <a:effectLst/>
                    <a:ea typeface="Aptos" panose="020B0004020202020204" pitchFamily="34" charset="0"/>
                    <a:cs typeface="Arial" panose="020B0604020202020204" pitchFamily="34" charset="0"/>
                  </a:rPr>
                  <a:t>, </a:t>
                </a:r>
                <a14:m>
                  <m:oMath xmlns:m="http://schemas.openxmlformats.org/officeDocument/2006/math">
                    <m:sSub>
                      <m:sSubPr>
                        <m:ctrlPr>
                          <a:rPr lang="ru-RU" i="1">
                            <a:effectLst/>
                            <a:latin typeface="Cambria Math" panose="02040503050406030204" pitchFamily="18" charset="0"/>
                          </a:rPr>
                        </m:ctrlPr>
                      </m:sSubPr>
                      <m:e>
                        <m:r>
                          <a:rPr lang="en-US" i="1">
                            <a:effectLst/>
                            <a:latin typeface="Cambria Math" panose="02040503050406030204" pitchFamily="18" charset="0"/>
                            <a:ea typeface="Aptos" panose="020B0004020202020204" pitchFamily="34" charset="0"/>
                            <a:cs typeface="Times New Roman" panose="02020603050405020304" pitchFamily="18" charset="0"/>
                          </a:rPr>
                          <m:t>𝑣</m:t>
                        </m:r>
                      </m:e>
                      <m:sub>
                        <m:r>
                          <a:rPr lang="en-US" i="1">
                            <a:effectLst/>
                            <a:latin typeface="Cambria Math" panose="02040503050406030204" pitchFamily="18" charset="0"/>
                            <a:ea typeface="Aptos" panose="020B0004020202020204" pitchFamily="34" charset="0"/>
                            <a:cs typeface="Times New Roman" panose="02020603050405020304" pitchFamily="18" charset="0"/>
                          </a:rPr>
                          <m:t>𝐵</m:t>
                        </m:r>
                      </m:sub>
                    </m:sSub>
                  </m:oMath>
                </a14:m>
                <a:r>
                  <a:rPr lang="en-US" dirty="0">
                    <a:effectLst/>
                    <a:ea typeface="Aptos" panose="020B0004020202020204" pitchFamily="34" charset="0"/>
                    <a:cs typeface="Arial" panose="020B0604020202020204" pitchFamily="34" charset="0"/>
                  </a:rPr>
                  <a:t>) but does not change the voltage difference between them (</a:t>
                </a:r>
                <a14:m>
                  <m:oMath xmlns:m="http://schemas.openxmlformats.org/officeDocument/2006/math">
                    <m:sSub>
                      <m:sSubPr>
                        <m:ctrlPr>
                          <a:rPr lang="ru-RU" i="1">
                            <a:effectLst/>
                            <a:latin typeface="Cambria Math" panose="02040503050406030204" pitchFamily="18" charset="0"/>
                          </a:rPr>
                        </m:ctrlPr>
                      </m:sSubPr>
                      <m:e>
                        <m:r>
                          <a:rPr lang="en-US" i="1">
                            <a:effectLst/>
                            <a:latin typeface="Cambria Math" panose="02040503050406030204" pitchFamily="18" charset="0"/>
                            <a:ea typeface="Aptos" panose="020B0004020202020204" pitchFamily="34" charset="0"/>
                            <a:cs typeface="Times New Roman" panose="02020603050405020304" pitchFamily="18" charset="0"/>
                          </a:rPr>
                          <m:t>𝑣</m:t>
                        </m:r>
                      </m:e>
                      <m:sub>
                        <m:r>
                          <a:rPr lang="en-US" i="1">
                            <a:effectLst/>
                            <a:latin typeface="Cambria Math" panose="02040503050406030204" pitchFamily="18" charset="0"/>
                            <a:ea typeface="Aptos" panose="020B0004020202020204" pitchFamily="34" charset="0"/>
                            <a:cs typeface="Times New Roman" panose="02020603050405020304" pitchFamily="18" charset="0"/>
                          </a:rPr>
                          <m:t>𝐴𝐵</m:t>
                        </m:r>
                      </m:sub>
                    </m:sSub>
                  </m:oMath>
                </a14:m>
                <a:r>
                  <a:rPr lang="en-US" dirty="0">
                    <a:effectLst/>
                    <a:ea typeface="Aptos" panose="020B0004020202020204" pitchFamily="34" charset="0"/>
                    <a:cs typeface="Arial" panose="020B0604020202020204" pitchFamily="34" charset="0"/>
                  </a:rPr>
                  <a:t>).</a:t>
                </a:r>
                <a:endParaRPr lang="ru-RU" dirty="0">
                  <a:effectLst/>
                  <a:ea typeface="Aptos" panose="020B0004020202020204" pitchFamily="34" charset="0"/>
                  <a:cs typeface="Arial" panose="020B0604020202020204" pitchFamily="34" charset="0"/>
                </a:endParaRPr>
              </a:p>
            </p:txBody>
          </p:sp>
        </mc:Choice>
        <mc:Fallback xmlns="">
          <p:sp>
            <p:nvSpPr>
              <p:cNvPr id="3" name="Объект 2">
                <a:extLst>
                  <a:ext uri="{FF2B5EF4-FFF2-40B4-BE49-F238E27FC236}">
                    <a16:creationId xmlns:a16="http://schemas.microsoft.com/office/drawing/2014/main" id="{E86E96BE-C009-1707-8EFF-129107D34019}"/>
                  </a:ext>
                </a:extLst>
              </p:cNvPr>
              <p:cNvSpPr>
                <a:spLocks noGrp="1" noRot="1" noChangeAspect="1" noMove="1" noResize="1" noEditPoints="1" noAdjustHandles="1" noChangeArrowheads="1" noChangeShapeType="1" noTextEdit="1"/>
              </p:cNvSpPr>
              <p:nvPr>
                <p:ph idx="1"/>
              </p:nvPr>
            </p:nvSpPr>
            <p:spPr>
              <a:xfrm>
                <a:off x="602673" y="1825624"/>
                <a:ext cx="11326091" cy="5032376"/>
              </a:xfrm>
              <a:blipFill>
                <a:blip r:embed="rId2"/>
                <a:stretch>
                  <a:fillRect l="-969" t="-2058" r="-1076"/>
                </a:stretch>
              </a:blipFill>
            </p:spPr>
            <p:txBody>
              <a:bodyPr/>
              <a:lstStyle/>
              <a:p>
                <a:r>
                  <a:rPr lang="ru-RU">
                    <a:noFill/>
                  </a:rPr>
                  <a:t> </a:t>
                </a:r>
              </a:p>
            </p:txBody>
          </p:sp>
        </mc:Fallback>
      </mc:AlternateContent>
      <p:grpSp>
        <p:nvGrpSpPr>
          <p:cNvPr id="4" name="Группа 3">
            <a:extLst>
              <a:ext uri="{FF2B5EF4-FFF2-40B4-BE49-F238E27FC236}">
                <a16:creationId xmlns:a16="http://schemas.microsoft.com/office/drawing/2014/main" id="{3797F1AF-3E13-8AD5-6BBD-28CAF9E002A1}"/>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093603AD-55B4-23D2-848D-88DB301370D9}"/>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AF670D5E-3DF0-D59D-AAD4-2956BFF63013}"/>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Fundamentals of Circuit Modeling</a:t>
              </a:r>
              <a:br>
                <a:rPr lang="en-US" sz="4000" cap="all" dirty="0">
                  <a:solidFill>
                    <a:schemeClr val="bg1"/>
                  </a:solidFill>
                  <a:latin typeface="Arial" panose="020B0604020202020204" pitchFamily="34" charset="0"/>
                  <a:cs typeface="Arial" panose="020B0604020202020204" pitchFamily="34" charset="0"/>
                </a:rPr>
              </a:br>
              <a:r>
                <a:rPr lang="en-US" sz="4000" cap="all" dirty="0">
                  <a:solidFill>
                    <a:schemeClr val="bg1"/>
                  </a:solidFill>
                  <a:latin typeface="Arial" panose="020B0604020202020204" pitchFamily="34" charset="0"/>
                  <a:cs typeface="Arial" panose="020B0604020202020204" pitchFamily="34" charset="0"/>
                </a:rPr>
                <a:t>and Basic Laws</a:t>
              </a:r>
              <a:endParaRPr lang="ru-RU" sz="4000" dirty="0"/>
            </a:p>
          </p:txBody>
        </p:sp>
      </p:grpSp>
    </p:spTree>
    <p:extLst>
      <p:ext uri="{BB962C8B-B14F-4D97-AF65-F5344CB8AC3E}">
        <p14:creationId xmlns:p14="http://schemas.microsoft.com/office/powerpoint/2010/main" val="104775683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0461613-2ACC-C68B-06B3-BFE35799DAFB}"/>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Fundamentals of Circuit Modeling</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and Basic Laws</a:t>
            </a:r>
            <a:endParaRPr lang="ru-RU" dirty="0">
              <a:latin typeface="Arial" panose="020B0604020202020204" pitchFamily="34" charset="0"/>
              <a:cs typeface="Arial" panose="020B0604020202020204" pitchFamily="34" charset="0"/>
            </a:endParaRPr>
          </a:p>
        </p:txBody>
      </p:sp>
      <p:sp>
        <p:nvSpPr>
          <p:cNvPr id="3" name="Объект 2">
            <a:extLst>
              <a:ext uri="{FF2B5EF4-FFF2-40B4-BE49-F238E27FC236}">
                <a16:creationId xmlns:a16="http://schemas.microsoft.com/office/drawing/2014/main" id="{38B32713-8DC8-A19D-A317-628052EECCD1}"/>
              </a:ext>
            </a:extLst>
          </p:cNvPr>
          <p:cNvSpPr>
            <a:spLocks noGrp="1"/>
          </p:cNvSpPr>
          <p:nvPr>
            <p:ph idx="1"/>
          </p:nvPr>
        </p:nvSpPr>
        <p:spPr>
          <a:xfrm>
            <a:off x="838200" y="1825625"/>
            <a:ext cx="3276600" cy="4351338"/>
          </a:xfrm>
        </p:spPr>
        <p:txBody>
          <a:bodyPr>
            <a:normAutofit/>
          </a:bodyPr>
          <a:lstStyle/>
          <a:p>
            <a:pPr algn="just"/>
            <a:r>
              <a:rPr lang="en-US" dirty="0">
                <a:effectLst/>
                <a:latin typeface="Arial" panose="020B0604020202020204" pitchFamily="34" charset="0"/>
                <a:ea typeface="Aptos" panose="020B0004020202020204" pitchFamily="34" charset="0"/>
                <a:cs typeface="Arial" panose="020B0604020202020204" pitchFamily="34" charset="0"/>
              </a:rPr>
              <a:t>The illustration shows different voltages between different points of circuit with different potential. </a:t>
            </a:r>
            <a:endParaRPr lang="ru-RU" dirty="0">
              <a:effectLst/>
              <a:latin typeface="Arial" panose="020B0604020202020204" pitchFamily="34" charset="0"/>
              <a:ea typeface="Aptos" panose="020B0004020202020204" pitchFamily="34" charset="0"/>
              <a:cs typeface="Arial" panose="020B0604020202020204" pitchFamily="34" charset="0"/>
            </a:endParaRPr>
          </a:p>
        </p:txBody>
      </p:sp>
      <p:pic>
        <p:nvPicPr>
          <p:cNvPr id="4" name="Рисунок 3">
            <a:extLst>
              <a:ext uri="{FF2B5EF4-FFF2-40B4-BE49-F238E27FC236}">
                <a16:creationId xmlns:a16="http://schemas.microsoft.com/office/drawing/2014/main" id="{62147C9B-2015-E31C-C745-4C45658A0784}"/>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190584" y="1690688"/>
            <a:ext cx="7890164" cy="5060324"/>
          </a:xfrm>
          <a:prstGeom prst="rect">
            <a:avLst/>
          </a:prstGeom>
        </p:spPr>
      </p:pic>
      <p:grpSp>
        <p:nvGrpSpPr>
          <p:cNvPr id="5" name="Группа 4">
            <a:extLst>
              <a:ext uri="{FF2B5EF4-FFF2-40B4-BE49-F238E27FC236}">
                <a16:creationId xmlns:a16="http://schemas.microsoft.com/office/drawing/2014/main" id="{025E2F0A-5115-6BFC-1AAD-EB2A5AE1887E}"/>
              </a:ext>
            </a:extLst>
          </p:cNvPr>
          <p:cNvGrpSpPr/>
          <p:nvPr/>
        </p:nvGrpSpPr>
        <p:grpSpPr>
          <a:xfrm>
            <a:off x="0" y="0"/>
            <a:ext cx="12192000" cy="1690688"/>
            <a:chOff x="0" y="0"/>
            <a:chExt cx="12192000" cy="1690688"/>
          </a:xfrm>
        </p:grpSpPr>
        <p:sp>
          <p:nvSpPr>
            <p:cNvPr id="6" name="Прямоугольник 5">
              <a:extLst>
                <a:ext uri="{FF2B5EF4-FFF2-40B4-BE49-F238E27FC236}">
                  <a16:creationId xmlns:a16="http://schemas.microsoft.com/office/drawing/2014/main" id="{37643B10-38F1-FB3B-0EF6-94C7470576EC}"/>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 name="Прямоугольник: скругленные углы 6">
              <a:extLst>
                <a:ext uri="{FF2B5EF4-FFF2-40B4-BE49-F238E27FC236}">
                  <a16:creationId xmlns:a16="http://schemas.microsoft.com/office/drawing/2014/main" id="{53F1077B-50D0-47F1-F794-4806B9B52443}"/>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Fundamentals of Circuit Modeling</a:t>
              </a:r>
              <a:br>
                <a:rPr lang="en-US" sz="4000" cap="all" dirty="0">
                  <a:solidFill>
                    <a:schemeClr val="bg1"/>
                  </a:solidFill>
                  <a:latin typeface="Arial" panose="020B0604020202020204" pitchFamily="34" charset="0"/>
                  <a:cs typeface="Arial" panose="020B0604020202020204" pitchFamily="34" charset="0"/>
                </a:rPr>
              </a:br>
              <a:r>
                <a:rPr lang="en-US" sz="4000" cap="all" dirty="0">
                  <a:solidFill>
                    <a:schemeClr val="bg1"/>
                  </a:solidFill>
                  <a:latin typeface="Arial" panose="020B0604020202020204" pitchFamily="34" charset="0"/>
                  <a:cs typeface="Arial" panose="020B0604020202020204" pitchFamily="34" charset="0"/>
                </a:rPr>
                <a:t>and Basic Laws</a:t>
              </a:r>
              <a:endParaRPr lang="ru-RU" sz="4000" dirty="0"/>
            </a:p>
          </p:txBody>
        </p:sp>
      </p:grpSp>
    </p:spTree>
    <p:extLst>
      <p:ext uri="{BB962C8B-B14F-4D97-AF65-F5344CB8AC3E}">
        <p14:creationId xmlns:p14="http://schemas.microsoft.com/office/powerpoint/2010/main" val="334419202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0461613-2ACC-C68B-06B3-BFE35799DAFB}"/>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Fundamentals of Circuit Modeling</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and Basic Laws</a:t>
            </a:r>
            <a:endParaRPr lang="ru-RU" dirty="0">
              <a:latin typeface="Arial" panose="020B0604020202020204" pitchFamily="34" charset="0"/>
              <a:cs typeface="Arial" panose="020B0604020202020204" pitchFamily="34" charset="0"/>
            </a:endParaRPr>
          </a:p>
        </p:txBody>
      </p:sp>
      <p:sp>
        <p:nvSpPr>
          <p:cNvPr id="3" name="Объект 2">
            <a:extLst>
              <a:ext uri="{FF2B5EF4-FFF2-40B4-BE49-F238E27FC236}">
                <a16:creationId xmlns:a16="http://schemas.microsoft.com/office/drawing/2014/main" id="{38B32713-8DC8-A19D-A317-628052EECCD1}"/>
              </a:ext>
            </a:extLst>
          </p:cNvPr>
          <p:cNvSpPr>
            <a:spLocks noGrp="1"/>
          </p:cNvSpPr>
          <p:nvPr>
            <p:ph idx="1"/>
          </p:nvPr>
        </p:nvSpPr>
        <p:spPr>
          <a:xfrm>
            <a:off x="838200" y="1825624"/>
            <a:ext cx="10515600" cy="4913106"/>
          </a:xfrm>
        </p:spPr>
        <p:txBody>
          <a:bodyPr>
            <a:normAutofit/>
          </a:bodyPr>
          <a:lstStyle/>
          <a:p>
            <a:pPr algn="just"/>
            <a:r>
              <a:rPr lang="en-US" dirty="0">
                <a:latin typeface="Arial" panose="020B0604020202020204" pitchFamily="34" charset="0"/>
                <a:ea typeface="Aptos" panose="020B0004020202020204" pitchFamily="34" charset="0"/>
                <a:cs typeface="Arial" panose="020B0604020202020204" pitchFamily="34" charset="0"/>
              </a:rPr>
              <a:t>We often use the term «Ground» (GND) for the reference point where the potential is zero. </a:t>
            </a:r>
          </a:p>
          <a:p>
            <a:pPr algn="just"/>
            <a:r>
              <a:rPr lang="en-US" b="1" dirty="0">
                <a:latin typeface="Arial" panose="020B0604020202020204" pitchFamily="34" charset="0"/>
                <a:ea typeface="Aptos" panose="020B0004020202020204" pitchFamily="34" charset="0"/>
                <a:cs typeface="Arial" panose="020B0604020202020204" pitchFamily="34" charset="0"/>
              </a:rPr>
              <a:t>The choice of the ground node is arbitrary</a:t>
            </a:r>
            <a:r>
              <a:rPr lang="ru-RU" b="1" dirty="0">
                <a:latin typeface="Arial" panose="020B0604020202020204" pitchFamily="34" charset="0"/>
                <a:ea typeface="Aptos" panose="020B0004020202020204" pitchFamily="34" charset="0"/>
                <a:cs typeface="Arial" panose="020B0604020202020204" pitchFamily="34" charset="0"/>
              </a:rPr>
              <a:t> </a:t>
            </a:r>
            <a:r>
              <a:rPr lang="en-US" b="1" dirty="0">
                <a:latin typeface="Arial" panose="020B0604020202020204" pitchFamily="34" charset="0"/>
                <a:ea typeface="Aptos" panose="020B0004020202020204" pitchFamily="34" charset="0"/>
                <a:cs typeface="Arial" panose="020B0604020202020204" pitchFamily="34" charset="0"/>
              </a:rPr>
              <a:t> (you can choose any one) and does not change the operation of the circuit, only the values of the potential numbers we write down.</a:t>
            </a:r>
          </a:p>
          <a:p>
            <a:pPr algn="just"/>
            <a:r>
              <a:rPr lang="en-US" dirty="0">
                <a:latin typeface="Arial" panose="020B0604020202020204" pitchFamily="34" charset="0"/>
                <a:ea typeface="Aptos" panose="020B0004020202020204" pitchFamily="34" charset="0"/>
                <a:cs typeface="Arial" panose="020B0604020202020204" pitchFamily="34" charset="0"/>
              </a:rPr>
              <a:t>Think of it like measuring height. </a:t>
            </a:r>
          </a:p>
          <a:p>
            <a:pPr algn="just"/>
            <a:r>
              <a:rPr lang="en-US" dirty="0">
                <a:latin typeface="Arial" panose="020B0604020202020204" pitchFamily="34" charset="0"/>
                <a:ea typeface="Aptos" panose="020B0004020202020204" pitchFamily="34" charset="0"/>
                <a:cs typeface="Arial" panose="020B0604020202020204" pitchFamily="34" charset="0"/>
              </a:rPr>
              <a:t>You can measure height from sea level or from the floor of this room. </a:t>
            </a:r>
          </a:p>
          <a:p>
            <a:pPr algn="just"/>
            <a:r>
              <a:rPr lang="en-US" dirty="0">
                <a:latin typeface="Arial" panose="020B0604020202020204" pitchFamily="34" charset="0"/>
                <a:ea typeface="Aptos" panose="020B0004020202020204" pitchFamily="34" charset="0"/>
                <a:cs typeface="Arial" panose="020B0604020202020204" pitchFamily="34" charset="0"/>
              </a:rPr>
              <a:t>You are not physically changing your height, only the reference zero. </a:t>
            </a:r>
          </a:p>
        </p:txBody>
      </p:sp>
      <p:grpSp>
        <p:nvGrpSpPr>
          <p:cNvPr id="4" name="Группа 3">
            <a:extLst>
              <a:ext uri="{FF2B5EF4-FFF2-40B4-BE49-F238E27FC236}">
                <a16:creationId xmlns:a16="http://schemas.microsoft.com/office/drawing/2014/main" id="{D1EE4EC9-3E04-0E33-19C1-2844C49CA0C4}"/>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824DBF1C-CE95-7AD7-C59E-E100FB32F462}"/>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C0ADAC87-E74B-4025-3A2D-945D8BE690F2}"/>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Fundamentals of Circuit Modeling</a:t>
              </a:r>
              <a:br>
                <a:rPr lang="en-US" sz="4000" cap="all" dirty="0">
                  <a:solidFill>
                    <a:schemeClr val="bg1"/>
                  </a:solidFill>
                  <a:latin typeface="Arial" panose="020B0604020202020204" pitchFamily="34" charset="0"/>
                  <a:cs typeface="Arial" panose="020B0604020202020204" pitchFamily="34" charset="0"/>
                </a:rPr>
              </a:br>
              <a:r>
                <a:rPr lang="en-US" sz="4000" cap="all" dirty="0">
                  <a:solidFill>
                    <a:schemeClr val="bg1"/>
                  </a:solidFill>
                  <a:latin typeface="Arial" panose="020B0604020202020204" pitchFamily="34" charset="0"/>
                  <a:cs typeface="Arial" panose="020B0604020202020204" pitchFamily="34" charset="0"/>
                </a:rPr>
                <a:t>and Basic Laws</a:t>
              </a:r>
              <a:endParaRPr lang="ru-RU" sz="4000" dirty="0"/>
            </a:p>
          </p:txBody>
        </p:sp>
      </p:grpSp>
    </p:spTree>
    <p:extLst>
      <p:ext uri="{BB962C8B-B14F-4D97-AF65-F5344CB8AC3E}">
        <p14:creationId xmlns:p14="http://schemas.microsoft.com/office/powerpoint/2010/main" val="242770262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4D01FE-1126-A9C8-2C0F-3C37A07A0270}"/>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7700CED7-122B-5B39-1D19-2AA588F1851C}"/>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Fundamentals of Circuit Modeling</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and Basic Laws</a:t>
            </a:r>
            <a:endParaRPr lang="ru-RU"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4FE87BEE-0033-833B-A859-32D2BF8E05F7}"/>
                  </a:ext>
                </a:extLst>
              </p:cNvPr>
              <p:cNvSpPr>
                <a:spLocks noGrp="1"/>
              </p:cNvSpPr>
              <p:nvPr>
                <p:ph idx="1"/>
              </p:nvPr>
            </p:nvSpPr>
            <p:spPr/>
            <p:txBody>
              <a:bodyPr>
                <a:normAutofit/>
              </a:bodyPr>
              <a:lstStyle/>
              <a:p>
                <a:pPr algn="just"/>
                <a:r>
                  <a:rPr lang="en-US" dirty="0">
                    <a:latin typeface="Arial" panose="020B0604020202020204" pitchFamily="34" charset="0"/>
                    <a:ea typeface="Aptos" panose="020B0004020202020204" pitchFamily="34" charset="0"/>
                    <a:cs typeface="Arial" panose="020B0604020202020204" pitchFamily="34" charset="0"/>
                  </a:rPr>
                  <a:t>In circuits, we usually choose the node with the most connections, or the negative terminal of the main power supply, as our ground to make calculations easier.</a:t>
                </a:r>
              </a:p>
              <a:p>
                <a:pPr algn="just"/>
                <a:r>
                  <a:rPr lang="en-US" b="1" dirty="0">
                    <a:effectLst/>
                    <a:latin typeface="Arial" panose="020B0604020202020204" pitchFamily="34" charset="0"/>
                    <a:ea typeface="Aptos" panose="020B0004020202020204" pitchFamily="34" charset="0"/>
                    <a:cs typeface="Arial" panose="020B0604020202020204" pitchFamily="34" charset="0"/>
                  </a:rPr>
                  <a:t>However, the voltage difference (</a:t>
                </a:r>
                <a14:m>
                  <m:oMath xmlns:m="http://schemas.openxmlformats.org/officeDocument/2006/math">
                    <m:r>
                      <a:rPr lang="en-US" b="1" i="1" dirty="0" smtClean="0">
                        <a:effectLst/>
                        <a:latin typeface="Cambria Math" panose="02040503050406030204" pitchFamily="18" charset="0"/>
                        <a:ea typeface="Aptos" panose="020B0004020202020204" pitchFamily="34" charset="0"/>
                        <a:cs typeface="Arial" panose="020B0604020202020204" pitchFamily="34" charset="0"/>
                      </a:rPr>
                      <m:t>𝒗</m:t>
                    </m:r>
                  </m:oMath>
                </a14:m>
                <a:r>
                  <a:rPr lang="en-US" b="1" dirty="0">
                    <a:effectLst/>
                    <a:latin typeface="Arial" panose="020B0604020202020204" pitchFamily="34" charset="0"/>
                    <a:ea typeface="Aptos" panose="020B0004020202020204" pitchFamily="34" charset="0"/>
                    <a:cs typeface="Arial" panose="020B0604020202020204" pitchFamily="34" charset="0"/>
                  </a:rPr>
                  <a:t>) between two points remains constant regardless of which point is chosen as ground.</a:t>
                </a:r>
                <a:endParaRPr lang="ru-RU" b="1" dirty="0">
                  <a:effectLst/>
                  <a:latin typeface="Arial" panose="020B0604020202020204" pitchFamily="34" charset="0"/>
                  <a:ea typeface="Aptos" panose="020B0004020202020204" pitchFamily="34" charset="0"/>
                  <a:cs typeface="Arial" panose="020B0604020202020204" pitchFamily="34" charset="0"/>
                </a:endParaRPr>
              </a:p>
            </p:txBody>
          </p:sp>
        </mc:Choice>
        <mc:Fallback xmlns="">
          <p:sp>
            <p:nvSpPr>
              <p:cNvPr id="3" name="Объект 2">
                <a:extLst>
                  <a:ext uri="{FF2B5EF4-FFF2-40B4-BE49-F238E27FC236}">
                    <a16:creationId xmlns:a16="http://schemas.microsoft.com/office/drawing/2014/main" id="{4FE87BEE-0033-833B-A859-32D2BF8E05F7}"/>
                  </a:ext>
                </a:extLst>
              </p:cNvPr>
              <p:cNvSpPr>
                <a:spLocks noGrp="1" noRot="1" noChangeAspect="1" noMove="1" noResize="1" noEditPoints="1" noAdjustHandles="1" noChangeArrowheads="1" noChangeShapeType="1" noTextEdit="1"/>
              </p:cNvSpPr>
              <p:nvPr>
                <p:ph idx="1"/>
              </p:nvPr>
            </p:nvSpPr>
            <p:spPr>
              <a:blipFill>
                <a:blip r:embed="rId2"/>
                <a:stretch>
                  <a:fillRect l="-1043" t="-2381" r="-1159"/>
                </a:stretch>
              </a:blipFill>
            </p:spPr>
            <p:txBody>
              <a:bodyPr/>
              <a:lstStyle/>
              <a:p>
                <a:r>
                  <a:rPr lang="ru-RU">
                    <a:noFill/>
                  </a:rPr>
                  <a:t> </a:t>
                </a:r>
              </a:p>
            </p:txBody>
          </p:sp>
        </mc:Fallback>
      </mc:AlternateContent>
      <p:grpSp>
        <p:nvGrpSpPr>
          <p:cNvPr id="4" name="Группа 3">
            <a:extLst>
              <a:ext uri="{FF2B5EF4-FFF2-40B4-BE49-F238E27FC236}">
                <a16:creationId xmlns:a16="http://schemas.microsoft.com/office/drawing/2014/main" id="{D88263F7-FB15-0E0A-D26B-39C6BDB7367B}"/>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EA892001-7CEC-8F61-FEB9-E46BE702204D}"/>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A71D0912-28A3-7076-1019-EFA02F3CB3DF}"/>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Fundamentals of Circuit Modeling</a:t>
              </a:r>
              <a:br>
                <a:rPr lang="en-US" sz="4000" cap="all" dirty="0">
                  <a:solidFill>
                    <a:schemeClr val="bg1"/>
                  </a:solidFill>
                  <a:latin typeface="Arial" panose="020B0604020202020204" pitchFamily="34" charset="0"/>
                  <a:cs typeface="Arial" panose="020B0604020202020204" pitchFamily="34" charset="0"/>
                </a:rPr>
              </a:br>
              <a:r>
                <a:rPr lang="en-US" sz="4000" cap="all" dirty="0">
                  <a:solidFill>
                    <a:schemeClr val="bg1"/>
                  </a:solidFill>
                  <a:latin typeface="Arial" panose="020B0604020202020204" pitchFamily="34" charset="0"/>
                  <a:cs typeface="Arial" panose="020B0604020202020204" pitchFamily="34" charset="0"/>
                </a:rPr>
                <a:t>and Basic Laws</a:t>
              </a:r>
              <a:endParaRPr lang="ru-RU" sz="4000" dirty="0"/>
            </a:p>
          </p:txBody>
        </p:sp>
      </p:grpSp>
      <p:pic>
        <p:nvPicPr>
          <p:cNvPr id="7" name="Рисунок 6">
            <a:extLst>
              <a:ext uri="{FF2B5EF4-FFF2-40B4-BE49-F238E27FC236}">
                <a16:creationId xmlns:a16="http://schemas.microsoft.com/office/drawing/2014/main" id="{272501C1-FBF8-E397-2A9E-1225EC144C7F}"/>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190584" y="4026012"/>
            <a:ext cx="4248878" cy="2725000"/>
          </a:xfrm>
          <a:prstGeom prst="rect">
            <a:avLst/>
          </a:prstGeom>
        </p:spPr>
      </p:pic>
    </p:spTree>
    <p:extLst>
      <p:ext uri="{BB962C8B-B14F-4D97-AF65-F5344CB8AC3E}">
        <p14:creationId xmlns:p14="http://schemas.microsoft.com/office/powerpoint/2010/main" val="257546997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0461613-2ACC-C68B-06B3-BFE35799DAFB}"/>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Fundamentals of Circuit Modeling</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and Basic Laws</a:t>
            </a:r>
            <a:endParaRPr lang="ru-RU"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38B32713-8DC8-A19D-A317-628052EECCD1}"/>
                  </a:ext>
                </a:extLst>
              </p:cNvPr>
              <p:cNvSpPr>
                <a:spLocks noGrp="1"/>
              </p:cNvSpPr>
              <p:nvPr>
                <p:ph idx="1"/>
              </p:nvPr>
            </p:nvSpPr>
            <p:spPr/>
            <p:txBody>
              <a:bodyPr>
                <a:normAutofit/>
              </a:bodyPr>
              <a:lstStyle/>
              <a:p>
                <a:pPr algn="just"/>
                <a:r>
                  <a:rPr lang="en-US" dirty="0">
                    <a:effectLst/>
                    <a:ea typeface="Aptos" panose="020B0004020202020204" pitchFamily="34" charset="0"/>
                  </a:rPr>
                  <a:t>In summary of this lecture's theoretical content, we have defined the circuit variables </a:t>
                </a:r>
                <a14:m>
                  <m:oMath xmlns:m="http://schemas.openxmlformats.org/officeDocument/2006/math">
                    <m:r>
                      <a:rPr lang="en-US" i="1">
                        <a:effectLst/>
                        <a:latin typeface="Cambria Math" panose="02040503050406030204" pitchFamily="18" charset="0"/>
                        <a:ea typeface="Aptos" panose="020B0004020202020204" pitchFamily="34" charset="0"/>
                      </a:rPr>
                      <m:t>𝑖</m:t>
                    </m:r>
                  </m:oMath>
                </a14:m>
                <a:r>
                  <a:rPr lang="en-US" dirty="0">
                    <a:effectLst/>
                    <a:ea typeface="Aptos" panose="020B0004020202020204" pitchFamily="34" charset="0"/>
                  </a:rPr>
                  <a:t>, </a:t>
                </a:r>
                <a14:m>
                  <m:oMath xmlns:m="http://schemas.openxmlformats.org/officeDocument/2006/math">
                    <m:r>
                      <a:rPr lang="en-US" i="1">
                        <a:effectLst/>
                        <a:latin typeface="Cambria Math" panose="02040503050406030204" pitchFamily="18" charset="0"/>
                        <a:ea typeface="Aptos" panose="020B0004020202020204" pitchFamily="34" charset="0"/>
                      </a:rPr>
                      <m:t>𝑣</m:t>
                    </m:r>
                  </m:oMath>
                </a14:m>
                <a:r>
                  <a:rPr lang="en-US" dirty="0">
                    <a:effectLst/>
                    <a:ea typeface="Aptos" panose="020B0004020202020204" pitchFamily="34" charset="0"/>
                  </a:rPr>
                  <a:t>, and </a:t>
                </a:r>
                <a14:m>
                  <m:oMath xmlns:m="http://schemas.openxmlformats.org/officeDocument/2006/math">
                    <m:r>
                      <a:rPr lang="en-US" i="1">
                        <a:effectLst/>
                        <a:latin typeface="Cambria Math" panose="02040503050406030204" pitchFamily="18" charset="0"/>
                        <a:ea typeface="Aptos" panose="020B0004020202020204" pitchFamily="34" charset="0"/>
                      </a:rPr>
                      <m:t>𝑝</m:t>
                    </m:r>
                  </m:oMath>
                </a14:m>
                <a:r>
                  <a:rPr lang="en-US" dirty="0">
                    <a:effectLst/>
                    <a:ea typeface="Aptos" panose="020B0004020202020204" pitchFamily="34" charset="0"/>
                  </a:rPr>
                  <a:t>, established the importance of reference directions, and outlined the behavior of ideal sources and resistors. This introductory lecture sets the basics for the systematic analysis methods we will cover in future lectures. The concepts of models, KCL, KVL, and Ohm's Law are the axioms upon which all subsequent circuit theory is built.</a:t>
                </a:r>
                <a:endParaRPr lang="en-US" dirty="0">
                  <a:ea typeface="Aptos" panose="020B0004020202020204" pitchFamily="34" charset="0"/>
                  <a:cs typeface="Arial" panose="020B0604020202020204" pitchFamily="34" charset="0"/>
                </a:endParaRPr>
              </a:p>
              <a:p>
                <a:pPr algn="just"/>
                <a:r>
                  <a:rPr lang="en-US" dirty="0">
                    <a:latin typeface="Arial" panose="020B0604020202020204" pitchFamily="34" charset="0"/>
                    <a:ea typeface="Aptos" panose="020B0004020202020204" pitchFamily="34" charset="0"/>
                    <a:cs typeface="Arial" panose="020B0604020202020204" pitchFamily="34" charset="0"/>
                  </a:rPr>
                  <a:t>Thank you for your attention! See you next time.</a:t>
                </a:r>
                <a:endParaRPr lang="ru-RU" dirty="0">
                  <a:effectLst/>
                  <a:latin typeface="Arial" panose="020B0604020202020204" pitchFamily="34" charset="0"/>
                  <a:ea typeface="Aptos" panose="020B0004020202020204" pitchFamily="34" charset="0"/>
                  <a:cs typeface="Arial" panose="020B0604020202020204" pitchFamily="34" charset="0"/>
                </a:endParaRPr>
              </a:p>
            </p:txBody>
          </p:sp>
        </mc:Choice>
        <mc:Fallback xmlns="">
          <p:sp>
            <p:nvSpPr>
              <p:cNvPr id="3" name="Объект 2">
                <a:extLst>
                  <a:ext uri="{FF2B5EF4-FFF2-40B4-BE49-F238E27FC236}">
                    <a16:creationId xmlns:a16="http://schemas.microsoft.com/office/drawing/2014/main" id="{38B32713-8DC8-A19D-A317-628052EECCD1}"/>
                  </a:ext>
                </a:extLst>
              </p:cNvPr>
              <p:cNvSpPr>
                <a:spLocks noGrp="1" noRot="1" noChangeAspect="1" noMove="1" noResize="1" noEditPoints="1" noAdjustHandles="1" noChangeArrowheads="1" noChangeShapeType="1" noTextEdit="1"/>
              </p:cNvSpPr>
              <p:nvPr>
                <p:ph idx="1"/>
              </p:nvPr>
            </p:nvSpPr>
            <p:spPr>
              <a:blipFill>
                <a:blip r:embed="rId2"/>
                <a:stretch>
                  <a:fillRect l="-1043" t="-2381" r="-1159"/>
                </a:stretch>
              </a:blipFill>
            </p:spPr>
            <p:txBody>
              <a:bodyPr/>
              <a:lstStyle/>
              <a:p>
                <a:r>
                  <a:rPr lang="ru-RU">
                    <a:noFill/>
                  </a:rPr>
                  <a:t> </a:t>
                </a:r>
              </a:p>
            </p:txBody>
          </p:sp>
        </mc:Fallback>
      </mc:AlternateContent>
      <p:grpSp>
        <p:nvGrpSpPr>
          <p:cNvPr id="4" name="Группа 3">
            <a:extLst>
              <a:ext uri="{FF2B5EF4-FFF2-40B4-BE49-F238E27FC236}">
                <a16:creationId xmlns:a16="http://schemas.microsoft.com/office/drawing/2014/main" id="{A06ED7CF-FD3A-61DB-291F-CAE5F8D0A782}"/>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BE57ED17-63DD-4E45-BAD9-F4F6994C0581}"/>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55ECCB41-4F38-C394-1AB5-D6AB9AC720A8}"/>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Fundamentals of Circuit Modeling</a:t>
              </a:r>
              <a:br>
                <a:rPr lang="en-US" sz="4000" cap="all" dirty="0">
                  <a:solidFill>
                    <a:schemeClr val="bg1"/>
                  </a:solidFill>
                  <a:latin typeface="Arial" panose="020B0604020202020204" pitchFamily="34" charset="0"/>
                  <a:cs typeface="Arial" panose="020B0604020202020204" pitchFamily="34" charset="0"/>
                </a:rPr>
              </a:br>
              <a:r>
                <a:rPr lang="en-US" sz="4000" cap="all" dirty="0">
                  <a:solidFill>
                    <a:schemeClr val="bg1"/>
                  </a:solidFill>
                  <a:latin typeface="Arial" panose="020B0604020202020204" pitchFamily="34" charset="0"/>
                  <a:cs typeface="Arial" panose="020B0604020202020204" pitchFamily="34" charset="0"/>
                </a:rPr>
                <a:t>and Basic Laws</a:t>
              </a:r>
              <a:endParaRPr lang="ru-RU" sz="4000" dirty="0"/>
            </a:p>
          </p:txBody>
        </p:sp>
      </p:grpSp>
    </p:spTree>
    <p:extLst>
      <p:ext uri="{BB962C8B-B14F-4D97-AF65-F5344CB8AC3E}">
        <p14:creationId xmlns:p14="http://schemas.microsoft.com/office/powerpoint/2010/main" val="1366462351"/>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Стандартная">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3827</Words>
  <Application>Microsoft Office PowerPoint</Application>
  <PresentationFormat>Широкоэкранный</PresentationFormat>
  <Paragraphs>258</Paragraphs>
  <Slides>56</Slides>
  <Notes>0</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56</vt:i4>
      </vt:variant>
    </vt:vector>
  </HeadingPairs>
  <TitlesOfParts>
    <vt:vector size="61" baseType="lpstr">
      <vt:lpstr>Aptos</vt:lpstr>
      <vt:lpstr>Aptos Display</vt:lpstr>
      <vt:lpstr>Arial</vt:lpstr>
      <vt:lpstr>Cambria Math</vt:lpstr>
      <vt:lpstr>Тема Office</vt:lpstr>
      <vt:lpstr>Lecture 1. Fundamentals of Circuit Modeling and Basic Laws</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Fundamentals of Circuit Modeling and Basic Laws</vt:lpstr>
      <vt:lpstr>Fundamentals of Circuit Modeling and Basic Laws</vt:lpstr>
      <vt:lpstr>Fundamentals of Circuit Modeling and Basic Laws</vt:lpstr>
      <vt:lpstr>Fundamentals of Circuit Modeling and Basic Laws</vt:lpstr>
      <vt:lpstr>Fundamentals of Circuit Modeling and Basic Laws</vt:lpstr>
      <vt:lpstr>Fundamentals of Circuit Modeling and Basic Laws</vt:lpstr>
      <vt:lpstr>Fundamentals of Circuit Modeling and Basic Laws</vt:lpstr>
      <vt:lpstr>Fundamentals of Circuit Modeling and Basic Laws</vt:lpstr>
      <vt:lpstr>Fundamentals of Circuit Modeling and Basic Laws</vt:lpstr>
      <vt:lpstr>Fundamentals of Circuit Modeling and Basic Laws</vt:lpstr>
      <vt:lpstr>Fundamentals of Circuit Modeling and Basic Laws</vt:lpstr>
      <vt:lpstr>Fundamentals of Circuit Modeling and Basic Laws</vt:lpstr>
      <vt:lpstr>Fundamentals of Circuit Modeling and Basic Laws</vt:lpstr>
      <vt:lpstr>Fundamentals of Circuit Modeling and Basic Laws</vt:lpstr>
      <vt:lpstr>Fundamentals of Circuit Modeling and Basic Laws</vt:lpstr>
      <vt:lpstr>Fundamentals of Circuit Modeling and Basic Laws</vt:lpstr>
      <vt:lpstr>Fundamentals of Circuit Modeling and Basic Laws</vt:lpstr>
      <vt:lpstr>Fundamentals of Circuit Modeling and Basic Laws</vt:lpstr>
      <vt:lpstr>Fundamentals of Circuit Modeling and Basic Laws</vt:lpstr>
      <vt:lpstr>Fundamentals of Circuit Modeling and Basic Laws</vt:lpstr>
      <vt:lpstr>Fundamentals of Circuit Modeling and Basic Laws</vt:lpstr>
      <vt:lpstr>Fundamentals of Circuit Modeling and Basic Laws</vt:lpstr>
      <vt:lpstr>Fundamentals of Circuit Modeling and Basic Laws</vt:lpstr>
      <vt:lpstr>Fundamentals of Circuit Modeling and Basic Laws</vt:lpstr>
      <vt:lpstr>Fundamentals of Circuit Modeling and Basic Laws</vt:lpstr>
      <vt:lpstr>Fundamentals of Circuit Modeling and Basic Laws</vt:lpstr>
      <vt:lpstr>Fundamentals of Circuit Modeling and Basic Laws</vt:lpstr>
      <vt:lpstr>Fundamentals of Circuit Modeling and Basic Laws</vt:lpstr>
      <vt:lpstr>Fundamentals of Circuit Modeling and Basic Laws</vt:lpstr>
      <vt:lpstr>Fundamentals of Circuit Modeling and Basic Laws</vt:lpstr>
      <vt:lpstr>Fundamentals of Circuit Modeling and Basic Laws</vt:lpstr>
      <vt:lpstr>Fundamentals of Circuit Modeling and Basic Laws</vt:lpstr>
      <vt:lpstr>Fundamentals of Circuit Modeling and Basic Laws</vt:lpstr>
      <vt:lpstr>Fundamentals of Circuit Modeling and Basic Laws</vt:lpstr>
      <vt:lpstr>Fundamentals of Circuit Modeling and Basic Laws</vt:lpstr>
      <vt:lpstr>Fundamentals of Circuit Modeling and Basic Laws</vt:lpstr>
      <vt:lpstr>Fundamentals of Circuit Modeling and Basic Laws</vt:lpstr>
      <vt:lpstr>Fundamentals of Circuit Modeling and Basic Laws</vt:lpstr>
      <vt:lpstr>Fundamentals of Circuit Modeling and Basic Laws</vt:lpstr>
      <vt:lpstr>Fundamentals of Circuit Modeling and Basic Laws</vt:lpstr>
      <vt:lpstr>Fundamentals of Circuit Modeling and Basic Laws</vt:lpstr>
      <vt:lpstr>Fundamentals of Circuit Modeling and Basic Laws</vt:lpstr>
      <vt:lpstr>Fundamentals of Circuit Modeling and Basic Laws</vt:lpstr>
      <vt:lpstr>Fundamentals of Circuit Modeling and Basic Laws</vt:lpstr>
      <vt:lpstr>Fundamentals of Circuit Modeling and Basic Laws</vt:lpstr>
      <vt:lpstr>Fundamentals of Circuit Modeling and Basic Laws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user</dc:creator>
  <cp:lastModifiedBy>user</cp:lastModifiedBy>
  <cp:revision>1</cp:revision>
  <dcterms:created xsi:type="dcterms:W3CDTF">2026-04-09T04:50:23Z</dcterms:created>
  <dcterms:modified xsi:type="dcterms:W3CDTF">2026-04-09T04:50:47Z</dcterms:modified>
</cp:coreProperties>
</file>