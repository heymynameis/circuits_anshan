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47" r:id="rId2"/>
    <p:sldId id="548" r:id="rId3"/>
    <p:sldId id="573" r:id="rId4"/>
    <p:sldId id="574" r:id="rId5"/>
    <p:sldId id="572" r:id="rId6"/>
    <p:sldId id="575" r:id="rId7"/>
    <p:sldId id="549" r:id="rId8"/>
    <p:sldId id="576" r:id="rId9"/>
    <p:sldId id="550" r:id="rId10"/>
    <p:sldId id="551" r:id="rId11"/>
    <p:sldId id="577" r:id="rId12"/>
    <p:sldId id="578" r:id="rId13"/>
    <p:sldId id="552" r:id="rId14"/>
    <p:sldId id="579" r:id="rId15"/>
    <p:sldId id="553" r:id="rId16"/>
    <p:sldId id="554" r:id="rId17"/>
    <p:sldId id="580" r:id="rId18"/>
    <p:sldId id="555" r:id="rId19"/>
    <p:sldId id="581" r:id="rId20"/>
    <p:sldId id="556" r:id="rId21"/>
    <p:sldId id="582" r:id="rId22"/>
    <p:sldId id="583" r:id="rId23"/>
    <p:sldId id="559" r:id="rId24"/>
    <p:sldId id="557" r:id="rId25"/>
    <p:sldId id="584" r:id="rId26"/>
    <p:sldId id="585" r:id="rId27"/>
    <p:sldId id="571" r:id="rId28"/>
    <p:sldId id="560" r:id="rId29"/>
    <p:sldId id="586" r:id="rId30"/>
    <p:sldId id="561" r:id="rId31"/>
    <p:sldId id="587" r:id="rId32"/>
    <p:sldId id="563" r:id="rId33"/>
    <p:sldId id="588" r:id="rId34"/>
    <p:sldId id="589" r:id="rId35"/>
    <p:sldId id="564" r:id="rId36"/>
    <p:sldId id="590" r:id="rId37"/>
    <p:sldId id="565" r:id="rId38"/>
    <p:sldId id="566" r:id="rId39"/>
    <p:sldId id="591" r:id="rId40"/>
    <p:sldId id="567" r:id="rId41"/>
    <p:sldId id="568" r:id="rId42"/>
    <p:sldId id="569" r:id="rId43"/>
    <p:sldId id="570" r:id="rId4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ecture 10" id="{4E5E9C65-4D67-41B5-9977-1C0BD7C71464}">
          <p14:sldIdLst>
            <p14:sldId id="547"/>
            <p14:sldId id="548"/>
            <p14:sldId id="573"/>
            <p14:sldId id="574"/>
            <p14:sldId id="572"/>
            <p14:sldId id="575"/>
            <p14:sldId id="549"/>
            <p14:sldId id="576"/>
            <p14:sldId id="550"/>
            <p14:sldId id="551"/>
            <p14:sldId id="577"/>
            <p14:sldId id="578"/>
            <p14:sldId id="552"/>
            <p14:sldId id="579"/>
            <p14:sldId id="553"/>
            <p14:sldId id="554"/>
            <p14:sldId id="580"/>
            <p14:sldId id="555"/>
            <p14:sldId id="581"/>
            <p14:sldId id="556"/>
            <p14:sldId id="582"/>
            <p14:sldId id="583"/>
            <p14:sldId id="559"/>
            <p14:sldId id="557"/>
            <p14:sldId id="584"/>
            <p14:sldId id="585"/>
            <p14:sldId id="571"/>
            <p14:sldId id="560"/>
            <p14:sldId id="586"/>
            <p14:sldId id="561"/>
            <p14:sldId id="587"/>
            <p14:sldId id="563"/>
            <p14:sldId id="588"/>
            <p14:sldId id="589"/>
            <p14:sldId id="564"/>
            <p14:sldId id="590"/>
            <p14:sldId id="565"/>
            <p14:sldId id="566"/>
            <p14:sldId id="591"/>
            <p14:sldId id="567"/>
            <p14:sldId id="568"/>
            <p14:sldId id="569"/>
            <p14:sldId id="5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5E5E1C-0BE5-A8B4-55E8-CBA8F83A15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EC6CDFE-E0C0-D633-B9F5-FA2AC64490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9259A33-2B99-ADAC-0835-C83C2E855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FEC6A-B2B5-4345-9A2B-F075B4F10C12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6497654-6B97-3C0F-E8D3-4E1333CE2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30CFE34-2549-62A1-E299-29F9C1D66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FD68D-0635-4C61-AA96-E6AF0A1B14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7890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BF280B-D8B3-9BA4-3F8D-A4A7BF930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66A895-69C6-5110-F934-9703BD4A1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1EBF40-54A9-5518-1B0D-0426C0D38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FEC6A-B2B5-4345-9A2B-F075B4F10C12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9B3043C-6AD8-843E-2FBD-9FF3F7DF3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D3E8134-4BE7-B9B0-13C2-14CA1E298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FD68D-0635-4C61-AA96-E6AF0A1B14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8299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E4CCC2-2AB8-8661-6615-FC791B0EA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F69C241-DD6E-1A8C-15DE-E9385040AC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E9E008E-31DC-11CB-6120-4AEFBFCED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FEC6A-B2B5-4345-9A2B-F075B4F10C12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5B6F31E-7E6F-5033-5FDA-72E36DAEE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D49CFB-852B-5BB7-9298-B6EFA3E79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FD68D-0635-4C61-AA96-E6AF0A1B14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8014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6DC735-3BE8-658E-67B7-C42FF2333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6356FC-6188-E64C-25B0-440CFE5402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A038204-BB6A-3B5E-D5A5-C50FAEF874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AD7BA32-926F-6D7D-520D-7646EC2A7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FEC6A-B2B5-4345-9A2B-F075B4F10C12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9D45DEF-D678-6D6F-9159-4C3185BCE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E3E963F-B731-3553-E174-6301D37B9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FD68D-0635-4C61-AA96-E6AF0A1B14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0728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4C759B-5E33-C64D-FE66-BA0495F26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F733AE9-9214-BE17-E23B-263D0CDE2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54646FE-734C-75DB-47B1-4E96E1531D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5273AAC-D59C-A74B-45A5-93FED7D0CA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75F052D-C56F-13C1-EDEF-6AD7BF3118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B0672CF-C64D-303B-81ED-973A1B128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FEC6A-B2B5-4345-9A2B-F075B4F10C12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41F4367-35E7-1FB9-0541-6EAD0EE66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5430041-B41B-7B0A-D50B-68DFAD008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FD68D-0635-4C61-AA96-E6AF0A1B14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1026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39DC58-AC27-C000-A46A-9C58AAF9E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606E473-7765-1BB3-B5CE-8F135F7B2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FEC6A-B2B5-4345-9A2B-F075B4F10C12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6EAC165-D721-39FF-B75D-AD4E50118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FBA6DF4-BF28-F0D5-791D-E636B6C57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FD68D-0635-4C61-AA96-E6AF0A1B14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7205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3E74A26-4D90-F6E3-E9D6-FA52501CB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FEC6A-B2B5-4345-9A2B-F075B4F10C12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004BC32-1DDF-CDB2-9D81-4CB7C031A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FCEC3FC-C342-3553-E4B9-F0CB95CDB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FD68D-0635-4C61-AA96-E6AF0A1B14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6831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714E89-5DEC-2985-058C-AEDC73156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5E88CE-CD5E-A29D-43AA-068CA26826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039ABF5-A401-1E4D-84E7-E426A6FC9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1C5FE11-0883-3F26-7878-A3AE51D85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FEC6A-B2B5-4345-9A2B-F075B4F10C12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34D7559-2613-C0D7-B064-C9D113B16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0A94802-73FA-E3D9-FAA7-BC68F7708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FD68D-0635-4C61-AA96-E6AF0A1B14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637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3A8DE3-AFC1-4F0F-45D7-B825C098C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7CDB008-4200-3C24-FDB1-EA279EE8F7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BBA7093-75EF-930B-4720-2084118F1F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B7E36ED-A5D8-6B9B-7605-85D3B1E1E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FEC6A-B2B5-4345-9A2B-F075B4F10C12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76AA62D-116B-ABD6-7C05-CE6973B2A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B960145-79E1-F174-554B-BE9269475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FD68D-0635-4C61-AA96-E6AF0A1B14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659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F31B29-AA0D-7A57-2891-AF868B1C6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031FBC4-6DA7-8613-DEFE-564124C8BD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A84C899-CC88-3CC1-972A-E8110B5FA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FEC6A-B2B5-4345-9A2B-F075B4F10C12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951AD4A-E3B2-FDFE-0C8E-B0D6B23BD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D968B30-F9AD-44A1-C6FE-663FC10AA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FD68D-0635-4C61-AA96-E6AF0A1B14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8444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06E701C-B9DE-B715-9154-38C90077E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4DB194C-650B-70C1-61DB-E0A93E76DC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BF01EB-2D44-124E-D1CA-3A1FC0272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FEC6A-B2B5-4345-9A2B-F075B4F10C12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8A3FED8-92B7-1A60-2B2E-6C71E2AA1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F39C98-2491-4CFE-AC36-9E3BD8041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FD68D-0635-4C61-AA96-E6AF0A1B14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5110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CD5E46-35A6-A46A-736B-CCED27466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E1A43D3-DCAF-15BE-2322-E1D0B0BFA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12CD37C-AD43-0D94-6C92-4F06687B25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AFEC6A-B2B5-4345-9A2B-F075B4F10C12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957EAEF-BDBE-4C00-1955-43CF71E664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E05C85-35BD-571E-629E-78CB22BD26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AFD68D-0635-4C61-AA96-E6AF0A1B14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7140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60845-DCC3-18FB-01C5-2084DA533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64FB22-04F2-E70B-24F4-A42CA04886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6419" y="1122363"/>
            <a:ext cx="10217888" cy="2387600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Lecture 10. Power in AC Circuits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863EDB8-C414-8F31-7229-8574825BB7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Part (3). Analysis of Sinusoidal Steady-State AC Circuits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Прямоугольный треугольник 3">
            <a:extLst>
              <a:ext uri="{FF2B5EF4-FFF2-40B4-BE49-F238E27FC236}">
                <a16:creationId xmlns:a16="http://schemas.microsoft.com/office/drawing/2014/main" id="{00F245AA-5D11-4831-4DB2-91B7295F82F8}"/>
              </a:ext>
            </a:extLst>
          </p:cNvPr>
          <p:cNvSpPr/>
          <p:nvPr/>
        </p:nvSpPr>
        <p:spPr>
          <a:xfrm>
            <a:off x="0" y="3428999"/>
            <a:ext cx="3184275" cy="3419477"/>
          </a:xfrm>
          <a:prstGeom prst="rtTriangle">
            <a:avLst/>
          </a:prstGeom>
          <a:solidFill>
            <a:srgbClr val="2A70AE"/>
          </a:solidFill>
          <a:ln>
            <a:solidFill>
              <a:srgbClr val="2970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ый треугольник 4">
            <a:extLst>
              <a:ext uri="{FF2B5EF4-FFF2-40B4-BE49-F238E27FC236}">
                <a16:creationId xmlns:a16="http://schemas.microsoft.com/office/drawing/2014/main" id="{103604E9-867D-C4BC-BD0A-0E5258BE9E43}"/>
              </a:ext>
            </a:extLst>
          </p:cNvPr>
          <p:cNvSpPr/>
          <p:nvPr/>
        </p:nvSpPr>
        <p:spPr>
          <a:xfrm rot="10800000">
            <a:off x="9007724" y="9522"/>
            <a:ext cx="3184275" cy="3419477"/>
          </a:xfrm>
          <a:prstGeom prst="rtTriangle">
            <a:avLst/>
          </a:prstGeom>
          <a:solidFill>
            <a:srgbClr val="2A70AE"/>
          </a:solidFill>
          <a:ln>
            <a:solidFill>
              <a:srgbClr val="2970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8997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0B35E-C0DF-F784-F4D7-9E05ACDFC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5CFB6E-320F-800C-07B3-01FF924A5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2127C1-CB54-241E-0CCC-D35F641CF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Welcome back to the course on The Principle of Circuit.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In our previous lectures, we mastered the language of phasors and the concept of impedance.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We learned how to calculate voltages and currents in circuits driven by sinusoidal sources.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However, in practical engineering, calculating voltage and current is rarely the final goal. 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3692C42B-A40F-D615-228D-D4C08BA64AFD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65272269-EBAD-8C92-99E0-AE97610F8784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423C19D2-1C3C-C8BC-B521-602C7B86D634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Power in AC Circuits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71870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CF602-2C76-4BB8-8609-8A30D4965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30959B-8A73-4DE7-9393-0FCA41C7B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512E7A-AFEE-1CB9-6264-2EC77FF26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The ultimate purpose of an electrical system is to transfer energy.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Whether we are powering a massive industrial motor, a heater, or a computer processor, we must quantify the rate at which energy is delivered and consumed. 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35A954B8-0A97-1E03-D3CB-9555692784E2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D14745C9-B919-E62F-23BD-E428E1F522F2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31748C78-0796-8448-7EA5-A5E534B7F64B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Power in AC Circuits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518903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94C4C-32F7-0B30-1157-A09D779A4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ACC3C9-75B0-1147-D85E-D5545B024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84E2E9-520F-1A7C-9F6F-8ED6EFCE4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Today, we will explore the concept of Power in AC circuits.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We will discover that power in AC systems is more complex than in DC, splitting into three distinct forms: Active, Reactive, and Apparent Power.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Understanding these concepts is critical for efficient power transmission and is the foundation of the electrical power industry.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2F63BFD6-4F7B-0D2C-32B3-6443A6EA5ECF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6892A46F-0F58-DDA0-8C2B-5C9D3B5D813F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44C9CBF2-9EB5-1DA1-5D34-472B57D777CB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Power in AC Circuits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835395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2D0C8-1124-CE6C-788E-24906DCFC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97B580-47A2-4F4F-C14F-4BF4371A5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A15C0C2-FD98-FD83-295C-893FFBCD3F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Let us begin by revisiting the definition of power from our very first lecture.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Instantaneous power is defined as the product of the instantaneous voltage and the instantaneous current: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marL="0" indent="0" algn="just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𝒑</m:t>
                      </m:r>
                      <m:d>
                        <m:d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𝒕</m:t>
                          </m:r>
                        </m:e>
                      </m:d>
                      <m:r>
                        <a:rPr lang="en-US" b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𝒗</m:t>
                      </m:r>
                      <m:d>
                        <m:d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𝒕</m:t>
                          </m:r>
                        </m:e>
                      </m:d>
                      <m:r>
                        <a:rPr lang="en-US" b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×</m:t>
                      </m:r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𝒊</m:t>
                      </m:r>
                      <m:d>
                        <m:d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𝒕</m:t>
                          </m:r>
                        </m:e>
                      </m:d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.</m:t>
                      </m:r>
                    </m:oMath>
                  </m:oMathPara>
                </a14:m>
                <a:endParaRPr lang="en-US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In a DC circuit, voltage and current are constant, so power is constant. However, in an AC circuit, both voltage and current are sinusoidal functions of time. 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A15C0C2-FD98-FD83-295C-893FFBCD3F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560" r="-1159" b="-490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9A2AB98E-A636-99F2-6A20-278793B7C781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A3B1F438-EB59-78BA-9C03-792E7BEDE9D8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A37390F9-F5D2-0B41-E4E5-561F6856D752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Power in AC Circuits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322637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2A957-CE03-CB2E-B422-77763447D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5EC2AA-0EA3-B0FA-A8F4-0E4A4B5E0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D7175A8-017B-8AFB-E565-6C285315ED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7305" y="1825625"/>
                <a:ext cx="11325727" cy="4351338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Therefore, the power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𝑝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𝑡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is also a time-varying quantity. It pulsates.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Sometimes it is positive (energy flows to the load), and sometimes, as we will see, it can be negative (energy flows back to the source).</a:t>
                </a:r>
                <a:endParaRPr lang="en-US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For practical engineering, we are usually not interested in the pulsating value, but rather in the average power over one complete cycle.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This average value is what actually performs work, such as heating a resistor or turning a motor shaft.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D7175A8-017B-8AFB-E565-6C285315ED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7305" y="1825625"/>
                <a:ext cx="11325727" cy="4351338"/>
              </a:xfrm>
              <a:blipFill>
                <a:blip r:embed="rId2"/>
                <a:stretch>
                  <a:fillRect l="-969" t="-560" r="-1131" b="-78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687056F-E415-95B6-8BF0-EB20975024C1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F7DF3D38-E64B-995E-9EC5-974520688768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3DFB6418-0481-FD90-50A3-906CD6FFEF12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Power in AC Circuits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235621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D6C38-60DF-D81C-4B71-705BCE67B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5DCFAF-F73D-D0E9-55CC-FF985B9D3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2F62C8E-3764-E91D-D965-8560C9B1EF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00000"/>
                  </a:lnSpc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Active Power (denoted by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𝑷</m:t>
                    </m:r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) is the average rate at which energy is consumed or dissipated by a resistive load. </a:t>
                </a:r>
              </a:p>
              <a:p>
                <a:pPr algn="just">
                  <a:lnSpc>
                    <a:spcPct val="10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</a:rPr>
                  <a:t>It is also frequently called Real Power or Average Power. </a:t>
                </a:r>
                <a:endParaRPr lang="ru-RU" dirty="0">
                  <a:effectLst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Active Power is the power that does actual physical work.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</a:rPr>
                  <a:t>If we integrate the instantaneous power over one period, we derive the fundamental formula for Active Power.</a:t>
                </a:r>
                <a:endParaRPr lang="ru-RU" dirty="0">
                  <a:effectLst/>
                  <a:ea typeface="Aptos" panose="020B0004020202020204" pitchFamily="34" charset="0"/>
                </a:endParaRPr>
              </a:p>
              <a:p>
                <a:pPr marL="0" indent="0" algn="just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𝑷</m:t>
                      </m:r>
                      <m:r>
                        <a:rPr lang="ru-RU" b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𝑽</m:t>
                          </m:r>
                        </m:e>
                        <m:sub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𝒓𝒎𝒔</m:t>
                          </m:r>
                        </m:sub>
                      </m:sSub>
                      <m:sSub>
                        <m:sSub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𝑰</m:t>
                          </m:r>
                        </m:e>
                        <m:sub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𝒓𝒎𝒔</m:t>
                          </m:r>
                        </m:sub>
                      </m:sSub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𝒄𝒐𝒔</m:t>
                      </m:r>
                      <m:d>
                        <m:d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𝝓</m:t>
                          </m:r>
                        </m:e>
                      </m:d>
                      <m:r>
                        <a:rPr lang="ru-RU" b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.</m:t>
                      </m:r>
                    </m:oMath>
                  </m:oMathPara>
                </a14:m>
                <a:endParaRPr lang="ru-RU" b="1" dirty="0">
                  <a:effectLst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2F62C8E-3764-E91D-D965-8560C9B1EF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40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D676377D-5C66-70DC-FBF9-D1B9EA038EEE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34EE2330-DA04-F2A0-B478-38B6AB8FC22D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F453078A-613B-8444-F3E7-2B9BFF525249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Power in AC Circuits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91585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F63C4-3F9D-B506-2D85-343C5A7CA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306736-C8EC-128E-5572-4536A9FE6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DECEB42-4E71-B290-6F99-2FB18D46D7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00000"/>
                  </a:lnSpc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𝑽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𝒓𝒎𝒔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𝑰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𝒓𝒎𝒔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 are the effective (Root Mean Square) values of voltage and current. </a:t>
                </a:r>
                <a:endParaRPr lang="ru-RU" b="1" dirty="0">
                  <a:effectLst/>
                  <a:ea typeface="Aptos" panose="020B0004020202020204" pitchFamily="34" charset="0"/>
                </a:endParaRPr>
              </a:p>
              <a:p>
                <a:pPr algn="just">
                  <a:lnSpc>
                    <a:spcPct val="100000"/>
                  </a:lnSpc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The angle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𝝓</m:t>
                    </m:r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 is the phase difference between the voltage and the current (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𝝓</m:t>
                    </m:r>
                    <m:r>
                      <a:rPr lang="en-US" b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𝝓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𝒗</m:t>
                        </m:r>
                      </m:sub>
                    </m:sSub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−</m:t>
                    </m:r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𝝓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). Active Power is measured in Watts (W). </a:t>
                </a:r>
              </a:p>
              <a:p>
                <a:pPr algn="just">
                  <a:lnSpc>
                    <a:spcPct val="10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Notice the term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cos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𝜙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. 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00000"/>
                  </a:lnSpc>
                </a:pPr>
                <a:endParaRPr lang="ru-RU" dirty="0">
                  <a:effectLst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DECEB42-4E71-B290-6F99-2FB18D46D7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40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0C4D457-264F-0A8B-5657-EF5384F60A14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61868397-5FB7-A1A2-89BC-A94CB58E824F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5E2CFC0E-AB6E-1D46-61AD-40E0D8E2495F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Power in AC Circuits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74108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80C21-0EA8-75F9-5FE4-2E74E0ED1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E0E6FF-5EF5-46A7-67BC-46FC02401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BDAD2ED-63C4-815A-2D9E-B06E416B21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b="1" dirty="0"/>
                  <a:t>If the voltage and current are in phase (like in a resistor),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b="1" dirty="0"/>
                  <a:t>, so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𝒄𝒐𝒔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 dirty="0"/>
                  <a:t>, and we get maximum power (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𝑽𝑰</m:t>
                    </m:r>
                  </m:oMath>
                </a14:m>
                <a:r>
                  <a:rPr lang="en-US" b="1" dirty="0"/>
                  <a:t>). </a:t>
                </a:r>
                <a:endParaRPr lang="ru-RU" b="1" dirty="0"/>
              </a:p>
              <a:p>
                <a:r>
                  <a:rPr lang="en-US" b="1" dirty="0"/>
                  <a:t>If they are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𝟗𝟎</m:t>
                        </m:r>
                      </m:e>
                      <m:sup>
                        <m:r>
                          <a:rPr lang="en-US" b="1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b="1" dirty="0"/>
                  <a:t> out of phase (like in a pure inductor),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𝒄𝒐𝒔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𝟗𝟎</m:t>
                        </m:r>
                      </m:e>
                      <m:sup>
                        <m:r>
                          <a:rPr lang="en-US" b="1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en-US" b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b="1" dirty="0"/>
                  <a:t>, and the average active power is zero.</a:t>
                </a:r>
              </a:p>
              <a:p>
                <a:r>
                  <a:rPr lang="en-US" dirty="0"/>
                  <a:t>This brings us to the second type of power.</a:t>
                </a:r>
              </a:p>
              <a:p>
                <a:r>
                  <a:rPr lang="en-US" dirty="0"/>
                  <a:t>We know that inductors and capacitors store energy in magnetic and electric fields, respectively.</a:t>
                </a:r>
              </a:p>
              <a:p>
                <a:r>
                  <a:rPr lang="en-US" dirty="0"/>
                  <a:t>In the first half of an AC cycle, they might absorb energy from the source to build a field. </a:t>
                </a:r>
              </a:p>
              <a:p>
                <a:r>
                  <a:rPr lang="en-US" dirty="0"/>
                  <a:t>In the second half, they return that energy back to the source as the field collapses. </a:t>
                </a: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BDAD2ED-63C4-815A-2D9E-B06E416B21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b="-176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28BEE27-ADBE-EC66-1C3F-2D7BFC8F88C6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81D2776B-6D37-59F8-4DE5-B0468EA81D82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C8AD2D00-30FD-87EE-A11A-6197845415C0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Power in AC Circuits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614075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AB784-0C91-27DE-4562-48CB6F8DD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02EB94-44B2-925D-DE88-1E218820E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DD9CE1E-AFA7-E33D-F76E-F834965512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b="1" dirty="0"/>
                  <a:t>The rate at which energy is exchanged between the source and the reactive components is called Reactive Power. </a:t>
                </a:r>
                <a:endParaRPr lang="ru-RU" b="1" dirty="0"/>
              </a:p>
              <a:p>
                <a:r>
                  <a:rPr lang="en-US" b="1" dirty="0"/>
                  <a:t>Reactive Power is denoted by the letter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𝑸</m:t>
                    </m:r>
                  </m:oMath>
                </a14:m>
                <a:r>
                  <a:rPr lang="en-US" b="1" dirty="0"/>
                  <a:t>. </a:t>
                </a:r>
              </a:p>
              <a:p>
                <a:r>
                  <a:rPr lang="en-US" dirty="0"/>
                  <a:t>The formula for Reactive Power is: </a:t>
                </a:r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𝑸</m:t>
                      </m:r>
                      <m:r>
                        <a:rPr lang="en-US" b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𝒓𝒎𝒔</m:t>
                          </m:r>
                        </m:sub>
                      </m:sSub>
                      <m:sSub>
                        <m:sSub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𝒓𝒎𝒔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𝒔𝒊𝒏</m:t>
                      </m:r>
                      <m:d>
                        <m:d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𝝓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b="1" dirty="0"/>
              </a:p>
              <a:p>
                <a:r>
                  <a:rPr lang="en-US" b="1" dirty="0"/>
                  <a:t>Reactive Power does not perform useful work. </a:t>
                </a:r>
              </a:p>
              <a:p>
                <a:r>
                  <a:rPr lang="en-US" dirty="0"/>
                  <a:t>It essentially sloshes back and forth in the wires, taking up capacity but creating no heat or motion. </a:t>
                </a: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DD9CE1E-AFA7-E33D-F76E-F834965512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2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209D412C-7084-6A45-3F5A-E56F8D960D61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52B405CE-0E78-E38B-CDCB-DE7A4CA76664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8F1A35DB-C35F-6A1B-C31B-9491C2026E0F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Power in AC Circuits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627925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2CEB0-04AD-2087-8F5D-04661E7B1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481052-18ED-BB6A-7C2C-BE160BE0F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5FF6F01-BB1A-94F4-37EC-2F34B89CBF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b="1" dirty="0"/>
                  <a:t>To distinguish it from Active Power, Reactive Power is measured in distinct units: Volt-Amperes Reactive (var). </a:t>
                </a:r>
              </a:p>
              <a:p>
                <a:r>
                  <a:rPr lang="en-US" dirty="0"/>
                  <a:t>By convention: </a:t>
                </a:r>
                <a:endParaRPr lang="ru-RU" dirty="0"/>
              </a:p>
              <a:p>
                <a:r>
                  <a:rPr lang="en-US" b="1" dirty="0"/>
                  <a:t>Inductors absorb (consume) reactive power (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b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b="1" dirty="0"/>
                  <a:t>). Capacitors generate (supply) reactive power (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b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b="1" dirty="0"/>
                  <a:t>).</a:t>
                </a:r>
                <a:endParaRPr lang="ru-RU" b="1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5FF6F01-BB1A-94F4-37EC-2F34B89CBF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6A589844-9777-381B-DE44-6B63F7A1FF5F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E9CFCF5C-5999-7694-F911-36A75A4D2E34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24B52658-00A8-7F2B-F34B-DC00E30821F0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Power in AC Circuits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257629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146EF-B65F-EB54-F10B-269D92DED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AE1E63-9527-F6F7-BBAB-31638D0B2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552CD4-1BC2-69D6-4F53-BC58AE61CA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Now we must consider the perspective of the power source or the transmission equipment. </a:t>
            </a:r>
          </a:p>
          <a:p>
            <a:r>
              <a:rPr lang="en-US" dirty="0"/>
              <a:t>Imagine a generator connected to a load. </a:t>
            </a:r>
          </a:p>
          <a:p>
            <a:r>
              <a:rPr lang="en-US" dirty="0"/>
              <a:t>The generator must withstand the total voltage and the total current, regardless of whether that current is doing useful work (Active) or just moving back and forth (Reactive).</a:t>
            </a:r>
            <a:endParaRPr lang="ru-RU" dirty="0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F818AAF2-03B0-0D9E-83ED-BFF7ED791596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FA926AC3-8848-5EE9-4DAD-3096EBA1DB3C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5304B8EF-6052-A39A-99A2-E46269932405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Power in AC Circuits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857778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691FF-2096-F318-1443-6C0EFD764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4F312B-F7C6-8FC2-A266-735338903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216DA1E-75C6-1B2F-1827-46A621DA64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The product of the RMS voltage and the RMS current is called Apparent Power. 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Apparent Power is denoted by the letter </a:t>
                </a:r>
                <a14:m>
                  <m:oMath xmlns:m="http://schemas.openxmlformats.org/officeDocument/2006/math"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𝑺</m:t>
                    </m:r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. 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ctr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𝑺</m:t>
                    </m:r>
                    <m:r>
                      <a:rPr lang="en-US" b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𝑽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𝒓𝒎𝒔</m:t>
                        </m:r>
                      </m:sub>
                    </m:sSub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𝑰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𝒓𝒎𝒔</m:t>
                        </m:r>
                      </m:sub>
                    </m:sSub>
                    <m:r>
                      <a:rPr lang="en-US" b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Apparent Power is measured in Volt-Amperes (VA). 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216DA1E-75C6-1B2F-1827-46A621DA64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56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31F79E4B-10E9-2112-FE39-9B80ABB32135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7BD08E98-20E0-97E8-FFA9-19ABF926B8A5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03761042-2E7F-94CF-8051-5F062B787B48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Power in AC Circuits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480790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1B09E-10A2-AC7E-798C-E99554AD4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DBAE7A-CBE2-8E54-A657-DC602ACA9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3916520-CDA5-7352-E200-34DAA20767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This value represents the total capacity of the circuit.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For example, transformers are rated in kVA (kilo-Volt-Amperes), not kW, because they must handle the total current without overheating, regardless of how much of that power is actually «real» watts.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The mathematical relationship between these three powers is governed by the Pythagorean theorem: 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marL="0" indent="0" algn="just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𝑺</m:t>
                      </m:r>
                      <m:r>
                        <a:rPr lang="en-US" b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ru-RU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𝑷</m:t>
                              </m:r>
                            </m:e>
                            <m:sup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b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ru-RU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𝑸</m:t>
                              </m:r>
                            </m:e>
                            <m:sup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3916520-CDA5-7352-E200-34DAA20767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560" r="-1159" b="-18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F965AE40-BA5B-6DBC-D6DC-8BA643C868B8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0CE130B3-A0AD-19D9-04BE-E7BA2F225A06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003EE328-C51D-E759-F0D3-8B86F575413D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Power in AC Circuits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4067473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BBD1C-2426-9847-47B2-1223BC780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F4A58D-B9CF-5DC2-BCE7-B16F874B0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C765058C-9673-59DB-0585-1A6EDDA97C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We can visualize these three quantities using a geometric tool called the Power Triangle.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The Power Triangle is a right-angled triangle where: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marL="342900" lvl="0" indent="-342900" algn="just">
                  <a:lnSpc>
                    <a:spcPct val="120000"/>
                  </a:lnSpc>
                  <a:buFont typeface="Symbol" panose="05050102010706020507" pitchFamily="18" charset="2"/>
                  <a:buChar char=""/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the horizontal leg is the Active Power (</a:t>
                </a:r>
                <a14:m>
                  <m:oMath xmlns:m="http://schemas.openxmlformats.org/officeDocument/2006/math"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𝑷</m:t>
                    </m:r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);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marL="342900" lvl="0" indent="-342900" algn="just">
                  <a:lnSpc>
                    <a:spcPct val="120000"/>
                  </a:lnSpc>
                  <a:buFont typeface="Symbol" panose="05050102010706020507" pitchFamily="18" charset="2"/>
                  <a:buChar char=""/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the vertical leg is the Reactive Power (</a:t>
                </a:r>
                <a14:m>
                  <m:oMath xmlns:m="http://schemas.openxmlformats.org/officeDocument/2006/math"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𝑸</m:t>
                    </m:r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);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marL="342900" lvl="0" indent="-342900" algn="just">
                  <a:lnSpc>
                    <a:spcPct val="120000"/>
                  </a:lnSpc>
                  <a:buFont typeface="Symbol" panose="05050102010706020507" pitchFamily="18" charset="2"/>
                  <a:buChar char=""/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the hypotenuse is the Apparent Power (</a:t>
                </a:r>
                <a14:m>
                  <m:oMath xmlns:m="http://schemas.openxmlformats.org/officeDocument/2006/math"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𝑺</m:t>
                    </m:r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). 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C765058C-9673-59DB-0585-1A6EDDA97C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56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DAF57020-5283-E364-D7E6-23E1572FB355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78ED76D3-670A-3A3F-44EC-6D25B164FE86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6A2C7CC6-7141-4287-E3B2-028578ABE534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Power in AC Circuits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637842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7D20F-C2E0-E9F1-20A1-E1206EB2F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67B1CB-0985-C906-B97D-325F5AD2A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4F1826-E697-B556-A984-6F369688F0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The angle between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𝑷</m:t>
                    </m:r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𝑺</m:t>
                    </m:r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 is the impedance angle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𝝓</m:t>
                    </m:r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. </a:t>
                </a:r>
                <a:endParaRPr lang="ru-RU" b="1" dirty="0">
                  <a:effectLst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This triangle helps us define a crucial metric of efficiency called the Power Factor.</a:t>
                </a:r>
                <a:endParaRPr lang="ru-RU" b="1" dirty="0">
                  <a:effectLst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The Power Factor (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𝝀</m:t>
                    </m:r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) is the ratio of Active Power to Apparent Power.</a:t>
                </a:r>
                <a:endParaRPr lang="ru-RU" b="1" dirty="0">
                  <a:effectLst/>
                  <a:ea typeface="Aptos" panose="020B0004020202020204" pitchFamily="34" charset="0"/>
                </a:endParaRPr>
              </a:p>
              <a:p>
                <a:pPr marL="0" indent="0" algn="just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𝑷𝒐𝒘𝒆𝒓𝑭𝒂𝒄𝒕𝒐𝒓</m:t>
                      </m:r>
                      <m:r>
                        <a:rPr lang="en-US" b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𝒄𝒐𝒔</m:t>
                      </m:r>
                      <m:d>
                        <m:d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𝝓</m:t>
                          </m:r>
                        </m:e>
                      </m:d>
                      <m:r>
                        <a:rPr lang="en-US" b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𝑷</m:t>
                          </m:r>
                        </m:num>
                        <m:den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𝑺</m:t>
                          </m:r>
                        </m:den>
                      </m:f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ru-RU" b="1" dirty="0">
                  <a:effectLst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4F1826-E697-B556-A984-6F369688F0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4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53910BD7-E9AE-3115-85D6-BA5693547DC7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2C02EF7-CF7C-A376-F763-E96144B46621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15DBAEBB-5B31-DB23-1C4F-8148FA964F45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Power in AC Circuits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0606505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1BEF0-AEDD-C7D9-3BD9-88C6B12D7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2F68F0-3807-37EB-1D51-F1159F6E1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F3A4DD-B7BB-7688-62D8-817164F7C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ea typeface="Aptos" panose="020B0004020202020204" pitchFamily="34" charset="0"/>
              </a:rPr>
              <a:t>On the next slide</a:t>
            </a:r>
            <a:r>
              <a:rPr lang="en-US" dirty="0">
                <a:effectLst/>
                <a:ea typeface="Aptos" panose="020B0004020202020204" pitchFamily="34" charset="0"/>
              </a:rPr>
              <a:t> you can see an illustration of the Power Triangle and Power Factor.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ea typeface="Aptos" panose="020B0004020202020204" pitchFamily="34" charset="0"/>
              </a:rPr>
              <a:t>Note that converting Active Power to the Apparent Power can be accomplished by summing the Active and Reactive Power vectors.</a:t>
            </a:r>
            <a:endParaRPr lang="ru-RU" dirty="0">
              <a:effectLst/>
              <a:ea typeface="Aptos" panose="020B00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324A792B-CC15-B6B1-3DD0-020C8F1EEFE9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84033CA0-C9CA-A973-C9CF-5F0EB2CFC135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83819312-BDF3-8F8D-B747-D51AD4D89C7C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Power in AC Circuits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14739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221ED-5F8F-6641-3E91-E60FAB12D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98378C-B318-7D3B-0187-A6D95F338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E04EC786-8FCF-900C-E215-0649BDE8CDE4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30F6AD11-37B9-3BD8-01A5-2CEB0ECB3D88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DD308711-82D5-3267-AAE4-0D56133E5781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Power in AC Circuits</a:t>
              </a:r>
              <a:endParaRPr lang="ru-RU" sz="4000" dirty="0"/>
            </a:p>
          </p:txBody>
        </p:sp>
      </p:grp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4181E6B9-0563-5715-FA16-D5CB385FBF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0584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95B11D56-939E-6AED-3990-09DD9FEF11F3}"/>
              </a:ext>
            </a:extLst>
          </p:cNvPr>
          <p:cNvGrpSpPr/>
          <p:nvPr/>
        </p:nvGrpSpPr>
        <p:grpSpPr>
          <a:xfrm>
            <a:off x="0" y="0"/>
            <a:ext cx="12192000" cy="777240"/>
            <a:chOff x="0" y="0"/>
            <a:chExt cx="12192000" cy="1690688"/>
          </a:xfrm>
        </p:grpSpPr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B92DC7BD-6178-10A2-8589-CF8F3F25A26C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: скругленные углы 8">
              <a:extLst>
                <a:ext uri="{FF2B5EF4-FFF2-40B4-BE49-F238E27FC236}">
                  <a16:creationId xmlns:a16="http://schemas.microsoft.com/office/drawing/2014/main" id="{2F4E6756-9771-841F-78BA-2F785A0BD73C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Power triangle and power factor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7033307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1D026-3956-1C6C-AE2B-24D7E8ECE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495E05-7F4E-3C51-E5D5-2C9BE7134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351FA6-50A3-4AF6-9230-6FB87830D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effectLst/>
                <a:ea typeface="Aptos" panose="020B0004020202020204" pitchFamily="34" charset="0"/>
              </a:rPr>
              <a:t>The Power Factor represents how efficiently the circuit converts the supplied capacity into useful work.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ea typeface="Aptos" panose="020B0004020202020204" pitchFamily="34" charset="0"/>
              </a:rPr>
              <a:t>A Power Factor of 1.0 is ideal (purely resistive).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ea typeface="Aptos" panose="020B0004020202020204" pitchFamily="34" charset="0"/>
              </a:rPr>
              <a:t>A low Power Factor (e.g., 0.5) means you are drawing a lot of current (high S) to do very little work (low P).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ea typeface="Aptos" panose="020B0004020202020204" pitchFamily="34" charset="0"/>
              </a:rPr>
              <a:t>Power companies penalize industrial customers for having a low power factor because it wastes grid capacity.</a:t>
            </a:r>
            <a:endParaRPr lang="ru-RU" dirty="0">
              <a:effectLst/>
              <a:ea typeface="Aptos" panose="020B00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E1D8F169-AC09-FF49-79A9-7CAB21E30F69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B74133D3-3177-A1D2-CD48-A4521D720BD5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D7DABAD4-86CF-4BFD-13DF-D6DC84CEDE16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Power in AC Circuits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9043859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7CFBD-FB9E-60A3-EFBB-42558D2FB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E99693-02B5-EEF3-3378-76CE0C09F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715058D4-E38F-C3F6-90BE-FF6B9A3CA9DC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C5EEDB01-DDD1-589C-C1C8-88BE7DE99FEF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2720B12B-1447-EFEB-608D-9C0078FB016D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Power in AC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A1C6BBF8-F513-6C1A-0589-0AB9A1D28A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893357" cy="4351338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</a:rPr>
                  <a:t>To perform calculations systematically, we combine P and Q into a single complex number.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Complex Power, denoted by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𝑺</m:t>
                    </m:r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 (bold S), is the vector sum of Active and Reactive power.</a:t>
                </a:r>
                <a:endParaRPr lang="ru-RU" b="1" dirty="0">
                  <a:effectLst/>
                  <a:ea typeface="Aptos" panose="020B0004020202020204" pitchFamily="34" charset="0"/>
                </a:endParaRPr>
              </a:p>
              <a:p>
                <a:pPr marL="0" indent="0" algn="just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𝑺</m:t>
                      </m:r>
                      <m:r>
                        <a:rPr lang="en-US" b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𝑷</m:t>
                      </m:r>
                      <m:r>
                        <a:rPr lang="en-US" b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+</m:t>
                      </m:r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𝒋𝑸</m:t>
                      </m:r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.</m:t>
                      </m:r>
                    </m:oMath>
                  </m:oMathPara>
                </a14:m>
                <a:endParaRPr lang="en-US" b="1" dirty="0">
                  <a:effectLst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</a:rPr>
                  <a:t>We can calculate Complex Power directly from the phasors of voltage and current.</a:t>
                </a:r>
                <a:endParaRPr lang="ru-RU" dirty="0">
                  <a:effectLst/>
                  <a:ea typeface="Aptos" panose="020B0004020202020204" pitchFamily="34" charset="0"/>
                </a:endParaRPr>
              </a:p>
              <a:p>
                <a:endParaRPr lang="ru-RU" b="1" dirty="0"/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A1C6BBF8-F513-6C1A-0589-0AB9A1D28A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893357" cy="4351338"/>
              </a:xfrm>
              <a:blipFill>
                <a:blip r:embed="rId2"/>
                <a:stretch>
                  <a:fillRect l="-951" t="-140" r="-11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7059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DF7E9-FDA5-5125-ED7A-B3221C794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CF1482-D539-8A89-D53C-00E389CC0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E1C619EB-BD1A-EBFD-44D8-CF053523438D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55770CBE-F4FE-9D30-3264-69EE6DF6E6E0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EF43F03E-5BBA-CE33-BB9F-03592C0E338F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Power in AC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08E44835-58AC-541F-CFBC-DD9A2CCC47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893357" cy="4351338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The formula for Complex Power is the product of the Voltage phasor and the </a:t>
                </a:r>
                <a:r>
                  <a:rPr lang="en-US" b="1" i="1" dirty="0">
                    <a:effectLst/>
                    <a:ea typeface="Aptos" panose="020B0004020202020204" pitchFamily="34" charset="0"/>
                  </a:rPr>
                  <a:t>Conjugate</a:t>
                </a:r>
                <a:r>
                  <a:rPr lang="en-US" b="1" dirty="0">
                    <a:effectLst/>
                    <a:ea typeface="Aptos" panose="020B0004020202020204" pitchFamily="34" charset="0"/>
                  </a:rPr>
                  <a:t> of the Current phasor.</a:t>
                </a:r>
                <a:endParaRPr lang="ru-RU" b="1" dirty="0">
                  <a:effectLst/>
                  <a:ea typeface="Aptos" panose="020B0004020202020204" pitchFamily="34" charset="0"/>
                </a:endParaRP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𝑺</m:t>
                      </m:r>
                      <m:r>
                        <a:rPr lang="en-US" b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ru-RU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𝑽</m:t>
                              </m:r>
                            </m:e>
                          </m:acc>
                        </m:e>
                        <m:sub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𝒓𝒎𝒔</m:t>
                          </m:r>
                        </m:sub>
                      </m:sSub>
                      <m:r>
                        <a:rPr lang="en-US" b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×(</m:t>
                      </m:r>
                      <m:sSub>
                        <m:sSub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ru-RU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𝑰</m:t>
                              </m:r>
                            </m:e>
                          </m:acc>
                        </m:e>
                        <m:sub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𝒓𝒎𝒔</m:t>
                          </m:r>
                        </m:sub>
                      </m:sSub>
                      <m:sSup>
                        <m:sSup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pPr>
                        <m:e>
                          <m:r>
                            <a:rPr lang="en-US" b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)</m:t>
                          </m:r>
                        </m:e>
                        <m:sup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∗</m:t>
                          </m:r>
                        </m:sup>
                      </m:sSup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.</m:t>
                      </m:r>
                    </m:oMath>
                  </m:oMathPara>
                </a14:m>
                <a:endParaRPr lang="ru-RU" b="1" dirty="0">
                  <a:effectLst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Note the asterisk (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∗</m:t>
                    </m:r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). This indicates the Complex Conjugate. </a:t>
                </a:r>
                <a:endParaRPr lang="ru-RU" b="1" dirty="0">
                  <a:effectLst/>
                  <a:ea typeface="Aptos" panose="020B0004020202020204" pitchFamily="34" charset="0"/>
                </a:endParaRPr>
              </a:p>
              <a:p>
                <a:r>
                  <a:rPr lang="en-US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Why do we take the conjugate of the current? </a:t>
                </a:r>
              </a:p>
              <a:p>
                <a:r>
                  <a:rPr lang="en-US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Recall that the angle of power depends on the difference </a:t>
                </a:r>
                <a:endParaRPr lang="en-US" i="1" dirty="0"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𝜙</m:t>
                      </m:r>
                      <m:r>
                        <a:rPr lang="en-US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ru-RU" b="1" dirty="0"/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08E44835-58AC-541F-CFBC-DD9A2CCC47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893357" cy="4351338"/>
              </a:xfrm>
              <a:blipFill>
                <a:blip r:embed="rId2"/>
                <a:stretch>
                  <a:fillRect l="-951" t="-140" r="-11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07369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80408-5BC3-4ABB-0EC8-13615E239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1B9529-57E0-E084-E992-C4A3DCB22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18517A3D-8C4D-3DFC-F95D-FDA35E7504D7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027DD236-746F-5F92-901F-EFDEE1897DF0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D0130B70-EEE4-4269-964D-5ED9BDDA57C9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Power in AC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6FEE9467-71F5-7D94-71BE-D559ACD203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893357" cy="4351338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 we simply multiplied the phasors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𝜙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𝑣</m:t>
                        </m:r>
                      </m:sub>
                    </m:sSub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𝜙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), the angle would be wrong.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Taking the conjugate of current negates its angle (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𝜙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), ensuring the resulting angle of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𝐒</m:t>
                    </m:r>
                  </m:oMath>
                </a14:m>
                <a:r>
                  <a:rPr lang="en-US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is exactly the impedance angle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𝜙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𝑣</m:t>
                        </m:r>
                      </m:sub>
                    </m:sSub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𝜙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 </a:t>
                </a:r>
                <a:endParaRPr lang="en-US" b="1" dirty="0">
                  <a:effectLst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The magnitude of Complex Power is the Apparent Power: </a:t>
                </a:r>
                <a14:m>
                  <m:oMath xmlns:m="http://schemas.openxmlformats.org/officeDocument/2006/math">
                    <m:r>
                      <a:rPr lang="en-US" b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|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𝑺</m:t>
                    </m:r>
                    <m:r>
                      <a:rPr lang="en-US" b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|=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𝑺</m:t>
                    </m:r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.</a:t>
                </a:r>
                <a:endParaRPr lang="ru-RU" b="1" dirty="0">
                  <a:effectLst/>
                  <a:ea typeface="Aptos" panose="020B0004020202020204" pitchFamily="34" charset="0"/>
                </a:endParaRPr>
              </a:p>
              <a:p>
                <a:endParaRPr lang="ru-RU" b="1" dirty="0"/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6FEE9467-71F5-7D94-71BE-D559ACD203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893357" cy="4351338"/>
              </a:xfrm>
              <a:blipFill>
                <a:blip r:embed="rId2"/>
                <a:stretch>
                  <a:fillRect l="-951" t="-140" r="-11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5002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88265-F856-B12E-942B-CE0ADFF7A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266705-57CC-C43E-2D13-B77386B46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6A38AC0-203D-FEF9-5E3E-AAEE6F74BFC4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1E25BF06-CAFC-3537-9570-8DD7BC878CFC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AF37C19E-D4C1-01C5-8D1D-F80221663BBE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Power in AC Circuits</a:t>
              </a:r>
              <a:endParaRPr lang="ru-RU" sz="4000" dirty="0"/>
            </a:p>
          </p:txBody>
        </p:sp>
      </p:grpSp>
      <p:sp>
        <p:nvSpPr>
          <p:cNvPr id="8" name="Объект 7">
            <a:extLst>
              <a:ext uri="{FF2B5EF4-FFF2-40B4-BE49-F238E27FC236}">
                <a16:creationId xmlns:a16="http://schemas.microsoft.com/office/drawing/2014/main" id="{0B78CF8F-318D-52A1-B3A4-B808BC2AD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FBC0F7-12B1-2AF9-532C-FBC3B2E038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74323" y="2070119"/>
            <a:ext cx="4220156" cy="4220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Объект 2">
            <a:extLst>
              <a:ext uri="{FF2B5EF4-FFF2-40B4-BE49-F238E27FC236}">
                <a16:creationId xmlns:a16="http://schemas.microsoft.com/office/drawing/2014/main" id="{93A67551-277D-C5EE-619C-92D5B6571D7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6034548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 you have any questions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at the moment?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07591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5F9F1-6D8A-9698-5A5D-7A847441D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0E2EC9-099A-94C6-7869-F45440C6B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6E2F2898-2B44-81AA-F998-2F2A759A1BB8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433D9079-57EC-B315-656B-8BD1C6852F9B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D97A0978-971A-9E5C-311C-22A4FB2B507E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Power in AC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03333711-C268-5C18-74A9-89125D69B8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dirty="0"/>
                  <a:t>Let us analyze the power in individual components using these formulas.</a:t>
                </a:r>
              </a:p>
              <a:p>
                <a:r>
                  <a:rPr lang="en-US" b="1" dirty="0"/>
                  <a:t>First, consider a pure Resistor.</a:t>
                </a:r>
              </a:p>
              <a:p>
                <a:r>
                  <a:rPr lang="en-US" dirty="0"/>
                  <a:t>The voltage and current are in phase (ϕ=0). Therefore:</a:t>
                </a:r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𝑸</m:t>
                      </m:r>
                      <m:r>
                        <a:rPr lang="en-US" b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𝑽𝑰𝒔𝒊𝒏</m:t>
                      </m:r>
                      <m:r>
                        <a:rPr lang="en-US" b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b="1" dirty="0"/>
              </a:p>
              <a:p>
                <a:r>
                  <a:rPr lang="en-US" b="1" dirty="0"/>
                  <a:t>A resistor consumes only Active Power. </a:t>
                </a:r>
                <a:endParaRPr lang="ru-RU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</m:sSub>
                      <m:r>
                        <a:rPr lang="en-US" b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𝒓𝒎𝒔</m:t>
                          </m:r>
                        </m:sub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b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ru-RU" b="1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𝒓𝒎𝒔</m:t>
                              </m:r>
                            </m:sub>
                            <m:sup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bSup>
                        </m:num>
                        <m:den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den>
                      </m:f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</m:sSub>
                      <m:r>
                        <a:rPr lang="en-US" b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b="1" dirty="0"/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03333711-C268-5C18-74A9-89125D69B8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57788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239B7-5006-07AB-735C-407158BE1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BC695-6BEA-0B24-1E79-E3C502F89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DC0BAC40-D758-A1D0-A101-40AE1AF4A552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CCDB4A2B-374B-BD5E-156E-D45A70FB08CF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3ABC502B-0E18-D68F-46CD-E46616E25021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Power in AC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AF5C2091-50BE-BEDD-2A5E-9DEE6A4FC3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b="1" dirty="0"/>
                  <a:t>The complex power is purely real: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  <m:r>
                      <a:rPr lang="en-US" b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  <m:r>
                      <a:rPr lang="en-US" b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b="1" dirty="0"/>
                  <a:t>.</a:t>
                </a:r>
              </a:p>
              <a:p>
                <a:r>
                  <a:rPr lang="en-US" dirty="0"/>
                  <a:t>This confirms that resistors dissipate energy but do not exchange reactive energy.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Next, consider a pure Inductor.</a:t>
                </a: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The voltage leads the current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90</m:t>
                        </m:r>
                      </m:e>
                      <m:sup>
                        <m:r>
                          <a:rPr lang="en-US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𝜙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=+</m:t>
                    </m:r>
                    <m:sSup>
                      <m:sSup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90</m:t>
                        </m:r>
                      </m:e>
                      <m:sup>
                        <m:r>
                          <a:rPr lang="en-US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). Therefore: 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marL="0" indent="0" algn="just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𝑷</m:t>
                      </m:r>
                      <m:r>
                        <a:rPr lang="en-US" b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𝑽𝑰</m:t>
                      </m:r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𝐜𝐨𝐬</m:t>
                      </m:r>
                      <m:d>
                        <m:d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ru-RU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𝟗𝟎</m:t>
                              </m:r>
                            </m:e>
                            <m:sup>
                              <m:r>
                                <a:rPr lang="en-US" b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∘</m:t>
                              </m:r>
                            </m:sup>
                          </m:sSup>
                        </m:e>
                      </m:d>
                      <m:r>
                        <a:rPr lang="en-US" b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𝟎</m:t>
                      </m:r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.</m:t>
                      </m:r>
                    </m:oMath>
                  </m:oMathPara>
                </a14:m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AF5C2091-50BE-BEDD-2A5E-9DEE6A4FC3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22932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43EB5-7449-DEB1-6D46-BB9055965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E56C4B-8A3D-45E2-5B0C-1CF91F611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563B89E-B915-41D0-430A-4212A2A1CFBC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0B6129C6-59F9-2EC4-3A99-9B025144F895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244D53B8-2F6D-39CE-4F82-4D635602A4CA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Power in AC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E13C7817-2329-60E3-6779-056508260F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b="1" dirty="0"/>
                  <a:t>An inductor consumes zero Active Power.</a:t>
                </a:r>
                <a:r>
                  <a:rPr lang="en-US" dirty="0"/>
                  <a:t> </a:t>
                </a:r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𝑳</m:t>
                          </m:r>
                        </m:sub>
                      </m:sSub>
                      <m:r>
                        <a:rPr lang="en-US" b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𝒓𝒎𝒔</m:t>
                          </m:r>
                        </m:sub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  <m:sSub>
                        <m:sSub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𝑳</m:t>
                          </m:r>
                        </m:sub>
                      </m:sSub>
                      <m:r>
                        <a:rPr lang="en-US" b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𝒓𝒎𝒔</m:t>
                          </m:r>
                        </m:sub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  <m:d>
                        <m:d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𝝎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</m:d>
                    </m:oMath>
                  </m:oMathPara>
                </a14:m>
                <a:endParaRPr lang="ru-RU" dirty="0"/>
              </a:p>
              <a:p>
                <a:r>
                  <a:rPr lang="en-US" b="1" dirty="0"/>
                  <a:t>The complex power is purely imaginary and positive: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𝑳</m:t>
                        </m:r>
                      </m:sub>
                    </m:sSub>
                    <m:r>
                      <a:rPr lang="en-US" b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𝒋</m:t>
                    </m:r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Finally, consider a pure Capacitor. </a:t>
                </a:r>
              </a:p>
              <a:p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The current leads the voltage, meaning the impedance angle is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−</m:t>
                    </m:r>
                    <m:sSup>
                      <m:sSup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90</m:t>
                        </m:r>
                      </m:e>
                      <m:sup>
                        <m:r>
                          <a:rPr lang="en-US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𝜙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−</m:t>
                    </m:r>
                    <m:sSup>
                      <m:sSup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90</m:t>
                        </m:r>
                      </m:e>
                      <m:sup>
                        <m:r>
                          <a:rPr lang="en-US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).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𝑃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0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. 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𝑸</m:t>
                          </m:r>
                        </m:e>
                        <m:sub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𝑪</m:t>
                          </m:r>
                        </m:sub>
                      </m:sSub>
                      <m:r>
                        <a:rPr lang="en-US" b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−</m:t>
                      </m:r>
                      <m:sSubSup>
                        <m:sSubSup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𝑰</m:t>
                          </m:r>
                        </m:e>
                        <m:sub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𝒓𝒎𝒔</m:t>
                          </m:r>
                        </m:sub>
                        <m:sup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𝟐</m:t>
                          </m:r>
                        </m:sup>
                      </m:sSubSup>
                      <m:sSub>
                        <m:sSub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𝑪</m:t>
                          </m:r>
                        </m:sub>
                      </m:sSub>
                      <m:r>
                        <a:rPr lang="en-US" b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−</m:t>
                      </m:r>
                      <m:sSubSup>
                        <m:sSubSup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𝑰</m:t>
                          </m:r>
                        </m:e>
                        <m:sub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𝒓𝒎𝒔</m:t>
                          </m:r>
                        </m:sub>
                        <m:sup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𝟐</m:t>
                          </m:r>
                        </m:sup>
                      </m:sSubSup>
                      <m:d>
                        <m:d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ru-RU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𝝎</m:t>
                              </m:r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𝑪</m:t>
                              </m:r>
                            </m:den>
                          </m:f>
                        </m:e>
                      </m:d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.</m:t>
                      </m:r>
                    </m:oMath>
                  </m:oMathPara>
                </a14:m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marL="0" indent="0">
                  <a:buNone/>
                </a:pP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marL="0" indent="0" algn="ctr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E13C7817-2329-60E3-6779-056508260F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58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29511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B65B0-A5D9-BE69-E2F1-547BCC62E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9C1457-7122-ADB8-359A-47B958347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D20F0C5B-B3A8-C743-C4FE-9FE8AC5BAB1A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A9EED34E-0A8E-A959-3024-C37D4FDE169E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72AC038B-0465-C1E1-0EEF-0557EC83064F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Power in AC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0CD252E8-020E-0906-23A1-E32F3A88CC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The complex power is purely imaginary and negative: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𝑺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𝑪</m:t>
                        </m:r>
                      </m:sub>
                    </m:sSub>
                    <m:r>
                      <a:rPr lang="en-US" b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𝟎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−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𝒋</m:t>
                    </m:r>
                    <m:r>
                      <a:rPr lang="en-US" b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|</m:t>
                    </m:r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𝑸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𝑪</m:t>
                        </m:r>
                      </m:sub>
                    </m:sSub>
                    <m:r>
                      <a:rPr lang="en-US" b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|</m:t>
                    </m:r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.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We say that the inductor </a:t>
                </a:r>
                <a:r>
                  <a:rPr lang="en-US" b="1" i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absorbs</a:t>
                </a: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reactive power, while the capacitor </a:t>
                </a:r>
                <a:r>
                  <a:rPr lang="en-US" b="1" i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supplies</a:t>
                </a: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reactive power.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0CD252E8-020E-0906-23A1-E32F3A88CC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56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83743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111EA-76B0-8427-7245-3E2CA1FE2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09E342-67F9-9C8F-54D4-6A3F227EE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16AA155F-4D6F-7A5E-663E-9B01B2DE8B6E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ACF48A21-052A-E071-EBB8-741CE49AF394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CBB0ED62-5495-ED6F-20D4-EB1CFBC63408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Power in AC Circuits</a:t>
              </a:r>
              <a:endParaRPr lang="ru-RU" sz="4000" dirty="0"/>
            </a:p>
          </p:txBody>
        </p:sp>
      </p:grpSp>
      <p:sp>
        <p:nvSpPr>
          <p:cNvPr id="8" name="Объект 7">
            <a:extLst>
              <a:ext uri="{FF2B5EF4-FFF2-40B4-BE49-F238E27FC236}">
                <a16:creationId xmlns:a16="http://schemas.microsoft.com/office/drawing/2014/main" id="{77C7101B-1B68-6DF6-9618-2CAAF4A7D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b="1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Just as we have conservation of energy, we have the Conservation of AC Power.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This is an extension of </a:t>
            </a:r>
            <a:r>
              <a:rPr lang="en-US" dirty="0" err="1">
                <a:effectLst/>
                <a:latin typeface="Arial" panose="020B0604020202020204" pitchFamily="34" charset="0"/>
                <a:ea typeface="Aptos" panose="020B0004020202020204" pitchFamily="34" charset="0"/>
              </a:rPr>
              <a:t>Tellegen's</a:t>
            </a: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 Theorem to the complex domain. 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b="1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In any electrical circuit, the sum of all complex powers supplied by the sources must equal the sum of all complex powers absorbed by the passive elements. </a:t>
            </a:r>
          </a:p>
        </p:txBody>
      </p:sp>
    </p:spTree>
    <p:extLst>
      <p:ext uri="{BB962C8B-B14F-4D97-AF65-F5344CB8AC3E}">
        <p14:creationId xmlns:p14="http://schemas.microsoft.com/office/powerpoint/2010/main" val="25474934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5747C-4E73-0267-48ED-DE67F8E28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274BB2-DDF6-29A4-32F3-44AD732EE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3D4BA6B6-3DF2-3339-A5F9-942B64389721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01E5CE9C-C50B-9BB6-A0A4-9CB6FFD92B69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859A85C1-B6CB-E046-DFF2-99854269BA54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Power in AC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A1EC1736-09D1-71BC-65A1-D804322ADA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This separates into two independent laws: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1. The algebraic sum of all Active Power (</a:t>
                </a:r>
                <a14:m>
                  <m:oMath xmlns:m="http://schemas.openxmlformats.org/officeDocument/2006/math"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𝑷</m:t>
                    </m:r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) is zero; (Total Watts generated = Total Watts consumed);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2. The algebraic sum of all Reactive Power (</a:t>
                </a:r>
                <a14:m>
                  <m:oMath xmlns:m="http://schemas.openxmlformats.org/officeDocument/2006/math"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𝑸</m:t>
                    </m:r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) is zero. (Total VARs supplied = Total VARs absorbed).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This is a powerful method to check your answers.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If you calculate the powers for every element and they do not sum to the source power, you have made a calculation error.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A1EC1736-09D1-71BC-65A1-D804322ADA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560" r="-1159" b="-1064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09090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FBF33-73FD-6541-D396-4FD11EFB4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4EF2C4-7DEF-C18B-6C4E-3CFA25207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B9070456-2A6B-BA4D-73C2-75F2B25215E9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17770D45-1E0D-7D6B-374A-18C77AAD7B88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DFDA2760-9D64-EB81-4AF1-C32B5433BD72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Power in AC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AF8F8523-648D-9216-FC24-5B709D47D3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</a:rPr>
                  <a:t>Let us apply this to a calculation example.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</a:rPr>
                  <a:t>Consider a circuit with a voltage source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𝑉</m:t>
                        </m:r>
                      </m:e>
                    </m:acc>
                    <m:r>
                      <a:rPr lang="en-US" b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100</m:t>
                    </m:r>
                    <m:r>
                      <a:rPr lang="en-US" b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∠</m:t>
                    </m:r>
                    <m:sSup>
                      <m:sSup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0</m:t>
                        </m:r>
                      </m:e>
                      <m:sup>
                        <m:r>
                          <a:rPr lang="en-US" b="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dirty="0">
                    <a:effectLst/>
                    <a:ea typeface="Aptos" panose="020B0004020202020204" pitchFamily="34" charset="0"/>
                  </a:rPr>
                  <a:t> V (rms) connected to a load with impedance </a:t>
                </a:r>
                <a14:m>
                  <m:oMath xmlns:m="http://schemas.openxmlformats.org/officeDocument/2006/math"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𝑍</m:t>
                    </m:r>
                    <m:r>
                      <a:rPr lang="en-US" b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3</m:t>
                    </m:r>
                    <m:r>
                      <a:rPr lang="en-US" b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+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𝑗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4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𝛺</m:t>
                    </m:r>
                  </m:oMath>
                </a14:m>
                <a:r>
                  <a:rPr lang="en-US" dirty="0">
                    <a:effectLst/>
                    <a:ea typeface="Aptos" panose="020B0004020202020204" pitchFamily="34" charset="0"/>
                  </a:rPr>
                  <a:t>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</a:rPr>
                  <a:t>First, we find the current phasor. </a:t>
                </a:r>
                <a:endParaRPr lang="ru-RU" dirty="0">
                  <a:effectLst/>
                  <a:ea typeface="Aptos" panose="020B0004020202020204" pitchFamily="34" charset="0"/>
                </a:endParaRPr>
              </a:p>
              <a:p>
                <a:pPr marL="0" indent="0" algn="just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𝐼</m:t>
                          </m:r>
                        </m:e>
                      </m:acc>
                      <m:r>
                        <a:rPr lang="en-US" b="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fPr>
                        <m:num>
                          <m:acc>
                            <m:accPr>
                              <m:chr m:val="̇"/>
                              <m:ctrlP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𝑉</m:t>
                              </m:r>
                            </m:e>
                          </m:acc>
                        </m:num>
                        <m:den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𝑍</m:t>
                          </m:r>
                        </m:den>
                      </m:f>
                      <m:r>
                        <a:rPr lang="en-US" b="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100</m:t>
                          </m:r>
                          <m:r>
                            <a:rPr lang="en-US" b="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∠</m:t>
                          </m:r>
                          <m:sSup>
                            <m:sSupPr>
                              <m:ctrlP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b="0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∘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3</m:t>
                          </m:r>
                          <m:r>
                            <a:rPr lang="en-US" b="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+</m:t>
                          </m:r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𝑗</m:t>
                          </m:r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4</m:t>
                          </m:r>
                        </m:den>
                      </m:f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.</m:t>
                      </m:r>
                    </m:oMath>
                  </m:oMathPara>
                </a14:m>
                <a:endParaRPr lang="ru-RU" dirty="0">
                  <a:effectLst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endParaRPr lang="ru-RU" dirty="0">
                  <a:effectLst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AF8F8523-648D-9216-FC24-5B709D47D3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4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90948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1B4A2-4F91-4317-DAEE-47CC41183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D55803-239C-A3B7-C12E-C85EDB6D5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505415F1-44F3-79A9-4B83-08CAF855405D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9B9D0D40-4FBF-CC09-C837-583572634A4F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AB237206-3769-AC75-EC61-C53543FB7C5D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Power in AC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5FE4F889-DF8F-B870-229D-3DF9D9433F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</a:rPr>
                  <a:t>Convert </a:t>
                </a:r>
                <a14:m>
                  <m:oMath xmlns:m="http://schemas.openxmlformats.org/officeDocument/2006/math"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𝑍</m:t>
                    </m:r>
                  </m:oMath>
                </a14:m>
                <a:r>
                  <a:rPr lang="en-US" dirty="0">
                    <a:effectLst/>
                    <a:ea typeface="Aptos" panose="020B0004020202020204" pitchFamily="34" charset="0"/>
                  </a:rPr>
                  <a:t> to polar: </a:t>
                </a:r>
                <a:endParaRPr lang="ru-RU" dirty="0">
                  <a:effectLst/>
                  <a:ea typeface="Aptos" panose="020B0004020202020204" pitchFamily="34" charset="0"/>
                </a:endParaRPr>
              </a:p>
              <a:p>
                <a:pPr marL="0" indent="0" algn="just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|</m:t>
                      </m:r>
                      <m:r>
                        <a:rPr lang="en-US" b="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𝑍</m:t>
                      </m:r>
                      <m:r>
                        <a:rPr lang="en-US" b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|=</m:t>
                      </m:r>
                      <m:rad>
                        <m:radPr>
                          <m:degHide m:val="on"/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b="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US" b="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b="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US" b="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b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r>
                        <a:rPr lang="en-US" b="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5</m:t>
                      </m:r>
                      <m:r>
                        <a:rPr lang="en-US" b="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ru-RU" dirty="0">
                  <a:effectLst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</a:rPr>
                  <a:t>Angle </a:t>
                </a:r>
                <a14:m>
                  <m:oMath xmlns:m="http://schemas.openxmlformats.org/officeDocument/2006/math"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𝜙</m:t>
                    </m:r>
                    <m:r>
                      <a:rPr lang="en-US" b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𝑎𝑟𝑐𝑡𝑎𝑛</m:t>
                    </m:r>
                    <m:r>
                      <a:rPr lang="en-US" b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4</m:t>
                    </m:r>
                    <m:r>
                      <a:rPr lang="en-US" b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/</m:t>
                    </m:r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3</m:t>
                    </m:r>
                    <m:r>
                      <a:rPr lang="en-US" b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)≈</m:t>
                    </m:r>
                    <m:sSup>
                      <m:sSup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p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53.13</m:t>
                        </m:r>
                      </m:e>
                      <m:sup>
                        <m:r>
                          <a:rPr lang="en-US" b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dirty="0">
                    <a:effectLst/>
                    <a:ea typeface="Aptos" panose="020B0004020202020204" pitchFamily="34" charset="0"/>
                  </a:rPr>
                  <a:t>.</a:t>
                </a:r>
                <a:endParaRPr lang="ru-RU" dirty="0">
                  <a:effectLst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</a:rPr>
                  <a:t>So, </a:t>
                </a:r>
                <a14:m>
                  <m:oMath xmlns:m="http://schemas.openxmlformats.org/officeDocument/2006/math"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𝑍</m:t>
                    </m:r>
                    <m:r>
                      <a:rPr lang="en-US" b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5</m:t>
                    </m:r>
                    <m:r>
                      <a:rPr lang="en-US" b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∠</m:t>
                    </m:r>
                    <m:sSup>
                      <m:sSup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p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53.13</m:t>
                        </m:r>
                      </m:e>
                      <m:sup>
                        <m:r>
                          <a:rPr lang="en-US" b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∘</m:t>
                        </m:r>
                      </m:sup>
                    </m:sSup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𝛺</m:t>
                    </m:r>
                  </m:oMath>
                </a14:m>
                <a:r>
                  <a:rPr lang="en-US" dirty="0">
                    <a:effectLst/>
                    <a:ea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ru-RU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accPr>
                        <m:e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𝐼</m:t>
                          </m:r>
                        </m:e>
                      </m:acc>
                      <m:r>
                        <a:rPr lang="en-US" b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fPr>
                        <m:num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100</m:t>
                          </m:r>
                          <m:r>
                            <a:rPr lang="en-US" b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∠</m:t>
                          </m:r>
                          <m:sSup>
                            <m:sSupPr>
                              <m:ctrlP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b="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b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∘</m:t>
                              </m:r>
                            </m:sup>
                          </m:sSup>
                        </m:num>
                        <m:den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5</m:t>
                          </m:r>
                          <m:r>
                            <a:rPr lang="en-US" b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∠</m:t>
                          </m:r>
                          <m:sSup>
                            <m:sSupPr>
                              <m:ctrlP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b="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53.13</m:t>
                              </m:r>
                            </m:e>
                            <m:sup>
                              <m:r>
                                <a:rPr lang="en-US" b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∘</m:t>
                              </m:r>
                            </m:sup>
                          </m:sSup>
                        </m:den>
                      </m:f>
                      <m:r>
                        <a:rPr lang="en-US" b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r>
                        <a:rPr lang="en-US" b="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20</m:t>
                      </m:r>
                      <m:r>
                        <a:rPr lang="en-US" b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∠</m:t>
                      </m:r>
                      <m:r>
                        <a:rPr lang="en-US" b="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−</m:t>
                      </m:r>
                      <m:sSup>
                        <m:sSup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pPr>
                        <m:e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53.13</m:t>
                          </m:r>
                        </m:e>
                        <m:sup>
                          <m:r>
                            <a:rPr lang="en-US" b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∘</m:t>
                          </m:r>
                        </m:sup>
                      </m:sSup>
                      <m:r>
                        <m:rPr>
                          <m:nor/>
                        </m:rPr>
                        <a:rPr lang="en-US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  <m:t> (</m:t>
                      </m:r>
                      <m:r>
                        <m:rPr>
                          <m:nor/>
                        </m:rPr>
                        <a:rPr lang="en-US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  <m:t>rms</m:t>
                      </m:r>
                      <m:r>
                        <m:rPr>
                          <m:nor/>
                        </m:rPr>
                        <a:rPr lang="en-US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  <m:t>)</m:t>
                      </m:r>
                    </m:oMath>
                  </m:oMathPara>
                </a14:m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Now we have the current magnitude (</a:t>
                </a:r>
                <a14:m>
                  <m:oMath xmlns:m="http://schemas.openxmlformats.org/officeDocument/2006/math"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20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A) and the phase difference (</a:t>
                </a:r>
                <a14:m>
                  <m:oMath xmlns:m="http://schemas.openxmlformats.org/officeDocument/2006/math"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𝜙</m:t>
                    </m:r>
                    <m:r>
                      <a:rPr lang="en-US" b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0−</m:t>
                    </m:r>
                    <m:r>
                      <a:rPr lang="en-US" b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−53.13</m:t>
                    </m:r>
                    <m:r>
                      <a:rPr lang="en-US" b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)=</m:t>
                    </m:r>
                    <m:sSup>
                      <m:sSup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p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53.13</m:t>
                        </m:r>
                      </m:e>
                      <m:sup>
                        <m:r>
                          <a:rPr lang="en-US" b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).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endParaRPr lang="ru-RU" dirty="0">
                  <a:effectLst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5FE4F889-DF8F-B870-229D-3DF9D9433F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40" r="-1159" b="-924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75189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8B820-2102-09BB-E0E5-8950EDE53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712A94-FE1D-B0D5-ADA4-934CB51C6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16C77CEA-664B-B701-BBAE-DF8D2CCECD50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C1E235F2-573A-AFD2-E0FB-EDB832F60169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F1837632-87D3-FCB4-9EF8-EA7A0A6E4CE3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Power in AC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924D1247-1603-CDBA-5088-9CBD71BDB8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Now we calculate the powers. </a:t>
                </a:r>
                <a:endParaRPr lang="en-US" dirty="0"/>
              </a:p>
              <a:p>
                <a:r>
                  <a:rPr lang="en-US" dirty="0"/>
                  <a:t>Apparent Power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):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𝑟𝑚𝑠</m:t>
                        </m:r>
                      </m:sub>
                    </m:sSub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𝑟𝑚𝑠</m:t>
                        </m:r>
                      </m:sub>
                    </m:sSub>
                    <m:r>
                      <a:rPr lang="en-US" b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b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b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2000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VA</m:t>
                    </m:r>
                  </m:oMath>
                </a14:m>
                <a:r>
                  <a:rPr lang="en-US" dirty="0"/>
                  <a:t> (or 2 kVA). </a:t>
                </a:r>
                <a:endParaRPr lang="ru-RU" dirty="0"/>
              </a:p>
              <a:p>
                <a:r>
                  <a:rPr lang="en-US" dirty="0"/>
                  <a:t>Active Power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):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𝑆𝑐𝑜𝑠</m:t>
                    </m:r>
                    <m:r>
                      <a:rPr lang="en-US" b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b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2000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US" b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53.13</m:t>
                        </m:r>
                      </m:e>
                      <m:sup>
                        <m:r>
                          <a:rPr lang="en-US" b="0" smtClean="0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en-US" b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2000</m:t>
                    </m:r>
                    <m:r>
                      <a:rPr lang="en-US" b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0.6</m:t>
                    </m:r>
                    <m:r>
                      <a:rPr lang="en-US" b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1200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W</m:t>
                    </m:r>
                  </m:oMath>
                </a14:m>
                <a:r>
                  <a:rPr lang="en-US" dirty="0"/>
                  <a:t> (1.2 kW).</a:t>
                </a:r>
              </a:p>
              <a:p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Alternatively,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𝑃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sSup>
                      <m:sSup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𝐼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𝑅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=(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20</m:t>
                    </m:r>
                    <m:sSup>
                      <m:sSup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pPr>
                      <m:e>
                        <m:r>
                          <a:rPr lang="en-US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)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2</m:t>
                        </m:r>
                      </m:sup>
                    </m:sSup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×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3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400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×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3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1200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W. </a:t>
                </a:r>
                <a:endParaRPr lang="ru-RU" b="1" dirty="0"/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924D1247-1603-CDBA-5088-9CBD71BDB8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63986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35B3C-F000-3D95-9FD5-A63551C80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78CB6E-2ED8-19ED-15CD-4ABC99F9B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F438314B-8061-3E67-470E-B75FAD795F50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A53345FF-1350-D5D3-7B6C-1298A322B2E7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2450AA88-466C-359B-FD5B-4D01D9E0AFC4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Power in AC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B57DC82E-40B7-FA1A-CCF9-03C595910F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dirty="0"/>
                  <a:t>Reactive Power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):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𝑆𝑠𝑖𝑛</m:t>
                    </m:r>
                    <m:r>
                      <a:rPr lang="en-US" b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b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2000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𝑠𝑖𝑛</m:t>
                    </m:r>
                    <m:r>
                      <a:rPr lang="en-US" b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53.13</m:t>
                        </m:r>
                      </m:e>
                      <m:sup>
                        <m:r>
                          <a:rPr lang="en-US" b="0" smtClean="0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en-US" b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2000</m:t>
                    </m:r>
                    <m:r>
                      <a:rPr lang="en-US" b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0.8</m:t>
                    </m:r>
                    <m:r>
                      <a:rPr lang="en-US" b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1600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var</m:t>
                    </m:r>
                  </m:oMath>
                </a14:m>
                <a:r>
                  <a:rPr lang="en-US" dirty="0"/>
                  <a:t> (1.6 </a:t>
                </a:r>
                <a:r>
                  <a:rPr lang="en-US" dirty="0" err="1"/>
                  <a:t>kvar</a:t>
                </a:r>
                <a:r>
                  <a:rPr lang="en-US" dirty="0"/>
                  <a:t>).</a:t>
                </a:r>
              </a:p>
              <a:p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Alternatively,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𝑄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sSup>
                      <m:sSup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𝐼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𝑋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=(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20</m:t>
                    </m:r>
                    <m:sSup>
                      <m:sSup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pPr>
                      <m:e>
                        <m:r>
                          <a:rPr lang="en-US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)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2</m:t>
                        </m:r>
                      </m:sup>
                    </m:sSup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×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4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400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×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4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1600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var. </a:t>
                </a:r>
                <a:endParaRPr lang="ru-RU" dirty="0"/>
              </a:p>
              <a:p>
                <a:r>
                  <a:rPr lang="en-US" dirty="0"/>
                  <a:t>Complex Power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):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1200</m:t>
                    </m:r>
                    <m:r>
                      <a:rPr lang="en-US" b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1600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VA</m:t>
                    </m:r>
                  </m:oMath>
                </a14:m>
                <a:r>
                  <a:rPr lang="en-US" dirty="0"/>
                  <a:t>.</a:t>
                </a:r>
                <a:endParaRPr lang="ru-RU" dirty="0"/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B57DC82E-40B7-FA1A-CCF9-03C595910F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42663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F47FE-9A7F-108D-22AD-4217F4C27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737703-C516-6B9C-921D-DF71F1636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B231B965-3A44-1421-47DD-C028D806E2EC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5519B15A-D1D1-74EC-3381-AAAC0D37B0FF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62868CF0-1C02-8D92-F702-3283EF5EC8EE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Power in AC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907D3686-94CA-8F9B-5FA8-032B18AE05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dirty="0"/>
                  <a:t>This example leads us to a practical application: Power Factor Correction. </a:t>
                </a:r>
              </a:p>
              <a:p>
                <a:r>
                  <a:rPr lang="en-US" dirty="0"/>
                  <a:t>In the example above, the Power Factor is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53.13</m:t>
                                </m:r>
                              </m:e>
                              <m:sup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∘</m:t>
                                </m:r>
                              </m:sup>
                            </m:sSup>
                          </m:e>
                        </m:d>
                      </m:e>
                    </m:func>
                    <m:r>
                      <a:rPr lang="en-US" i="1" dirty="0" smtClean="0">
                        <a:latin typeface="Cambria Math" panose="02040503050406030204" pitchFamily="18" charset="0"/>
                      </a:rPr>
                      <m:t>=0.6</m:t>
                    </m:r>
                  </m:oMath>
                </a14:m>
                <a:r>
                  <a:rPr lang="en-US" dirty="0"/>
                  <a:t>. </a:t>
                </a:r>
              </a:p>
              <a:p>
                <a:r>
                  <a:rPr lang="en-US" dirty="0"/>
                  <a:t>This is «lagging» because the load is inductive. </a:t>
                </a:r>
              </a:p>
              <a:p>
                <a:r>
                  <a:rPr lang="en-US" dirty="0"/>
                  <a:t>This is considered poor efficiency. </a:t>
                </a:r>
              </a:p>
              <a:p>
                <a:r>
                  <a:rPr lang="en-US" dirty="0"/>
                  <a:t>The source supplies 2000 VA just to get 1200 W of work. </a:t>
                </a:r>
              </a:p>
              <a:p>
                <a:r>
                  <a:rPr lang="en-US" dirty="0"/>
                  <a:t>To fix this, engineers add a capacitor in parallel with the load. </a:t>
                </a:r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907D3686-94CA-8F9B-5FA8-032B18AE05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54605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14058-62A2-3957-86E8-3B1BD46C0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07E281-4CF5-C0E2-555F-1139AFEFD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556B36E6-657D-1690-4196-851646A37488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7C3F6E3A-4BD0-7984-D42A-EE1C23FC1476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359C94F8-094C-6A66-1BAA-BAAD985F269C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Power in AC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DB8ADC03-2752-87D5-7317-8E1B96F933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b="1" dirty="0"/>
                  <a:t>Since capacitors define negative reactive power, adding a capacitor introduces a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𝑪</m:t>
                        </m:r>
                      </m:sub>
                    </m:sSub>
                  </m:oMath>
                </a14:m>
                <a:r>
                  <a:rPr lang="en-US" b="1" dirty="0"/>
                  <a:t> that cancels out some of the positive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US" b="1" dirty="0"/>
                  <a:t> of the inductor. </a:t>
                </a:r>
              </a:p>
              <a:p>
                <a:r>
                  <a:rPr lang="en-US" dirty="0"/>
                  <a:t>The net result is that the total Q decreases, the angle ϕ gets closer to zero, and the Apparent Power S gets closer to the Active Power P.</a:t>
                </a:r>
                <a:endParaRPr lang="ru-RU" dirty="0"/>
              </a:p>
              <a:p>
                <a:r>
                  <a:rPr lang="en-US" b="1" dirty="0"/>
                  <a:t>This process of raising the Power Factor toward 1.0 is called Power Factor Correction.</a:t>
                </a:r>
                <a:endParaRPr lang="ru-RU" b="1" dirty="0"/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DB8ADC03-2752-87D5-7317-8E1B96F933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56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17524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1504E-B597-1D03-3A66-214730978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C24DE6-278A-FB9D-B0DC-32160A280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B6D1E24C-C454-42CE-AF0A-2C1061598E53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BC7E5F7-D397-E4CF-AD43-4C17D6691A7C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CDF3C1D6-4D6B-B786-C27B-950109867E59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Power in AC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992B6D56-BA1B-2801-31A8-6EFC43ED4C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dirty="0"/>
                  <a:t>We must address a critical concept regarding the transfer of energy in AC circuits, similar to what we studied in DC. </a:t>
                </a:r>
              </a:p>
              <a:p>
                <a:r>
                  <a:rPr lang="en-US" dirty="0"/>
                  <a:t>This is the Maximum Power Transfer Theorem for AC Circuits. </a:t>
                </a:r>
              </a:p>
              <a:p>
                <a:r>
                  <a:rPr lang="en-US" dirty="0"/>
                  <a:t>In DC, we matched resistances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𝑇h</m:t>
                        </m:r>
                      </m:sub>
                    </m:sSub>
                  </m:oMath>
                </a14:m>
                <a:r>
                  <a:rPr lang="en-US" dirty="0"/>
                  <a:t>). In AC, we must account for Reactance. </a:t>
                </a:r>
              </a:p>
              <a:p>
                <a:r>
                  <a:rPr lang="en-US" dirty="0"/>
                  <a:t>If a source has an impedance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𝑇h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𝑇h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𝑇h</m:t>
                        </m:r>
                      </m:sub>
                    </m:sSub>
                  </m:oMath>
                </a14:m>
                <a:r>
                  <a:rPr lang="en-US" dirty="0"/>
                  <a:t>, the load impedance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dirty="0"/>
                  <a:t> that absorbs the maximum active power must have the same resistance but the opposite reactance. </a:t>
                </a:r>
                <a:endParaRPr lang="ru-RU" dirty="0"/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992B6D56-BA1B-2801-31A8-6EFC43ED4C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45382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16F58-F119-C952-D577-36BEF6BCA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578713-DD18-3CA5-0F1D-8A5B8C626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0BBAB891-BDD1-1A53-2B3A-3A9149DA6F9C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10E09131-F58F-BF32-DEC0-BEAE0E6DBE9D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17422DA1-3B2B-DAFF-7F6F-ABCF5A31D833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Power in AC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A6AACB87-4CC0-4C79-E1D9-8508529E0A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b="1" dirty="0"/>
                  <a:t>The maximum power transfer theorem for AC circuits states that the load impedance must be the complex conjugate of the source impedance. </a:t>
                </a:r>
                <a:endParaRPr lang="ru-RU" b="1" dirty="0"/>
              </a:p>
              <a:p>
                <a:pPr>
                  <a:lnSpc>
                    <a:spcPct val="120000"/>
                  </a:lnSpc>
                </a:pPr>
                <a:r>
                  <a:rPr lang="en-US" b="1" dirty="0"/>
                  <a:t>Mathematically, this implies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</m:sub>
                    </m:sSub>
                    <m:r>
                      <a:rPr lang="en-US" b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𝑻𝒉</m:t>
                        </m:r>
                      </m:sub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b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𝑻𝒉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𝒋</m:t>
                    </m:r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𝑻𝒉</m:t>
                        </m:r>
                      </m:sub>
                    </m:sSub>
                  </m:oMath>
                </a14:m>
                <a:r>
                  <a:rPr lang="en-US" b="1" dirty="0"/>
                  <a:t>. 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By canceling the reactance (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𝑗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𝑇h</m:t>
                        </m:r>
                      </m:sub>
                    </m:sSub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−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𝑗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𝑇h</m:t>
                        </m:r>
                      </m:sub>
                    </m:sSub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0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), the total circuit becomes purely resistive, maximizing current flow and power delivery.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>
                  <a:lnSpc>
                    <a:spcPct val="120000"/>
                  </a:lnSpc>
                </a:pPr>
                <a:endParaRPr lang="ru-RU" dirty="0"/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A6AACB87-4CC0-4C79-E1D9-8508529E0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40" r="-162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25075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D89F4-4947-A775-32FD-216D93CDB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DD71BC-05C7-6468-877A-85B2ED795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B5B788CF-672B-8762-F176-DA7832BA2743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B8C474ED-34E2-0E26-9EB9-9D3F43B65124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FB99EAAE-23CA-B8C1-F91B-10F03B7F3C9B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Power in AC Circuits</a:t>
              </a:r>
              <a:endParaRPr lang="ru-RU" sz="4000" dirty="0"/>
            </a:p>
          </p:txBody>
        </p:sp>
      </p:grpSp>
      <p:sp>
        <p:nvSpPr>
          <p:cNvPr id="8" name="Объект 7">
            <a:extLst>
              <a:ext uri="{FF2B5EF4-FFF2-40B4-BE49-F238E27FC236}">
                <a16:creationId xmlns:a16="http://schemas.microsoft.com/office/drawing/2014/main" id="{9A39E017-7AFA-6884-E1ED-B3C0274D6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Let us analyze the behavior of Instantaneous Power in more detail.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We previously stated that power pulsates, but we usually only calculate the average.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However, understanding the pulsation frequency is vital for vibration analysis in motors. </a:t>
            </a:r>
            <a:endParaRPr lang="en-US" dirty="0">
              <a:effectLst/>
              <a:ea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72063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85CFB-E20A-9717-2914-4233C876B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2422E6-B2F9-6575-0178-F4C2ACF42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1F49BB5B-AF2D-F3A9-7B97-A51B1B8C55DE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8DA0ED2A-047D-AB89-6B4F-E5B7F8E9EF6C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8FB28B0D-BD2D-FF05-74EB-99EED3F212AA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Power in AC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E28FAA8D-4332-5C8C-2C83-57CAEB9D36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1263" y="1825625"/>
                <a:ext cx="11405937" cy="4351338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If the voltage and current operate at a frequency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𝝎</m:t>
                    </m:r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, the product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𝒗</m:t>
                    </m:r>
                    <m:r>
                      <a:rPr lang="en-US" b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𝒕</m:t>
                    </m:r>
                    <m:r>
                      <a:rPr lang="en-US" b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)×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𝒊</m:t>
                    </m:r>
                    <m:r>
                      <a:rPr lang="en-US" b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𝒕</m:t>
                    </m:r>
                    <m:r>
                      <a:rPr lang="en-US" b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</m:t>
                    </m:r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 creates a trigonometric identity involving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𝒄𝒐𝒔</m:t>
                    </m:r>
                    <m:r>
                      <a:rPr lang="en-US" b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𝟐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𝝎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𝒕</m:t>
                    </m:r>
                    <m:r>
                      <a:rPr lang="en-US" b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</m:t>
                    </m:r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. </a:t>
                </a:r>
                <a:endParaRPr lang="ru-RU" b="1" dirty="0">
                  <a:effectLst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The instantaneous power in a single-phase AC circuit pulsates at a frequency that is twice the source frequency.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</a:rPr>
                  <a:t>This means in a 50 Hz system, the power peaks 100 times per second.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</a:rPr>
                  <a:t>This power fluctuation causes the «hum» you hear in large transformers and the vibration in single-phase motors.</a:t>
                </a:r>
                <a:endParaRPr lang="ru-RU" dirty="0">
                  <a:effectLst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E28FAA8D-4332-5C8C-2C83-57CAEB9D36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1263" y="1825625"/>
                <a:ext cx="11405937" cy="4351338"/>
              </a:xfrm>
              <a:blipFill>
                <a:blip r:embed="rId2"/>
                <a:stretch>
                  <a:fillRect l="-962" t="-140" r="-10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38136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52D97-E0DD-AF8C-B065-3408D2699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804B4F-17C3-42E4-D817-5BFC79CD7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D888BE32-2D03-FF24-5CE7-B0E354FAE123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1139F2AC-DFFC-9870-738D-AE1726E6E7FA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5063C1BF-5D37-E997-405C-11A5708C5D8C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Power in AC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F2E74832-F36C-A727-1508-D1AC7E9EC7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dirty="0"/>
                  <a:t>We have discussed Power Factor Correction, but let us define the calculation for the capacitor bank size.</a:t>
                </a:r>
              </a:p>
              <a:p>
                <a:r>
                  <a:rPr lang="en-US" b="1" dirty="0"/>
                  <a:t>To correct a load from an initial angle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/>
                  <a:t> to a desired target angle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b="1" dirty="0"/>
                  <a:t> (where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1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/>
                  <a:t>), we must remove a specific amount of reactive power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𝑪</m:t>
                        </m:r>
                      </m:sub>
                    </m:sSub>
                  </m:oMath>
                </a14:m>
                <a:r>
                  <a:rPr lang="en-US" b="1" dirty="0"/>
                  <a:t>. </a:t>
                </a:r>
                <a:endParaRPr lang="ru-RU" b="1" dirty="0"/>
              </a:p>
              <a:p>
                <a:r>
                  <a:rPr lang="en-US" b="1" dirty="0"/>
                  <a:t>The Active Power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en-US" b="1" dirty="0"/>
                  <a:t> remains constant during this process. Using trigonometry on the power triangle, the required capacitor reactive power is: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𝑪</m:t>
                        </m:r>
                      </m:sub>
                    </m:sSub>
                    <m:r>
                      <a:rPr lang="en-US" b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𝒕𝒂𝒏</m:t>
                    </m:r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𝒕𝒂𝒏</m:t>
                    </m:r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. </a:t>
                </a:r>
                <a:endParaRPr lang="ru-RU" b="1" dirty="0"/>
              </a:p>
              <a:p>
                <a:pPr marL="0" indent="0">
                  <a:buNone/>
                </a:pPr>
                <a:endParaRPr lang="ru-RU" b="1" dirty="0"/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F2E74832-F36C-A727-1508-D1AC7E9EC7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2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65993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BB702-9965-4DB3-7F24-3729F0BD8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61C829-9309-7E5B-7B1E-C90849CBD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F1180CE5-8499-EA4D-FDA0-BB50D1C44DDF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C242A2CB-34AA-D1E2-D246-EA45FDAEF4D4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47C1BEA1-5009-F3AC-F5D8-1CD2B5C71237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Power in AC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7B579B16-52D3-FAEE-2E19-8698B87859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b="1" dirty="0"/>
                  <a:t>To correct the power factor to unity, we must add a parallel capacitor that generates reactive power equal to the inductive reactive power of the load. </a:t>
                </a:r>
              </a:p>
              <a:p>
                <a:r>
                  <a:rPr lang="en-US" b="1" dirty="0"/>
                  <a:t>Once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sub>
                    </m:sSub>
                  </m:oMath>
                </a14:m>
                <a:r>
                  <a:rPr lang="en-US" b="1" dirty="0"/>
                  <a:t> is known, the required capacitance is found using the reactance formula: </a:t>
                </a:r>
                <a:endParaRPr lang="ru-RU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b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sub>
                          </m:sSub>
                        </m:num>
                        <m:den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𝝎</m:t>
                          </m:r>
                          <m:sSubSup>
                            <m:sSubSupPr>
                              <m:ctrlPr>
                                <a:rPr lang="ru-RU" b="1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𝒓𝒎𝒔</m:t>
                              </m:r>
                            </m:sub>
                            <m:sup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bSup>
                        </m:den>
                      </m:f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b="1" dirty="0"/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7B579B16-52D3-FAEE-2E19-8698B87859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57795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25980-38C6-0175-544F-D23830696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E77C66-ECD7-24A8-84ED-EF012D939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989C8D39-AEE1-FBF8-7D48-4EE8A67A3A60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482C234F-043E-149C-0587-678AB760644C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E51A23D0-152B-81B4-03BE-DE2DDA4DC0D7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Power in AC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E843ACE0-4C29-9180-8F0D-2F4AD6067F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5642" y="1825625"/>
                <a:ext cx="10728158" cy="4351338"/>
              </a:xfrm>
            </p:spPr>
            <p:txBody>
              <a:bodyPr>
                <a:noAutofit/>
              </a:bodyPr>
              <a:lstStyle/>
              <a:p>
                <a:r>
                  <a:rPr lang="en-US" dirty="0"/>
                  <a:t>Finally, we must explicitly state a rule regarding Apparent Power conservation. </a:t>
                </a:r>
              </a:p>
              <a:p>
                <a:r>
                  <a:rPr lang="en-US" dirty="0"/>
                  <a:t>We learned that Active Power (P) and Reactive Power (Q) are conserved quantities; you can sum them up arithmetically around a circuit. Apparent Power (S) does not follow this rule.</a:t>
                </a:r>
              </a:p>
              <a:p>
                <a:r>
                  <a:rPr lang="en-US" b="1" dirty="0"/>
                  <a:t>If you have two loads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b="1" dirty="0"/>
                  <a:t>, the total apparent power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𝒕𝒐𝒕𝒂𝒍</m:t>
                        </m:r>
                      </m:sub>
                    </m:sSub>
                  </m:oMath>
                </a14:m>
                <a:r>
                  <a:rPr lang="en-US" b="1" dirty="0"/>
                  <a:t> is not simply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b="1" dirty="0"/>
                  <a:t> unless the power factors are identical. </a:t>
                </a:r>
                <a:endParaRPr lang="ru-RU" b="1" dirty="0"/>
              </a:p>
              <a:p>
                <a:r>
                  <a:rPr lang="en-US" b="1" dirty="0"/>
                  <a:t>Apparent power does not follow the law of conservation and cannot be added arithmetically in a circuit with mixed loads. </a:t>
                </a:r>
              </a:p>
              <a:p>
                <a:r>
                  <a:rPr lang="en-US" dirty="0"/>
                  <a:t>You must always calculate total P and total Q first, and then calculate total S using the Pythagorean theorem.</a:t>
                </a:r>
                <a:endParaRPr lang="ru-RU" dirty="0"/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E843ACE0-4C29-9180-8F0D-2F4AD6067F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5642" y="1825625"/>
                <a:ext cx="10728158" cy="4351338"/>
              </a:xfrm>
              <a:blipFill>
                <a:blip r:embed="rId2"/>
                <a:stretch>
                  <a:fillRect l="-1023" t="-2381" r="-1648" b="-1484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52627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CBA8D-83D1-167E-F7EA-0415DFF13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7B0ED6-AA48-97EC-F123-89D570E62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91703822-EECE-BC8D-87D7-4ABBCC7308CB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5C1A0C24-7786-2479-9D32-5DCFBCEF7CCC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799ACB59-1300-8ABD-94EC-B2E8F5FC0089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Power in AC Circuits</a:t>
              </a:r>
              <a:endParaRPr lang="ru-RU" sz="4000" dirty="0"/>
            </a:p>
          </p:txBody>
        </p:sp>
      </p:grpSp>
      <p:sp>
        <p:nvSpPr>
          <p:cNvPr id="7" name="Объект 6">
            <a:extLst>
              <a:ext uri="{FF2B5EF4-FFF2-40B4-BE49-F238E27FC236}">
                <a16:creationId xmlns:a16="http://schemas.microsoft.com/office/drawing/2014/main" id="{A69753D5-EF72-2771-D88E-A8D0CD3802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16C51F51-39F3-2217-01D7-1839096E8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74323" y="2070119"/>
            <a:ext cx="4220156" cy="4220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Объект 2">
            <a:extLst>
              <a:ext uri="{FF2B5EF4-FFF2-40B4-BE49-F238E27FC236}">
                <a16:creationId xmlns:a16="http://schemas.microsoft.com/office/drawing/2014/main" id="{BD7F81BB-22F8-2B17-E713-E3E3E8C4F480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6034548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Thank you for your attention!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 you have any questions?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956079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2850</Words>
  <Application>Microsoft Office PowerPoint</Application>
  <PresentationFormat>Широкоэкранный</PresentationFormat>
  <Paragraphs>255</Paragraphs>
  <Slides>43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43</vt:i4>
      </vt:variant>
    </vt:vector>
  </HeadingPairs>
  <TitlesOfParts>
    <vt:vector size="50" baseType="lpstr">
      <vt:lpstr>Aptos</vt:lpstr>
      <vt:lpstr>Aptos Display</vt:lpstr>
      <vt:lpstr>Arial</vt:lpstr>
      <vt:lpstr>Cambria Math</vt:lpstr>
      <vt:lpstr>Symbol</vt:lpstr>
      <vt:lpstr>Times New Roman</vt:lpstr>
      <vt:lpstr>Тема Office</vt:lpstr>
      <vt:lpstr>Lecture 10. Power in AC Circuits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7</cp:revision>
  <dcterms:created xsi:type="dcterms:W3CDTF">2026-04-05T10:11:36Z</dcterms:created>
  <dcterms:modified xsi:type="dcterms:W3CDTF">2026-04-09T04:47:48Z</dcterms:modified>
</cp:coreProperties>
</file>