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642" r:id="rId2"/>
    <p:sldId id="643" r:id="rId3"/>
    <p:sldId id="664" r:id="rId4"/>
    <p:sldId id="665" r:id="rId5"/>
    <p:sldId id="663" r:id="rId6"/>
    <p:sldId id="666" r:id="rId7"/>
    <p:sldId id="667" r:id="rId8"/>
    <p:sldId id="668" r:id="rId9"/>
    <p:sldId id="644" r:id="rId10"/>
    <p:sldId id="645" r:id="rId11"/>
    <p:sldId id="646" r:id="rId12"/>
    <p:sldId id="669" r:id="rId13"/>
    <p:sldId id="647" r:id="rId14"/>
    <p:sldId id="648" r:id="rId15"/>
    <p:sldId id="649" r:id="rId16"/>
    <p:sldId id="670" r:id="rId17"/>
    <p:sldId id="672" r:id="rId18"/>
    <p:sldId id="651" r:id="rId19"/>
    <p:sldId id="662" r:id="rId20"/>
    <p:sldId id="650" r:id="rId21"/>
    <p:sldId id="674" r:id="rId22"/>
    <p:sldId id="673" r:id="rId23"/>
    <p:sldId id="652" r:id="rId24"/>
    <p:sldId id="675" r:id="rId25"/>
    <p:sldId id="676" r:id="rId26"/>
    <p:sldId id="653" r:id="rId27"/>
    <p:sldId id="677" r:id="rId28"/>
    <p:sldId id="678" r:id="rId29"/>
    <p:sldId id="654" r:id="rId30"/>
    <p:sldId id="680" r:id="rId31"/>
    <p:sldId id="679" r:id="rId32"/>
    <p:sldId id="655" r:id="rId33"/>
    <p:sldId id="681" r:id="rId34"/>
    <p:sldId id="682" r:id="rId35"/>
    <p:sldId id="656" r:id="rId36"/>
    <p:sldId id="683" r:id="rId37"/>
    <p:sldId id="684" r:id="rId38"/>
    <p:sldId id="685" r:id="rId39"/>
    <p:sldId id="657" r:id="rId40"/>
    <p:sldId id="686" r:id="rId41"/>
    <p:sldId id="658" r:id="rId42"/>
    <p:sldId id="687" r:id="rId43"/>
    <p:sldId id="688" r:id="rId44"/>
    <p:sldId id="659" r:id="rId45"/>
    <p:sldId id="689" r:id="rId46"/>
    <p:sldId id="660" r:id="rId47"/>
    <p:sldId id="661" r:id="rId4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cture 14" id="{F6718653-3385-4B74-86B6-BFDCA0421978}">
          <p14:sldIdLst>
            <p14:sldId id="642"/>
            <p14:sldId id="643"/>
            <p14:sldId id="664"/>
            <p14:sldId id="665"/>
            <p14:sldId id="663"/>
            <p14:sldId id="666"/>
            <p14:sldId id="667"/>
            <p14:sldId id="668"/>
            <p14:sldId id="644"/>
            <p14:sldId id="645"/>
            <p14:sldId id="646"/>
            <p14:sldId id="669"/>
            <p14:sldId id="647"/>
            <p14:sldId id="648"/>
            <p14:sldId id="649"/>
            <p14:sldId id="670"/>
            <p14:sldId id="672"/>
            <p14:sldId id="651"/>
            <p14:sldId id="662"/>
            <p14:sldId id="650"/>
            <p14:sldId id="674"/>
            <p14:sldId id="673"/>
            <p14:sldId id="652"/>
            <p14:sldId id="675"/>
            <p14:sldId id="676"/>
            <p14:sldId id="653"/>
            <p14:sldId id="677"/>
            <p14:sldId id="678"/>
            <p14:sldId id="654"/>
            <p14:sldId id="680"/>
            <p14:sldId id="679"/>
            <p14:sldId id="655"/>
            <p14:sldId id="681"/>
            <p14:sldId id="682"/>
            <p14:sldId id="656"/>
            <p14:sldId id="683"/>
            <p14:sldId id="684"/>
            <p14:sldId id="685"/>
            <p14:sldId id="657"/>
            <p14:sldId id="686"/>
            <p14:sldId id="658"/>
            <p14:sldId id="687"/>
            <p14:sldId id="688"/>
            <p14:sldId id="659"/>
            <p14:sldId id="689"/>
            <p14:sldId id="660"/>
            <p14:sldId id="6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BCFC79-2F35-3AC6-3FAB-C3F057B269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6BA55AE-A732-DE0B-CCCD-657B5DD052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64803F-E80E-13BB-3C4A-CCF203189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978B6-AABA-4815-B61E-DBDD2040B1FD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6DA39F-134A-DCE6-FCF0-D5D0C2E04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7ED9E0-07B8-4091-D7F5-AE674BF23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46610-CE4F-4F0D-93F7-3A11231772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7449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EDAAE7-134C-7F35-17F9-E493BC8F3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24D2C1-63C2-E82F-50E0-89C25EDB6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683B7F-5D24-F233-69B3-CDA6607E6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978B6-AABA-4815-B61E-DBDD2040B1FD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B0F42A0-C3D5-E4C6-6069-91409910B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D8E031-FEDD-C708-E6B8-123CA7D69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46610-CE4F-4F0D-93F7-3A11231772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7832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1B0923-8A67-7A3E-C320-5CA466B22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47EB7E3-FEA6-4733-0906-4F18EE023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268129-12B6-4DAC-0361-A87CBB277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978B6-AABA-4815-B61E-DBDD2040B1FD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63ACF6-74E1-A46A-4F45-55C40B78F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9D4F13-1F6A-D58A-3158-5B1FDC726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46610-CE4F-4F0D-93F7-3A11231772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3759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CEAFC0-ADF7-6762-2A52-C1F946351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9FDCA0-5BA8-46DE-44D3-66CD741132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3435FCD-E0DB-E8C2-4372-15D18B9D3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212EE49-9EF7-EA95-FE02-AD9623AC7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978B6-AABA-4815-B61E-DBDD2040B1FD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FBD0918-0775-95F8-B833-A61364049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C12099E-1DB7-FA84-CB3D-898C32CA0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46610-CE4F-4F0D-93F7-3A11231772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6279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0706F5-D2FD-AE5B-1B9A-615ED4CDB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A797A79-1713-C9FC-94F1-97221560B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8263E3F-D059-F10E-5493-ABAEB9D3CD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7F2D086-C375-6F40-FD03-88D9A6B29A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034A9C5-AE53-676B-D398-CA26267DC9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D23B518-C0A0-57CD-86EA-235633DA0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978B6-AABA-4815-B61E-DBDD2040B1FD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4C7B4DB-B881-5E64-5550-8C31782A1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A432CA1-C148-E018-B7A4-ACBBB7CF7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46610-CE4F-4F0D-93F7-3A11231772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3962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5A4D43-795A-4D94-0DC7-202BF51FF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8FB1C06-4F64-C8A0-E953-6347FDE31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978B6-AABA-4815-B61E-DBDD2040B1FD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67311A4-2C45-8C15-29FE-A51E30E2A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27B6EB5-7283-703B-279E-AEF8BA707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46610-CE4F-4F0D-93F7-3A11231772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72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315A47E-4BB8-161B-CB6C-CF3D46A99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978B6-AABA-4815-B61E-DBDD2040B1FD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14AF69E-694F-F78F-CB83-6D4506F5E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E967FA7-FA5C-2D52-E19B-2F51E339A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46610-CE4F-4F0D-93F7-3A11231772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1592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EDDB96-565C-364B-C8F7-8B9B0D029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0CA6E7-230C-B2DA-117B-28CA5858D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C8BB33C-9A08-EAC5-D187-92E51A8D3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7E77CCD-A4FD-4419-DA44-0A304387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978B6-AABA-4815-B61E-DBDD2040B1FD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0B977B5-A2FE-FFED-ECF5-B545ABDCA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01FC1E-CE45-2A33-2C95-AF3613B88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46610-CE4F-4F0D-93F7-3A11231772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6025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66D617-ACA2-41D0-3A59-28B1A85CA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A713B0C-AFC7-EF28-3C76-89DBEB73B6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538DD19-09E6-A170-284C-986734DFC1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FBC232B-F581-A7BB-4E38-9A1F2A677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978B6-AABA-4815-B61E-DBDD2040B1FD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E359976-E9B8-F773-EEFD-7A057116A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70E1B1F-F3E9-3123-9E7F-035C20DFA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46610-CE4F-4F0D-93F7-3A11231772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5377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B4B05C-AF44-0FF6-B507-FE5DA7306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0A299BF-FED3-813F-6219-D4ECB13519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7417FE-EF09-7A7A-A659-94DC7F405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978B6-AABA-4815-B61E-DBDD2040B1FD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40D4D7-73B8-BCE6-E659-61AE30BA6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B88AC47-82B3-978B-C251-FD6610E3D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46610-CE4F-4F0D-93F7-3A11231772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9478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B441125-60EC-C8CC-CE6B-FCC9A02200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0A18E77-B8FE-D094-39EB-43D4948AD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053827-86A7-A769-5029-14E5A7B65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978B6-AABA-4815-B61E-DBDD2040B1FD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2B31A0-8879-CFE9-9F62-F117296EB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5150C6-552B-596B-167B-A52593CAF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46610-CE4F-4F0D-93F7-3A11231772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1268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158129-65C3-6E37-7F83-1C0F30D6C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9B5C339-725E-90AE-D2BA-F9F2A9F997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F7F9094-64EB-FDB6-3438-30C71CA2B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D978B6-AABA-4815-B61E-DBDD2040B1FD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36CB62-0DF6-5192-99AD-1F72FC90F4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7D4AC3-B22D-8740-D2F1-2F79B97534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446610-CE4F-4F0D-93F7-3A11231772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9663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CD622-1A88-0FC0-A0D1-493252AD7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71651A-57C5-8F1A-AF30-5581065D68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6419" y="1122363"/>
            <a:ext cx="10217888" cy="2387600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Lecture 14. Advanced Time-Domain Analysis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AFA029B-232F-346F-AE40-869EC07A21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Part (6). Time-Domain Analysis of Dynamic Circuits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Прямоугольный треугольник 3">
            <a:extLst>
              <a:ext uri="{FF2B5EF4-FFF2-40B4-BE49-F238E27FC236}">
                <a16:creationId xmlns:a16="http://schemas.microsoft.com/office/drawing/2014/main" id="{BAB34E4E-A494-3796-EFC3-CAAB3364F29F}"/>
              </a:ext>
            </a:extLst>
          </p:cNvPr>
          <p:cNvSpPr/>
          <p:nvPr/>
        </p:nvSpPr>
        <p:spPr>
          <a:xfrm>
            <a:off x="0" y="3428999"/>
            <a:ext cx="3184275" cy="3419477"/>
          </a:xfrm>
          <a:prstGeom prst="rtTriangle">
            <a:avLst/>
          </a:prstGeom>
          <a:solidFill>
            <a:srgbClr val="2A70AE"/>
          </a:solidFill>
          <a:ln>
            <a:solidFill>
              <a:srgbClr val="2970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ый треугольник 4">
            <a:extLst>
              <a:ext uri="{FF2B5EF4-FFF2-40B4-BE49-F238E27FC236}">
                <a16:creationId xmlns:a16="http://schemas.microsoft.com/office/drawing/2014/main" id="{D1144B22-1869-B8C9-4793-FCD1CA6979E2}"/>
              </a:ext>
            </a:extLst>
          </p:cNvPr>
          <p:cNvSpPr/>
          <p:nvPr/>
        </p:nvSpPr>
        <p:spPr>
          <a:xfrm rot="10800000">
            <a:off x="9007724" y="9522"/>
            <a:ext cx="3184275" cy="3419477"/>
          </a:xfrm>
          <a:prstGeom prst="rtTriangle">
            <a:avLst/>
          </a:prstGeom>
          <a:solidFill>
            <a:srgbClr val="2A70AE"/>
          </a:solidFill>
          <a:ln>
            <a:solidFill>
              <a:srgbClr val="2970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7739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B1529-C6AA-2F73-AC02-F7855EDC8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A4C3F4-E3BD-0252-BD3D-8A2F04277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B40FDE-EF7D-7095-2B49-81C411B0A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28376" cy="435133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Welcome to the fourteenth lecture of «The Principle of Circuit». In the previous lecture, we introduced the concept of the transition process. </a:t>
            </a:r>
          </a:p>
          <a:p>
            <a:pPr algn="just">
              <a:lnSpc>
                <a:spcPct val="10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We learned that energy in capacitors and inductors cannot change instantly, which leads to a temporary period of adjustment called the transient response. </a:t>
            </a:r>
          </a:p>
          <a:p>
            <a:pPr algn="just">
              <a:lnSpc>
                <a:spcPct val="10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We analyzed simple cases where a circuit either discharged its energy (Zero-Input) or charged up from zero (Zero-State).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C2AA49A-1E99-9DEC-771F-510F2FA88B55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6A7EEFC1-68F5-0EEB-1307-73ABD868CFF4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5EE94DA5-4474-3E48-D4FF-008B29B49A65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Advanced Time-Domain Analysis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43909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A873B-6A7A-6340-0568-153744EE2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62F433-8DBA-8458-6A1E-9E2169256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9008C1-4C9E-207A-51A5-1E252F0D9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28376" cy="435133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However, in real engineering practice, switching events are rarely that simple. </a:t>
            </a:r>
          </a:p>
          <a:p>
            <a:pPr algn="just">
              <a:lnSpc>
                <a:spcPct val="10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Often, a capacitor already has some voltage when we switch it to a new power source. </a:t>
            </a:r>
          </a:p>
          <a:p>
            <a:pPr algn="just">
              <a:lnSpc>
                <a:spcPct val="10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Or, a complex network of resistors must be simplified to understand the timing.</a:t>
            </a:r>
          </a:p>
          <a:p>
            <a:pPr algn="just">
              <a:lnSpc>
                <a:spcPct val="10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Today, we will master the «Complete Response» of first-order circuits.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34C9FFE-5EBD-EF0A-E821-A97451230418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034D3E06-41E8-1F4F-1683-AC279649664F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F3984FFE-2C20-928F-20F6-39592F11445D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Advanced Time-Domain Analysis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65734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16E77-CAB7-D679-FB36-12EF7D6F5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C8FEFC-0CE5-29BE-4F32-39EE52F35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512C31-EFFD-BEF9-BDEA-B481276E8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28376" cy="435133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We will learn a powerful, universal tool called the «Three-Element Method», which allows us to write the solution equation immediately without solving differential equations from scratch every time. </a:t>
            </a:r>
          </a:p>
          <a:p>
            <a:pPr algn="just">
              <a:lnSpc>
                <a:spcPct val="10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We will also introduce two critical mathematical signals: the Step Function and the Impulse Function. </a:t>
            </a:r>
          </a:p>
          <a:p>
            <a:pPr algn="just">
              <a:lnSpc>
                <a:spcPct val="10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These signals are the building blocks for analyzing how circuits process information.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9069AFD7-1AEC-002F-3DE8-BEC4906E6D34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B04E4936-50F4-C3BD-D4EC-7EE31F825F8F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C376ADB5-6FE8-ECF6-E5AA-F101203F431C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Advanced Time-Domain Analysis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86900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26F75-F0D3-62FE-3B7D-D17203B05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D8246C-A536-BF02-2646-485FC4AE2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DBC374-6DF5-5B6F-A0B5-29C29129A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28376" cy="435133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Let us define what we mean by the Complete Response. </a:t>
            </a:r>
          </a:p>
          <a:p>
            <a:pPr algn="just">
              <a:lnSpc>
                <a:spcPct val="10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When a linear circuit is subjected to a change (like a switch closing), the total current or voltage response consists of two superimposed effects. </a:t>
            </a:r>
          </a:p>
          <a:p>
            <a:pPr algn="just">
              <a:lnSpc>
                <a:spcPct val="100000"/>
              </a:lnSpc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The Complete Response is the sum of the Zero-Input Response and the Zero-State Response. Complete Response = (Response due to initial energy) + (Response due to external source).</a:t>
            </a:r>
            <a:endParaRPr lang="ru-RU" b="1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pPr algn="just">
              <a:lnSpc>
                <a:spcPct val="100000"/>
              </a:lnSpc>
            </a:pPr>
            <a:endParaRPr lang="ru-RU" b="1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BE36641-345C-5B5E-4D12-CFDD82414B6C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97E45FAA-6113-5585-2801-B24418EAC2A5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7B3E2E0E-737D-BA83-B16F-9F16382206D2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Advanced Time-Domain Analysis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782652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D8648-688A-7356-25D0-BEE7E63DA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97C594-A61B-22AE-F067-596BBEA40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4A3B02-D664-2DF2-B825-8645C0F0D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28376" cy="435133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Alternatively, mathematicians describe this solution as the sum of the «Homogeneous Solution» and the «Particular Solution». However, for engineers, it is often more intuitive to divide the response by time behavior: </a:t>
            </a:r>
          </a:p>
          <a:p>
            <a:pPr algn="just">
              <a:lnSpc>
                <a:spcPct val="100000"/>
              </a:lnSpc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Complete Response = Transient Response + Steady-State Response. </a:t>
            </a:r>
            <a:endParaRPr lang="ru-RU" b="1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The Transient Response is the temporary part that decays to zero as time goes to infinity. </a:t>
            </a:r>
          </a:p>
          <a:p>
            <a:pPr algn="just">
              <a:lnSpc>
                <a:spcPct val="10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It exists because the circuit has «inertia» or «memory».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403DB5F-8597-A898-7337-593F73EF0253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135CD45B-FDB1-889E-066D-8E958A9F5129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B45885BC-DCD9-FCF2-D78A-8E4F7077C721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Advanced Time-Domain Analysis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664149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EA4E4-04BF-1516-BD3A-7269BC6FC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EEB6A0-FCFB-F52B-172B-73B2EE025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D1DB6FB-4EB7-CDD6-7BBE-75DF6BFB08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0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 Steady-State Response is the final value that the variable stays at after the switch has been closed for a long time (</a:t>
                </a:r>
                <a14:m>
                  <m:oMath xmlns:m="http://schemas.openxmlformats.org/officeDocument/2006/math"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𝒕</m:t>
                    </m:r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→∞</m:t>
                    </m:r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). </a:t>
                </a:r>
              </a:p>
              <a:p>
                <a:pPr algn="just">
                  <a:lnSpc>
                    <a:spcPct val="10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To solve any first-order circuit problems efficiently, we combine these concepts into a single algebraic formula.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D1DB6FB-4EB7-CDD6-7BBE-75DF6BFB08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  <a:blipFill>
                <a:blip r:embed="rId2"/>
                <a:stretch>
                  <a:fillRect l="-1033" t="-1401" r="-11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393A017F-A106-1854-C8E7-E617602E67A3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A051A98C-8968-A06C-1A20-4F206E5594CE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0A86178C-8207-7232-F3B0-71E15DEC0A6D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Advanced Time-Domain Analysis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963547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64E41-8566-DCCD-0AC9-BC16EBE25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92BBBC-C754-82A9-6220-A5E92842B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F9CD45-CF6A-4BBC-8F92-45A99B0F5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28376" cy="4351338"/>
          </a:xfrm>
        </p:spPr>
        <p:txBody>
          <a:bodyPr>
            <a:noAutofit/>
          </a:bodyPr>
          <a:lstStyle/>
          <a:p>
            <a:r>
              <a:rPr lang="en-US" dirty="0"/>
              <a:t>We now introduce the most important practical tool for first-order circuit analysis: The Three-Element Method. </a:t>
            </a:r>
          </a:p>
          <a:p>
            <a:r>
              <a:rPr lang="en-US" dirty="0"/>
              <a:t>Since we know that the solution to a first-order differential equation always follows an exponential curve, we do not need to integrate derivatives every time. </a:t>
            </a:r>
          </a:p>
          <a:p>
            <a:r>
              <a:rPr lang="en-US" dirty="0"/>
              <a:t>We only need to find three specific numbers. </a:t>
            </a:r>
            <a:endParaRPr lang="ru-RU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7584FFAF-5A13-5F2C-310C-352230C8B0FC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792EDBB3-3B55-0012-8FCB-1D125FACA5DC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30F54206-02B6-2E1E-166D-2CD56017320C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Advanced Time-Domain Analysis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753387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FD1AF-182B-C351-1706-337E1AA24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EBD48B-9E67-2B49-43C3-A80A1D75E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040D45E3-00B2-11FF-C79B-C9A89EF93FB6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B8744470-0D87-C36A-25B2-7D5450418251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E0699F3E-41ED-BA2A-95FF-F00F562DAF06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4835DE69-5AC9-D46F-E2CA-0E06FA7306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Any voltage or current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𝒇</m:t>
                    </m:r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𝒕</m:t>
                    </m:r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 in a first-order DC circuit can be calculated using this formula: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𝒇</m:t>
                      </m:r>
                      <m:d>
                        <m:d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𝒕</m:t>
                          </m:r>
                        </m:e>
                      </m:d>
                      <m:r>
                        <a:rPr lang="en-US" b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𝒇</m:t>
                      </m:r>
                      <m:d>
                        <m:d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dPr>
                        <m:e>
                          <m:r>
                            <a:rPr lang="en-US" b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∞</m:t>
                          </m:r>
                        </m:e>
                      </m:d>
                      <m:r>
                        <a:rPr lang="en-US" b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b="1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</a:rPr>
                                    <m:t>𝟎</m:t>
                                  </m:r>
                                </m:e>
                                <m:sub>
                                  <m:r>
                                    <a:rPr lang="en-US" b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</a:rPr>
                                    <m:t>+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−</m:t>
                          </m:r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b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∞</m:t>
                              </m:r>
                            </m:e>
                          </m:d>
                        </m:e>
                      </m:d>
                      <m:sSup>
                        <m:sSup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𝒕</m:t>
                              </m:r>
                            </m:num>
                            <m:den>
                              <m:r>
                                <a:rPr lang="en-US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𝝉</m:t>
                              </m:r>
                            </m:den>
                          </m:f>
                        </m:sup>
                      </m:sSup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This equation is known as the Three-Element Formula.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4835DE69-5AC9-D46F-E2CA-0E06FA7306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  <a:blipFill>
                <a:blip r:embed="rId2"/>
                <a:stretch>
                  <a:fillRect l="-1043" t="-14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5878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23AC7-F7EA-C540-39AC-AE9954545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233840-97AB-0FEB-98B2-8E7804ED0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FCEDC371-2D95-92E5-9EFB-0013E295E983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F8F9DA39-8787-8615-F927-2273003EFCCB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EA8E71F0-7790-3A83-B6CD-0A1E2B5B1756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069A38A8-55A3-2CA6-B33E-6F9C38427B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</p:spPr>
            <p:txBody>
              <a:bodyPr>
                <a:noAutofit/>
              </a:bodyPr>
              <a:lstStyle/>
              <a:p>
                <a:r>
                  <a:rPr lang="en-US" b="1" dirty="0"/>
                  <a:t>The three elements you must find are:</a:t>
                </a:r>
                <a:endParaRPr lang="ru-RU" b="1" dirty="0"/>
              </a:p>
              <a:p>
                <a:pPr lvl="0"/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b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b>
                        <m:r>
                          <a:rPr lang="en-US" b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b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: the initial value of the variable immediately after switching;</a:t>
                </a:r>
                <a:endParaRPr lang="ru-RU" b="1" dirty="0"/>
              </a:p>
              <a:p>
                <a:pPr lvl="0"/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b="1" smtClean="0">
                        <a:latin typeface="Cambria Math" panose="02040503050406030204" pitchFamily="18" charset="0"/>
                      </a:rPr>
                      <m:t>(∞)</m:t>
                    </m:r>
                  </m:oMath>
                </a14:m>
                <a:r>
                  <a:rPr lang="en-US" b="1" dirty="0"/>
                  <a:t>: the final steady-state value of the variable;</a:t>
                </a:r>
                <a:endParaRPr lang="ru-RU" b="1" dirty="0"/>
              </a:p>
              <a:p>
                <a:pPr lvl="0"/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𝝉</m:t>
                    </m:r>
                  </m:oMath>
                </a14:m>
                <a:r>
                  <a:rPr lang="en-US" b="1" dirty="0"/>
                  <a:t> (tau): the time constant of the circuit. </a:t>
                </a:r>
                <a:endParaRPr lang="ru-RU" b="1" dirty="0"/>
              </a:p>
              <a:p>
                <a:r>
                  <a:rPr lang="en-US" b="1" dirty="0"/>
                  <a:t>Once you calculate these three numbers, you simply plug them into the equation to get the full answer. </a:t>
                </a:r>
              </a:p>
              <a:p>
                <a:r>
                  <a:rPr lang="en-US" dirty="0">
                    <a:effectLst/>
                    <a:ea typeface="Aptos" panose="020B0004020202020204" pitchFamily="34" charset="0"/>
                  </a:rPr>
                  <a:t>This method works for voltage across a capacitor, current through an inductor, or even the voltage across a resistor somewhere else in the circuit.</a:t>
                </a:r>
                <a:endParaRPr lang="ru-RU" dirty="0">
                  <a:effectLst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069A38A8-55A3-2CA6-B33E-6F9C38427B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  <a:blipFill>
                <a:blip r:embed="rId2"/>
                <a:stretch>
                  <a:fillRect l="-1043" t="-2381" r="-638" b="-88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9580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8058A-EAEF-2D55-ADA0-0D4F9131C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534D3C-18F7-D2DE-1B67-369799D7C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7166B261-F2AC-D8EE-32F8-0C33AC6CABAB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C6374147-145E-14A6-B5C9-177BE63FFF07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400F0E8D-EC38-07D1-0236-88D52F7E8E89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9A27DAE7-0BB5-4D99-E1E4-B89199DD3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Let us break down exactly how to find these three elements.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Element 1: The Initial Value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𝒇</m:t>
                    </m:r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𝟎</m:t>
                        </m:r>
                      </m:e>
                      <m:sub>
                        <m:r>
                          <a:rPr lang="en-US" b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+</m:t>
                        </m:r>
                      </m:sub>
                    </m:sSub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, we find this using the Laws of Switching</a:t>
                </a:r>
                <a:r>
                  <a:rPr lang="en-US" b="1" dirty="0">
                    <a:ea typeface="Aptos" panose="020B0004020202020204" pitchFamily="34" charset="0"/>
                  </a:rPr>
                  <a:t> </a:t>
                </a:r>
                <a:r>
                  <a:rPr lang="en-US" dirty="0">
                    <a:ea typeface="Aptos" panose="020B0004020202020204" pitchFamily="34" charset="0"/>
                  </a:rPr>
                  <a:t>(We learned it in the last lecture)</a:t>
                </a:r>
                <a:r>
                  <a:rPr lang="en-US" b="1" dirty="0">
                    <a:ea typeface="Aptos" panose="020B0004020202020204" pitchFamily="34" charset="0"/>
                  </a:rPr>
                  <a:t>. 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First, analyze the circuit at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𝒕</m:t>
                    </m:r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𝟎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 (before switching) to find the energy storage variable.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Remember: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𝐶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0</m:t>
                        </m:r>
                      </m:e>
                      <m:sub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+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)=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𝐶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0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−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𝐿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0</m:t>
                        </m:r>
                      </m:e>
                      <m:sub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+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)=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𝐿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0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−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.</a:t>
                </a: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endParaRPr lang="ru-RU" b="1" dirty="0">
                  <a:effectLst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9A27DAE7-0BB5-4D99-E1E4-B89199DD38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  <a:blipFill>
                <a:blip r:embed="rId2"/>
                <a:stretch>
                  <a:fillRect l="-1043" t="-14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734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057D0-AE2B-C628-939A-DCF39AD18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38004A-4364-B4BA-D009-20FFE1C14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E3B55D5-25E8-31F2-32F5-8C7A1C17C072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FF42545C-67CE-2B5F-D57B-9D90CDDEA5C6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A5AF4741-73D0-4295-05EA-5DF8838CC5E7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463B187F-B405-6795-11C2-BDACD38B22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If you need to find a non-state variable (like a resistor voltage), draw the circuit at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0</m:t>
                        </m:r>
                      </m:e>
                      <m:sub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replacing the capacitor with a voltage source and the inductor with a current source, then solve.</a:t>
                </a:r>
                <a:endParaRPr lang="en-US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Element 2: The Final Value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𝒇</m:t>
                    </m:r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(∞)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, analyze the circuit in the new steady state (at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𝒕</m:t>
                    </m:r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→∞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). 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In DC steady state, treat Capacitors as Open Circuits and Inductors as Short Circuits.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Calculate the voltage or current in this simplified resistive circuit.</a:t>
                </a:r>
                <a:endParaRPr lang="ru-RU" dirty="0">
                  <a:effectLst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463B187F-B405-6795-11C2-BDACD38B22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  <a:blipFill>
                <a:blip r:embed="rId2"/>
                <a:stretch>
                  <a:fillRect l="-1043" t="-560" r="-1159" b="-82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5653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23656-ABAF-EA06-4D8F-244CB00A5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85D814-8569-9179-680B-52D4A0114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2E863DC-9CC9-D18D-4B59-EA6174802006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E977EAC9-63F6-0A27-D466-1068C50381AF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4972A241-D977-8EB3-CF4A-6575F10DB434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713956F3-AAB2-E5B6-D490-C2100E5E51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</p:spPr>
            <p:txBody>
              <a:bodyPr>
                <a:noAutofit/>
              </a:bodyPr>
              <a:lstStyle/>
              <a:p>
                <a:r>
                  <a:rPr lang="en-US" b="1" dirty="0"/>
                  <a:t>Element 3: The Time Constant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𝝉</m:t>
                    </m:r>
                  </m:oMath>
                </a14:m>
                <a:r>
                  <a:rPr lang="en-US" b="1" dirty="0"/>
                  <a:t>. We must find the equivalent resistance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𝒆𝒒</m:t>
                        </m:r>
                      </m:sub>
                    </m:sSub>
                  </m:oMath>
                </a14:m>
                <a:r>
                  <a:rPr lang="en-US" b="1" dirty="0"/>
                  <a:t> seen by the storage element. </a:t>
                </a:r>
              </a:p>
              <a:p>
                <a:r>
                  <a:rPr lang="en-US" dirty="0"/>
                  <a:t>Turn off all independent sources (Voltage sources = Short, Current sources = Open). Look into the terminals of the capacitor or inductor.</a:t>
                </a:r>
                <a:endParaRPr lang="ru-RU" dirty="0"/>
              </a:p>
              <a:p>
                <a:r>
                  <a:rPr lang="en-US" b="1" dirty="0"/>
                  <a:t>For RC circuits: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𝒆𝒒</m:t>
                        </m:r>
                      </m:sub>
                    </m:sSub>
                    <m:r>
                      <a:rPr lang="en-US" b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b="1" dirty="0"/>
              </a:p>
              <a:p>
                <a:r>
                  <a:rPr lang="en-US" b="1" dirty="0"/>
                  <a:t>For RL circuits: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𝑳</m:t>
                        </m:r>
                      </m:num>
                      <m:den>
                        <m:sSub>
                          <m:sSubPr>
                            <m:ctrlPr>
                              <a:rPr lang="ru-RU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𝒆𝒒</m:t>
                            </m:r>
                          </m:sub>
                        </m:sSub>
                      </m:den>
                    </m:f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b="1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713956F3-AAB2-E5B6-D490-C2100E5E51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  <a:blipFill>
                <a:blip r:embed="rId2"/>
                <a:stretch>
                  <a:fillRect l="-1043" t="-2381" r="-14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42318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A8975-BC1B-C74D-FEFE-26FCE749C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15F35D-FAE6-B628-A74D-B00CB2071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3C2BC13-DA72-518F-F0FA-9645A8B11417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4FFCF792-D2EE-B44A-889A-00E72CFE200F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794713FB-7643-DA05-E2A5-C90097A3B71C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4D52035A-75F4-A7AA-B531-7F1B40003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16711" cy="4351338"/>
          </a:xfrm>
        </p:spPr>
        <p:txBody>
          <a:bodyPr/>
          <a:lstStyle/>
          <a:p>
            <a:r>
              <a:rPr lang="en-US" dirty="0"/>
              <a:t>Let us apply the Three-Element Method to a practical example. Imagine a circuit like on the slide.</a:t>
            </a:r>
            <a:endParaRPr lang="ru-RU" dirty="0"/>
          </a:p>
        </p:txBody>
      </p:sp>
      <p:pic>
        <p:nvPicPr>
          <p:cNvPr id="13" name="Объект 2">
            <a:extLst>
              <a:ext uri="{FF2B5EF4-FFF2-40B4-BE49-F238E27FC236}">
                <a16:creationId xmlns:a16="http://schemas.microsoft.com/office/drawing/2014/main" id="{15A250B9-D1AC-E165-A6E9-CBE4CAA1A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4911" y="1781493"/>
            <a:ext cx="6125837" cy="4671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291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D7C75-86CE-5CDE-FAF8-13B98C128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7B226-AD85-1595-46A2-9079F783E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D4A8A07-421A-809E-7A4D-336B838922E5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EC8851BB-EECE-D239-87B5-D6F0E77E6704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E75348B4-6ED6-6952-C9E5-038298EABC3F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AD129E3E-6001-19CA-9905-F29610CA06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0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A Voltage Source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𝑉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𝑆</m:t>
                        </m:r>
                      </m:sub>
                    </m:sSub>
                    <m:r>
                      <a:rPr lang="en-US" b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10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𝑉</m:t>
                    </m:r>
                  </m:oMath>
                </a14:m>
                <a:r>
                  <a:rPr lang="en-US" dirty="0">
                    <a:effectLst/>
                    <a:ea typeface="Aptos" panose="020B0004020202020204" pitchFamily="34" charset="0"/>
                  </a:rPr>
                  <a:t>, a Resistor </a:t>
                </a:r>
                <a14:m>
                  <m:oMath xmlns:m="http://schemas.openxmlformats.org/officeDocument/2006/math"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𝑅</m:t>
                    </m:r>
                    <m:r>
                      <a:rPr lang="en-US" b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1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𝑘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𝛺</m:t>
                    </m:r>
                  </m:oMath>
                </a14:m>
                <a:r>
                  <a:rPr lang="en-US" dirty="0">
                    <a:effectLst/>
                    <a:ea typeface="Aptos" panose="020B0004020202020204" pitchFamily="34" charset="0"/>
                  </a:rPr>
                  <a:t>, and a Capacitor </a:t>
                </a:r>
                <a14:m>
                  <m:oMath xmlns:m="http://schemas.openxmlformats.org/officeDocument/2006/math"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𝐶</m:t>
                    </m:r>
                    <m:r>
                      <a:rPr lang="en-US" b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1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𝜇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𝐹</m:t>
                    </m:r>
                  </m:oMath>
                </a14:m>
                <a:r>
                  <a:rPr lang="en-US" dirty="0">
                    <a:effectLst/>
                    <a:ea typeface="Aptos" panose="020B0004020202020204" pitchFamily="34" charset="0"/>
                  </a:rPr>
                  <a:t>, which is not empty.</a:t>
                </a:r>
                <a:endParaRPr lang="ru-RU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It was previously charged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𝐶</m:t>
                        </m:r>
                      </m:sub>
                    </m:sSub>
                    <m:r>
                      <a:rPr lang="en-US" b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0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−</m:t>
                        </m:r>
                      </m:sub>
                    </m:sSub>
                    <m:r>
                      <a:rPr lang="en-US" b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)=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4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𝑉</m:t>
                    </m:r>
                  </m:oMath>
                </a14:m>
                <a:r>
                  <a:rPr lang="en-US" dirty="0">
                    <a:effectLst/>
                    <a:ea typeface="Aptos" panose="020B0004020202020204" pitchFamily="34" charset="0"/>
                  </a:rPr>
                  <a:t>.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At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</m:t>
                    </m:r>
                    <m:r>
                      <a:rPr lang="en-US" b="0" i="1" dirty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=0</m:t>
                    </m:r>
                  </m:oMath>
                </a14:m>
                <a:r>
                  <a:rPr lang="en-US" dirty="0">
                    <a:effectLst/>
                    <a:ea typeface="Aptos" panose="020B0004020202020204" pitchFamily="34" charset="0"/>
                  </a:rPr>
                  <a:t>, we connect this 4V capacitor to the 10V source and the resistor. </a:t>
                </a:r>
                <a:endParaRPr lang="ru-RU" dirty="0">
                  <a:effectLst/>
                  <a:ea typeface="Aptos" panose="020B0004020202020204" pitchFamily="34" charset="0"/>
                </a:endParaRP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AD129E3E-6001-19CA-9905-F29610CA06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40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70675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938B3-933E-21FF-51DF-18C65E1C1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849ABD-F61B-BE6A-D87D-39FAC27CA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BCBD0578-6CF5-1A1C-B551-052AC2081437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8280DFFA-E6F4-DDD0-013B-C7A165662E11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1245D8D9-3DEF-1DAD-7C4C-D1CF855E101D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6B2FD345-EDA9-E187-604A-5BADEDD26E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Step 1: Find the Initial Value.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By the switching law, the voltage cannot change instantly: </a:t>
                </a:r>
                <a:endParaRPr lang="ru-RU" dirty="0">
                  <a:effectLst/>
                  <a:ea typeface="Aptos" panose="020B0004020202020204" pitchFamily="34" charset="0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0</m:t>
                              </m:r>
                            </m:e>
                            <m:sub>
                              <m:r>
                                <a:rPr lang="en-US" b="0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+</m:t>
                              </m:r>
                            </m:sub>
                          </m:sSub>
                        </m:e>
                      </m:d>
                      <m:r>
                        <a:rPr lang="en-US" b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0</m:t>
                              </m:r>
                            </m:e>
                            <m:sub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−</m:t>
                              </m:r>
                            </m:sub>
                          </m:sSub>
                        </m:e>
                      </m:d>
                      <m:r>
                        <a:rPr lang="en-US" b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4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𝑉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.</m:t>
                      </m:r>
                    </m:oMath>
                  </m:oMathPara>
                </a14:m>
                <a:endParaRPr lang="ru-RU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Step 2: Find the Final Value.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After a long time, the capacitor acts as an open circuit. It will charge up until it matches the source voltage: </a:t>
                </a:r>
                <a:endParaRPr lang="ru-RU" dirty="0">
                  <a:effectLst/>
                  <a:ea typeface="Aptos" panose="020B0004020202020204" pitchFamily="34" charset="0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dPr>
                        <m:e>
                          <m:r>
                            <a:rPr lang="en-US" b="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∞</m:t>
                          </m:r>
                        </m:e>
                      </m:d>
                      <m:r>
                        <a:rPr lang="en-US" b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𝑆</m:t>
                          </m:r>
                        </m:sub>
                      </m:sSub>
                      <m:r>
                        <a:rPr lang="en-US" b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10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𝑉</m:t>
                      </m:r>
                      <m:r>
                        <a:rPr lang="en-US" b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.</m:t>
                      </m:r>
                    </m:oMath>
                  </m:oMathPara>
                </a14:m>
                <a:endParaRPr lang="ru-RU" dirty="0">
                  <a:effectLst/>
                  <a:ea typeface="Aptos" panose="020B0004020202020204" pitchFamily="34" charset="0"/>
                </a:endParaRP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6B2FD345-EDA9-E187-604A-5BADEDD26E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4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87160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CA701-422F-7E50-F653-FB0B19B82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78FFA9-E96F-7677-EFA5-B42A48E97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C4137B2C-087B-DAF5-7DB0-DCD2D1479DD4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87092CBB-1653-788B-A6B3-995A8CA42C4D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F8C493C7-C60C-EBEF-BA11-E1298B060450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821D0DF6-824C-1D72-AA08-6A110B6E29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Step 3: Find the Time Constant.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The resistance connected to the capacitor is 1kΩ: </a:t>
                </a:r>
                <a:endParaRPr lang="ru-RU" dirty="0">
                  <a:effectLst/>
                  <a:ea typeface="Aptos" panose="020B0004020202020204" pitchFamily="34" charset="0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𝜏</m:t>
                      </m:r>
                      <m:r>
                        <a:rPr lang="en-US" b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𝑅𝐶</m:t>
                      </m:r>
                      <m:r>
                        <a:rPr lang="en-US" b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d>
                        <m:d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1000</m:t>
                          </m:r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𝛺</m:t>
                          </m:r>
                        </m:e>
                      </m:d>
                      <m:r>
                        <a:rPr lang="en-US" b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×</m:t>
                      </m:r>
                      <m:d>
                        <m:d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1</m:t>
                          </m:r>
                          <m:r>
                            <a:rPr lang="en-US" b="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−6</m:t>
                              </m:r>
                            </m:sup>
                          </m:sSup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𝐹</m:t>
                          </m:r>
                        </m:e>
                      </m:d>
                      <m:r>
                        <a:rPr lang="en-US" b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0</m:t>
                      </m:r>
                      <m:r>
                        <a:rPr lang="en-US" b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.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001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𝑠</m:t>
                      </m:r>
                      <m:r>
                        <a:rPr lang="en-US" b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1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𝑚𝑠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.</m:t>
                      </m:r>
                    </m:oMath>
                  </m:oMathPara>
                </a14:m>
                <a:endParaRPr lang="en-US" dirty="0">
                  <a:effectLst/>
                  <a:ea typeface="Aptos" panose="020B0004020202020204" pitchFamily="34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Now we simply place these numbers into our formula. </a:t>
                </a:r>
              </a:p>
              <a:p>
                <a:r>
                  <a:rPr lang="en-US" dirty="0"/>
                  <a:t>Formula: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b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b="0">
                        <a:latin typeface="Cambria Math" panose="02040503050406030204" pitchFamily="18" charset="0"/>
                      </a:rPr>
                      <m:t>(∞)+[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b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b>
                        <m:r>
                          <a:rPr lang="en-US" b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b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b="0">
                        <a:latin typeface="Cambria Math" panose="02040503050406030204" pitchFamily="18" charset="0"/>
                      </a:rPr>
                      <m:t>(∞)]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dirty="0"/>
                  <a:t> </a:t>
                </a:r>
                <a:endParaRPr lang="ru-RU" dirty="0"/>
              </a:p>
              <a:p>
                <a:r>
                  <a:rPr lang="en-US" dirty="0"/>
                  <a:t>Substitute the values:</a:t>
                </a: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b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4−10</m:t>
                          </m:r>
                        </m:e>
                      </m:d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b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001</m:t>
                              </m:r>
                            </m:den>
                          </m:f>
                        </m:sup>
                      </m:sSup>
                      <m:r>
                        <a:rPr lang="en-US" b="0">
                          <a:latin typeface="Cambria Math" panose="02040503050406030204" pitchFamily="18" charset="0"/>
                        </a:rPr>
                        <m:t>,        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b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10−6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−1000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m:rPr>
                          <m:nor/>
                        </m:rPr>
                        <a:rPr lang="en-US"/>
                        <m:t> </m:t>
                      </m:r>
                      <m:r>
                        <m:rPr>
                          <m:nor/>
                        </m:rPr>
                        <a:rPr lang="en-US"/>
                        <m:t>V</m:t>
                      </m:r>
                      <m:r>
                        <m:rPr>
                          <m:nor/>
                        </m:rPr>
                        <a:rPr lang="en-US"/>
                        <m:t>.</m:t>
                      </m:r>
                    </m:oMath>
                  </m:oMathPara>
                </a14:m>
                <a:endParaRPr lang="ru-RU" dirty="0"/>
              </a:p>
              <a:p>
                <a:pPr>
                  <a:lnSpc>
                    <a:spcPct val="120000"/>
                  </a:lnSpc>
                </a:pPr>
                <a:endParaRPr lang="ru-RU" dirty="0">
                  <a:effectLst/>
                  <a:ea typeface="Aptos" panose="020B0004020202020204" pitchFamily="34" charset="0"/>
                </a:endParaRP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821D0DF6-824C-1D72-AA08-6A110B6E29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71591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20633-17CE-2B99-1876-1BB81D7A1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CB0D06-04AD-F3C2-6EFF-D7B98FC03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CC3FEEBD-9BDF-B347-8231-31D6B2BF4522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FE39591E-3992-D22F-5970-216A00510EF9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E88EB92D-3B45-FFC7-0F20-CC25B49D136A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586546DB-360B-1622-C9AD-356DA931F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Let us analyze this result physically. The «10» represents the final destination (10 Volts). The «-6» represents the gap we need to bridge (we start at 4V, which is 6V below 10V). The exponential term makes that gap disappear over time. </a:t>
            </a:r>
          </a:p>
          <a:p>
            <a:r>
              <a:rPr lang="en-US" b="1" dirty="0"/>
              <a:t>Notice that if we had used the zero-state formula from the previous lecture, we would have assumed the start was 0V. </a:t>
            </a:r>
            <a:endParaRPr lang="ru-RU" b="1" dirty="0"/>
          </a:p>
          <a:p>
            <a:r>
              <a:rPr lang="en-US" b="1" dirty="0"/>
              <a:t>The Three-Element Method automatically handles the non-zero starting point. </a:t>
            </a:r>
          </a:p>
          <a:p>
            <a:r>
              <a:rPr lang="en-US" dirty="0"/>
              <a:t>This is the power of this technique: it is systematic and </a:t>
            </a:r>
            <a:r>
              <a:rPr lang="en-US" dirty="0" err="1"/>
              <a:t>workfull</a:t>
            </a:r>
            <a:r>
              <a:rPr lang="en-US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06872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86274-321E-19C3-691D-7F0A36D34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41EEB7-FFCC-A1FF-B184-6BDDDA5BA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51488B0E-13E1-2E12-1A0C-A2B46751206C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A53C0461-92B6-902F-9928-E370801914D1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F18CDBBA-A200-B5CE-3361-A34AA4591193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48CF3622-6534-34A2-BE44-18986A837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5AF65310-69F5-3500-CFF3-C62543B82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74323" y="2070119"/>
            <a:ext cx="4220156" cy="4220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Объект 2">
            <a:extLst>
              <a:ext uri="{FF2B5EF4-FFF2-40B4-BE49-F238E27FC236}">
                <a16:creationId xmlns:a16="http://schemas.microsoft.com/office/drawing/2014/main" id="{FF84624E-8351-E493-555B-9A1CF945200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6034548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 you have any questions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at the moment?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1977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C262A-9CA8-30FC-902F-78DFDA75D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FA9A99-92CF-A38E-CD6E-C1E4EED20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9655C0A6-29D7-73E1-9C09-39BDF2487289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98A47554-FD06-C755-4AAD-B80B9D53D75F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31CA2160-FBBC-BC99-7B3B-7763EEAC8D4C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B923BB3C-BE80-262B-5704-2B7A8D67D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/>
                <a:ea typeface="Aptos" panose="020B0004020202020204" pitchFamily="34" charset="0"/>
              </a:rPr>
              <a:t>We now turn our attention to the types of input signals used to test dynamic circuits.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ea typeface="Aptos" panose="020B0004020202020204" pitchFamily="34" charset="0"/>
              </a:rPr>
              <a:t>In engineering, we use standard «Singularity Functions» to model switching events.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56459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F5F36-9FB9-C7C3-3352-CEF31AFA1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02C611-1767-5B75-6A7D-9105FEAC9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005034A7-97F5-C581-7C8A-368D372B1C1B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B172757C-10FA-E4B5-30A7-884D5BFBFD10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A780A34D-B2B0-42CE-C53B-7D80B169D0A0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05401CCC-F072-9D6B-D3CE-0EB9AECE05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The most common model for the switching law is the Unit Step Function, denoted as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𝒖</m:t>
                    </m:r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𝒕</m:t>
                    </m:r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: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𝒖</m:t>
                      </m:r>
                      <m:r>
                        <a:rPr lang="en-US" b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(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𝒕</m:t>
                      </m:r>
                      <m:r>
                        <a:rPr lang="en-US" b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1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𝟎</m:t>
                                </m:r>
                                <m:r>
                                  <a:rPr lang="en-US" b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b="1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𝒕</m:t>
                                </m:r>
                                <m:r>
                                  <a:rPr lang="en-US" b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&lt;</m:t>
                                </m:r>
                                <m:r>
                                  <a:rPr lang="en-US" b="1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𝟎</m:t>
                                </m:r>
                                <m:r>
                                  <a:rPr lang="en-US" b="1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𝟏</m:t>
                                </m:r>
                                <m:r>
                                  <a:rPr lang="en-US" b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b="1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𝒕</m:t>
                                </m:r>
                                <m:r>
                                  <a:rPr lang="en-US" b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&gt;</m:t>
                                </m:r>
                                <m:r>
                                  <a:rPr lang="en-US" b="1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𝟎</m:t>
                                </m:r>
                                <m:r>
                                  <a:rPr lang="en-US" b="1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Physically, the step function represents a switch that closes at time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𝒕</m:t>
                    </m:r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𝟎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 and stays closed forever.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pPr>
                  <a:lnSpc>
                    <a:spcPct val="120000"/>
                  </a:lnSpc>
                </a:pPr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endParaRPr lang="ru-RU" b="1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05401CCC-F072-9D6B-D3CE-0EB9AECE05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4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387084A-114E-CDAC-735D-57566701D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3210" y="2584926"/>
            <a:ext cx="2957710" cy="1416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8489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FC8D3-871D-2A98-A1F5-C33DBB3F4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B7E777-D35F-C4BB-5960-4D6C08C41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725FAD16-B94C-90C9-E11D-5BF5BE9AD437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1AD62E99-9F5F-C1AC-388E-17F28E559AFE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1C29A6A9-DD0A-8849-D27B-9852A58F354E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5A93920C-867D-6C10-4391-D470A17A02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If we have a voltage source defined as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𝑣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10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𝑢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Volts, it means the voltage is 0V before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0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, and instantly becomes 10V at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0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. </a:t>
                </a:r>
                <a:endParaRPr lang="en-US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The response of a circuit to a unit step input (assuming zero initial energy) is called the «Step Response».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Engineers use the Step Response to measure how fast a system reacts. For example, when you press a key on a keyboard, the signal is essentially a step function.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endParaRPr lang="ru-RU" dirty="0">
                  <a:effectLst/>
                  <a:ea typeface="Aptos" panose="020B0004020202020204" pitchFamily="34" charset="0"/>
                </a:endParaRPr>
              </a:p>
              <a:p>
                <a:pPr>
                  <a:lnSpc>
                    <a:spcPct val="120000"/>
                  </a:lnSpc>
                </a:pPr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endParaRPr lang="ru-RU" b="1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5A93920C-867D-6C10-4391-D470A17A02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 b="-490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63200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4E09D-E0CB-BF35-ADE0-C1A8C699C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01F7BF-14DD-4469-A87F-4A6F176A8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DB934569-C634-3CE7-AA99-EAFB6BF18292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3DA83C65-C722-5166-A518-523F04AB487F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A3ECF63A-2988-2689-4E78-02B0F52C4FD3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F2AB173A-A5C2-92DA-AD1E-28FC5D3B89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dirty="0"/>
                  <a:t>Let us formally state the Step Response of an RC circuit. </a:t>
                </a:r>
                <a:endParaRPr lang="ru-RU" dirty="0"/>
              </a:p>
              <a:p>
                <a:r>
                  <a:rPr lang="en-US" dirty="0"/>
                  <a:t>If we apply a current source step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to a parallel RC circuit, or a voltage source step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dirty="0"/>
                  <a:t> to a series RC circuit. Using our Three-Element Method (with zero initial energy): </a:t>
                </a: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0,  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𝑅𝐶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F2AB173A-A5C2-92DA-AD1E-28FC5D3B89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78011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0EDF8-FCD6-BAE0-6AA2-CD32337C6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59E9CD-FB5E-7789-2C0F-F76659940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FA501340-7EAD-F58B-8F20-A2CBCC2EEEA7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9895AB7B-0F5B-28EB-2110-654BFFB719CF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A65B7521-E25A-2B11-CBC9-8D377B04ABB2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1AB7F117-5712-751E-0904-9E1FB0E13B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b="1" dirty="0"/>
                  <a:t>The Step Response is: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𝒔</m:t>
                    </m:r>
                    <m:d>
                      <m:d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b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𝑺</m:t>
                        </m:r>
                      </m:sub>
                    </m:sSub>
                    <m:d>
                      <m:d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ru-RU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ru-RU" b="1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num>
                              <m:den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𝝉</m:t>
                                </m:r>
                              </m:den>
                            </m:f>
                          </m:sup>
                        </m:sSup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b="1" dirty="0"/>
                  <a:t> </a:t>
                </a:r>
                <a:endParaRPr lang="ru-RU" b="1" dirty="0"/>
              </a:p>
              <a:p>
                <a:r>
                  <a:rPr lang="en-US" b="1" dirty="0"/>
                  <a:t>This specific curve is the «signature» of a first-order system.</a:t>
                </a:r>
                <a:endParaRPr lang="ru-RU" b="1" dirty="0"/>
              </a:p>
              <a:p>
                <a:r>
                  <a:rPr lang="en-US" dirty="0"/>
                  <a:t>If you look at the screen of an oscilloscope and see this curve, you immediately know the system behaves like a first-order RC or RL filter. </a:t>
                </a:r>
                <a:r>
                  <a:rPr lang="en-US" b="1" dirty="0"/>
                  <a:t> </a:t>
                </a:r>
                <a:endParaRPr lang="ru-RU" b="1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1AB7F117-5712-751E-0904-9E1FB0E13B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r="-139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34177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8D2C5-239D-1950-7C24-297AC3752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5B74F8-9D66-9DE0-BA1B-FCE7868F4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C3AC733-06B2-F325-4960-EA9437DDC8E1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4E3A281-88C3-4CF2-81C9-990F3EDC67F4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8B378BEC-DA6D-E4BB-DA0C-ED788F8AF113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17225F6A-1337-C3AD-3E1B-0854F88D34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b="1" dirty="0"/>
                  <a:t>The «Rise Time» is a common metric derived from this response.</a:t>
                </a:r>
                <a:endParaRPr lang="ru-RU" b="1" dirty="0"/>
              </a:p>
              <a:p>
                <a:r>
                  <a:rPr lang="en-US" dirty="0"/>
                  <a:t>It is often defined as the time it takes for the signal to go from 10% to 90% of its final value. </a:t>
                </a:r>
                <a:endParaRPr lang="ru-RU" dirty="0"/>
              </a:p>
              <a:p>
                <a:r>
                  <a:rPr lang="en-US" b="1" dirty="0"/>
                  <a:t>A smaller time constant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𝝉</m:t>
                    </m:r>
                  </m:oMath>
                </a14:m>
                <a:r>
                  <a:rPr lang="en-US" b="1" dirty="0"/>
                  <a:t> results in a faster step response (steeper rise).</a:t>
                </a:r>
                <a:endParaRPr lang="ru-RU" b="1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17225F6A-1337-C3AD-3E1B-0854F88D34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7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02086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5F776-EC48-0782-F936-8B12C7F15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32BC3A-CCC7-6F24-6480-F5E714D53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D02B98F8-AD0F-86E2-34CD-AC2CABDA1CA8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96081716-6ABC-20A7-6BDC-3A76060782C2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99F9B22E-6945-993D-AA27-F2F3122C3A8C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4F25D76D-4D16-DCD9-3FAF-0D0EF83C0E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dirty="0"/>
                  <a:t>Let us say about the second important singularity function. </a:t>
                </a:r>
                <a:endParaRPr lang="ru-RU" dirty="0"/>
              </a:p>
              <a:p>
                <a:r>
                  <a:rPr lang="en-US" b="1" dirty="0"/>
                  <a:t>Unit Impulse Function, denoted as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𝜹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(Delta function) is a mathematical idealization of a signal with infinite height and zero width, but with an area of exactly 1:</a:t>
                </a:r>
                <a:endParaRPr lang="ru-RU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subSup"/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𝜹</m:t>
                          </m:r>
                        </m:e>
                      </m:nary>
                      <m:r>
                        <a:rPr lang="en-US" b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𝒅𝒕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b="1" dirty="0"/>
              </a:p>
              <a:p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𝜹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b="1" dirty="0"/>
                  <a:t> for all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b="1" dirty="0"/>
                  <a:t>.</a:t>
                </a:r>
                <a:endParaRPr lang="ru-RU" b="1" dirty="0"/>
              </a:p>
              <a:p>
                <a:r>
                  <a:rPr lang="en-US" b="1" dirty="0"/>
                  <a:t>Physically, the impulse represents an extremely short, high-energy event.</a:t>
                </a:r>
                <a:endParaRPr lang="ru-RU" b="1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4F25D76D-4D16-DCD9-3FAF-0D0EF83C0E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65862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32783-5738-B18C-288E-7BDB5509D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6C3357-FCFC-3DAB-4405-B1A26E2DF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6736636C-0EBC-07D1-1917-D802C379D217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F1E45CFB-86B9-EA66-C1A4-7C4A2F661FBC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E12B172E-E5D2-B20B-E8EB-61E04AE49977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17F81F6B-F1FC-6536-F4D3-EE61FE0AE9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dirty="0"/>
                  <a:t>Examples include a lightning strike, a static electricity spark, or hitting a bell with a hammer. </a:t>
                </a:r>
                <a:endParaRPr lang="ru-RU" dirty="0"/>
              </a:p>
              <a:p>
                <a:r>
                  <a:rPr lang="en-US" dirty="0"/>
                  <a:t>Even though the event is instantaneous, it transfers a finite amount of energy into the system. </a:t>
                </a:r>
                <a:endParaRPr lang="ru-RU" dirty="0"/>
              </a:p>
              <a:p>
                <a:r>
                  <a:rPr lang="en-US" b="1" dirty="0"/>
                  <a:t>The response of a circuit to a unit impulse is called the «Impulse Response», denoted as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𝒉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. </a:t>
                </a: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17F81F6B-F1FC-6536-F4D3-EE61FE0AE9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44738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6D4C4-EA15-19B7-409E-E44D9EEF2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6C71E9-C264-2610-21D4-B727621A4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BD537EA-D98E-4BA1-92E4-869E38324C2F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BBA10473-651B-6EB5-E835-91704081852B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8716BA29-0438-E5AD-4AD8-AE658CAC6E1B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5C3E3242-940E-4227-5D13-A9F74AFBD9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dirty="0"/>
                  <a:t>While the Step Function sets the final state (charges the capacitor), the Impulse Function sets the initial state. </a:t>
                </a:r>
                <a:endParaRPr lang="ru-RU" dirty="0"/>
              </a:p>
              <a:p>
                <a:r>
                  <a:rPr lang="en-US" b="1" dirty="0"/>
                  <a:t>An impulse of current into a capacitor charges it instantly.</a:t>
                </a:r>
                <a:endParaRPr lang="ru-RU" b="1" dirty="0"/>
              </a:p>
              <a:p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Since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𝑖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𝐶</m:t>
                    </m:r>
                    <m:f>
                      <m:f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fPr>
                      <m:num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𝑑𝑣</m:t>
                        </m:r>
                      </m:num>
                      <m:den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, if we inject an infinite current surge, the voltage jumps instantly from 0 to a new value.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5C3E3242-940E-4227-5D13-A9F74AFBD9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10561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07B19-B984-3293-70EA-703B3A3C7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612D93-1E6E-7F89-40ED-E36118BFD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998FACE-60B2-8C48-73DC-0D2D212B7B71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B2A894B-5994-FC27-0EA4-E7A6EE6C9D20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9632902E-09BC-C1D1-9D6B-57DE6C47D50E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D4167609-1AA5-6817-0FF1-A7A7B11D6D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dirty="0"/>
                  <a:t>There is a fundamental relationship between the Step and Impulse functions. </a:t>
                </a:r>
                <a:endParaRPr lang="ru-RU" dirty="0"/>
              </a:p>
              <a:p>
                <a:r>
                  <a:rPr lang="en-US" dirty="0"/>
                  <a:t>The Impulse function is the derivative of the Step function:</a:t>
                </a: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ru-RU" dirty="0"/>
              </a:p>
              <a:p>
                <a:r>
                  <a:rPr lang="en-US" dirty="0"/>
                  <a:t>This implies a powerful property for linear circuits: the Impulse Response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the time derivative of the Step Response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</a:t>
                </a:r>
                <a:endParaRPr lang="ru-RU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𝑑𝑠</m:t>
                        </m:r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</a:t>
                </a:r>
                <a:endParaRPr lang="ru-RU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D4167609-1AA5-6817-0FF1-A7A7B11D6D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8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30506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2DEDA-FED7-15B1-D3A3-69B35EA58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2942D4-DB3C-5B83-E55D-3ADC4087F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A8157C1-79D3-9C0C-6552-8896801EBA46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107D1E9-F8F1-1711-A8A5-65EB98E0C796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E2B5BCBD-381D-EBC8-B866-9FD27FE61081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C137A80C-3735-B199-1650-D70037E33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This gives us a second way to solve circuits. </a:t>
            </a:r>
            <a:endParaRPr lang="ru-RU" dirty="0"/>
          </a:p>
          <a:p>
            <a:r>
              <a:rPr lang="en-US" dirty="0"/>
              <a:t>If we know the Step Response (which is easy to find using the Three-Element Method), we can simply differentiate it to find the Impulse Response.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0057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7ED4A-CBD8-BBBF-7CCB-97E69A558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DE182D-3102-6BE3-E5B4-5F1391488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C5C52A09-4C73-1697-A814-173AE3D3B2F7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3CC5C69-4A52-900F-F41B-876046CD1ADB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E13A17CF-A2A4-F171-7711-4093A744C04F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57DF69A7-7278-2C78-1FD8-722A19DE3C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b="1" dirty="0"/>
                  <a:t>For the RC circuit where the step response was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𝑺</m:t>
                        </m:r>
                      </m:sub>
                    </m:sSub>
                    <m:r>
                      <a:rPr lang="en-US" b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  <m:r>
                      <a:rPr lang="en-US" b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, the impulse response will be:</a:t>
                </a:r>
                <a:endParaRPr lang="ru-RU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𝒉</m:t>
                      </m:r>
                      <m:d>
                        <m:d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b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num>
                        <m:den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sub>
                          </m:s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sub>
                          </m:sSub>
                          <m:sSup>
                            <m:sSupPr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ru-RU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num>
                                <m:den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𝝉</m:t>
                                  </m:r>
                                </m:den>
                              </m:f>
                            </m:sup>
                          </m:sSup>
                        </m:e>
                      </m:d>
                      <m:r>
                        <a:rPr lang="en-US" b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sub>
                          </m:sSub>
                        </m:num>
                        <m:den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𝝉</m:t>
                          </m:r>
                        </m:den>
                      </m:f>
                      <m:sSup>
                        <m:sSup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num>
                            <m:den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𝝉</m:t>
                              </m:r>
                            </m:den>
                          </m:f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b="1" dirty="0"/>
              </a:p>
              <a:p>
                <a:r>
                  <a:rPr lang="en-US" dirty="0"/>
                  <a:t>Notice that the Impulse Response is a pure decay. </a:t>
                </a:r>
                <a:endParaRPr lang="ru-RU" dirty="0"/>
              </a:p>
              <a:p>
                <a:r>
                  <a:rPr lang="en-US" dirty="0"/>
                  <a:t>This makes sense: the impulse injects energy at t=0 (setting an initial condition), and then the source disappears (δ(t)=0 for t&gt;0), so the circuit simply discharges its energy.</a:t>
                </a:r>
                <a:endParaRPr lang="ru-RU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57DF69A7-7278-2C78-1FD8-722A19DE3C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37310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AF817-B154-2BCC-4067-8E4D9F2B2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5982C8-EE36-FE35-43C8-A78BA5FC6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1B4DBBB-8BD2-624E-E4AA-5B57D6D22ECC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65C38DF4-2B2C-2CF8-2D02-E2FC5291697A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357A600C-345B-5E3C-3F9D-8CB4E22BA1E4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5C711348-1CBA-1BB5-7C50-C851B4B31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Why do we study Step and Impulse responses? </a:t>
            </a:r>
            <a:endParaRPr lang="ru-RU" dirty="0"/>
          </a:p>
          <a:p>
            <a:r>
              <a:rPr lang="en-US" dirty="0"/>
              <a:t>Real-world signals are complex. </a:t>
            </a:r>
            <a:endParaRPr lang="ru-RU" dirty="0"/>
          </a:p>
          <a:p>
            <a:r>
              <a:rPr lang="en-US" dirty="0"/>
              <a:t>They are not simple DC values, but here’s a thing.</a:t>
            </a:r>
            <a:endParaRPr lang="ru-RU" dirty="0"/>
          </a:p>
          <a:p>
            <a:r>
              <a:rPr lang="en-US" b="1" dirty="0"/>
              <a:t>Any complex signal can be mathematically broken down into a series of steps or a series of impulses. </a:t>
            </a:r>
            <a:endParaRPr lang="ru-RU" b="1" dirty="0"/>
          </a:p>
          <a:p>
            <a:r>
              <a:rPr lang="en-US" b="1" dirty="0"/>
              <a:t>If we know how a circuit responds to an impulse (the Impulse Response), we can predict how it will respond to any input signal using a mathematical operation called Convolution. 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5640180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0B010-F48E-653D-07EB-55544E29D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11BB13-8E99-DA6B-7961-044BA5AA4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DA157486-32EA-115B-E8A2-226D99298116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7D2A9DEF-4EA7-4D2E-CDEA-B69EEC623259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48857A53-D026-63E8-D7A4-296DF6F636F8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7873C9F9-1D00-3601-9073-EC16D6BB6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While Convolution is a topic for the «Signals and Systems» course, understanding the physical basis in circuits is essential. </a:t>
            </a:r>
            <a:endParaRPr lang="ru-RU" dirty="0"/>
          </a:p>
          <a:p>
            <a:r>
              <a:rPr lang="en-US" b="1" dirty="0"/>
              <a:t>When you test a microphone or a speaker with a sharp «click» sound, you are testing its Impulse Response. </a:t>
            </a:r>
            <a:endParaRPr lang="ru-RU" b="1" dirty="0"/>
          </a:p>
          <a:p>
            <a:r>
              <a:rPr lang="en-US" b="1" dirty="0"/>
              <a:t>When you test a power supply by suddenly turning on a load, you are testing its Step Response. </a:t>
            </a:r>
            <a:endParaRPr lang="ru-RU" b="1" dirty="0"/>
          </a:p>
          <a:p>
            <a:r>
              <a:rPr lang="en-US" dirty="0"/>
              <a:t>These are the standard «stress tests» for dynamic systems.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88535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2C60B-D041-8006-A82E-58165C95D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ECF040-3DB6-88FC-2F3D-A00472053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7A57C61-5705-E8EB-987A-2F22A761DCA4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6F2A2BD4-70CC-00ED-5A5B-E2CC75F709EC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CC2A8573-D809-0BC9-F1EF-DA06F9A7EE5A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53CA373F-123C-B38C-FC70-56B57D933D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Let us briefly consider the Pulse Response. </a:t>
                </a:r>
                <a:endParaRPr lang="ru-RU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A pulse is essentially a step up followed by a step down. </a:t>
                </a:r>
                <a:endParaRPr lang="ru-RU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A rectangular pulse can be modeled as: </a:t>
                </a:r>
                <a:endParaRPr lang="ru-RU" dirty="0">
                  <a:effectLst/>
                  <a:ea typeface="Aptos" panose="020B0004020202020204" pitchFamily="34" charset="0"/>
                </a:endParaRPr>
              </a:p>
              <a:p>
                <a:pPr marL="0" indent="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𝑣</m:t>
                      </m:r>
                      <m:r>
                        <a:rPr lang="en-US" b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(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𝑡</m:t>
                      </m:r>
                      <m:r>
                        <a:rPr lang="en-US" b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)=</m:t>
                      </m:r>
                      <m:sSub>
                        <m:sSub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𝑆</m:t>
                          </m:r>
                        </m:sub>
                      </m:sSub>
                      <m:r>
                        <a:rPr lang="en-US" b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[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𝑢</m:t>
                      </m:r>
                      <m:r>
                        <a:rPr lang="en-US" b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(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𝑡</m:t>
                      </m:r>
                      <m:r>
                        <a:rPr lang="en-US" b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)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−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𝑢</m:t>
                      </m:r>
                      <m:r>
                        <a:rPr lang="en-US" b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(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𝑡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−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𝑇</m:t>
                      </m:r>
                      <m:r>
                        <a:rPr lang="en-US" b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)]</m:t>
                      </m:r>
                    </m:oMath>
                  </m:oMathPara>
                </a14:m>
                <a:endParaRPr lang="ru-RU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This means we turn the voltage ON at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0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and OFF at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𝑇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. </a:t>
                </a:r>
                <a:endParaRPr lang="ru-RU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The behavior depends on the relationship between the pulse width </a:t>
                </a:r>
                <a14:m>
                  <m:oMath xmlns:m="http://schemas.openxmlformats.org/officeDocument/2006/math"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𝑇</m:t>
                    </m:r>
                  </m:oMath>
                </a14:m>
                <a:r>
                  <a:rPr lang="en-US" dirty="0">
                    <a:effectLst/>
                    <a:ea typeface="Aptos" panose="020B0004020202020204" pitchFamily="34" charset="0"/>
                  </a:rPr>
                  <a:t> and the time constant </a:t>
                </a:r>
                <a14:m>
                  <m:oMath xmlns:m="http://schemas.openxmlformats.org/officeDocument/2006/math"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𝜏</m:t>
                    </m:r>
                  </m:oMath>
                </a14:m>
                <a:r>
                  <a:rPr lang="en-US" dirty="0">
                    <a:effectLst/>
                    <a:ea typeface="Aptos" panose="020B0004020202020204" pitchFamily="34" charset="0"/>
                  </a:rPr>
                  <a:t>. </a:t>
                </a:r>
                <a:endParaRPr lang="ru-RU" dirty="0">
                  <a:effectLst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53CA373F-123C-B38C-FC70-56B57D933D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4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22781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B2976-8050-5D92-9005-29583243F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0C7654-CB5F-E9CF-BCE6-64D57C05C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BE0FBC52-5755-2205-789A-71932E80EBBE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C1FC91A8-5FD1-2D0D-5D7E-9B7A71F8F549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86A3B1A3-5553-F668-17DE-9A156836CAF5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E1AECA3D-2109-0C9D-C8F3-6BE49B1F48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Case 1: </a:t>
                </a:r>
                <a14:m>
                  <m:oMath xmlns:m="http://schemas.openxmlformats.org/officeDocument/2006/math"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𝑇</m:t>
                    </m:r>
                    <m:r>
                      <a:rPr lang="en-US" b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≫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5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𝜏</m:t>
                    </m:r>
                  </m:oMath>
                </a14:m>
                <a:r>
                  <a:rPr lang="en-US" dirty="0">
                    <a:effectLst/>
                    <a:ea typeface="Aptos" panose="020B0004020202020204" pitchFamily="34" charset="0"/>
                  </a:rPr>
                  <a:t> (Long Pulse). </a:t>
                </a:r>
                <a:endParaRPr lang="ru-RU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The capacitor has plenty of time to fully charge. </a:t>
                </a:r>
                <a:endParaRPr lang="ru-RU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The output looks like a square wave with slightly rounded corners. </a:t>
                </a:r>
                <a:endParaRPr lang="ru-RU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The circuit acts as a coupling device. </a:t>
                </a:r>
                <a:endParaRPr lang="ru-RU" dirty="0">
                  <a:effectLst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E1AECA3D-2109-0C9D-C8F3-6BE49B1F48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91460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60BFA-B568-4D93-9401-05FC570D1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41B037-8FB5-8731-4192-D3896FE9D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9F77405B-C8CC-D4AD-5EE7-C74D7CF97291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CDFE1EB6-306F-4625-60A2-C71B7E44AC29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5BB04FF2-2F1D-1203-E254-9E5D94D8E5AB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834E842B-4A88-AAA0-1933-30C144AB9E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Case 2: </a:t>
                </a:r>
                <a14:m>
                  <m:oMath xmlns:m="http://schemas.openxmlformats.org/officeDocument/2006/math"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𝑇</m:t>
                    </m:r>
                    <m:r>
                      <a:rPr lang="en-US" b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≪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𝜏</m:t>
                    </m:r>
                  </m:oMath>
                </a14:m>
                <a:r>
                  <a:rPr lang="en-US" dirty="0">
                    <a:effectLst/>
                    <a:ea typeface="Aptos" panose="020B0004020202020204" pitchFamily="34" charset="0"/>
                  </a:rPr>
                  <a:t> (Short Pulse). </a:t>
                </a:r>
                <a:endParaRPr lang="ru-RU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The capacitor barely has time to start charging before the pulse ends. </a:t>
                </a:r>
                <a:endParaRPr lang="ru-RU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The output voltage rise is almost linear. </a:t>
                </a:r>
                <a:endParaRPr lang="ru-RU" dirty="0">
                  <a:effectLst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834E842B-4A88-AAA0-1933-30C144AB9E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4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11049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75DDE-A1E6-589D-0201-EA6CBD17B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641AF8-1659-38F9-7072-B41418146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FE16EF39-FC9B-6BFA-D52D-56818AB353CB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AD2FB5BB-2FE5-7D87-7DEE-CFBAE4203AFF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50E0E33D-50C0-B252-F11A-82EF8151EA0A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BFD62B32-BBE3-89A9-BEDA-3BC140614A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In condition </a:t>
                </a:r>
                <a14:m>
                  <m:oMath xmlns:m="http://schemas.openxmlformats.org/officeDocument/2006/math"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𝑻</m:t>
                    </m:r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≪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𝝉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 an RC circuit behaves as an Integrator and LC circuit behaves as a Differentiator. 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The output voltage is proportional to the integral of the input current in the RC circuit. </a:t>
                </a:r>
                <a:endParaRPr lang="ru-RU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This property is used in analog computers and signal processing to change the shape of waveforms.</a:t>
                </a:r>
                <a:endParaRPr lang="ru-RU" dirty="0">
                  <a:effectLst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BFD62B32-BBE3-89A9-BEDA-3BC140614A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4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87683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1EC5C-912C-FF70-8F45-6557AEEE2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47B0FA-97DC-8366-F9D9-D66EA790D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CC4549CF-4B25-E98E-A4A4-5EA38706B552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6C53289-BD77-80A4-13C2-E007008AB69F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73DCF5EA-1C58-D546-3456-298B4F4132C2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14564CC8-2A92-4454-336C-438510F5A1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dirty="0"/>
                  <a:t>A very important advanced topic in time-domain analysis is Sequential Switching. </a:t>
                </a:r>
                <a:endParaRPr lang="ru-RU" dirty="0"/>
              </a:p>
              <a:p>
                <a:r>
                  <a:rPr lang="en-US" b="1" dirty="0"/>
                  <a:t>In real systems, switches do not just operate once.</a:t>
                </a:r>
                <a:r>
                  <a:rPr lang="en-US" dirty="0"/>
                  <a:t> </a:t>
                </a:r>
                <a:endParaRPr lang="ru-RU" dirty="0"/>
              </a:p>
              <a:p>
                <a:r>
                  <a:rPr lang="en-US" dirty="0"/>
                  <a:t>A switch might close 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and then open again 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 How do we calculate the response for the second interval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)? </a:t>
                </a:r>
                <a:endParaRPr lang="ru-RU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14564CC8-2A92-4454-336C-438510F5A1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3041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FB914-16D1-5084-D8D9-F18535450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880919-E64F-1F4D-1EE5-9E2B66A35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0AE52C77-0BDE-9EED-DC0F-FEAEFF51FF3D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5F38EECC-9F61-4CAC-EEAF-BF143121C5A2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3E585510-2D4B-5719-0868-EC742156E7DD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401E2E13-DF2A-18F4-9AE3-1DAF7C0A20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b="1" dirty="0"/>
                  <a:t>We must analyze the circuit in chronological segments. </a:t>
                </a:r>
                <a:endParaRPr lang="ru-RU" b="1" dirty="0"/>
              </a:p>
              <a:p>
                <a:r>
                  <a:rPr lang="en-US" b="1" dirty="0"/>
                  <a:t>Phase 1 (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b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/>
                  <a:t>): analyze the circuit using the Three-Element Method, find the equation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b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. </a:t>
                </a:r>
                <a:endParaRPr lang="ru-RU" b="1" dirty="0"/>
              </a:p>
              <a:p>
                <a:r>
                  <a:rPr lang="en-US" b="1" dirty="0"/>
                  <a:t>Phase 2 (Transfer): calculate the value of the voltage or current at the exact moment of the second switch,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.</a:t>
                </a:r>
                <a:endParaRPr lang="ru-RU" b="1" dirty="0"/>
              </a:p>
              <a:p>
                <a:r>
                  <a:rPr lang="en-US" dirty="0"/>
                  <a:t>By the Laws of Switching, this final value of Phase 1 becomes the Initial Value for Phase 2. </a:t>
                </a:r>
                <a:endParaRPr lang="ru-RU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401E2E13-DF2A-18F4-9AE3-1DAF7C0A20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28127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7CBEB-C2FA-33F5-5893-C0581A9D6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E3C256-985C-50E6-263D-C5640275B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6B8F8EA2-6308-C972-D10B-435E414EB153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9A26A36A-4796-14E2-FBCE-E0BBE266E55A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8CFCA4A7-C40F-DF27-8655-DB7C4267FF46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ADBBBE8C-C7FA-B4E8-C737-13877FE1AD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b="1" dirty="0"/>
                  <a:t>Phase 3 (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b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/>
                  <a:t>): write a new Three-Element equation for the new circuit configuration. </a:t>
                </a:r>
                <a:endParaRPr lang="ru-RU" b="1" dirty="0"/>
              </a:p>
              <a:p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Importantly, for the exponential term, we must shift the time axis.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Instead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−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𝑡</m:t>
                        </m:r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/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𝜏</m:t>
                        </m:r>
                      </m:sup>
                    </m:sSup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, we use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−</m:t>
                        </m:r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(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𝑡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−</m:t>
                        </m:r>
                        <m:sSub>
                          <m:sSubPr>
                            <m:ctrlPr>
                              <a:rPr lang="ru-RU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)/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𝜏</m:t>
                        </m:r>
                      </m:sup>
                    </m:sSup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.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This ensures that at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, the exponent is zero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0</m:t>
                        </m:r>
                      </m:sup>
                    </m:sSup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1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), and the function starts correctly from the initial value.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endParaRPr lang="ru-RU" b="1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ADBBBE8C-C7FA-B4E8-C737-13877FE1AD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28102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77BFC-DBD6-5C3D-E0A4-0155632D5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F5DC27-6578-AC0C-C3E4-35E26A08D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5DB738EE-4022-E813-6BB6-D2DB96504B02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3F59B72-71DA-D3A6-C005-54864FEB454C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0F2001EC-B94E-7F78-A652-FB3F8F283301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CB58BFF2-BD38-9A0B-8715-F03143A6DC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0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Finally, let us briefly discuss Ramp Inputs. What if the source is not a Step (constant DC) but a Ramp: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𝒔</m:t>
                        </m:r>
                      </m:sub>
                    </m:sSub>
                    <m:d>
                      <m:d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d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𝒕</m:t>
                        </m:r>
                      </m:e>
                    </m:d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𝒓</m:t>
                    </m:r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⋅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𝒕</m:t>
                    </m:r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0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For a capacitor connected to a ramp voltage source through a resistor, the current is not a simple decay. 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0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 steady-state current will be a constant value, determined by the slope of the ramp.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𝒊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𝑪</m:t>
                        </m:r>
                      </m:sub>
                    </m:sSub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(∞)=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𝑪</m:t>
                    </m:r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⋅</m:t>
                    </m:r>
                    <m:f>
                      <m:f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𝒅</m:t>
                        </m:r>
                        <m:sSub>
                          <m:sSubPr>
                            <m:ctrlPr>
                              <a:rPr lang="ru-RU" b="1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b="1" i="1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𝒔</m:t>
                            </m:r>
                          </m:sub>
                        </m:sSub>
                      </m:num>
                      <m:den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𝒅𝒕</m:t>
                        </m:r>
                      </m:den>
                    </m:f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𝑪</m:t>
                    </m:r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⋅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𝒓</m:t>
                    </m:r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.</m:t>
                    </m:r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CB58BFF2-BD38-9A0B-8715-F03143A6DC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40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74328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97316-8A6F-5B64-D1EE-EF4CE0D16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A23F4F-FB2A-647C-D239-9D89D6D47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C20155C-A615-E04D-5DE2-AEF8D03C2E41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3C310C95-EB1C-8BCB-DAD8-4D7A3DB96C9E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88A7FD6D-EA38-B770-8D23-14C96DC3DFCC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F4224ADB-4884-4147-3294-E8BA01BC8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The complete response will be the sum of this constant steady-state current and a transient exponential decay that depends on the initial conditions. </a:t>
            </a:r>
            <a:endParaRPr lang="ru-RU" b="1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This demonstrates that the «Steady State» is not always a constant number; it follows the shape of the input forcing function.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If the input is a ramp, the steady state output of the capacitor voltage is also a ramp, lagging behind the input.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4310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71676-8CAE-7D05-F48A-B84C3CF28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58FFFF-496B-2349-677A-5C7226806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8C514A5-6652-54C8-B013-1A35C2C101DD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6E4CCEF-E74F-10CA-8FA4-7FCC8AC41425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3A2CC626-BF63-8167-8EA6-C7C81B603571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ADDEA562-156E-07D1-09AB-8FD4376DD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We must distinguish the physical origins of the two parts of the Complete Response.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The Transient Response arises from the redistribution of internal energy stored in the field of the capacitor or inductor.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Because real circuits always have resistance, this internal energy is eventually dissipated as heat.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3890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A1DF8-60E2-AE00-E74F-0B77FE03D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EA1369-8C41-6245-59CA-9965499FF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50916FAD-0BA9-C715-2A90-66A2CE9EBA2F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BF979204-4215-1D27-86B6-B351A492E1C2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048327D0-CAA5-71AB-2E2A-C4E047525821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C0C9B0E1-55CF-D48E-BC3F-CBE9E0EDF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The transient response is generated by the release of internal stored energy and must eventually decay to zero in any stable circuit. </a:t>
            </a:r>
            <a:endParaRPr lang="ru-RU" b="1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The Steady-State Response, on the other hand, is driven by the continuous supply of energy from the independent sources.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The steady-state response is sustained by the external power sources and persists as long as the switch remains closed. </a:t>
            </a:r>
            <a:endParaRPr lang="ru-RU" b="1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5027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F2B7F-D787-1A81-E6A5-19C217033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E8B682-566E-CAAA-5858-1F526AC0A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65242CDE-B34B-AC20-4D66-8178A08FD1E6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16C883E6-AC0F-03DE-1CA2-967761AF1511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C303B0D8-0A49-E07D-6C21-B00F4A6FA546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D0808F47-5299-FA73-7C20-7A6FCE44B7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Ideally, the complete response is simply the algebraic sum of these natural (transient) and forced (steady-state) behaviors.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endParaRPr lang="ru-RU" dirty="0"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When analyzing Sequential Switching, handling the time variable correctly is crucial.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If a switch operates at a delayed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, the exponential decay does not start at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0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, but rather at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. We must mathematically shift the function to the right.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D0808F47-5299-FA73-7C20-7A6FCE44B7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 b="-78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92627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41BB3-0810-252E-398B-C1FAA1260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F679CA-060F-B515-73B8-836ECD74E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BC3E94A-4A69-ED01-C942-6C542A5EA00F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DB2F8EAC-9490-29F8-64DD-C211A5BEE6C9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7D0B2E12-1E9A-4E70-B14C-8E82F12E3AEE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F6AF22C4-7D04-1F67-49B4-32DF49D32E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For delayed switching events, we must shift the time variable in the exponential term to account for the start time. 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 exponent becomes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−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−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)/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𝜏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instead of just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−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/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𝜏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.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r>
                  <a:rPr lang="en-US" b="1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 correct mathematical form for the decay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p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b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𝒕</m:t>
                        </m:r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u-RU" b="1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b="1" i="1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b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)/</m:t>
                        </m:r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𝝉</m:t>
                        </m:r>
                      </m:sup>
                    </m:sSup>
                  </m:oMath>
                </a14:m>
                <a:r>
                  <a:rPr lang="en-US" b="1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ensuring the value is unity at the moment of switching. </a:t>
                </a:r>
                <a:endParaRPr lang="ru-RU" b="1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We treat each switching interval as a separate problem where the final value of the previous interval becomes the initial value of the new one.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F6AF22C4-7D04-1F67-49B4-32DF49D32E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 b="-63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84615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A54AF-225D-4804-19DD-02FEED753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F34E1-C29B-F913-C165-7513D1A9A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D408B0CA-88BF-BF8E-A288-C765467EAD90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11FDAA57-84DC-946C-B9AD-325D1721A12B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4A338978-E1F2-6E91-2D33-E961968C8575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p:sp>
        <p:nvSpPr>
          <p:cNvPr id="7" name="Объект 6">
            <a:extLst>
              <a:ext uri="{FF2B5EF4-FFF2-40B4-BE49-F238E27FC236}">
                <a16:creationId xmlns:a16="http://schemas.microsoft.com/office/drawing/2014/main" id="{3DA93459-240A-184B-FB76-CE6F4C87D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4A74C30-A44A-647E-AA8C-A4601EF712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74323" y="2070119"/>
            <a:ext cx="4220156" cy="4220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Объект 2">
            <a:extLst>
              <a:ext uri="{FF2B5EF4-FFF2-40B4-BE49-F238E27FC236}">
                <a16:creationId xmlns:a16="http://schemas.microsoft.com/office/drawing/2014/main" id="{868F5C77-5774-68E7-8BDE-BCCA3805C54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6034548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Thank you for your attention!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 you have any questions?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077176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3309</Words>
  <Application>Microsoft Office PowerPoint</Application>
  <PresentationFormat>Широкоэкранный</PresentationFormat>
  <Paragraphs>264</Paragraphs>
  <Slides>47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47</vt:i4>
      </vt:variant>
    </vt:vector>
  </HeadingPairs>
  <TitlesOfParts>
    <vt:vector size="52" baseType="lpstr">
      <vt:lpstr>Aptos</vt:lpstr>
      <vt:lpstr>Aptos Display</vt:lpstr>
      <vt:lpstr>Arial</vt:lpstr>
      <vt:lpstr>Cambria Math</vt:lpstr>
      <vt:lpstr>Тема Office</vt:lpstr>
      <vt:lpstr>Lecture 14. Advanced Time-Domain Analysis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6</cp:revision>
  <dcterms:created xsi:type="dcterms:W3CDTF">2026-04-05T13:57:19Z</dcterms:created>
  <dcterms:modified xsi:type="dcterms:W3CDTF">2026-04-09T04:49:27Z</dcterms:modified>
</cp:coreProperties>
</file>