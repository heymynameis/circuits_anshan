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19" r:id="rId2"/>
    <p:sldId id="620" r:id="rId3"/>
    <p:sldId id="644" r:id="rId4"/>
    <p:sldId id="643" r:id="rId5"/>
    <p:sldId id="645" r:id="rId6"/>
    <p:sldId id="621" r:id="rId7"/>
    <p:sldId id="622" r:id="rId8"/>
    <p:sldId id="646" r:id="rId9"/>
    <p:sldId id="647" r:id="rId10"/>
    <p:sldId id="648" r:id="rId11"/>
    <p:sldId id="649" r:id="rId12"/>
    <p:sldId id="650" r:id="rId13"/>
    <p:sldId id="624" r:id="rId14"/>
    <p:sldId id="652" r:id="rId15"/>
    <p:sldId id="653" r:id="rId16"/>
    <p:sldId id="651" r:id="rId17"/>
    <p:sldId id="654" r:id="rId18"/>
    <p:sldId id="625" r:id="rId19"/>
    <p:sldId id="626" r:id="rId20"/>
    <p:sldId id="627" r:id="rId21"/>
    <p:sldId id="655" r:id="rId22"/>
    <p:sldId id="628" r:id="rId23"/>
    <p:sldId id="656" r:id="rId24"/>
    <p:sldId id="629" r:id="rId25"/>
    <p:sldId id="642" r:id="rId26"/>
    <p:sldId id="630" r:id="rId27"/>
    <p:sldId id="631" r:id="rId28"/>
    <p:sldId id="632" r:id="rId29"/>
    <p:sldId id="657" r:id="rId30"/>
    <p:sldId id="633" r:id="rId31"/>
    <p:sldId id="658" r:id="rId32"/>
    <p:sldId id="634" r:id="rId33"/>
    <p:sldId id="635" r:id="rId34"/>
    <p:sldId id="659" r:id="rId35"/>
    <p:sldId id="636" r:id="rId36"/>
    <p:sldId id="660" r:id="rId37"/>
    <p:sldId id="637" r:id="rId38"/>
    <p:sldId id="661" r:id="rId39"/>
    <p:sldId id="662" r:id="rId40"/>
    <p:sldId id="638" r:id="rId41"/>
    <p:sldId id="639" r:id="rId42"/>
    <p:sldId id="663" r:id="rId43"/>
    <p:sldId id="640" r:id="rId44"/>
    <p:sldId id="664" r:id="rId45"/>
    <p:sldId id="641" r:id="rId4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 (6) - Lecture 13" id="{2634A60E-07F1-4A0D-A5E8-35D2C022A68D}">
          <p14:sldIdLst>
            <p14:sldId id="619"/>
            <p14:sldId id="620"/>
            <p14:sldId id="644"/>
            <p14:sldId id="643"/>
            <p14:sldId id="645"/>
            <p14:sldId id="621"/>
            <p14:sldId id="622"/>
            <p14:sldId id="646"/>
            <p14:sldId id="647"/>
            <p14:sldId id="648"/>
            <p14:sldId id="649"/>
            <p14:sldId id="650"/>
            <p14:sldId id="624"/>
            <p14:sldId id="652"/>
            <p14:sldId id="653"/>
            <p14:sldId id="651"/>
            <p14:sldId id="654"/>
            <p14:sldId id="625"/>
            <p14:sldId id="626"/>
            <p14:sldId id="627"/>
            <p14:sldId id="655"/>
            <p14:sldId id="628"/>
            <p14:sldId id="656"/>
            <p14:sldId id="629"/>
            <p14:sldId id="642"/>
            <p14:sldId id="630"/>
            <p14:sldId id="631"/>
            <p14:sldId id="632"/>
            <p14:sldId id="657"/>
            <p14:sldId id="633"/>
            <p14:sldId id="658"/>
            <p14:sldId id="634"/>
            <p14:sldId id="635"/>
            <p14:sldId id="659"/>
            <p14:sldId id="636"/>
            <p14:sldId id="660"/>
            <p14:sldId id="637"/>
            <p14:sldId id="661"/>
            <p14:sldId id="662"/>
            <p14:sldId id="638"/>
            <p14:sldId id="639"/>
            <p14:sldId id="663"/>
            <p14:sldId id="640"/>
            <p14:sldId id="664"/>
            <p14:sldId id="64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56C198-E162-455B-9C7D-9E7FEF9BB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5494E6-2877-7B79-4C0B-EF42071A9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402B28-935E-3F4F-630F-89B8C96DA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8A18-12C2-4D8F-94C2-60F8387F406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AFC6EC-C9DE-5D69-5D55-CB794625A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74D007-6F2D-151D-EE32-CB04CD81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F0A7-31CD-4AE7-9BF6-B997BA423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3016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FA792-87C8-142D-AFBC-007A59A5A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1B8E7C-505C-6433-B3C7-F859C769F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409BB3-001E-6284-3120-CF39F50DA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8A18-12C2-4D8F-94C2-60F8387F406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B01B1F-1A89-B395-5D67-677ADDD97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AB30DA-B5E9-AC70-D652-341295E06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F0A7-31CD-4AE7-9BF6-B997BA423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124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BF5D9-7CBC-2F61-C5A0-1DA95C1C3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7D7166-3D7F-03FB-FDBF-CD6C063E0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196A51-D9ED-C2BB-5852-30DA57114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8A18-12C2-4D8F-94C2-60F8387F406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CD6599-3F67-1F21-4175-98168356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B27535-E7BA-E49F-4F27-FA1AB9DF0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F0A7-31CD-4AE7-9BF6-B997BA423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6324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AEE837-7800-021E-5C14-066627212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03899A-7402-A6D7-B25D-B5FA7D507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670136-B01B-DA18-6EDC-00ECB41DD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DDB447-9353-A529-77D3-400104A97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8A18-12C2-4D8F-94C2-60F8387F406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6F83AB-9C5D-0B31-7FDF-9D4223DE8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0D8502-757B-C0B0-039E-1252E4D3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F0A7-31CD-4AE7-9BF6-B997BA423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272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6437C-9922-7B92-ED9C-632F492EA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34CE3C8-3BF7-0F5E-FC4D-AD9C2294D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5FE1EF8-C713-20F6-3D63-17AC074A1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9733AD6-30D5-2156-26E2-3D02613109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9C24BB5-735A-6C2E-6205-BBC1A2B462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73814B1-96E8-A2AA-EEE0-C6D5EAEF8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8A18-12C2-4D8F-94C2-60F8387F406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8FBB5EE-52AA-9D54-A52F-7D4A9172C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61F392-CF5F-4A30-4277-CC994DC1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F0A7-31CD-4AE7-9BF6-B997BA423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4479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44D18B-2D8A-10BC-433E-F80247FDA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E7C50AF-A89E-2BA4-EBC5-766E4410C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8A18-12C2-4D8F-94C2-60F8387F406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1C9D3B7-95D6-C7BA-FB4D-C704783FB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EC28D6-4C70-C2D1-2AC4-2EC366627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F0A7-31CD-4AE7-9BF6-B997BA423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7593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C60B99E-4F15-EA28-C4AF-DE90580D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8A18-12C2-4D8F-94C2-60F8387F406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45028AE-0298-538B-5776-A8D5EFBAA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0E3041-5C71-954C-571B-CB7F240C9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F0A7-31CD-4AE7-9BF6-B997BA423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3979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EEE3F3-A5A5-E426-90E3-48D64081E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D54732-4F57-F5B6-0575-F257F64AA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F39172-47CB-995D-419B-EDBE13747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3D1170-BAB0-FE02-9C30-AED8A77F9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8A18-12C2-4D8F-94C2-60F8387F406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EA196C-2E72-8E58-5BBB-753881C49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D84A207-8306-D045-A87B-1762287CE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F0A7-31CD-4AE7-9BF6-B997BA423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097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54023F-0FE7-5323-D636-C4C5B3405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5BE788-F65D-3506-B62D-31D69A673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C2F72CD-DD52-0E4C-867B-399B3CBBD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7A1372-B362-6ED2-6812-D8A9813A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8A18-12C2-4D8F-94C2-60F8387F406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6F5A5C-6437-E322-37FB-D5CD7E554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F58981-9A6C-7E0B-9B93-4A2E891FC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F0A7-31CD-4AE7-9BF6-B997BA423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583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EB4A9-E201-C893-1902-6CB614811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9620A5-ED4B-60F0-CCC8-EDE33CE3B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EB65B1-2EEA-CE12-8169-40C58ACAD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8A18-12C2-4D8F-94C2-60F8387F406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70C68F-67EC-3D17-4C9F-B8544009E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7215AC-285A-2E5E-C61A-3BE2F0CA1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F0A7-31CD-4AE7-9BF6-B997BA423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806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A7EC5C8-7199-93DF-60E5-124266717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C092E3-C6D2-B3E0-5CA4-7A677D80ED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749AE0-FACB-08F8-59E8-86DEC5296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C8A18-12C2-4D8F-94C2-60F8387F406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678783-1341-6A3E-53E3-567AF9483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13A04D-033D-6712-71A2-EDC8E9C71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1F0A7-31CD-4AE7-9BF6-B997BA423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72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886387-E46B-6A41-ADAE-5EB347E86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3F8718-C9D4-80CC-185F-FFB2055ED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51CE55-30A0-CB7A-195D-AEAFC7FF81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C8A18-12C2-4D8F-94C2-60F8387F4064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0B8F77-4730-78FB-5C9A-B4CE23D64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E247E3-0D7E-C14E-722C-95967E159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B1F0A7-31CD-4AE7-9BF6-B997BA423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749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19DEF-7A96-1456-DD63-E1B8D9BC1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65E04A-22F3-EB09-680D-B52906F1E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6419" y="1122363"/>
            <a:ext cx="10217888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Lecture 13. The Transition Process and First-Order Circuits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3F3A66-A723-FC7A-EF24-23BE470BC9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Part (6). Time-Domain Analysis of Dynamic Circuits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D7972F16-0F7F-ECE5-9FE5-0151C9B972CE}"/>
              </a:ext>
            </a:extLst>
          </p:cNvPr>
          <p:cNvSpPr/>
          <p:nvPr/>
        </p:nvSpPr>
        <p:spPr>
          <a:xfrm>
            <a:off x="0" y="3428999"/>
            <a:ext cx="3184275" cy="3419477"/>
          </a:xfrm>
          <a:prstGeom prst="rtTriangle">
            <a:avLst/>
          </a:prstGeom>
          <a:solidFill>
            <a:srgbClr val="2A70AE"/>
          </a:solidFill>
          <a:ln>
            <a:solidFill>
              <a:srgbClr val="2970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ый треугольник 4">
            <a:extLst>
              <a:ext uri="{FF2B5EF4-FFF2-40B4-BE49-F238E27FC236}">
                <a16:creationId xmlns:a16="http://schemas.microsoft.com/office/drawing/2014/main" id="{313ED4AC-0DC8-D84F-1F44-963A464B6E67}"/>
              </a:ext>
            </a:extLst>
          </p:cNvPr>
          <p:cNvSpPr/>
          <p:nvPr/>
        </p:nvSpPr>
        <p:spPr>
          <a:xfrm rot="10800000">
            <a:off x="9007724" y="9522"/>
            <a:ext cx="3184275" cy="3419477"/>
          </a:xfrm>
          <a:prstGeom prst="rtTriangle">
            <a:avLst/>
          </a:prstGeom>
          <a:solidFill>
            <a:srgbClr val="2A70AE"/>
          </a:solidFill>
          <a:ln>
            <a:solidFill>
              <a:srgbClr val="2970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9668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DD286-CFA3-6A86-1D27-754C25823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45F97A-817C-79A0-B81A-68B7A1FA2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DC9A44-6566-FF1E-71D9-1F3528C79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Welcome back to the course on The Principle of Circuit.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have spent the last several lectures analyzing circuits in the «Steady State».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Whether it was DC (Direct Current) or AC (Alternating Current), we assumed that the circuit had been running for a long time and all voltages and currents were stable or repeating perfectly.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E49128D-E135-92C2-56FB-2C1A8CA0B33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4980A69B-0388-DD4A-B13F-35CD5CCD2D36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579197B-F692-CADD-1C77-16CE2E57F8A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89874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35829-7AE5-9B60-24E3-8774CF236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7EAD6-A367-C868-E3D7-0689C949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000D56-EF8C-CC24-BE10-A2D130CBB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Today, we enter a new and exciting domain: Dynamic Circuits.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will study what happens in the brief moments immediately after you flip a switch.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This lecture introduces the Transition Process, the Laws of Switching, and the analysis of First-Order Circuits.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This knowledge is critical because real-world electronics, from digital computers to power systems, rely on switching behavior.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7B6D595-82A2-3AC6-539B-9974620B9C1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634E7A8-4BC8-3C54-73C0-1655F1D078C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D71A6921-5009-32E4-2D8A-D6C18DFF112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13761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3F258-81E4-EDA6-4D49-CEC1B88B5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09F703-BF86-15CE-24AB-FD7924C3D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4A8445-27C3-8865-72EF-99FF93C3C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To understand dynamic circuits, we must look at the components we use. In previous lectures, we dealt primarily with resistors. 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Resistors are algebraic elements; they dissipate energy instantly.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If you change the voltage across a resistor, the current changes instantly.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69F115E-0E7A-B237-9900-0378A3218DC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4ED6D97-9BDB-B793-01C9-A37BCE1E438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7D0C599-CF76-11E8-EBF3-9CDE55E14C79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51712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7D95-BD3B-79E0-4096-5D368C7BB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43B8D0-40B0-C1A0-7753-F6C63DAC5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375E13-BAA3-732B-E9DB-E21F0A2760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However, capacitors and inductors are energy storage elements.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A capacitor stores energy in its electric field </a:t>
                </a:r>
                <a:b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</a:b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𝑪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𝟐</m:t>
                        </m:r>
                      </m:den>
                    </m:f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𝑪</m:t>
                    </m:r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𝒗</m:t>
                        </m:r>
                      </m:e>
                      <m:sup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), and an inductor stores energy in its magnetic field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𝑾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𝟐</m:t>
                        </m:r>
                      </m:den>
                    </m:f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𝑳</m:t>
                    </m:r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𝒊</m:t>
                        </m:r>
                      </m:e>
                      <m:sup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Because they store energy, they have «memory».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375E13-BAA3-732B-E9DB-E21F0A2760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D17759C-0770-F747-A246-2C8086C3094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F68F0F2-AC74-BC67-A50E-BC6D30E577A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913B9FE-3C99-49BD-B842-4A8391913A26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923086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0D712-5057-45AD-1158-3CFF8093C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AD7548-C41E-9EA9-9DDE-F53E7814E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4653E9-622B-9F3C-789A-2E78D10A6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6" y="1825625"/>
            <a:ext cx="10891684" cy="4351338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They resist abrupt changes in their state.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A physical system cannot change its energy level from one value to another in zero time, because that would require infinite power.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Therefore, when we switch a circuit on or off, the voltages and currents need time to transition from their old value to their new value.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This period of adjustment is called the Transition Process or the Transient Response.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9159DE9-5A57-F09A-672F-7C5016DCA33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B219644-EB1D-1C03-25CE-8424E331E2A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4D96320F-C8D1-F46D-888A-271628A6B52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30285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87835-0982-9940-39DF-B6F3D480F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4A8D3F-9A11-4777-DCB8-38955A5E1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52B3A0-68C9-2DFB-1969-F572F6FA0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Transition Process occurs when a circuit changes from one steady state to another. 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This usually happens due to a «commutation» or switching event.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Commutation is the process of closing or opening a switch, or a sudden change in component parameters. 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3A0D97D-B1AB-3060-02DE-81C5DB38D2C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65909B3-3BFC-03A7-00BC-11CC7A8B3E4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463E27C6-9DE4-2D4A-549E-FAD0AEA8657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796287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FE9DE-28E9-60BD-16EA-10BF82F9B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FF917-C8DB-8BD4-0059-15F63A354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9B25750-6D02-D894-61BE-B5A8C5D23F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We describe time in three distinct zones relative to the switch: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&lt;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𝟎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(or 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𝟎</m:t>
                        </m:r>
                      </m:e>
                      <m:sup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): the state of the circuit immediately before the switch is thrown</a:t>
                </a:r>
                <a:r>
                  <a:rPr lang="ru-RU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(we assume the circuit is in a steady state here);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𝟎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: the exact instant the switch operates;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342900" lvl="0" indent="-342900" algn="just">
                  <a:lnSpc>
                    <a:spcPct val="120000"/>
                  </a:lnSpc>
                  <a:buFont typeface="Symbol" panose="05050102010706020507" pitchFamily="18" charset="2"/>
                  <a:buChar char=""/>
                </a:pP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&gt;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𝟎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(or 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𝟎</m:t>
                        </m:r>
                      </m:e>
                      <m:sup>
                        <m:r>
                          <a:rPr lang="en-US" b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): the state of the circuit immediately after the switch is thrown.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9B25750-6D02-D894-61BE-B5A8C5D23F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EE15DBD-DA4D-7A8C-385D-B573AB414873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F530C0F-B7A9-28C0-1E54-E2048AFDFB7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DDD452B-85A7-D5A4-DFE7-57133499A46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93260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8CA2A-E0C1-E90F-8402-16C926013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77DDC4-60FC-068F-17B6-255AAE5C9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DEADC2-414C-DB9B-E641-20CF8CB33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last one is where the transition happens.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Our goal is to write equations that describe voltage and current as functions of time, v(t) and </a:t>
            </a:r>
            <a:r>
              <a:rPr lang="en-US" dirty="0" err="1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</a:t>
            </a: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(t), for t&gt;0.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This figure illustrates the transition process in a capacitor and an inductor.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In the graphs</a:t>
            </a:r>
            <a:r>
              <a:rPr lang="ru-RU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 (</a:t>
            </a: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next slide), the green line represents voltage, and the gold line represents current.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02FA2D5-2C7F-D9EF-C955-02BA1824CF2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DFD30B9-CEE5-6E62-8681-1123D725145B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026A946-AF8F-5B25-DE3C-E354D864D9C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508877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2138-E846-0AE8-5DCD-C8239EBD1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B45DEE-1B83-9BB5-A347-252D223DE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F283B40-1D64-8E1F-9137-9CD8725EF90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8361169-4ADF-9414-8A18-D7A658460CF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9C36887-20E5-9A72-7482-86983F0749E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03061861-AD39-A5B3-EA34-96FC73097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switch is in the down position, voltage from the source charges the capacitor and forces current through the inductor. </a:t>
            </a:r>
            <a:endParaRPr lang="ru-RU" dirty="0"/>
          </a:p>
        </p:txBody>
      </p:sp>
      <p:pic>
        <p:nvPicPr>
          <p:cNvPr id="10" name="Объект 6">
            <a:extLst>
              <a:ext uri="{FF2B5EF4-FFF2-40B4-BE49-F238E27FC236}">
                <a16:creationId xmlns:a16="http://schemas.microsoft.com/office/drawing/2014/main" id="{608A5DF9-2675-2D3C-5E01-700D93BB9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5942" y="3608312"/>
            <a:ext cx="11240116" cy="30122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4420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1A9C6-D8B1-47ED-E671-F2BE365EA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004745-3AE3-A285-8068-11AA6616F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A431E84-D26D-0AF6-BC61-1DEC94090A38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4616B950-F54E-D859-4044-23B72879AA8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E7EFF07-7DA1-E31D-82EC-028572E05D8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AD8A88B2-2DAF-89B4-BE51-FDC441C27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switch is in the up position, all components are shorted, causing the inductor current and the charge from the capacitor to flow to ground. </a:t>
            </a:r>
            <a:endParaRPr lang="ru-RU" dirty="0"/>
          </a:p>
        </p:txBody>
      </p:sp>
      <p:pic>
        <p:nvPicPr>
          <p:cNvPr id="9" name="Объект 6">
            <a:extLst>
              <a:ext uri="{FF2B5EF4-FFF2-40B4-BE49-F238E27FC236}">
                <a16:creationId xmlns:a16="http://schemas.microsoft.com/office/drawing/2014/main" id="{996D630C-B09C-99E9-6524-80044C088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5942" y="3608312"/>
            <a:ext cx="11240116" cy="30122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8547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1DD9C-64D2-E13B-E605-EA8E3BB88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2F3E46-A53A-5C27-4B16-6E5DAA598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A86504C-09D8-F97A-C5BD-2AAA6E004E6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69911A2-471B-01EF-53DF-193084C719FB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E006F99-7897-CDF1-7787-A0F8B7B0A89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5FF9FA24-69CC-70FC-C6B2-C4453A526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transition process can be observed between the switches.</a:t>
            </a:r>
            <a:endParaRPr lang="ru-RU" dirty="0"/>
          </a:p>
        </p:txBody>
      </p:sp>
      <p:pic>
        <p:nvPicPr>
          <p:cNvPr id="3" name="Объект 6">
            <a:extLst>
              <a:ext uri="{FF2B5EF4-FFF2-40B4-BE49-F238E27FC236}">
                <a16:creationId xmlns:a16="http://schemas.microsoft.com/office/drawing/2014/main" id="{44B22E49-573F-EA87-DCB3-06C12C5F8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5942" y="3608312"/>
            <a:ext cx="11240116" cy="30122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1446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91BC-F5CA-A30C-7D78-153F95D6B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342818-2145-BAD6-B304-726A220F7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01BE070-35E8-92C8-AD0F-9546B7D5D443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9299A12-33AF-F98E-E8C3-31AFF98024FB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444326D-99DD-5BAD-530C-4E50814CD0E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8E028A33-8CF2-CD07-93D4-DCB469F53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0143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To analyze the transition, we rely on two fundamental rules known as the Laws of Switching (or Laws of Commutation). These laws are based on the one principle: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Energy cannot change instantly. 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689429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57BF5-7061-A311-0FFB-37549F6AB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0793DD-8553-AC56-B42B-5FF3BA5F3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162A546-60B7-3BAF-A1A3-39714A352CC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4EFD3FF-F990-C47E-DDFB-B18C7F82399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2A54E47-A75C-06D2-67B3-C3B49353CF2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53FE9C7B-48C8-8B4C-79E8-C3BA3B25D8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0143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First Switching Law: the voltage across a capacitor cannot change abruptly.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Mathematically,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𝐶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𝐶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p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+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This means the voltage on the capacitor right after the switch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p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is exactly the same as it was right before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53FE9C7B-48C8-8B4C-79E8-C3BA3B25D8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0143"/>
              </a:xfrm>
              <a:blipFill>
                <a:blip r:embed="rId2"/>
                <a:stretch>
                  <a:fillRect l="-1043" t="-50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9677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0262C-87DB-CF9E-6666-DF0660290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DC8CE7-421A-DBCA-E712-A917BF713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EDF6C18-4704-A7B5-CCCB-743113F133DB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733A182-1719-0885-133C-45DFC3808B1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D4EA47B-3275-F99C-7477-B5F3EA4857F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10282EFB-57C5-4079-5436-71D5CCA774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Second Switching Law: the current flowing through an inductor cannot change abruptly.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Mathematically,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𝐿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𝐿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p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+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This means the magnetic field inside the inductor acts like a heavy flywheel; it keeps the current moving at the same speed even if the voltage changes.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10282EFB-57C5-4079-5436-71D5CCA774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5292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BA3F5-0604-C5B6-A3B1-DA7B0C984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A9627F-8B48-3255-FCA7-8FCDE537E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F6ADC34-7660-4458-7E0F-DD97F9BF9F6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71949FE-E7D4-8A67-BD7A-B2D05D890AF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F0DB783-90DE-F12F-E0DD-60C9AE177C0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C57C37FE-A0D7-BC06-1A90-C737A4F2A2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Note that resistor voltages and currents can change instantly.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Capacitor currents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𝒊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and inductor voltages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can also change instantly (even jumping to specific values).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Only the stored energy variables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must be continuous.</a:t>
                </a: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C57C37FE-A0D7-BC06-1A90-C737A4F2A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8597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A1060-D820-41F2-6E65-F611A9DB1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988AA7-270D-1E9D-BC02-665A83757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4DA127D-5D22-49AF-254A-7ADB2D859133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DB27695-1C7C-BDC4-11DA-31A9D298B5F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849DE7C-8F3F-A22B-4236-68BFBA77A69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294903A8-AECC-E2D2-613E-97B8A18136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Applying the Laws of Switching allows us to determine the «Initial Conditions» of the circuit.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analysis of any dynamic circuit begins with calculating the independent initial conditions.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Here is the step-by-step algorithm: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1. Analyze the circuit at 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𝟎</m:t>
                        </m:r>
                      </m:e>
                      <m:sup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(before switching).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294903A8-AECC-E2D2-613E-97B8A18136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4643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D77F3-5E15-DFFE-F561-F670137AA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B59388-A6DB-324B-BEAB-AE85DC50C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6D3B16C-EE02-5AFB-9F86-4E34A755596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81DB374-316A-FF4E-B832-812EE56EF7F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EF65E03-3193-A2F7-DCFD-4FC04464D42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7AE9293D-5064-104C-7F27-6D3190262A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In this state, capacitors act as open circuits (assuming DC) and inductors act as short circuits.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𝐶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𝐿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2. Apply the Switching Laws.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𝐶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p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+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𝐶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𝐿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p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+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𝐿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</m:sup>
                    </m:sSup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</a:t>
                </a: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7AE9293D-5064-104C-7F27-6D3190262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8775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9EEA0-E973-621D-3A28-3A6B73EE6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9C70E5-F3EC-8A0D-5F8A-4A96183B2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9D33A5E-2CF4-AF60-BD9D-61728610260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B1D7351-D67C-CAD1-C90E-43437823B70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055466D-001B-3C76-1A91-D88BCC26E5A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CD84FB62-ECB5-7D60-472B-DE3FCE68D7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3. Draw the equivalent circuit for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𝟎</m:t>
                        </m:r>
                      </m:e>
                      <m:sup>
                        <m:r>
                          <a:rPr lang="en-US" b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Replace the capacitor with a voltage source of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𝒗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𝑪</m:t>
                        </m:r>
                      </m:sub>
                    </m:sSub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𝟎</m:t>
                        </m:r>
                      </m:e>
                      <m:sup>
                        <m:r>
                          <a:rPr lang="en-US" b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+</m:t>
                        </m:r>
                      </m:sup>
                    </m:sSup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Replace the inductor with a current source of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𝒊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sub>
                    </m:sSub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𝟎</m:t>
                        </m:r>
                      </m:e>
                      <m:sup>
                        <m:r>
                          <a:rPr lang="en-US" b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+</m:t>
                        </m:r>
                      </m:sup>
                    </m:sSup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4. Solve this resistive circuit to find any other values (like resistor currents) at the instant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𝟎</m:t>
                        </m:r>
                      </m:e>
                      <m:sup>
                        <m:r>
                          <a:rPr lang="en-US" b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Now we define the type of circuits we will study today: First-Order Circuits.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CD84FB62-ECB5-7D60-472B-DE3FCE68D7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287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BC8A9-11DD-9DD1-2BC7-7A7C07714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6445BC-F1AF-B4A0-C9A9-B9E554A97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E5928C0-45B4-184E-831F-61DEE5C4AAA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05AA2C9-146C-0E21-5C60-D6E8771FF3F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76EC76A-38AA-DD6B-9C3A-C60B3F33611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9D9E3DA1-4DE6-B327-70EF-DF3B85A72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A First-Order Circuit is a circuit that contains only one energy storage element (one Capacitor or one Inductor) and any number of resistors and sources. </a:t>
            </a:r>
            <a:endParaRPr lang="ru-RU" b="1" dirty="0"/>
          </a:p>
          <a:p>
            <a:r>
              <a:rPr lang="en-US" dirty="0"/>
              <a:t>Or, it may contain multiple capacitors or inductors that can be combined into a single equivalent element. </a:t>
            </a:r>
            <a:endParaRPr lang="ru-RU" dirty="0"/>
          </a:p>
          <a:p>
            <a:r>
              <a:rPr lang="en-US" b="1" dirty="0"/>
              <a:t>These circuits are described mathematically by a first-order linear differential equation. 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571140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47C88-BD58-7383-BAD3-2A09D9D2A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4BA53-F5F4-8664-ECCC-CFF003404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C66921B-B424-03F4-6EF2-1EF2FD56A12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E4371EC-9F7B-D86D-8A39-27D3239B7CD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1C250E0-5296-D367-A1FF-13A9FAD9BCE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F6C6692E-7B8E-67B5-DCB3-EA17921998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For a variable x(t) (which could be voltage or current), the equation generally looks like this:</a:t>
                </a:r>
                <a:endParaRPr lang="ru-RU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  <m:r>
                        <a:rPr lang="en-US" b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𝝉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b="1" dirty="0"/>
              </a:p>
              <a:p>
                <a:r>
                  <a:rPr lang="en-US" b="1" dirty="0"/>
                  <a:t>where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b="1" dirty="0"/>
                  <a:t> (tau) is the Time Constant, which determines the speed of the transition,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represents the external sources driving the circuit. </a:t>
                </a:r>
                <a:endParaRPr lang="ru-RU" b="1" dirty="0"/>
              </a:p>
              <a:p>
                <a:r>
                  <a:rPr lang="en-US" dirty="0"/>
                  <a:t>We will look at two specific responses: the Zero-Input Response (natural decay) and the Zero-State Response (charging).</a:t>
                </a: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F6C6692E-7B8E-67B5-DCB3-EA17921998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6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4076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780D9-FC4D-E2E2-D706-E1F32C79E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A05521-9ECA-7CCB-F58D-02366150D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E65FAE4-0084-BB0C-10FD-9BE1EA9E976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95AF765-38D8-A86B-BF55-92BDC17596B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66B48D0C-9BA9-AF53-636A-C57F7E5C12A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4F7E9182-B1FD-6F78-FFE5-97FA6326C4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Let us begin with the Zero-Input Response.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The Zero-Input Response describes how a circuit behaves when there is no external power source for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&gt;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𝟎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The energy comes entirely from the initial charge stored in the capacitor or inductor.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ru-RU" b="1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4F7E9182-B1FD-6F78-FFE5-97FA6326C4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1493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32FAF-4051-A36A-72E1-0A9035BC7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C899CE-CC90-D952-6218-FD2A58977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A3AC75F-E6BD-EB7E-E90C-655E801C1F8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90DEB55-F5C9-9FC6-E4EF-ECE260433EE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5F9DE7BC-4DA6-0631-F1B6-30499A2170C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36273025-45C8-F847-69A7-B82FB589A2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Consider an RC Circuit (Resistor and Capacitor) where the capacitor is initially charged to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At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0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we connect the resistor across the capacitor.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By Kirchhoff's Current Law (KCL), the current leaving the capacitor enters the resistor: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𝒊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𝑪</m:t>
                          </m:r>
                        </m:sub>
                      </m:sSub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𝒊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𝑹</m:t>
                          </m:r>
                        </m:sub>
                      </m:sSub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𝟎</m:t>
                      </m:r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36273025-45C8-F847-69A7-B82FB589A2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2532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4D684-9D00-CC94-222E-A80CC43EC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03AD90-B2B3-2D7D-AF68-CC16CDDE6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095C407-0383-F857-D95E-BEE863E4CEC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0A33702-E626-3D37-7F91-0B7FB928CF2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CF8CCEC-7141-B3CD-7C48-068E46F4230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36FF50B-708D-1597-1CA4-A828A71FA8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>
                    <a:effectLst/>
                    <a:ea typeface="Aptos" panose="020B0004020202020204" pitchFamily="34" charset="0"/>
                  </a:rPr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𝐶</m:t>
                        </m:r>
                      </m:sub>
                    </m:sSub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𝐶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𝑑𝑣</m:t>
                        </m:r>
                      </m:num>
                      <m:den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𝑖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sub>
                    </m:sSub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𝑣</m:t>
                        </m:r>
                      </m:num>
                      <m:den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</a:rPr>
                  <a:t>, we write:</a:t>
                </a: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b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dirty="0"/>
              </a:p>
              <a:p>
                <a:r>
                  <a:rPr lang="en-US" dirty="0"/>
                  <a:t>This is a homogeneous differential equation. </a:t>
                </a:r>
                <a:endParaRPr lang="ru-RU" dirty="0"/>
              </a:p>
              <a:p>
                <a:r>
                  <a:rPr lang="en-US" dirty="0"/>
                  <a:t>The solution is an exponential decay: 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d>
                        <m:d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b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p>
                        <m:sSup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den>
                          </m:f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b="1" dirty="0"/>
              </a:p>
              <a:p>
                <a:r>
                  <a:rPr lang="en-US" b="1" dirty="0"/>
                  <a:t>where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𝑹𝑪</m:t>
                    </m:r>
                  </m:oMath>
                </a14:m>
                <a:r>
                  <a:rPr lang="en-US" b="1" dirty="0"/>
                  <a:t> is the time constant. </a:t>
                </a:r>
                <a:endParaRPr lang="ru-RU" b="1" dirty="0"/>
              </a:p>
              <a:p>
                <a:r>
                  <a:rPr lang="en-US" b="1" dirty="0"/>
                  <a:t>The voltage starts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dirty="0"/>
                  <a:t> and decays to zero over time.</a:t>
                </a:r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36FF50B-708D-1597-1CA4-A828A71FA8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1997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5EF5C-9598-3A48-9C7B-BDDDCCC06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23A204-B99B-4F4D-0489-EC7EB4A8A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249F59F-84E8-48DF-9E80-ADF4697C480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212592B-4ED7-17A9-471F-675336F8655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8DD8169-1162-93D5-97C3-8FB46A3775A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7" name="Объект 6">
            <a:extLst>
              <a:ext uri="{FF2B5EF4-FFF2-40B4-BE49-F238E27FC236}">
                <a16:creationId xmlns:a16="http://schemas.microsoft.com/office/drawing/2014/main" id="{1E96BF04-2874-D518-8ED5-FAF7D2A84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037C95D0-5948-FA3C-FEFF-1FCEEB27C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74323" y="2070119"/>
            <a:ext cx="4220156" cy="422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D1064141-645F-04AD-A9AC-9573E919B58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03454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you have any questions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 the moment?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290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AD900-011E-1A5F-98F5-DB9C97637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69DBA3-44F6-6455-0E55-FC96F3F3A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9F8EDF9-5F7F-0E3D-B4CE-5B203D07BC9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411DA90-6F5D-B592-F260-9B025ACFDB8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A3FAF3A-D1E4-8A9E-1535-4502FFB7660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86172AD7-3D7A-770C-32EE-74395EA7FD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/>
                  <a:t>We see similar behavior in an RL Circuit (Resistor and Inductor). </a:t>
                </a:r>
                <a:endParaRPr lang="ru-RU" b="1" dirty="0"/>
              </a:p>
              <a:p>
                <a:r>
                  <a:rPr lang="en-US" b="1" dirty="0"/>
                  <a:t>Imagine an inductor with initial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dirty="0"/>
                  <a:t>. </a:t>
                </a:r>
                <a:endParaRPr lang="ru-RU" b="1" dirty="0"/>
              </a:p>
              <a:p>
                <a:r>
                  <a:rPr lang="en-US" dirty="0"/>
                  <a:t>We short-circuit it through a resistor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 </a:t>
                </a:r>
                <a:endParaRPr lang="ru-RU" dirty="0"/>
              </a:p>
              <a:p>
                <a:r>
                  <a:rPr lang="en-US" b="1" dirty="0"/>
                  <a:t>By Kirchhoff's Voltage Law (KVL), the sum of voltages is zero:</a:t>
                </a:r>
                <a:endParaRPr lang="ru-RU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</m:sSub>
                      <m:r>
                        <a:rPr lang="en-US" b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  <m:r>
                        <a:rPr lang="en-US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/>
              </a:p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𝑑𝑖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𝑖𝑅</m:t>
                    </m:r>
                  </m:oMath>
                </a14:m>
                <a:r>
                  <a:rPr lang="en-US" dirty="0"/>
                  <a:t>, we write: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𝑖𝑅</m:t>
                      </m:r>
                      <m:r>
                        <a:rPr lang="en-US" b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86172AD7-3D7A-770C-32EE-74395EA7FD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58757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A8E41-4F34-3942-B746-71D2DFBAB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AAABD-74E5-7BC5-41C5-CE97EF7C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31EA4DB-9919-EB48-ACBD-8A2ED86A027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975197E-89FA-BAD4-D882-ACDC710D874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AAF7739-2F1E-684D-E46A-D7E5E6B23F8C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BB6E542F-EFE8-F6CA-BDEF-4DC03C3047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The solution is: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𝒊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𝑳</m:t>
                          </m:r>
                        </m:sub>
                      </m:sSub>
                      <m:d>
                        <m:d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𝒕</m:t>
                          </m:r>
                        </m:e>
                      </m:d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𝑰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𝟎</m:t>
                          </m:r>
                        </m:sub>
                      </m:sSub>
                      <m:sSup>
                        <m:sSup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𝒕</m:t>
                              </m:r>
                            </m:num>
                            <m:den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𝝉</m:t>
                              </m:r>
                            </m:den>
                          </m:f>
                        </m:sup>
                      </m:sSup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For an RL circuit, the time constant is 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𝝉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num>
                      <m:den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den>
                    </m:f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For RC circuits, 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𝝉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𝑹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𝑪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, large R means slower decay.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For RL circuits, 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𝝉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𝑳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/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𝑹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 Large R means faster decay.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This is because a large resistor in an RL circuit forces the magnetic energy to dissipate faster as heat to maintain the voltage drop.</a:t>
                </a:r>
                <a:r>
                  <a:rPr lang="en-US" b="1" dirty="0">
                    <a:effectLst/>
                    <a:ea typeface="Aptos" panose="020B0004020202020204" pitchFamily="34" charset="0"/>
                  </a:rPr>
                  <a:t>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BB6E542F-EFE8-F6CA-BDEF-4DC03C3047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" r="-1159" b="-96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40064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F1636-C5AE-1499-BC33-04AE567DA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C6C0A-93DF-E66A-4615-C892C1960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4A10608-111A-E1D5-B5D2-FC7582A8C2C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D77ADE5-E43E-0B94-7545-C0EA1E086A6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EAFEC732-A371-E703-A6B3-A0538049DBC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B4F3E821-6370-6186-8274-89B4BCAACE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/>
                  <a:t>The Time Constant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b="1" dirty="0"/>
                  <a:t> is the most important parameter in dynamic analysis. </a:t>
                </a:r>
                <a:endParaRPr lang="ru-RU" b="1" dirty="0"/>
              </a:p>
              <a:p>
                <a:r>
                  <a:rPr lang="en-US" dirty="0"/>
                  <a:t>It tells us how «sluggish» or «fast» the circuit is. </a:t>
                </a:r>
                <a:endParaRPr lang="ru-RU" dirty="0"/>
              </a:p>
              <a:p>
                <a:r>
                  <a:rPr lang="en-US" b="1" dirty="0"/>
                  <a:t>Physically,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b="1" dirty="0"/>
                  <a:t> is the time it takes for the response to decay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𝒆</m:t>
                        </m:r>
                      </m:den>
                    </m:f>
                  </m:oMath>
                </a14:m>
                <a:r>
                  <a:rPr lang="en-US" b="1" dirty="0"/>
                  <a:t> (approximately 36.8%) of its initial value. </a:t>
                </a:r>
                <a:endParaRPr lang="ru-RU" b="1" dirty="0"/>
              </a:p>
              <a:p>
                <a:r>
                  <a:rPr lang="en-US" b="1" dirty="0"/>
                  <a:t>Or, simply put, after one time constant (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b="1" dirty="0"/>
                  <a:t>), the circuit has lost 63.2% of its initial energy. </a:t>
                </a:r>
                <a:endParaRPr lang="ru-RU" b="1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B4F3E821-6370-6186-8274-89B4BCAACE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4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639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69C9B-0F45-D2D6-6290-962625FAF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5CEB72-0293-EEDF-59C2-63BC9CF57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87CD4E2-2EF8-7D91-0346-35237291F8A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04EC23B-FD46-CBB2-496F-5BFDAD72941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D358DC3E-8AB6-97DF-2351-1CA2C29B1DE9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60D30DC1-2E4A-424A-F293-9BCF515DB3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How long does the transition last? </a:t>
                </a:r>
                <a:endParaRPr lang="ru-RU" dirty="0"/>
              </a:p>
              <a:p>
                <a:r>
                  <a:rPr lang="en-US" dirty="0"/>
                  <a:t>Theoretically, it takes infinite time to reach exactly zero. </a:t>
                </a:r>
                <a:endParaRPr lang="ru-RU" dirty="0"/>
              </a:p>
              <a:p>
                <a:r>
                  <a:rPr lang="en-US" b="1" dirty="0"/>
                  <a:t>For engineering purposes, we assume the transition is complete after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b="1" dirty="0"/>
                  <a:t> to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b="1" dirty="0"/>
                  <a:t>. </a:t>
                </a:r>
                <a:endParaRPr lang="ru-RU" b="1" dirty="0"/>
              </a:p>
              <a:p>
                <a:r>
                  <a:rPr lang="en-US" b="1" dirty="0"/>
                  <a:t>At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b="1" dirty="0"/>
                  <a:t>, the value is roughly 5%, at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b="1" dirty="0"/>
                  <a:t>, the value is roughly 0.7%, which we consider to be zero (Steady State).</a:t>
                </a:r>
                <a:endParaRPr lang="ru-RU" b="1" dirty="0"/>
              </a:p>
              <a:p>
                <a:r>
                  <a:rPr lang="en-US" dirty="0"/>
                  <a:t>If you are designing a high-speed computer, you want a very small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. </a:t>
                </a:r>
                <a:endParaRPr lang="ru-RU" dirty="0"/>
              </a:p>
              <a:p>
                <a:r>
                  <a:rPr lang="en-US" dirty="0"/>
                  <a:t>If you are designing a delay timer, you want a large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60D30DC1-2E4A-424A-F293-9BCF515DB3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5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41097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B2908-B34C-B1C0-5ECA-C65AF1744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1DED90-8CE8-AACD-10C2-BEC9D89FC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89FA3AF-F1B6-31AA-51BD-70B5D01259B8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F1070AB-D618-E0D0-E0E6-72DDBDB33A38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3E28F69-4A31-4E91-FA15-F18EF2D4E60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E1366B2D-C509-F4E9-9059-F86685D405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Now we consider the Zero-State Response.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Zero-State Response describes the behavior when the energy storage element is initially empty (zero energy) and we connect an external DC source.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This is often called the «Step Response».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Consider an uncharged capacitor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𝐶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0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0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connected in series with a resistor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𝑅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and a voltage source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E1366B2D-C509-F4E9-9059-F86685D405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7601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BED36-0A22-D78A-7156-BAFB06682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AB0CE4-F46B-5CF5-5D1D-D2B2B33A4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73A515F-71D9-E2DB-A888-644253B2795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10E729F1-A922-3958-FE7B-A010464E7FD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26CE82E-67CB-FDE0-0F18-DB8A35FCAAD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F7D51AC7-5A9B-665D-21AA-C0FD0ED3F3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Using KVL: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𝑆</m:t>
                          </m:r>
                        </m:sub>
                      </m:sSub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𝑅</m:t>
                          </m:r>
                        </m:sub>
                      </m:sSub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𝐶</m:t>
                          </m:r>
                        </m:sub>
                      </m:sSub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𝑆</m:t>
                          </m:r>
                        </m:sub>
                      </m:sSub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𝑅𝐶</m:t>
                      </m:r>
                      <m:f>
                        <m:f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𝑑𝑡</m:t>
                          </m:r>
                        </m:den>
                      </m:f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𝐶</m:t>
                          </m:r>
                        </m:sub>
                      </m:sSub>
                      <m:r>
                        <a:rPr lang="en-US" b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This is a non-homogeneous differential equation.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F7D51AC7-5A9B-665D-21AA-C0FD0ED3F3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6170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87798-ADF9-C9DC-AA9B-D259C9FC1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08C619-DEA5-DEFB-7576-34D87F492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89612C1-1BFA-8037-A54B-FBD0DC8E7E4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F24EECF-6338-2DE9-7C62-EAB81503222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D9746C70-E1AF-187E-36B6-7B259E5BB50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38C7BB55-E1A5-6566-8841-29550780B2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solution has two parts: the Forced Response (steady state) and the Natural Response (transient).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𝑪</m:t>
                          </m:r>
                        </m:sub>
                      </m:sSub>
                      <m:d>
                        <m:d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𝒕</m:t>
                          </m:r>
                        </m:e>
                      </m:d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𝑺</m:t>
                          </m:r>
                        </m:sub>
                      </m:sSub>
                      <m:d>
                        <m:d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𝟏</m:t>
                          </m:r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b="1" i="1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 smtClean="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</a:rPr>
                                    <m:t>𝒕</m:t>
                                  </m:r>
                                </m:num>
                                <m:den>
                                  <m:r>
                                    <a:rPr lang="en-US" b="1" i="1" smtClean="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</a:rPr>
                                    <m:t>𝝉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Here, the voltage starts at 0 and rises exponentially towards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𝑺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Just like with decay, the rise speed is determined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𝜏</m:t>
                    </m:r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𝑅𝐶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38C7BB55-E1A5-6566-8841-29550780B2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32657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F99B0-3C06-F71F-BAD1-F518DB643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C99717-C6F9-9545-9134-4DE453CDF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5ABE083-8DC5-F587-D2E2-96EC326760A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84E5D92-B6B0-DA0E-A10A-871B988AC1B9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7D628AF-30CF-373C-D890-9C0AA7DECA12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E9D3C2DA-50C1-8ED2-8150-7A51F85F4E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dirty="0">
                    <a:effectLst/>
                    <a:latin typeface="+mj-lt"/>
                    <a:ea typeface="Aptos" panose="020B0004020202020204" pitchFamily="34" charset="0"/>
                    <a:cs typeface="Times New Roman" panose="02020603050405020304" pitchFamily="18" charset="0"/>
                  </a:rPr>
                  <a:t>Let us analyze the components of the Zero-State equation:</a:t>
                </a:r>
                <a:endParaRPr lang="ru-RU" dirty="0">
                  <a:effectLst/>
                  <a:latin typeface="+mj-lt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𝒗</m:t>
                      </m:r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m:rPr>
                          <m:nor/>
                        </m:rPr>
                        <a:rPr lang="en-US" b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Steady</m:t>
                      </m:r>
                      <m:r>
                        <m:rPr>
                          <m:nor/>
                        </m:rPr>
                        <a:rPr lang="en-US" b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State</m:t>
                      </m:r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b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Transient</m:t>
                      </m:r>
                    </m:oMath>
                  </m:oMathPara>
                </a14:m>
                <a:endParaRPr lang="ru-RU" b="1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The Steady State value (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𝒕</m:t>
                    </m:r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→∞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) is simply the source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𝑺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 The capacitor eventually acts as an open circuit.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The Transient term is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𝑺</m:t>
                        </m:r>
                      </m:sub>
                    </m:sSub>
                    <m:sSup>
                      <m:s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𝒆</m:t>
                        </m:r>
                      </m:e>
                      <m:sup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𝒕</m:t>
                        </m:r>
                        <m:r>
                          <a:rPr lang="en-US" b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/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𝝉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ea typeface="Aptos" panose="020B0004020202020204" pitchFamily="34" charset="0"/>
                  </a:rPr>
                  <a:t>This term dies out over time. But why is it negative? </a:t>
                </a:r>
                <a:endParaRPr lang="ru-RU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It is negative because it opposes the change.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E9D3C2DA-50C1-8ED2-8150-7A51F85F4E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348" b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18090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9EEB2-B493-A01B-A36E-B7C579D47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DC2B60-87E2-B5A6-BDD5-D3962C973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E0947EC-2468-EDE7-2F53-134CC88C32A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4E90D27-478A-C5B7-5B4E-FEC0DB657562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D2A6A06-D27F-0F10-D91D-B433BD1E45C9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E3C3C152-B73C-4EC6-ADEB-0C4B737EA2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capacitor «fights» the sudden rise in voltage.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Initially, at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𝑡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0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the transient part is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and the steady state is </a:t>
                </a:r>
                <a14:m>
                  <m:oMath xmlns:m="http://schemas.openxmlformats.org/officeDocument/2006/math"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, so the total is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0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This satisfies the switching law.</a:t>
                </a:r>
                <a:endParaRPr lang="en-US" dirty="0">
                  <a:effectLst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ea typeface="Aptos" panose="020B0004020202020204" pitchFamily="34" charset="0"/>
                  </a:rPr>
                  <a:t>For an RL circuit charging from zero current: 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𝒊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sub>
                    </m:sSub>
                    <m:d>
                      <m:d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d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𝒕</m:t>
                        </m:r>
                      </m:e>
                    </m:d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𝑺</m:t>
                            </m:r>
                          </m:sub>
                        </m:sSub>
                      </m:num>
                      <m:den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den>
                    </m:f>
                    <m:d>
                      <m:d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d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</m:t>
                        </m:r>
                        <m:sSup>
                          <m:sSupPr>
                            <m:ctrlPr>
                              <a:rPr lang="ru-RU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ru-RU" b="1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𝒕</m:t>
                                </m:r>
                              </m:num>
                              <m:den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  <m:t>𝝉</m:t>
                                </m:r>
                              </m:den>
                            </m:f>
                          </m:sup>
                        </m:sSup>
                      </m:e>
                    </m:d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current rises from 0 to its final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𝑆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/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𝑅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endParaRPr lang="ru-RU" b="1" dirty="0">
                  <a:effectLst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E3C3C152-B73C-4EC6-ADEB-0C4B737EA2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 b="-89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188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4B7BE-24E8-0085-8BA1-0317B3B81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8E685-C1A4-AA2E-8E8A-1D4FA39A1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4091D2C-5A53-E097-34CF-BB18B20380C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5F6BC00-85BD-B6FC-4FCC-E5BEC426BBB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24009BC-D3EF-542C-96DA-BE607B52FA2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6AB305B6-FA03-616C-5B4D-3D69CB5651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Summary of First-Order Analysis. </a:t>
                </a:r>
              </a:p>
              <a:p>
                <a:r>
                  <a:rPr lang="en-US" dirty="0"/>
                  <a:t>When you see a circuit with one capacitor or inductor and switches: </a:t>
                </a:r>
              </a:p>
              <a:p>
                <a:r>
                  <a:rPr lang="en-US" dirty="0"/>
                  <a:t>1. Find the initial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using the Laws of Switching. </a:t>
                </a:r>
                <a:endParaRPr lang="ru-RU" dirty="0"/>
              </a:p>
              <a:p>
                <a:r>
                  <a:rPr lang="en-US" dirty="0"/>
                  <a:t>2. Find the final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(∞)</m:t>
                    </m:r>
                  </m:oMath>
                </a14:m>
                <a:r>
                  <a:rPr lang="en-US" dirty="0"/>
                  <a:t> by analyzing the circuit in steady state (Capacitor = Open, Inductor = Short).</a:t>
                </a: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6AB305B6-FA03-616C-5B4D-3D69CB565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12431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224CA-D88F-2245-0513-FBCD8615D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00C9C8-C5FC-CFAA-D692-7F2E772DD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6B52EFE-8CCE-D55F-2E40-0B0DFDB6A663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5D8EBBA-6F29-A706-5D2A-8330DC1B97D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9998090-E598-3C75-7961-836ECA78BBA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0F925BE-6A29-D70A-C12A-4C60298C74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3. Calculate the Time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. For RC: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𝑒𝑞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 For RL: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(Note: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𝑒𝑞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 is the Thevenin equivalent resistance seen by the storage element). </a:t>
                </a:r>
                <a:endParaRPr lang="ru-RU" dirty="0"/>
              </a:p>
              <a:p>
                <a:r>
                  <a:rPr lang="en-US" dirty="0"/>
                  <a:t>4. Plug these three numbers into the general solution formula: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smtClean="0"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en-US" b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sup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p>
                            </m:s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e>
                        </m:d>
                      </m:e>
                    </m:d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den>
                        </m:f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This single formula works for both charging, discharging, and switching between two non-zero levels. It is the universal tool for first-order circuits.</a:t>
                </a:r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A0F925BE-6A29-D70A-C12A-4C60298C74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961" b="-105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1119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4C906-8922-D880-4157-2B3086A02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7064C-32DB-D59F-E51C-70B729CFD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A462C6D-1BB0-CA9A-1A33-73B529BE7FA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3878CD3-3C74-517A-1499-92F8C9B5D74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9513B5F-13A0-AAD8-9E3D-F6112895F57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40B6ADBA-72DA-286C-11A7-EB565D5F16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Let us calculate the Energy Stored in a pair of coupled coils.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We know a single inductor stores energy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𝑊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𝐿</m:t>
                    </m:r>
                    <m:sSup>
                      <m:sSup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𝑖</m:t>
                        </m:r>
                      </m:e>
                      <m: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When two coils are magnetically coupled, the total energy includes the self-energy of both coils plus the interaction energy.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total energy stored in a pair of coupled coils is the sum of the self-energies plus or minus the mutual energy component.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40B6ADBA-72DA-286C-11A7-EB565D5F16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 b="-126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7258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A0D88-625C-FD7C-4D4C-3C5E27BA4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3C3EAA-1A66-9330-12CE-12D3275CD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3AFBC99-0DFC-3DA5-464F-88F9FEB630C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809AD66-C79B-E070-0964-E9253662666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D2D9BA5-0589-A01E-3506-6C2005444E3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120745CE-85F3-7848-BEB3-D7376F66F5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formula is: </a:t>
                </a:r>
                <a14:m>
                  <m:oMath xmlns:m="http://schemas.openxmlformats.org/officeDocument/2006/math"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𝑾</m:t>
                    </m:r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f>
                      <m:f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</m:t>
                        </m:r>
                      </m:sub>
                    </m:sSub>
                    <m:sSubSup>
                      <m:sSub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𝒊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𝟐</m:t>
                        </m:r>
                      </m:sup>
                    </m:sSubSup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+</m:t>
                    </m:r>
                    <m:f>
                      <m:f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𝟐</m:t>
                        </m:r>
                      </m:sub>
                    </m:sSub>
                    <m:sSubSup>
                      <m:sSubSup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𝒊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𝟐</m:t>
                        </m:r>
                      </m:sub>
                      <m:sup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𝟐</m:t>
                        </m:r>
                      </m:sup>
                    </m:sSubSup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±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𝑴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𝒊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𝒊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.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The sign of the mutual term (</a:t>
                </a:r>
                <a14:m>
                  <m:oMath xmlns:m="http://schemas.openxmlformats.org/officeDocument/2006/math"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±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</a:rPr>
                  <a:t>) depends on the dot convention; if currents both enter or both leave the dots, the term is positive, representing increased energy storage capability.</a:t>
                </a: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120745CE-85F3-7848-BEB3-D7376F66F5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75347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E91F5-5CCA-83C3-2DA5-778146158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624428-7144-9B7F-40BE-C9829CA74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A4B7867-C079-321E-6FD2-63F7D8F94FE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D9EBFD9-DA67-C428-86A4-E15E77F9190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F4C6AD3-8C3A-F1F9-028C-FACB9E8281C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9D82C149-EE44-85E2-F313-EA2DD9EB61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Analyzing circuits with Mutual Inductance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) using mesh equations can be tedious. </a:t>
                </a:r>
              </a:p>
              <a:p>
                <a:r>
                  <a:rPr lang="en-US" dirty="0"/>
                  <a:t>We can simplify this by replacing the coupled coils with an equivalent T-Network of uncoupled inductors. </a:t>
                </a:r>
              </a:p>
              <a:p>
                <a:r>
                  <a:rPr lang="en-US" b="1" dirty="0">
                    <a:effectLst/>
                    <a:ea typeface="Aptos" panose="020B0004020202020204" pitchFamily="34" charset="0"/>
                  </a:rPr>
                  <a:t>If two coils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 share a common node, we can model them as a star shape of three inductors: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𝒂</m:t>
                        </m:r>
                      </m:sub>
                    </m:sSub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𝑴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𝒃</m:t>
                        </m:r>
                      </m:sub>
                    </m:sSub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𝑴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𝑳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𝒄</m:t>
                        </m:r>
                      </m:sub>
                    </m:sSub>
                    <m:r>
                      <a:rPr lang="en-US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𝑴</m:t>
                    </m:r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</a:rPr>
                  <a:t>. </a:t>
                </a:r>
                <a:endParaRPr lang="ru-RU" b="1" dirty="0">
                  <a:effectLst/>
                  <a:ea typeface="Aptos" panose="020B0004020202020204" pitchFamily="34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9D82C149-EE44-85E2-F313-EA2DD9EB6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45100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E828A-E334-DAED-C3E0-9BD5019E5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1AD735-DC71-A439-F81F-71DB5B343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9DCBF42-35AC-59FB-06F3-6071A80134A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2D5883E-4C16-6977-C7AE-8ED02AEC5F3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B85D194-81D7-3E46-A626-5D6299D6AA0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ABE09B94-03ED-96F1-9E0C-F588DA3F8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ea typeface="Aptos" panose="020B0004020202020204" pitchFamily="34" charset="0"/>
              </a:rPr>
              <a:t>We can replace a magnetically coupled pair of coils with an equivalent T-network of uncoupled inductors to simplify mesh analysis.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This transformation removes the magnetic link and allows us to treat the circuit as a standard inductive network, which is much easier to solve using Nodal or Mesh analysis.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endParaRPr lang="ru-RU" dirty="0">
              <a:effectLst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1482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202A8-178C-EE6D-7DFF-C4A8A87AD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73F60E-9262-89E1-0D55-F7311FB12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EC217FD-7793-004B-E017-C977C1C5EA3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B0D74E8-CDB4-AC86-BDEC-DDDBF81CA1A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F4421F7-E374-17D5-E8FA-E7E23C1F773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DF644F47-42D0-3356-1353-2DAFFC0A49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We previously discussed the «Ideal» transformer, but we must acknowledge the losses in a «Real» transformer. </a:t>
                </a:r>
              </a:p>
              <a:p>
                <a:r>
                  <a:rPr lang="en-US" b="1" dirty="0"/>
                  <a:t>A real transformer is not 100% efficient; it heats up. </a:t>
                </a:r>
              </a:p>
              <a:p>
                <a:r>
                  <a:rPr lang="en-US" dirty="0"/>
                  <a:t>There are two primary types of power loss:</a:t>
                </a:r>
                <a:endParaRPr lang="ru-RU" dirty="0"/>
              </a:p>
              <a:p>
                <a:pPr lvl="0"/>
                <a:r>
                  <a:rPr lang="en-US" b="1" dirty="0"/>
                  <a:t>Core Losses: these occur in the iron core due to Hysteresis (magnetic friction) and Eddy Currents (circulating currents in the metal).</a:t>
                </a:r>
                <a:endParaRPr lang="ru-RU" b="1" dirty="0"/>
              </a:p>
              <a:p>
                <a:pPr lvl="0"/>
                <a:r>
                  <a:rPr lang="en-US" b="1" dirty="0"/>
                  <a:t>Copper Losses: these occur in the windings due to the resistance of the wire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b="1" dirty="0"/>
                  <a:t>). </a:t>
                </a:r>
              </a:p>
            </p:txBody>
          </p:sp>
        </mc:Choice>
        <mc:Fallback xmlns="">
          <p:sp>
            <p:nvSpPr>
              <p:cNvPr id="8" name="Объект 7">
                <a:extLst>
                  <a:ext uri="{FF2B5EF4-FFF2-40B4-BE49-F238E27FC236}">
                    <a16:creationId xmlns:a16="http://schemas.microsoft.com/office/drawing/2014/main" id="{DF644F47-42D0-3356-1353-2DAFFC0A49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40604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28C12-28DB-EB7C-7876-CD89979AE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51969-3922-D62A-C0F6-5BDE17FA7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984836E-E8AF-1A77-177C-41AC6C516B8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3A938B67-0D26-B31C-F5F4-1D6E041C4F7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D7263D1-374A-4F16-8B87-C047B96CBE56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2053F02E-C505-00A3-5496-53BA5A668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en-US" b="1" dirty="0"/>
              <a:t>Real transformers experience core losses due to hysteresis and eddy currents, and copper losses due to the resistance of the windings. </a:t>
            </a:r>
            <a:endParaRPr lang="ru-RU" b="1" dirty="0"/>
          </a:p>
          <a:p>
            <a:r>
              <a:rPr lang="en-US" b="1" dirty="0"/>
              <a:t>We model these losses by adding a resistor in series (for copper loss) and a resistor in parallel (for core loss) to our transformer model.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1793016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5EF13-7B75-2957-9307-F6F2A0A63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61BE71-5F30-47A6-27A3-208FA126D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89CC504-FD84-6DF5-4DCB-E332EAA57DF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D9FDE40-FE91-03F6-D2EF-93F190A5E1F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3A2E566-61FD-B105-F46C-37E9487DE9F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0DCCB038-5CF3-5170-99DD-A9A7B56AA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Finally, there is a special type of transformer called the Autotransformer.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Unlike a standard transformer where the primary and secondary coils are electrically isolated, an autotransformer uses one continuous winding with a tap point. 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Part of the winding is common to both the input and output sides.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1548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2B3E0-2F8E-C0E9-3978-4D61E2774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D85B50-C19D-BEE6-0860-F4FD8E239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A6E3993-C5CF-D267-0024-2B349AC7BE9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E3AA549-8C7F-45B7-D52B-B751DB9E09C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363CA07-2C3A-FC43-78C7-A9176DE6DBF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EDF9F078-4E81-DF2E-A4F3-DE5F6709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An autotransformer uses a single continuous winding that is shared by both the primary and secondary sides. 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This design uses less copper and is smaller than a standard transformer for the same power rating. 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However, the disadvantage is the lack of electrical isolation; a failure in the winding can expose the low-voltage side to high voltage, which creates a safety hazard.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2018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FD8F0-81F3-E5B1-DA72-45968AB00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FA7342-1BB7-0006-E3E2-6348CD1F6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Systematic Analysis Methods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FE16D17-8676-7579-CEB7-F92BD2D981C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BDC91F5-4A50-20D3-2302-5F6A60F71A8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A347BFD-E174-CF2F-6B62-3063A9C45F6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Transition Process 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and First-Order Circuits</a:t>
              </a:r>
              <a:endParaRPr lang="ru-RU" sz="4000" dirty="0"/>
            </a:p>
          </p:txBody>
        </p:sp>
      </p:grpSp>
      <p:sp>
        <p:nvSpPr>
          <p:cNvPr id="7" name="Объект 6">
            <a:extLst>
              <a:ext uri="{FF2B5EF4-FFF2-40B4-BE49-F238E27FC236}">
                <a16:creationId xmlns:a16="http://schemas.microsoft.com/office/drawing/2014/main" id="{4DE538F3-9FFC-B73C-72BD-9DA24C6DE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7A211EAA-35B5-0550-128E-09BB3A2A6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74323" y="2070119"/>
            <a:ext cx="4220156" cy="422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DEAD7B33-0606-4EE0-B553-698A0563D68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034548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Thank you for your attention!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you have any questions?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1039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2971</Words>
  <Application>Microsoft Office PowerPoint</Application>
  <PresentationFormat>Широкоэкранный</PresentationFormat>
  <Paragraphs>257</Paragraphs>
  <Slides>45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51" baseType="lpstr">
      <vt:lpstr>Aptos</vt:lpstr>
      <vt:lpstr>Aptos Display</vt:lpstr>
      <vt:lpstr>Arial</vt:lpstr>
      <vt:lpstr>Cambria Math</vt:lpstr>
      <vt:lpstr>Symbol</vt:lpstr>
      <vt:lpstr>Тема Office</vt:lpstr>
      <vt:lpstr>Lecture 13. The Transition Process and First-Order Circuits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  <vt:lpstr>Systematic Analysis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</cp:revision>
  <dcterms:created xsi:type="dcterms:W3CDTF">2026-04-05T13:27:15Z</dcterms:created>
  <dcterms:modified xsi:type="dcterms:W3CDTF">2026-04-09T04:48:57Z</dcterms:modified>
</cp:coreProperties>
</file>