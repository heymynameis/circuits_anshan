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70" r:id="rId2"/>
    <p:sldId id="471" r:id="rId3"/>
    <p:sldId id="527" r:id="rId4"/>
    <p:sldId id="526" r:id="rId5"/>
    <p:sldId id="528" r:id="rId6"/>
    <p:sldId id="499" r:id="rId7"/>
    <p:sldId id="500" r:id="rId8"/>
    <p:sldId id="501" r:id="rId9"/>
    <p:sldId id="529" r:id="rId10"/>
    <p:sldId id="502" r:id="rId11"/>
    <p:sldId id="530" r:id="rId12"/>
    <p:sldId id="503" r:id="rId13"/>
    <p:sldId id="531" r:id="rId14"/>
    <p:sldId id="504" r:id="rId15"/>
    <p:sldId id="505" r:id="rId16"/>
    <p:sldId id="532" r:id="rId17"/>
    <p:sldId id="525" r:id="rId18"/>
    <p:sldId id="506" r:id="rId19"/>
    <p:sldId id="507" r:id="rId20"/>
    <p:sldId id="533" r:id="rId21"/>
    <p:sldId id="508" r:id="rId22"/>
    <p:sldId id="509" r:id="rId23"/>
    <p:sldId id="534" r:id="rId24"/>
    <p:sldId id="535" r:id="rId25"/>
    <p:sldId id="510" r:id="rId26"/>
    <p:sldId id="549" r:id="rId27"/>
    <p:sldId id="511" r:id="rId28"/>
    <p:sldId id="536" r:id="rId29"/>
    <p:sldId id="512" r:id="rId30"/>
    <p:sldId id="537" r:id="rId31"/>
    <p:sldId id="538" r:id="rId32"/>
    <p:sldId id="513" r:id="rId33"/>
    <p:sldId id="514" r:id="rId34"/>
    <p:sldId id="515" r:id="rId35"/>
    <p:sldId id="539" r:id="rId36"/>
    <p:sldId id="516" r:id="rId37"/>
    <p:sldId id="540" r:id="rId38"/>
    <p:sldId id="517" r:id="rId39"/>
    <p:sldId id="518" r:id="rId40"/>
    <p:sldId id="541" r:id="rId41"/>
    <p:sldId id="519" r:id="rId42"/>
    <p:sldId id="542" r:id="rId43"/>
    <p:sldId id="520" r:id="rId44"/>
    <p:sldId id="543" r:id="rId45"/>
    <p:sldId id="521" r:id="rId46"/>
    <p:sldId id="544" r:id="rId47"/>
    <p:sldId id="522" r:id="rId48"/>
    <p:sldId id="545" r:id="rId49"/>
    <p:sldId id="546" r:id="rId50"/>
    <p:sldId id="523" r:id="rId51"/>
    <p:sldId id="547" r:id="rId52"/>
    <p:sldId id="548" r:id="rId53"/>
    <p:sldId id="524" r:id="rId54"/>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ecture 8" id="{8B38A5D1-5C20-4B9D-9A16-632F21A1BF3E}">
          <p14:sldIdLst>
            <p14:sldId id="470"/>
            <p14:sldId id="471"/>
            <p14:sldId id="527"/>
            <p14:sldId id="526"/>
            <p14:sldId id="528"/>
            <p14:sldId id="499"/>
            <p14:sldId id="500"/>
            <p14:sldId id="501"/>
            <p14:sldId id="529"/>
            <p14:sldId id="502"/>
            <p14:sldId id="530"/>
            <p14:sldId id="503"/>
            <p14:sldId id="531"/>
            <p14:sldId id="504"/>
            <p14:sldId id="505"/>
            <p14:sldId id="532"/>
            <p14:sldId id="525"/>
            <p14:sldId id="506"/>
            <p14:sldId id="507"/>
            <p14:sldId id="533"/>
            <p14:sldId id="508"/>
            <p14:sldId id="509"/>
            <p14:sldId id="534"/>
            <p14:sldId id="535"/>
            <p14:sldId id="510"/>
            <p14:sldId id="549"/>
            <p14:sldId id="511"/>
            <p14:sldId id="536"/>
            <p14:sldId id="512"/>
            <p14:sldId id="537"/>
            <p14:sldId id="538"/>
            <p14:sldId id="513"/>
            <p14:sldId id="514"/>
            <p14:sldId id="515"/>
            <p14:sldId id="539"/>
            <p14:sldId id="516"/>
            <p14:sldId id="540"/>
            <p14:sldId id="517"/>
            <p14:sldId id="518"/>
            <p14:sldId id="541"/>
            <p14:sldId id="519"/>
            <p14:sldId id="542"/>
            <p14:sldId id="520"/>
            <p14:sldId id="543"/>
            <p14:sldId id="521"/>
            <p14:sldId id="544"/>
            <p14:sldId id="522"/>
            <p14:sldId id="545"/>
            <p14:sldId id="546"/>
            <p14:sldId id="523"/>
            <p14:sldId id="547"/>
            <p14:sldId id="548"/>
            <p14:sldId id="52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CFF3D04-388C-FAF9-22FB-6FC589FD133F}"/>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897C267F-08E4-65F5-F059-1178E18C06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04C49B7E-0D98-E52D-0B21-FAAD715A724C}"/>
              </a:ext>
            </a:extLst>
          </p:cNvPr>
          <p:cNvSpPr>
            <a:spLocks noGrp="1"/>
          </p:cNvSpPr>
          <p:nvPr>
            <p:ph type="dt" sz="half" idx="10"/>
          </p:nvPr>
        </p:nvSpPr>
        <p:spPr/>
        <p:txBody>
          <a:bodyPr/>
          <a:lstStyle/>
          <a:p>
            <a:fld id="{41921779-1BE6-49E3-A749-D27409DC4863}" type="datetimeFigureOut">
              <a:rPr lang="ru-RU" smtClean="0"/>
              <a:t>09.04.2026</a:t>
            </a:fld>
            <a:endParaRPr lang="ru-RU"/>
          </a:p>
        </p:txBody>
      </p:sp>
      <p:sp>
        <p:nvSpPr>
          <p:cNvPr id="5" name="Нижний колонтитул 4">
            <a:extLst>
              <a:ext uri="{FF2B5EF4-FFF2-40B4-BE49-F238E27FC236}">
                <a16:creationId xmlns:a16="http://schemas.microsoft.com/office/drawing/2014/main" id="{39996E3A-4CDB-80E0-6919-93FD0D9B1A16}"/>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9C60CB4C-F5C1-F6F9-EE84-128E2B451312}"/>
              </a:ext>
            </a:extLst>
          </p:cNvPr>
          <p:cNvSpPr>
            <a:spLocks noGrp="1"/>
          </p:cNvSpPr>
          <p:nvPr>
            <p:ph type="sldNum" sz="quarter" idx="12"/>
          </p:nvPr>
        </p:nvSpPr>
        <p:spPr/>
        <p:txBody>
          <a:bodyPr/>
          <a:lstStyle/>
          <a:p>
            <a:fld id="{435BF6D1-BDF5-48DA-9FCA-833331C26613}" type="slidenum">
              <a:rPr lang="ru-RU" smtClean="0"/>
              <a:t>‹#›</a:t>
            </a:fld>
            <a:endParaRPr lang="ru-RU"/>
          </a:p>
        </p:txBody>
      </p:sp>
    </p:spTree>
    <p:extLst>
      <p:ext uri="{BB962C8B-B14F-4D97-AF65-F5344CB8AC3E}">
        <p14:creationId xmlns:p14="http://schemas.microsoft.com/office/powerpoint/2010/main" val="2528196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D39550B-E03B-FA1E-CED2-06C8285B7C72}"/>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68979500-9DBC-FBDD-D780-CDF20D84B15A}"/>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836D7D5E-7907-1D9A-6A06-F4D42F89660C}"/>
              </a:ext>
            </a:extLst>
          </p:cNvPr>
          <p:cNvSpPr>
            <a:spLocks noGrp="1"/>
          </p:cNvSpPr>
          <p:nvPr>
            <p:ph type="dt" sz="half" idx="10"/>
          </p:nvPr>
        </p:nvSpPr>
        <p:spPr/>
        <p:txBody>
          <a:bodyPr/>
          <a:lstStyle/>
          <a:p>
            <a:fld id="{41921779-1BE6-49E3-A749-D27409DC4863}" type="datetimeFigureOut">
              <a:rPr lang="ru-RU" smtClean="0"/>
              <a:t>09.04.2026</a:t>
            </a:fld>
            <a:endParaRPr lang="ru-RU"/>
          </a:p>
        </p:txBody>
      </p:sp>
      <p:sp>
        <p:nvSpPr>
          <p:cNvPr id="5" name="Нижний колонтитул 4">
            <a:extLst>
              <a:ext uri="{FF2B5EF4-FFF2-40B4-BE49-F238E27FC236}">
                <a16:creationId xmlns:a16="http://schemas.microsoft.com/office/drawing/2014/main" id="{44FBA0F0-7E18-0BB4-35B3-D8C1BC4A5079}"/>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9BDBE3DC-A13A-F603-855B-885AEF0AEF35}"/>
              </a:ext>
            </a:extLst>
          </p:cNvPr>
          <p:cNvSpPr>
            <a:spLocks noGrp="1"/>
          </p:cNvSpPr>
          <p:nvPr>
            <p:ph type="sldNum" sz="quarter" idx="12"/>
          </p:nvPr>
        </p:nvSpPr>
        <p:spPr/>
        <p:txBody>
          <a:bodyPr/>
          <a:lstStyle/>
          <a:p>
            <a:fld id="{435BF6D1-BDF5-48DA-9FCA-833331C26613}" type="slidenum">
              <a:rPr lang="ru-RU" smtClean="0"/>
              <a:t>‹#›</a:t>
            </a:fld>
            <a:endParaRPr lang="ru-RU"/>
          </a:p>
        </p:txBody>
      </p:sp>
    </p:spTree>
    <p:extLst>
      <p:ext uri="{BB962C8B-B14F-4D97-AF65-F5344CB8AC3E}">
        <p14:creationId xmlns:p14="http://schemas.microsoft.com/office/powerpoint/2010/main" val="2850542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80843CA-1CCF-5CC6-F17B-7368B49914F7}"/>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30A11331-5485-1532-0234-67B20402C7D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C92F7780-3E14-2FF9-0AEB-316E87205C1F}"/>
              </a:ext>
            </a:extLst>
          </p:cNvPr>
          <p:cNvSpPr>
            <a:spLocks noGrp="1"/>
          </p:cNvSpPr>
          <p:nvPr>
            <p:ph type="dt" sz="half" idx="10"/>
          </p:nvPr>
        </p:nvSpPr>
        <p:spPr/>
        <p:txBody>
          <a:bodyPr/>
          <a:lstStyle/>
          <a:p>
            <a:fld id="{41921779-1BE6-49E3-A749-D27409DC4863}" type="datetimeFigureOut">
              <a:rPr lang="ru-RU" smtClean="0"/>
              <a:t>09.04.2026</a:t>
            </a:fld>
            <a:endParaRPr lang="ru-RU"/>
          </a:p>
        </p:txBody>
      </p:sp>
      <p:sp>
        <p:nvSpPr>
          <p:cNvPr id="5" name="Нижний колонтитул 4">
            <a:extLst>
              <a:ext uri="{FF2B5EF4-FFF2-40B4-BE49-F238E27FC236}">
                <a16:creationId xmlns:a16="http://schemas.microsoft.com/office/drawing/2014/main" id="{5C4743B1-AC23-F1E2-EB3B-3376FB142AC6}"/>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74FDE7F3-62A1-A753-9D43-0280160E7CDC}"/>
              </a:ext>
            </a:extLst>
          </p:cNvPr>
          <p:cNvSpPr>
            <a:spLocks noGrp="1"/>
          </p:cNvSpPr>
          <p:nvPr>
            <p:ph type="sldNum" sz="quarter" idx="12"/>
          </p:nvPr>
        </p:nvSpPr>
        <p:spPr/>
        <p:txBody>
          <a:bodyPr/>
          <a:lstStyle/>
          <a:p>
            <a:fld id="{435BF6D1-BDF5-48DA-9FCA-833331C26613}" type="slidenum">
              <a:rPr lang="ru-RU" smtClean="0"/>
              <a:t>‹#›</a:t>
            </a:fld>
            <a:endParaRPr lang="ru-RU"/>
          </a:p>
        </p:txBody>
      </p:sp>
    </p:spTree>
    <p:extLst>
      <p:ext uri="{BB962C8B-B14F-4D97-AF65-F5344CB8AC3E}">
        <p14:creationId xmlns:p14="http://schemas.microsoft.com/office/powerpoint/2010/main" val="3803762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BFBE225-EDFA-138F-A60B-BBE19E71C8ED}"/>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05DAEC22-7AEC-DCB4-66F3-95105014D5F4}"/>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66525033-1BF6-BB54-6665-2AA30CD8C8CB}"/>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4DADFB64-A2BB-9AB3-AD12-724F6B20F2EA}"/>
              </a:ext>
            </a:extLst>
          </p:cNvPr>
          <p:cNvSpPr>
            <a:spLocks noGrp="1"/>
          </p:cNvSpPr>
          <p:nvPr>
            <p:ph type="dt" sz="half" idx="10"/>
          </p:nvPr>
        </p:nvSpPr>
        <p:spPr/>
        <p:txBody>
          <a:bodyPr/>
          <a:lstStyle/>
          <a:p>
            <a:fld id="{41921779-1BE6-49E3-A749-D27409DC4863}" type="datetimeFigureOut">
              <a:rPr lang="ru-RU" smtClean="0"/>
              <a:t>09.04.2026</a:t>
            </a:fld>
            <a:endParaRPr lang="ru-RU"/>
          </a:p>
        </p:txBody>
      </p:sp>
      <p:sp>
        <p:nvSpPr>
          <p:cNvPr id="6" name="Нижний колонтитул 5">
            <a:extLst>
              <a:ext uri="{FF2B5EF4-FFF2-40B4-BE49-F238E27FC236}">
                <a16:creationId xmlns:a16="http://schemas.microsoft.com/office/drawing/2014/main" id="{30B3728E-2818-5A0A-D0BC-B08314917DB5}"/>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A2A91769-4AA6-569E-2254-E52D3F2DA90B}"/>
              </a:ext>
            </a:extLst>
          </p:cNvPr>
          <p:cNvSpPr>
            <a:spLocks noGrp="1"/>
          </p:cNvSpPr>
          <p:nvPr>
            <p:ph type="sldNum" sz="quarter" idx="12"/>
          </p:nvPr>
        </p:nvSpPr>
        <p:spPr/>
        <p:txBody>
          <a:bodyPr/>
          <a:lstStyle/>
          <a:p>
            <a:fld id="{435BF6D1-BDF5-48DA-9FCA-833331C26613}" type="slidenum">
              <a:rPr lang="ru-RU" smtClean="0"/>
              <a:t>‹#›</a:t>
            </a:fld>
            <a:endParaRPr lang="ru-RU"/>
          </a:p>
        </p:txBody>
      </p:sp>
    </p:spTree>
    <p:extLst>
      <p:ext uri="{BB962C8B-B14F-4D97-AF65-F5344CB8AC3E}">
        <p14:creationId xmlns:p14="http://schemas.microsoft.com/office/powerpoint/2010/main" val="3144701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F55E75D-CB80-7CEA-4F1B-8F27A22ED9CA}"/>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22B05A84-819C-8597-66D5-A6B8148FCF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CB465000-B02B-98BA-99E1-7AFA4868B526}"/>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4E736E1F-F388-BBEE-B488-9D92EEB404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36248B70-674E-CADD-FA9B-EF8C356B9A0D}"/>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0685F9F9-2268-B8CD-C68D-BA30666057E9}"/>
              </a:ext>
            </a:extLst>
          </p:cNvPr>
          <p:cNvSpPr>
            <a:spLocks noGrp="1"/>
          </p:cNvSpPr>
          <p:nvPr>
            <p:ph type="dt" sz="half" idx="10"/>
          </p:nvPr>
        </p:nvSpPr>
        <p:spPr/>
        <p:txBody>
          <a:bodyPr/>
          <a:lstStyle/>
          <a:p>
            <a:fld id="{41921779-1BE6-49E3-A749-D27409DC4863}" type="datetimeFigureOut">
              <a:rPr lang="ru-RU" smtClean="0"/>
              <a:t>09.04.2026</a:t>
            </a:fld>
            <a:endParaRPr lang="ru-RU"/>
          </a:p>
        </p:txBody>
      </p:sp>
      <p:sp>
        <p:nvSpPr>
          <p:cNvPr id="8" name="Нижний колонтитул 7">
            <a:extLst>
              <a:ext uri="{FF2B5EF4-FFF2-40B4-BE49-F238E27FC236}">
                <a16:creationId xmlns:a16="http://schemas.microsoft.com/office/drawing/2014/main" id="{5AEF8152-633C-3F1C-A390-0EC899878E75}"/>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D25970A7-4763-2A69-047F-0F7026278527}"/>
              </a:ext>
            </a:extLst>
          </p:cNvPr>
          <p:cNvSpPr>
            <a:spLocks noGrp="1"/>
          </p:cNvSpPr>
          <p:nvPr>
            <p:ph type="sldNum" sz="quarter" idx="12"/>
          </p:nvPr>
        </p:nvSpPr>
        <p:spPr/>
        <p:txBody>
          <a:bodyPr/>
          <a:lstStyle/>
          <a:p>
            <a:fld id="{435BF6D1-BDF5-48DA-9FCA-833331C26613}" type="slidenum">
              <a:rPr lang="ru-RU" smtClean="0"/>
              <a:t>‹#›</a:t>
            </a:fld>
            <a:endParaRPr lang="ru-RU"/>
          </a:p>
        </p:txBody>
      </p:sp>
    </p:spTree>
    <p:extLst>
      <p:ext uri="{BB962C8B-B14F-4D97-AF65-F5344CB8AC3E}">
        <p14:creationId xmlns:p14="http://schemas.microsoft.com/office/powerpoint/2010/main" val="26515717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BFD27C4-3A31-501E-AA02-17B42799BB8A}"/>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1599D64A-26B1-5CC6-4726-3CFD8AACC720}"/>
              </a:ext>
            </a:extLst>
          </p:cNvPr>
          <p:cNvSpPr>
            <a:spLocks noGrp="1"/>
          </p:cNvSpPr>
          <p:nvPr>
            <p:ph type="dt" sz="half" idx="10"/>
          </p:nvPr>
        </p:nvSpPr>
        <p:spPr/>
        <p:txBody>
          <a:bodyPr/>
          <a:lstStyle/>
          <a:p>
            <a:fld id="{41921779-1BE6-49E3-A749-D27409DC4863}" type="datetimeFigureOut">
              <a:rPr lang="ru-RU" smtClean="0"/>
              <a:t>09.04.2026</a:t>
            </a:fld>
            <a:endParaRPr lang="ru-RU"/>
          </a:p>
        </p:txBody>
      </p:sp>
      <p:sp>
        <p:nvSpPr>
          <p:cNvPr id="4" name="Нижний колонтитул 3">
            <a:extLst>
              <a:ext uri="{FF2B5EF4-FFF2-40B4-BE49-F238E27FC236}">
                <a16:creationId xmlns:a16="http://schemas.microsoft.com/office/drawing/2014/main" id="{E463B4AF-7C3C-D41D-43F2-F2721AAAA7E4}"/>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6C0C28F6-07E3-33FE-96F6-AEF939599D62}"/>
              </a:ext>
            </a:extLst>
          </p:cNvPr>
          <p:cNvSpPr>
            <a:spLocks noGrp="1"/>
          </p:cNvSpPr>
          <p:nvPr>
            <p:ph type="sldNum" sz="quarter" idx="12"/>
          </p:nvPr>
        </p:nvSpPr>
        <p:spPr/>
        <p:txBody>
          <a:bodyPr/>
          <a:lstStyle/>
          <a:p>
            <a:fld id="{435BF6D1-BDF5-48DA-9FCA-833331C26613}" type="slidenum">
              <a:rPr lang="ru-RU" smtClean="0"/>
              <a:t>‹#›</a:t>
            </a:fld>
            <a:endParaRPr lang="ru-RU"/>
          </a:p>
        </p:txBody>
      </p:sp>
    </p:spTree>
    <p:extLst>
      <p:ext uri="{BB962C8B-B14F-4D97-AF65-F5344CB8AC3E}">
        <p14:creationId xmlns:p14="http://schemas.microsoft.com/office/powerpoint/2010/main" val="35634337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F013082F-9763-E63A-5567-27E106C0F649}"/>
              </a:ext>
            </a:extLst>
          </p:cNvPr>
          <p:cNvSpPr>
            <a:spLocks noGrp="1"/>
          </p:cNvSpPr>
          <p:nvPr>
            <p:ph type="dt" sz="half" idx="10"/>
          </p:nvPr>
        </p:nvSpPr>
        <p:spPr/>
        <p:txBody>
          <a:bodyPr/>
          <a:lstStyle/>
          <a:p>
            <a:fld id="{41921779-1BE6-49E3-A749-D27409DC4863}" type="datetimeFigureOut">
              <a:rPr lang="ru-RU" smtClean="0"/>
              <a:t>09.04.2026</a:t>
            </a:fld>
            <a:endParaRPr lang="ru-RU"/>
          </a:p>
        </p:txBody>
      </p:sp>
      <p:sp>
        <p:nvSpPr>
          <p:cNvPr id="3" name="Нижний колонтитул 2">
            <a:extLst>
              <a:ext uri="{FF2B5EF4-FFF2-40B4-BE49-F238E27FC236}">
                <a16:creationId xmlns:a16="http://schemas.microsoft.com/office/drawing/2014/main" id="{F2E542D7-CFAF-9DF4-55A7-D9B4048FEC3E}"/>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B810A327-17A5-3202-BC0A-8887C5BFD5D0}"/>
              </a:ext>
            </a:extLst>
          </p:cNvPr>
          <p:cNvSpPr>
            <a:spLocks noGrp="1"/>
          </p:cNvSpPr>
          <p:nvPr>
            <p:ph type="sldNum" sz="quarter" idx="12"/>
          </p:nvPr>
        </p:nvSpPr>
        <p:spPr/>
        <p:txBody>
          <a:bodyPr/>
          <a:lstStyle/>
          <a:p>
            <a:fld id="{435BF6D1-BDF5-48DA-9FCA-833331C26613}" type="slidenum">
              <a:rPr lang="ru-RU" smtClean="0"/>
              <a:t>‹#›</a:t>
            </a:fld>
            <a:endParaRPr lang="ru-RU"/>
          </a:p>
        </p:txBody>
      </p:sp>
    </p:spTree>
    <p:extLst>
      <p:ext uri="{BB962C8B-B14F-4D97-AF65-F5344CB8AC3E}">
        <p14:creationId xmlns:p14="http://schemas.microsoft.com/office/powerpoint/2010/main" val="2408095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60A309C-B400-BD82-185F-1B1B45A5F1FE}"/>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F8F6B68D-63A9-0F1C-5F7E-D5F446E252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0EA5B41E-68A1-4847-74ED-7060EA30B0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DE7EBEA0-7851-2ADC-58C2-4EF7960C9023}"/>
              </a:ext>
            </a:extLst>
          </p:cNvPr>
          <p:cNvSpPr>
            <a:spLocks noGrp="1"/>
          </p:cNvSpPr>
          <p:nvPr>
            <p:ph type="dt" sz="half" idx="10"/>
          </p:nvPr>
        </p:nvSpPr>
        <p:spPr/>
        <p:txBody>
          <a:bodyPr/>
          <a:lstStyle/>
          <a:p>
            <a:fld id="{41921779-1BE6-49E3-A749-D27409DC4863}" type="datetimeFigureOut">
              <a:rPr lang="ru-RU" smtClean="0"/>
              <a:t>09.04.2026</a:t>
            </a:fld>
            <a:endParaRPr lang="ru-RU"/>
          </a:p>
        </p:txBody>
      </p:sp>
      <p:sp>
        <p:nvSpPr>
          <p:cNvPr id="6" name="Нижний колонтитул 5">
            <a:extLst>
              <a:ext uri="{FF2B5EF4-FFF2-40B4-BE49-F238E27FC236}">
                <a16:creationId xmlns:a16="http://schemas.microsoft.com/office/drawing/2014/main" id="{3A6B59D9-7230-BE3C-B4F2-21B4ED6160A7}"/>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F59D323D-5029-3E0A-5330-B9E17981C7A1}"/>
              </a:ext>
            </a:extLst>
          </p:cNvPr>
          <p:cNvSpPr>
            <a:spLocks noGrp="1"/>
          </p:cNvSpPr>
          <p:nvPr>
            <p:ph type="sldNum" sz="quarter" idx="12"/>
          </p:nvPr>
        </p:nvSpPr>
        <p:spPr/>
        <p:txBody>
          <a:bodyPr/>
          <a:lstStyle/>
          <a:p>
            <a:fld id="{435BF6D1-BDF5-48DA-9FCA-833331C26613}" type="slidenum">
              <a:rPr lang="ru-RU" smtClean="0"/>
              <a:t>‹#›</a:t>
            </a:fld>
            <a:endParaRPr lang="ru-RU"/>
          </a:p>
        </p:txBody>
      </p:sp>
    </p:spTree>
    <p:extLst>
      <p:ext uri="{BB962C8B-B14F-4D97-AF65-F5344CB8AC3E}">
        <p14:creationId xmlns:p14="http://schemas.microsoft.com/office/powerpoint/2010/main" val="33325868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05FEA2F-2B10-C829-B337-DB4DE92067AF}"/>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926D6A4A-89F4-A827-9BC7-118841C89A1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056A9B89-B150-59F8-A983-F96633150B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9A43B795-2932-8476-D0A7-E219DF9ACF05}"/>
              </a:ext>
            </a:extLst>
          </p:cNvPr>
          <p:cNvSpPr>
            <a:spLocks noGrp="1"/>
          </p:cNvSpPr>
          <p:nvPr>
            <p:ph type="dt" sz="half" idx="10"/>
          </p:nvPr>
        </p:nvSpPr>
        <p:spPr/>
        <p:txBody>
          <a:bodyPr/>
          <a:lstStyle/>
          <a:p>
            <a:fld id="{41921779-1BE6-49E3-A749-D27409DC4863}" type="datetimeFigureOut">
              <a:rPr lang="ru-RU" smtClean="0"/>
              <a:t>09.04.2026</a:t>
            </a:fld>
            <a:endParaRPr lang="ru-RU"/>
          </a:p>
        </p:txBody>
      </p:sp>
      <p:sp>
        <p:nvSpPr>
          <p:cNvPr id="6" name="Нижний колонтитул 5">
            <a:extLst>
              <a:ext uri="{FF2B5EF4-FFF2-40B4-BE49-F238E27FC236}">
                <a16:creationId xmlns:a16="http://schemas.microsoft.com/office/drawing/2014/main" id="{97F9186A-42CC-577A-B3A0-258E77926E52}"/>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875CA2DA-1D67-CA4C-9A49-F6687A324D59}"/>
              </a:ext>
            </a:extLst>
          </p:cNvPr>
          <p:cNvSpPr>
            <a:spLocks noGrp="1"/>
          </p:cNvSpPr>
          <p:nvPr>
            <p:ph type="sldNum" sz="quarter" idx="12"/>
          </p:nvPr>
        </p:nvSpPr>
        <p:spPr/>
        <p:txBody>
          <a:bodyPr/>
          <a:lstStyle/>
          <a:p>
            <a:fld id="{435BF6D1-BDF5-48DA-9FCA-833331C26613}" type="slidenum">
              <a:rPr lang="ru-RU" smtClean="0"/>
              <a:t>‹#›</a:t>
            </a:fld>
            <a:endParaRPr lang="ru-RU"/>
          </a:p>
        </p:txBody>
      </p:sp>
    </p:spTree>
    <p:extLst>
      <p:ext uri="{BB962C8B-B14F-4D97-AF65-F5344CB8AC3E}">
        <p14:creationId xmlns:p14="http://schemas.microsoft.com/office/powerpoint/2010/main" val="1620387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AC226DD-4D80-87AB-85B2-11941A87480D}"/>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A91B0691-4036-9DC7-905A-BC5D670A300C}"/>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BD7B6A6D-006F-FD5A-7EF5-DED55A45EA80}"/>
              </a:ext>
            </a:extLst>
          </p:cNvPr>
          <p:cNvSpPr>
            <a:spLocks noGrp="1"/>
          </p:cNvSpPr>
          <p:nvPr>
            <p:ph type="dt" sz="half" idx="10"/>
          </p:nvPr>
        </p:nvSpPr>
        <p:spPr/>
        <p:txBody>
          <a:bodyPr/>
          <a:lstStyle/>
          <a:p>
            <a:fld id="{41921779-1BE6-49E3-A749-D27409DC4863}" type="datetimeFigureOut">
              <a:rPr lang="ru-RU" smtClean="0"/>
              <a:t>09.04.2026</a:t>
            </a:fld>
            <a:endParaRPr lang="ru-RU"/>
          </a:p>
        </p:txBody>
      </p:sp>
      <p:sp>
        <p:nvSpPr>
          <p:cNvPr id="5" name="Нижний колонтитул 4">
            <a:extLst>
              <a:ext uri="{FF2B5EF4-FFF2-40B4-BE49-F238E27FC236}">
                <a16:creationId xmlns:a16="http://schemas.microsoft.com/office/drawing/2014/main" id="{37573D58-DA11-ED47-AC65-45DE27E4E187}"/>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8B86DFFF-66BB-8E83-F9BB-3FEB377F069E}"/>
              </a:ext>
            </a:extLst>
          </p:cNvPr>
          <p:cNvSpPr>
            <a:spLocks noGrp="1"/>
          </p:cNvSpPr>
          <p:nvPr>
            <p:ph type="sldNum" sz="quarter" idx="12"/>
          </p:nvPr>
        </p:nvSpPr>
        <p:spPr/>
        <p:txBody>
          <a:bodyPr/>
          <a:lstStyle/>
          <a:p>
            <a:fld id="{435BF6D1-BDF5-48DA-9FCA-833331C26613}" type="slidenum">
              <a:rPr lang="ru-RU" smtClean="0"/>
              <a:t>‹#›</a:t>
            </a:fld>
            <a:endParaRPr lang="ru-RU"/>
          </a:p>
        </p:txBody>
      </p:sp>
    </p:spTree>
    <p:extLst>
      <p:ext uri="{BB962C8B-B14F-4D97-AF65-F5344CB8AC3E}">
        <p14:creationId xmlns:p14="http://schemas.microsoft.com/office/powerpoint/2010/main" val="3147289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C38B0DBD-8BDE-4D19-C613-302CBFEC55EB}"/>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75ED7855-2100-0C08-14E2-8D126FC7EE41}"/>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32345918-3851-6A69-4593-956332F79507}"/>
              </a:ext>
            </a:extLst>
          </p:cNvPr>
          <p:cNvSpPr>
            <a:spLocks noGrp="1"/>
          </p:cNvSpPr>
          <p:nvPr>
            <p:ph type="dt" sz="half" idx="10"/>
          </p:nvPr>
        </p:nvSpPr>
        <p:spPr/>
        <p:txBody>
          <a:bodyPr/>
          <a:lstStyle/>
          <a:p>
            <a:fld id="{41921779-1BE6-49E3-A749-D27409DC4863}" type="datetimeFigureOut">
              <a:rPr lang="ru-RU" smtClean="0"/>
              <a:t>09.04.2026</a:t>
            </a:fld>
            <a:endParaRPr lang="ru-RU"/>
          </a:p>
        </p:txBody>
      </p:sp>
      <p:sp>
        <p:nvSpPr>
          <p:cNvPr id="5" name="Нижний колонтитул 4">
            <a:extLst>
              <a:ext uri="{FF2B5EF4-FFF2-40B4-BE49-F238E27FC236}">
                <a16:creationId xmlns:a16="http://schemas.microsoft.com/office/drawing/2014/main" id="{34429619-8569-834B-1DC5-16392478059D}"/>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76E2A216-593C-0BC0-0A2F-FC369DA5B381}"/>
              </a:ext>
            </a:extLst>
          </p:cNvPr>
          <p:cNvSpPr>
            <a:spLocks noGrp="1"/>
          </p:cNvSpPr>
          <p:nvPr>
            <p:ph type="sldNum" sz="quarter" idx="12"/>
          </p:nvPr>
        </p:nvSpPr>
        <p:spPr/>
        <p:txBody>
          <a:bodyPr/>
          <a:lstStyle/>
          <a:p>
            <a:fld id="{435BF6D1-BDF5-48DA-9FCA-833331C26613}" type="slidenum">
              <a:rPr lang="ru-RU" smtClean="0"/>
              <a:t>‹#›</a:t>
            </a:fld>
            <a:endParaRPr lang="ru-RU"/>
          </a:p>
        </p:txBody>
      </p:sp>
    </p:spTree>
    <p:extLst>
      <p:ext uri="{BB962C8B-B14F-4D97-AF65-F5344CB8AC3E}">
        <p14:creationId xmlns:p14="http://schemas.microsoft.com/office/powerpoint/2010/main" val="4026931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64F5B5D-AF19-7C00-6B0F-955982CAD9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C30AA1C8-E1E9-CBCA-706C-251CC49A84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7D75CB7D-F26D-3ABE-FD3F-31C9712638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1921779-1BE6-49E3-A749-D27409DC4863}" type="datetimeFigureOut">
              <a:rPr lang="ru-RU" smtClean="0"/>
              <a:t>09.04.2026</a:t>
            </a:fld>
            <a:endParaRPr lang="ru-RU"/>
          </a:p>
        </p:txBody>
      </p:sp>
      <p:sp>
        <p:nvSpPr>
          <p:cNvPr id="5" name="Нижний колонтитул 4">
            <a:extLst>
              <a:ext uri="{FF2B5EF4-FFF2-40B4-BE49-F238E27FC236}">
                <a16:creationId xmlns:a16="http://schemas.microsoft.com/office/drawing/2014/main" id="{A952A1D7-1E20-47C3-1E75-4582FD82E6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RU"/>
          </a:p>
        </p:txBody>
      </p:sp>
      <p:sp>
        <p:nvSpPr>
          <p:cNvPr id="6" name="Номер слайда 5">
            <a:extLst>
              <a:ext uri="{FF2B5EF4-FFF2-40B4-BE49-F238E27FC236}">
                <a16:creationId xmlns:a16="http://schemas.microsoft.com/office/drawing/2014/main" id="{0629FED9-685A-F996-A1F0-0F251D716C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35BF6D1-BDF5-48DA-9FCA-833331C26613}" type="slidenum">
              <a:rPr lang="ru-RU" smtClean="0"/>
              <a:t>‹#›</a:t>
            </a:fld>
            <a:endParaRPr lang="ru-RU"/>
          </a:p>
        </p:txBody>
      </p:sp>
    </p:spTree>
    <p:extLst>
      <p:ext uri="{BB962C8B-B14F-4D97-AF65-F5344CB8AC3E}">
        <p14:creationId xmlns:p14="http://schemas.microsoft.com/office/powerpoint/2010/main" val="18593173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5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5EA9C-7C7F-2449-569F-C3251052CB1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1E14EB1-FB42-2A11-27F1-C5C33CAF8735}"/>
              </a:ext>
            </a:extLst>
          </p:cNvPr>
          <p:cNvSpPr>
            <a:spLocks noGrp="1"/>
          </p:cNvSpPr>
          <p:nvPr>
            <p:ph type="ctrTitle"/>
          </p:nvPr>
        </p:nvSpPr>
        <p:spPr>
          <a:xfrm>
            <a:off x="1116419" y="1122363"/>
            <a:ext cx="10217888" cy="2387600"/>
          </a:xfrm>
        </p:spPr>
        <p:txBody>
          <a:bodyPr>
            <a:normAutofit/>
          </a:bodyPr>
          <a:lstStyle/>
          <a:p>
            <a:r>
              <a:rPr lang="en-US" dirty="0">
                <a:latin typeface="Arial" panose="020B0604020202020204" pitchFamily="34" charset="0"/>
                <a:cs typeface="Arial" panose="020B0604020202020204" pitchFamily="34" charset="0"/>
              </a:rPr>
              <a:t>Lecture 8. Component Characteristics in AC</a:t>
            </a:r>
            <a:endParaRPr lang="ru-RU" dirty="0">
              <a:latin typeface="Arial" panose="020B0604020202020204" pitchFamily="34" charset="0"/>
              <a:cs typeface="Arial" panose="020B0604020202020204" pitchFamily="34" charset="0"/>
            </a:endParaRPr>
          </a:p>
        </p:txBody>
      </p:sp>
      <p:sp>
        <p:nvSpPr>
          <p:cNvPr id="3" name="Подзаголовок 2">
            <a:extLst>
              <a:ext uri="{FF2B5EF4-FFF2-40B4-BE49-F238E27FC236}">
                <a16:creationId xmlns:a16="http://schemas.microsoft.com/office/drawing/2014/main" id="{F8278761-766A-757C-E5C5-0184DE554AF8}"/>
              </a:ext>
            </a:extLst>
          </p:cNvPr>
          <p:cNvSpPr>
            <a:spLocks noGrp="1"/>
          </p:cNvSpPr>
          <p:nvPr>
            <p:ph type="subTitle" idx="1"/>
          </p:nvPr>
        </p:nvSpPr>
        <p:spPr/>
        <p:txBody>
          <a:bodyPr/>
          <a:lstStyle/>
          <a:p>
            <a:r>
              <a:rPr lang="en-US" dirty="0">
                <a:latin typeface="Arial" panose="020B0604020202020204" pitchFamily="34" charset="0"/>
                <a:cs typeface="Arial" panose="020B0604020202020204" pitchFamily="34" charset="0"/>
              </a:rPr>
              <a:t>Part (3). Analysis of Sinusoidal Steady-State AC Circuits</a:t>
            </a:r>
            <a:endParaRPr lang="ru-RU" dirty="0">
              <a:latin typeface="Arial" panose="020B0604020202020204" pitchFamily="34" charset="0"/>
              <a:cs typeface="Arial" panose="020B0604020202020204" pitchFamily="34" charset="0"/>
            </a:endParaRPr>
          </a:p>
        </p:txBody>
      </p:sp>
      <p:sp>
        <p:nvSpPr>
          <p:cNvPr id="4" name="Прямоугольный треугольник 3">
            <a:extLst>
              <a:ext uri="{FF2B5EF4-FFF2-40B4-BE49-F238E27FC236}">
                <a16:creationId xmlns:a16="http://schemas.microsoft.com/office/drawing/2014/main" id="{BC29B70F-D6E6-358C-E88B-A0893C2D2053}"/>
              </a:ext>
            </a:extLst>
          </p:cNvPr>
          <p:cNvSpPr/>
          <p:nvPr/>
        </p:nvSpPr>
        <p:spPr>
          <a:xfrm>
            <a:off x="0" y="3428999"/>
            <a:ext cx="3184275" cy="3419477"/>
          </a:xfrm>
          <a:prstGeom prst="rtTriangle">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Прямоугольный треугольник 4">
            <a:extLst>
              <a:ext uri="{FF2B5EF4-FFF2-40B4-BE49-F238E27FC236}">
                <a16:creationId xmlns:a16="http://schemas.microsoft.com/office/drawing/2014/main" id="{31619E76-0412-9BA4-6668-8072A903A412}"/>
              </a:ext>
            </a:extLst>
          </p:cNvPr>
          <p:cNvSpPr/>
          <p:nvPr/>
        </p:nvSpPr>
        <p:spPr>
          <a:xfrm rot="10800000">
            <a:off x="9007724" y="9522"/>
            <a:ext cx="3184275" cy="3419477"/>
          </a:xfrm>
          <a:prstGeom prst="rtTriangle">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4024213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9A9F5-7834-87ED-AB12-DB14F9A1B95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CBF3E4-1EC6-2F53-A754-C5C21F95F678}"/>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88C4C7BC-F473-7D4A-831E-CDB6C96B5735}"/>
              </a:ext>
            </a:extLst>
          </p:cNvPr>
          <p:cNvSpPr>
            <a:spLocks noGrp="1"/>
          </p:cNvSpPr>
          <p:nvPr>
            <p:ph idx="1"/>
          </p:nvPr>
        </p:nvSpPr>
        <p:spPr/>
        <p:txBody>
          <a:bodyPr>
            <a:noAutofit/>
          </a:bodyPr>
          <a:lstStyle/>
          <a:p>
            <a:pPr algn="just">
              <a:lnSpc>
                <a:spcPct val="120000"/>
              </a:lnSpc>
            </a:pPr>
            <a:r>
              <a:rPr lang="en-US" dirty="0">
                <a:effectLst/>
                <a:latin typeface="Arial" panose="020B0604020202020204" pitchFamily="34" charset="0"/>
                <a:ea typeface="Aptos" panose="020B0004020202020204" pitchFamily="34" charset="0"/>
              </a:rPr>
              <a:t>Welcome back to the course on The Principle of Circuit. In our previous lecture, we introduced the concept of sinusoidal quantities and the powerful mathematical tool known as the Phasor. </a:t>
            </a:r>
          </a:p>
          <a:p>
            <a:pPr algn="just">
              <a:lnSpc>
                <a:spcPct val="120000"/>
              </a:lnSpc>
            </a:pPr>
            <a:r>
              <a:rPr lang="en-US" dirty="0">
                <a:effectLst/>
                <a:latin typeface="Arial" panose="020B0604020202020204" pitchFamily="34" charset="0"/>
                <a:ea typeface="Aptos" panose="020B0004020202020204" pitchFamily="34" charset="0"/>
              </a:rPr>
              <a:t>We learned that we can represent time-varying sine waves as static complex numbers (vectors) in a complex plane. </a:t>
            </a:r>
          </a:p>
          <a:p>
            <a:pPr algn="just">
              <a:lnSpc>
                <a:spcPct val="120000"/>
              </a:lnSpc>
            </a:pPr>
            <a:r>
              <a:rPr lang="en-US" dirty="0">
                <a:effectLst/>
                <a:latin typeface="Arial" panose="020B0604020202020204" pitchFamily="34" charset="0"/>
                <a:ea typeface="Aptos" panose="020B0004020202020204" pitchFamily="34" charset="0"/>
              </a:rPr>
              <a:t>Today, we apply this phasor concept to the three fundamental passive elements: the Resistor (R), the Inductor (L), and the Capacitor (C). </a:t>
            </a:r>
            <a:endParaRPr lang="ru-RU" dirty="0">
              <a:effectLst/>
              <a:latin typeface="Arial" panose="020B0604020202020204" pitchFamily="34" charset="0"/>
              <a:ea typeface="Aptos" panose="020B0004020202020204" pitchFamily="34" charset="0"/>
            </a:endParaRPr>
          </a:p>
        </p:txBody>
      </p:sp>
      <p:grpSp>
        <p:nvGrpSpPr>
          <p:cNvPr id="4" name="Группа 3">
            <a:extLst>
              <a:ext uri="{FF2B5EF4-FFF2-40B4-BE49-F238E27FC236}">
                <a16:creationId xmlns:a16="http://schemas.microsoft.com/office/drawing/2014/main" id="{19A90D11-48B7-6C68-A509-37D6FC4CCFAF}"/>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866F4983-1E84-8556-09E6-DBA7C4AA79A2}"/>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6DD084EF-D3AA-D9AD-FBDD-41B4246AA84A}"/>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39835829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FF8D7-7D49-4614-535B-C525B5450AE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DED2B53-9C25-126A-681F-E40CE8B3C0CC}"/>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FAA9A291-B7B2-A374-EB25-07C70BB8BA57}"/>
              </a:ext>
            </a:extLst>
          </p:cNvPr>
          <p:cNvSpPr>
            <a:spLocks noGrp="1"/>
          </p:cNvSpPr>
          <p:nvPr>
            <p:ph idx="1"/>
          </p:nvPr>
        </p:nvSpPr>
        <p:spPr/>
        <p:txBody>
          <a:bodyPr>
            <a:noAutofit/>
          </a:bodyPr>
          <a:lstStyle/>
          <a:p>
            <a:pPr algn="just">
              <a:lnSpc>
                <a:spcPct val="120000"/>
              </a:lnSpc>
            </a:pPr>
            <a:r>
              <a:rPr lang="en-US" dirty="0">
                <a:effectLst/>
                <a:latin typeface="Arial" panose="020B0604020202020204" pitchFamily="34" charset="0"/>
                <a:ea typeface="Aptos" panose="020B0004020202020204" pitchFamily="34" charset="0"/>
              </a:rPr>
              <a:t>We will see how each component behaves differently when subjected to an Alternating Current (AC) frequency. </a:t>
            </a:r>
          </a:p>
          <a:p>
            <a:pPr algn="just">
              <a:lnSpc>
                <a:spcPct val="120000"/>
              </a:lnSpc>
            </a:pPr>
            <a:r>
              <a:rPr lang="en-US" dirty="0">
                <a:effectLst/>
                <a:latin typeface="Arial" panose="020B0604020202020204" pitchFamily="34" charset="0"/>
                <a:ea typeface="Aptos" panose="020B0004020202020204" pitchFamily="34" charset="0"/>
              </a:rPr>
              <a:t>Finally, we will combine these behaviors into a single, unified concept called Complex Impedance, which is the AC equivalent of resistance. </a:t>
            </a:r>
          </a:p>
          <a:p>
            <a:pPr algn="just">
              <a:lnSpc>
                <a:spcPct val="120000"/>
              </a:lnSpc>
            </a:pPr>
            <a:r>
              <a:rPr lang="en-US" dirty="0">
                <a:effectLst/>
                <a:latin typeface="Arial" panose="020B0604020202020204" pitchFamily="34" charset="0"/>
                <a:ea typeface="Aptos" panose="020B0004020202020204" pitchFamily="34" charset="0"/>
              </a:rPr>
              <a:t>A thorough understanding of these individual characteristics is the prerequisite for analyzing any AC circuit, from simple filters to complex power grids.</a:t>
            </a:r>
            <a:endParaRPr lang="ru-RU" dirty="0">
              <a:effectLst/>
              <a:latin typeface="Arial" panose="020B0604020202020204" pitchFamily="34" charset="0"/>
              <a:ea typeface="Aptos" panose="020B0004020202020204" pitchFamily="34" charset="0"/>
            </a:endParaRPr>
          </a:p>
        </p:txBody>
      </p:sp>
      <p:grpSp>
        <p:nvGrpSpPr>
          <p:cNvPr id="4" name="Группа 3">
            <a:extLst>
              <a:ext uri="{FF2B5EF4-FFF2-40B4-BE49-F238E27FC236}">
                <a16:creationId xmlns:a16="http://schemas.microsoft.com/office/drawing/2014/main" id="{F56F6CA0-AE3A-03E8-28BA-45A13EF55189}"/>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62D55A62-F4AD-9B42-BDE8-41BCBBFD8A6D}"/>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2F195CF4-8182-4BD9-F897-A758AD2E6B23}"/>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42674652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02884-70F0-2C17-1160-9F8CFB208A67}"/>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05F38B-9C6A-127D-0F5F-2C6B6CC6981E}"/>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61EE1633-80CF-029E-3060-CB12845751D0}"/>
                  </a:ext>
                </a:extLst>
              </p:cNvPr>
              <p:cNvSpPr>
                <a:spLocks noGrp="1"/>
              </p:cNvSpPr>
              <p:nvPr>
                <p:ph idx="1"/>
              </p:nvPr>
            </p:nvSpPr>
            <p:spPr/>
            <p:txBody>
              <a:bodyPr>
                <a:noAutofit/>
              </a:bodyPr>
              <a:lstStyle/>
              <a:p>
                <a:pPr algn="just">
                  <a:lnSpc>
                    <a:spcPct val="120000"/>
                  </a:lnSpc>
                </a:pPr>
                <a:r>
                  <a:rPr lang="en-US" dirty="0">
                    <a:effectLst/>
                    <a:latin typeface="Arial" panose="020B0604020202020204" pitchFamily="34" charset="0"/>
                    <a:ea typeface="Aptos" panose="020B0004020202020204" pitchFamily="34" charset="0"/>
                  </a:rPr>
                  <a:t>Let us begin with the simplest element: the Resistor. </a:t>
                </a:r>
              </a:p>
              <a:p>
                <a:pPr algn="just">
                  <a:lnSpc>
                    <a:spcPct val="120000"/>
                  </a:lnSpc>
                </a:pPr>
                <a:r>
                  <a:rPr lang="en-US" b="1" dirty="0">
                    <a:effectLst/>
                    <a:latin typeface="Arial" panose="020B0604020202020204" pitchFamily="34" charset="0"/>
                    <a:ea typeface="Aptos" panose="020B0004020202020204" pitchFamily="34" charset="0"/>
                  </a:rPr>
                  <a:t>In a circuit operating in the sinusoidal steady state, a resistor behaves very similarly to how it behaves in a DC circuit. </a:t>
                </a:r>
              </a:p>
              <a:p>
                <a:pPr algn="just">
                  <a:lnSpc>
                    <a:spcPct val="120000"/>
                  </a:lnSpc>
                </a:pPr>
                <a:r>
                  <a:rPr lang="en-US" dirty="0">
                    <a:effectLst/>
                    <a:latin typeface="Arial" panose="020B0604020202020204" pitchFamily="34" charset="0"/>
                    <a:ea typeface="Aptos" panose="020B0004020202020204" pitchFamily="34" charset="0"/>
                  </a:rPr>
                  <a:t>According to Ohm's Law in the time domain, voltage is instantaneously proportional to current (</a:t>
                </a:r>
                <a14:m>
                  <m:oMath xmlns:m="http://schemas.openxmlformats.org/officeDocument/2006/math">
                    <m:r>
                      <a:rPr lang="en-US" i="1">
                        <a:effectLst/>
                        <a:latin typeface="Cambria Math" panose="02040503050406030204" pitchFamily="18" charset="0"/>
                        <a:ea typeface="Aptos" panose="020B0004020202020204" pitchFamily="34" charset="0"/>
                      </a:rPr>
                      <m:t>𝑣</m:t>
                    </m:r>
                    <m:r>
                      <a:rPr lang="en-US">
                        <a:effectLst/>
                        <a:latin typeface="Cambria Math" panose="02040503050406030204" pitchFamily="18" charset="0"/>
                        <a:ea typeface="Aptos" panose="020B0004020202020204" pitchFamily="34" charset="0"/>
                      </a:rPr>
                      <m:t>(</m:t>
                    </m:r>
                    <m:r>
                      <a:rPr lang="en-US" i="1">
                        <a:effectLst/>
                        <a:latin typeface="Cambria Math" panose="02040503050406030204" pitchFamily="18" charset="0"/>
                        <a:ea typeface="Aptos" panose="020B0004020202020204" pitchFamily="34" charset="0"/>
                      </a:rPr>
                      <m:t>𝑡</m:t>
                    </m:r>
                    <m:r>
                      <a:rPr lang="en-US">
                        <a:effectLst/>
                        <a:latin typeface="Cambria Math" panose="02040503050406030204" pitchFamily="18" charset="0"/>
                        <a:ea typeface="Aptos" panose="020B0004020202020204" pitchFamily="34" charset="0"/>
                      </a:rPr>
                      <m:t>)=</m:t>
                    </m:r>
                    <m:r>
                      <a:rPr lang="en-US" i="1">
                        <a:effectLst/>
                        <a:latin typeface="Cambria Math" panose="02040503050406030204" pitchFamily="18" charset="0"/>
                        <a:ea typeface="Aptos" panose="020B0004020202020204" pitchFamily="34" charset="0"/>
                      </a:rPr>
                      <m:t>𝑅</m:t>
                    </m:r>
                    <m:r>
                      <a:rPr lang="en-US">
                        <a:effectLst/>
                        <a:latin typeface="Cambria Math" panose="02040503050406030204" pitchFamily="18" charset="0"/>
                        <a:ea typeface="Aptos" panose="020B0004020202020204" pitchFamily="34" charset="0"/>
                      </a:rPr>
                      <m:t>×</m:t>
                    </m:r>
                    <m:r>
                      <a:rPr lang="en-US" i="1">
                        <a:effectLst/>
                        <a:latin typeface="Cambria Math" panose="02040503050406030204" pitchFamily="18" charset="0"/>
                        <a:ea typeface="Aptos" panose="020B0004020202020204" pitchFamily="34" charset="0"/>
                      </a:rPr>
                      <m:t>𝑖</m:t>
                    </m:r>
                    <m:r>
                      <a:rPr lang="en-US">
                        <a:effectLst/>
                        <a:latin typeface="Cambria Math" panose="02040503050406030204" pitchFamily="18" charset="0"/>
                        <a:ea typeface="Aptos" panose="020B0004020202020204" pitchFamily="34" charset="0"/>
                      </a:rPr>
                      <m:t>(</m:t>
                    </m:r>
                    <m:r>
                      <a:rPr lang="en-US" i="1">
                        <a:effectLst/>
                        <a:latin typeface="Cambria Math" panose="02040503050406030204" pitchFamily="18" charset="0"/>
                        <a:ea typeface="Aptos" panose="020B0004020202020204" pitchFamily="34" charset="0"/>
                      </a:rPr>
                      <m:t>𝑡</m:t>
                    </m:r>
                    <m:r>
                      <a:rPr lang="en-US">
                        <a:effectLst/>
                        <a:latin typeface="Cambria Math" panose="02040503050406030204" pitchFamily="18" charset="0"/>
                        <a:ea typeface="Aptos" panose="020B0004020202020204" pitchFamily="34" charset="0"/>
                      </a:rPr>
                      <m:t>)</m:t>
                    </m:r>
                  </m:oMath>
                </a14:m>
                <a:r>
                  <a:rPr lang="en-US" dirty="0">
                    <a:effectLst/>
                    <a:latin typeface="Arial" panose="020B0604020202020204" pitchFamily="34" charset="0"/>
                    <a:ea typeface="Aptos" panose="020B0004020202020204" pitchFamily="34" charset="0"/>
                  </a:rPr>
                  <a:t>). </a:t>
                </a:r>
                <a:endParaRPr lang="ru-RU" dirty="0">
                  <a:effectLst/>
                  <a:latin typeface="Arial" panose="020B0604020202020204" pitchFamily="34" charset="0"/>
                  <a:ea typeface="Aptos" panose="020B0004020202020204" pitchFamily="34" charset="0"/>
                </a:endParaRPr>
              </a:p>
            </p:txBody>
          </p:sp>
        </mc:Choice>
        <mc:Fallback xmlns="">
          <p:sp>
            <p:nvSpPr>
              <p:cNvPr id="3" name="Объект 2">
                <a:extLst>
                  <a:ext uri="{FF2B5EF4-FFF2-40B4-BE49-F238E27FC236}">
                    <a16:creationId xmlns:a16="http://schemas.microsoft.com/office/drawing/2014/main" id="{61EE1633-80CF-029E-3060-CB12845751D0}"/>
                  </a:ext>
                </a:extLst>
              </p:cNvPr>
              <p:cNvSpPr>
                <a:spLocks noGrp="1" noRot="1" noChangeAspect="1" noMove="1" noResize="1" noEditPoints="1" noAdjustHandles="1" noChangeArrowheads="1" noChangeShapeType="1" noTextEdit="1"/>
              </p:cNvSpPr>
              <p:nvPr>
                <p:ph idx="1"/>
              </p:nvPr>
            </p:nvSpPr>
            <p:spPr>
              <a:blipFill>
                <a:blip r:embed="rId2"/>
                <a:stretch>
                  <a:fillRect l="-1043" t="-560" r="-1159"/>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FC340238-5C89-227C-5EF3-06AED8652BB8}"/>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09F915DD-3F4F-B83F-4B03-240C3F0C1941}"/>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2306047F-63D4-E971-B3BD-D82BA3FDB527}"/>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757273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59B33-1375-2C69-B7A6-A2098B05690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31562A3D-9526-D4A7-A457-21FAEC1DDE31}"/>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B4F60F38-8F0E-C685-672D-4C6679D0C59C}"/>
              </a:ext>
            </a:extLst>
          </p:cNvPr>
          <p:cNvSpPr>
            <a:spLocks noGrp="1"/>
          </p:cNvSpPr>
          <p:nvPr>
            <p:ph idx="1"/>
          </p:nvPr>
        </p:nvSpPr>
        <p:spPr/>
        <p:txBody>
          <a:bodyPr>
            <a:noAutofit/>
          </a:bodyPr>
          <a:lstStyle/>
          <a:p>
            <a:pPr algn="just">
              <a:lnSpc>
                <a:spcPct val="120000"/>
              </a:lnSpc>
            </a:pPr>
            <a:r>
              <a:rPr lang="en-US" b="1" dirty="0">
                <a:effectLst/>
                <a:latin typeface="Arial" panose="020B0604020202020204" pitchFamily="34" charset="0"/>
                <a:ea typeface="Aptos" panose="020B0004020202020204" pitchFamily="34" charset="0"/>
              </a:rPr>
              <a:t>For a resistor, the sinusoidal voltage and current are always «in phase». </a:t>
            </a:r>
          </a:p>
          <a:p>
            <a:pPr algn="just">
              <a:lnSpc>
                <a:spcPct val="120000"/>
              </a:lnSpc>
            </a:pPr>
            <a:r>
              <a:rPr lang="en-US" dirty="0">
                <a:effectLst/>
                <a:latin typeface="Arial" panose="020B0604020202020204" pitchFamily="34" charset="0"/>
                <a:ea typeface="Aptos" panose="020B0004020202020204" pitchFamily="34" charset="0"/>
              </a:rPr>
              <a:t>This means that they reach their peak positive values at the exact same moment and cross zero at the exact same moment. </a:t>
            </a:r>
            <a:endParaRPr lang="ru-RU" dirty="0">
              <a:effectLst/>
              <a:latin typeface="Arial" panose="020B0604020202020204" pitchFamily="34" charset="0"/>
              <a:ea typeface="Aptos" panose="020B0004020202020204" pitchFamily="34" charset="0"/>
            </a:endParaRPr>
          </a:p>
        </p:txBody>
      </p:sp>
      <p:grpSp>
        <p:nvGrpSpPr>
          <p:cNvPr id="4" name="Группа 3">
            <a:extLst>
              <a:ext uri="{FF2B5EF4-FFF2-40B4-BE49-F238E27FC236}">
                <a16:creationId xmlns:a16="http://schemas.microsoft.com/office/drawing/2014/main" id="{D6D57AD7-13E0-5BC5-7869-F34B001DAC70}"/>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ACC76266-A2F7-FB35-2DF1-CCEB770C1DF9}"/>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0E9ADCDB-0A23-756D-F267-262DC41E9F85}"/>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238425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E24F1-7270-EAE5-D827-B6B175E2B44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75FFE54-F575-84F0-FC3E-1CD4E5606D5C}"/>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400B13B-39FF-464D-DA6B-E5CB9BC471A0}"/>
                  </a:ext>
                </a:extLst>
              </p:cNvPr>
              <p:cNvSpPr>
                <a:spLocks noGrp="1"/>
              </p:cNvSpPr>
              <p:nvPr>
                <p:ph idx="1"/>
              </p:nvPr>
            </p:nvSpPr>
            <p:spPr>
              <a:xfrm>
                <a:off x="838200" y="1825625"/>
                <a:ext cx="10515600" cy="4667250"/>
              </a:xfrm>
            </p:spPr>
            <p:txBody>
              <a:bodyPr>
                <a:noAutofit/>
              </a:bodyPr>
              <a:lstStyle/>
              <a:p>
                <a:pPr algn="just">
                  <a:lnSpc>
                    <a:spcPct val="120000"/>
                  </a:lnSpc>
                </a:pPr>
                <a:r>
                  <a:rPr lang="en-US" b="1" dirty="0">
                    <a:effectLst/>
                    <a:latin typeface="Arial" panose="020B0604020202020204" pitchFamily="34" charset="0"/>
                    <a:ea typeface="Aptos" panose="020B0004020202020204" pitchFamily="34" charset="0"/>
                  </a:rPr>
                  <a:t>In the phasor domain, this means the angle of the voltage phasor is identical to the angle of the current phasor.</a:t>
                </a:r>
                <a:endParaRPr lang="ru-RU" b="1" dirty="0">
                  <a:effectLst/>
                  <a:latin typeface="Arial" panose="020B0604020202020204" pitchFamily="34" charset="0"/>
                  <a:ea typeface="Aptos" panose="020B0004020202020204" pitchFamily="34" charset="0"/>
                </a:endParaRPr>
              </a:p>
              <a:p>
                <a:pPr algn="just">
                  <a:lnSpc>
                    <a:spcPct val="120000"/>
                  </a:lnSpc>
                </a:pPr>
                <a:r>
                  <a:rPr lang="en-US" b="1" dirty="0">
                    <a:effectLst/>
                    <a:latin typeface="Arial" panose="020B0604020202020204" pitchFamily="34" charset="0"/>
                    <a:ea typeface="Aptos" panose="020B0004020202020204" pitchFamily="34" charset="0"/>
                  </a:rPr>
                  <a:t>If we represent the current as a phasor </a:t>
                </a:r>
                <a14:m>
                  <m:oMath xmlns:m="http://schemas.openxmlformats.org/officeDocument/2006/math">
                    <m:acc>
                      <m:accPr>
                        <m:chr m:val="̇"/>
                        <m:ctrlPr>
                          <a:rPr lang="ru-RU" b="1" i="1">
                            <a:effectLst/>
                            <a:latin typeface="Cambria Math" panose="02040503050406030204" pitchFamily="18" charset="0"/>
                            <a:ea typeface="Aptos" panose="020B0004020202020204" pitchFamily="34" charset="0"/>
                          </a:rPr>
                        </m:ctrlPr>
                      </m:accPr>
                      <m:e>
                        <m:r>
                          <a:rPr lang="en-US" b="1" i="1" smtClean="0">
                            <a:effectLst/>
                            <a:latin typeface="Cambria Math" panose="02040503050406030204" pitchFamily="18" charset="0"/>
                            <a:ea typeface="Aptos" panose="020B0004020202020204" pitchFamily="34" charset="0"/>
                          </a:rPr>
                          <m:t>𝑰</m:t>
                        </m:r>
                      </m:e>
                    </m:acc>
                  </m:oMath>
                </a14:m>
                <a:r>
                  <a:rPr lang="en-US" b="1" dirty="0">
                    <a:effectLst/>
                    <a:latin typeface="Arial" panose="020B0604020202020204" pitchFamily="34" charset="0"/>
                    <a:ea typeface="Aptos" panose="020B0004020202020204" pitchFamily="34" charset="0"/>
                  </a:rPr>
                  <a:t>, the voltage phasor </a:t>
                </a:r>
                <a14:m>
                  <m:oMath xmlns:m="http://schemas.openxmlformats.org/officeDocument/2006/math">
                    <m:acc>
                      <m:accPr>
                        <m:chr m:val="̇"/>
                        <m:ctrlPr>
                          <a:rPr lang="ru-RU" b="1" i="1">
                            <a:effectLst/>
                            <a:latin typeface="Cambria Math" panose="02040503050406030204" pitchFamily="18" charset="0"/>
                            <a:ea typeface="Aptos" panose="020B0004020202020204" pitchFamily="34" charset="0"/>
                          </a:rPr>
                        </m:ctrlPr>
                      </m:accPr>
                      <m:e>
                        <m:r>
                          <a:rPr lang="en-US" b="1" i="1" smtClean="0">
                            <a:effectLst/>
                            <a:latin typeface="Cambria Math" panose="02040503050406030204" pitchFamily="18" charset="0"/>
                            <a:ea typeface="Aptos" panose="020B0004020202020204" pitchFamily="34" charset="0"/>
                          </a:rPr>
                          <m:t>𝑽</m:t>
                        </m:r>
                      </m:e>
                    </m:acc>
                  </m:oMath>
                </a14:m>
                <a:r>
                  <a:rPr lang="en-US" b="1" dirty="0">
                    <a:effectLst/>
                    <a:latin typeface="Arial" panose="020B0604020202020204" pitchFamily="34" charset="0"/>
                    <a:ea typeface="Aptos" panose="020B0004020202020204" pitchFamily="34" charset="0"/>
                  </a:rPr>
                  <a:t> is simply the resistance </a:t>
                </a:r>
                <a14:m>
                  <m:oMath xmlns:m="http://schemas.openxmlformats.org/officeDocument/2006/math">
                    <m:r>
                      <a:rPr lang="en-US" b="1" i="1" smtClean="0">
                        <a:effectLst/>
                        <a:latin typeface="Cambria Math" panose="02040503050406030204" pitchFamily="18" charset="0"/>
                        <a:ea typeface="Aptos" panose="020B0004020202020204" pitchFamily="34" charset="0"/>
                      </a:rPr>
                      <m:t>𝑹</m:t>
                    </m:r>
                  </m:oMath>
                </a14:m>
                <a:r>
                  <a:rPr lang="en-US" b="1" dirty="0">
                    <a:effectLst/>
                    <a:latin typeface="Arial" panose="020B0604020202020204" pitchFamily="34" charset="0"/>
                    <a:ea typeface="Aptos" panose="020B0004020202020204" pitchFamily="34" charset="0"/>
                  </a:rPr>
                  <a:t> multiplied by </a:t>
                </a:r>
                <a14:m>
                  <m:oMath xmlns:m="http://schemas.openxmlformats.org/officeDocument/2006/math">
                    <m:acc>
                      <m:accPr>
                        <m:chr m:val="̇"/>
                        <m:ctrlPr>
                          <a:rPr lang="ru-RU" b="1" i="1">
                            <a:effectLst/>
                            <a:latin typeface="Cambria Math" panose="02040503050406030204" pitchFamily="18" charset="0"/>
                            <a:ea typeface="Aptos" panose="020B0004020202020204" pitchFamily="34" charset="0"/>
                          </a:rPr>
                        </m:ctrlPr>
                      </m:accPr>
                      <m:e>
                        <m:r>
                          <a:rPr lang="en-US" b="1" i="1" smtClean="0">
                            <a:effectLst/>
                            <a:latin typeface="Cambria Math" panose="02040503050406030204" pitchFamily="18" charset="0"/>
                            <a:ea typeface="Aptos" panose="020B0004020202020204" pitchFamily="34" charset="0"/>
                          </a:rPr>
                          <m:t>𝑰</m:t>
                        </m:r>
                      </m:e>
                    </m:acc>
                  </m:oMath>
                </a14:m>
                <a:r>
                  <a:rPr lang="en-US" b="1" dirty="0">
                    <a:effectLst/>
                    <a:latin typeface="Arial" panose="020B0604020202020204" pitchFamily="34" charset="0"/>
                    <a:ea typeface="Aptos" panose="020B0004020202020204" pitchFamily="34" charset="0"/>
                  </a:rPr>
                  <a:t>:</a:t>
                </a:r>
                <a:endParaRPr lang="ru-RU" b="1" dirty="0">
                  <a:effectLst/>
                  <a:latin typeface="Arial" panose="020B0604020202020204" pitchFamily="34" charset="0"/>
                  <a:ea typeface="Aptos" panose="020B0004020202020204" pitchFamily="34" charset="0"/>
                </a:endParaRPr>
              </a:p>
              <a:p>
                <a:pPr marL="0" indent="0" algn="just">
                  <a:lnSpc>
                    <a:spcPct val="120000"/>
                  </a:lnSpc>
                  <a:buNone/>
                </a:pPr>
                <a14:m>
                  <m:oMathPara xmlns:m="http://schemas.openxmlformats.org/officeDocument/2006/math">
                    <m:oMathParaPr>
                      <m:jc m:val="centerGroup"/>
                    </m:oMathParaPr>
                    <m:oMath xmlns:m="http://schemas.openxmlformats.org/officeDocument/2006/math">
                      <m:acc>
                        <m:accPr>
                          <m:chr m:val="̇"/>
                          <m:ctrlPr>
                            <a:rPr lang="ru-RU" b="1" i="1">
                              <a:effectLst/>
                              <a:latin typeface="Cambria Math" panose="02040503050406030204" pitchFamily="18" charset="0"/>
                              <a:ea typeface="Aptos" panose="020B0004020202020204" pitchFamily="34" charset="0"/>
                            </a:rPr>
                          </m:ctrlPr>
                        </m:accPr>
                        <m:e>
                          <m:r>
                            <a:rPr lang="en-US" b="1" i="1" smtClean="0">
                              <a:effectLst/>
                              <a:latin typeface="Cambria Math" panose="02040503050406030204" pitchFamily="18" charset="0"/>
                              <a:ea typeface="Aptos" panose="020B0004020202020204" pitchFamily="34" charset="0"/>
                            </a:rPr>
                            <m:t>𝑽</m:t>
                          </m:r>
                        </m:e>
                      </m:acc>
                      <m:r>
                        <a:rPr lang="en-US" b="1" smtClean="0">
                          <a:effectLst/>
                          <a:latin typeface="Cambria Math" panose="02040503050406030204" pitchFamily="18" charset="0"/>
                          <a:ea typeface="Aptos" panose="020B0004020202020204" pitchFamily="34" charset="0"/>
                        </a:rPr>
                        <m:t>=</m:t>
                      </m:r>
                      <m:r>
                        <a:rPr lang="en-US" b="1" i="1" smtClean="0">
                          <a:effectLst/>
                          <a:latin typeface="Cambria Math" panose="02040503050406030204" pitchFamily="18" charset="0"/>
                          <a:ea typeface="Aptos" panose="020B0004020202020204" pitchFamily="34" charset="0"/>
                        </a:rPr>
                        <m:t>𝑹</m:t>
                      </m:r>
                      <m:acc>
                        <m:accPr>
                          <m:chr m:val="̇"/>
                          <m:ctrlPr>
                            <a:rPr lang="ru-RU" b="1" i="1">
                              <a:effectLst/>
                              <a:latin typeface="Cambria Math" panose="02040503050406030204" pitchFamily="18" charset="0"/>
                              <a:ea typeface="Aptos" panose="020B0004020202020204" pitchFamily="34" charset="0"/>
                            </a:rPr>
                          </m:ctrlPr>
                        </m:accPr>
                        <m:e>
                          <m:r>
                            <a:rPr lang="en-US" b="1" i="1" smtClean="0">
                              <a:effectLst/>
                              <a:latin typeface="Cambria Math" panose="02040503050406030204" pitchFamily="18" charset="0"/>
                              <a:ea typeface="Aptos" panose="020B0004020202020204" pitchFamily="34" charset="0"/>
                            </a:rPr>
                            <m:t>𝑰</m:t>
                          </m:r>
                        </m:e>
                      </m:acc>
                      <m:r>
                        <a:rPr lang="en-US" b="1" i="1" smtClean="0">
                          <a:effectLst/>
                          <a:latin typeface="Cambria Math" panose="02040503050406030204" pitchFamily="18" charset="0"/>
                          <a:ea typeface="Times New Roman" panose="02020603050405020304" pitchFamily="18" charset="0"/>
                        </a:rPr>
                        <m:t>.</m:t>
                      </m:r>
                    </m:oMath>
                  </m:oMathPara>
                </a14:m>
                <a:endParaRPr lang="en-US" b="1" dirty="0">
                  <a:effectLst/>
                  <a:latin typeface="Arial" panose="020B0604020202020204" pitchFamily="34" charset="0"/>
                  <a:ea typeface="Aptos" panose="020B0004020202020204" pitchFamily="34" charset="0"/>
                </a:endParaRPr>
              </a:p>
              <a:p>
                <a:pPr algn="just">
                  <a:lnSpc>
                    <a:spcPct val="120000"/>
                  </a:lnSpc>
                </a:pPr>
                <a:r>
                  <a:rPr lang="en-US" dirty="0">
                    <a:effectLst/>
                    <a:latin typeface="Arial" panose="020B0604020202020204" pitchFamily="34" charset="0"/>
                    <a:ea typeface="Aptos" panose="020B0004020202020204" pitchFamily="34" charset="0"/>
                  </a:rPr>
                  <a:t>Since R is a real number, it scales the magnitude of the phasor but does not rotate it, thus, the phases of voltage and current are the same (you can see it an illustration of it on the next slide)</a:t>
                </a:r>
                <a:endParaRPr lang="ru-RU" dirty="0">
                  <a:effectLst/>
                  <a:latin typeface="Arial" panose="020B0604020202020204" pitchFamily="34" charset="0"/>
                  <a:ea typeface="Aptos" panose="020B0004020202020204" pitchFamily="34" charset="0"/>
                </a:endParaRPr>
              </a:p>
            </p:txBody>
          </p:sp>
        </mc:Choice>
        <mc:Fallback xmlns="">
          <p:sp>
            <p:nvSpPr>
              <p:cNvPr id="3" name="Объект 2">
                <a:extLst>
                  <a:ext uri="{FF2B5EF4-FFF2-40B4-BE49-F238E27FC236}">
                    <a16:creationId xmlns:a16="http://schemas.microsoft.com/office/drawing/2014/main" id="{4400B13B-39FF-464D-DA6B-E5CB9BC471A0}"/>
                  </a:ext>
                </a:extLst>
              </p:cNvPr>
              <p:cNvSpPr>
                <a:spLocks noGrp="1" noRot="1" noChangeAspect="1" noMove="1" noResize="1" noEditPoints="1" noAdjustHandles="1" noChangeArrowheads="1" noChangeShapeType="1" noTextEdit="1"/>
              </p:cNvSpPr>
              <p:nvPr>
                <p:ph idx="1"/>
              </p:nvPr>
            </p:nvSpPr>
            <p:spPr>
              <a:xfrm>
                <a:off x="838200" y="1825625"/>
                <a:ext cx="10515600" cy="4667250"/>
              </a:xfrm>
              <a:blipFill>
                <a:blip r:embed="rId2"/>
                <a:stretch>
                  <a:fillRect l="-1043" t="-522" r="-1159" b="-9791"/>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47D5494E-383F-A0B6-09AD-9EE8111D9987}"/>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06C36B1F-ABC7-AAAD-7E20-C787EBC84A2D}"/>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FB0AED97-04BC-269B-5203-7F07FAED130D}"/>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20824388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98282-2671-426B-D3AC-112D6361A11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D532FA5-DE9A-EF2D-242D-ED2E09ADA52A}"/>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E74EB7CB-E129-2568-8BD6-82E85797B67F}"/>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B34C5ED8-2D5A-23EC-837D-706401899BD2}"/>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5416AB5E-E96C-EEA6-AF69-F940A4E86F89}"/>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pic>
        <p:nvPicPr>
          <p:cNvPr id="7" name="Объект 6">
            <a:extLst>
              <a:ext uri="{FF2B5EF4-FFF2-40B4-BE49-F238E27FC236}">
                <a16:creationId xmlns:a16="http://schemas.microsoft.com/office/drawing/2014/main" id="{D3AA9831-7260-8740-6D53-F234E40BBB9B}"/>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6596022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32510-BAD4-9FA0-B5AF-EAE69DF5D7E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8DF02B8-742F-FD38-E2D1-91FAD2ABED94}"/>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4297893D-CFB3-1964-0076-D86FDB75A7F1}"/>
              </a:ext>
            </a:extLst>
          </p:cNvPr>
          <p:cNvSpPr>
            <a:spLocks noGrp="1"/>
          </p:cNvSpPr>
          <p:nvPr>
            <p:ph idx="1"/>
          </p:nvPr>
        </p:nvSpPr>
        <p:spPr>
          <a:xfrm>
            <a:off x="838200" y="1781493"/>
            <a:ext cx="10515600" cy="4351338"/>
          </a:xfrm>
        </p:spPr>
        <p:txBody>
          <a:bodyPr>
            <a:noAutofit/>
          </a:bodyPr>
          <a:lstStyle/>
          <a:p>
            <a:pPr algn="just">
              <a:lnSpc>
                <a:spcPct val="120000"/>
              </a:lnSpc>
            </a:pPr>
            <a:r>
              <a:rPr lang="en-US" dirty="0">
                <a:effectLst/>
                <a:latin typeface="Arial" panose="020B0604020202020204" pitchFamily="34" charset="0"/>
                <a:ea typeface="Aptos" panose="020B0004020202020204" pitchFamily="34" charset="0"/>
              </a:rPr>
              <a:t>Now, we move to the Inductor. </a:t>
            </a:r>
          </a:p>
          <a:p>
            <a:pPr algn="just">
              <a:lnSpc>
                <a:spcPct val="120000"/>
              </a:lnSpc>
            </a:pPr>
            <a:r>
              <a:rPr lang="en-US" dirty="0">
                <a:effectLst/>
                <a:latin typeface="Arial" panose="020B0604020202020204" pitchFamily="34" charset="0"/>
                <a:ea typeface="Aptos" panose="020B0004020202020204" pitchFamily="34" charset="0"/>
              </a:rPr>
              <a:t>The behavior here is quite different. </a:t>
            </a:r>
          </a:p>
          <a:p>
            <a:pPr algn="just">
              <a:lnSpc>
                <a:spcPct val="120000"/>
              </a:lnSpc>
            </a:pPr>
            <a:r>
              <a:rPr lang="en-US" dirty="0">
                <a:effectLst/>
                <a:latin typeface="Arial" panose="020B0604020202020204" pitchFamily="34" charset="0"/>
                <a:ea typeface="Aptos" panose="020B0004020202020204" pitchFamily="34" charset="0"/>
              </a:rPr>
              <a:t>Recall from physics that an inductor opposes any change in current flow. </a:t>
            </a:r>
          </a:p>
        </p:txBody>
      </p:sp>
      <p:grpSp>
        <p:nvGrpSpPr>
          <p:cNvPr id="4" name="Группа 3">
            <a:extLst>
              <a:ext uri="{FF2B5EF4-FFF2-40B4-BE49-F238E27FC236}">
                <a16:creationId xmlns:a16="http://schemas.microsoft.com/office/drawing/2014/main" id="{8F13B49F-DD2A-BAD6-ED3A-7FDFA0E0701B}"/>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9165E632-D59D-CFA3-1BC2-23ABAB6AD58E}"/>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CF8DF821-7138-24CA-5DBE-08DD52327CA5}"/>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36197739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49E0C-D352-C733-D7C8-28FEC04E8BE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32B2D794-857C-FA0A-2AF9-4A2A5EE9F259}"/>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A9D09156-009B-061D-AED5-909BFCF0A14E}"/>
                  </a:ext>
                </a:extLst>
              </p:cNvPr>
              <p:cNvSpPr>
                <a:spLocks noGrp="1"/>
              </p:cNvSpPr>
              <p:nvPr>
                <p:ph idx="1"/>
              </p:nvPr>
            </p:nvSpPr>
            <p:spPr>
              <a:xfrm>
                <a:off x="838200" y="1781493"/>
                <a:ext cx="10515600" cy="4351338"/>
              </a:xfrm>
            </p:spPr>
            <p:txBody>
              <a:bodyPr>
                <a:noAutofit/>
              </a:bodyPr>
              <a:lstStyle/>
              <a:p>
                <a:pPr algn="just">
                  <a:lnSpc>
                    <a:spcPct val="120000"/>
                  </a:lnSpc>
                </a:pPr>
                <a:r>
                  <a:rPr lang="en-US" b="1" dirty="0">
                    <a:effectLst/>
                    <a:latin typeface="Arial" panose="020B0604020202020204" pitchFamily="34" charset="0"/>
                    <a:ea typeface="Aptos" panose="020B0004020202020204" pitchFamily="34" charset="0"/>
                  </a:rPr>
                  <a:t>In the time domain, the voltage across an inductor is proportional to the rate of change (derivative) of the current: </a:t>
                </a:r>
                <a:endParaRPr lang="ru-RU" b="1" dirty="0">
                  <a:effectLst/>
                  <a:latin typeface="Arial" panose="020B0604020202020204" pitchFamily="34" charset="0"/>
                  <a:ea typeface="Aptos" panose="020B0004020202020204" pitchFamily="34" charset="0"/>
                </a:endParaRPr>
              </a:p>
              <a:p>
                <a:pPr marL="0" indent="0" algn="ctr">
                  <a:lnSpc>
                    <a:spcPct val="120000"/>
                  </a:lnSpc>
                  <a:buNone/>
                </a:pPr>
                <a14:m>
                  <m:oMathPara xmlns:m="http://schemas.openxmlformats.org/officeDocument/2006/math">
                    <m:oMathParaPr>
                      <m:jc m:val="centerGroup"/>
                    </m:oMathParaPr>
                    <m:oMath xmlns:m="http://schemas.openxmlformats.org/officeDocument/2006/math">
                      <m:r>
                        <a:rPr lang="en-US" b="1" i="1" smtClean="0">
                          <a:effectLst/>
                          <a:latin typeface="Cambria Math" panose="02040503050406030204" pitchFamily="18" charset="0"/>
                          <a:ea typeface="Aptos" panose="020B0004020202020204" pitchFamily="34" charset="0"/>
                        </a:rPr>
                        <m:t>𝒗</m:t>
                      </m:r>
                      <m:r>
                        <a:rPr lang="en-US" b="1" smtClean="0">
                          <a:effectLst/>
                          <a:latin typeface="Cambria Math" panose="02040503050406030204" pitchFamily="18" charset="0"/>
                          <a:ea typeface="Aptos" panose="020B0004020202020204" pitchFamily="34" charset="0"/>
                        </a:rPr>
                        <m:t>=</m:t>
                      </m:r>
                      <m:r>
                        <a:rPr lang="en-US" b="1" i="1" smtClean="0">
                          <a:effectLst/>
                          <a:latin typeface="Cambria Math" panose="02040503050406030204" pitchFamily="18" charset="0"/>
                          <a:ea typeface="Aptos" panose="020B0004020202020204" pitchFamily="34" charset="0"/>
                        </a:rPr>
                        <m:t>𝑳</m:t>
                      </m:r>
                      <m:f>
                        <m:fPr>
                          <m:ctrlPr>
                            <a:rPr lang="ru-RU" b="1" i="1">
                              <a:effectLst/>
                              <a:latin typeface="Cambria Math" panose="02040503050406030204" pitchFamily="18" charset="0"/>
                              <a:ea typeface="Aptos" panose="020B0004020202020204" pitchFamily="34" charset="0"/>
                            </a:rPr>
                          </m:ctrlPr>
                        </m:fPr>
                        <m:num>
                          <m:r>
                            <a:rPr lang="en-US" b="1" i="1" smtClean="0">
                              <a:effectLst/>
                              <a:latin typeface="Cambria Math" panose="02040503050406030204" pitchFamily="18" charset="0"/>
                              <a:ea typeface="Aptos" panose="020B0004020202020204" pitchFamily="34" charset="0"/>
                            </a:rPr>
                            <m:t>𝒅𝒊</m:t>
                          </m:r>
                        </m:num>
                        <m:den>
                          <m:r>
                            <a:rPr lang="en-US" b="1" i="1" smtClean="0">
                              <a:effectLst/>
                              <a:latin typeface="Cambria Math" panose="02040503050406030204" pitchFamily="18" charset="0"/>
                              <a:ea typeface="Aptos" panose="020B0004020202020204" pitchFamily="34" charset="0"/>
                            </a:rPr>
                            <m:t>𝒅𝒕</m:t>
                          </m:r>
                        </m:den>
                      </m:f>
                      <m:r>
                        <a:rPr lang="en-US" b="1" smtClean="0">
                          <a:effectLst/>
                          <a:latin typeface="Cambria Math" panose="02040503050406030204" pitchFamily="18" charset="0"/>
                          <a:ea typeface="Aptos" panose="020B0004020202020204" pitchFamily="34" charset="0"/>
                        </a:rPr>
                        <m:t>.</m:t>
                      </m:r>
                    </m:oMath>
                  </m:oMathPara>
                </a14:m>
                <a:endParaRPr lang="ru-RU" b="1" dirty="0">
                  <a:effectLst/>
                  <a:latin typeface="Arial" panose="020B0604020202020204" pitchFamily="34" charset="0"/>
                  <a:ea typeface="Aptos" panose="020B0004020202020204" pitchFamily="34" charset="0"/>
                </a:endParaRPr>
              </a:p>
              <a:p>
                <a:pPr algn="just">
                  <a:lnSpc>
                    <a:spcPct val="120000"/>
                  </a:lnSpc>
                </a:pPr>
                <a:r>
                  <a:rPr lang="en-US" b="1" dirty="0">
                    <a:effectLst/>
                    <a:latin typeface="Arial" panose="020B0604020202020204" pitchFamily="34" charset="0"/>
                    <a:ea typeface="Aptos" panose="020B0004020202020204" pitchFamily="34" charset="0"/>
                  </a:rPr>
                  <a:t>If our current is a sine wave, </a:t>
                </a:r>
                <a14:m>
                  <m:oMath xmlns:m="http://schemas.openxmlformats.org/officeDocument/2006/math">
                    <m:r>
                      <a:rPr lang="en-US" b="1" i="1" smtClean="0">
                        <a:effectLst/>
                        <a:latin typeface="Cambria Math" panose="02040503050406030204" pitchFamily="18" charset="0"/>
                        <a:ea typeface="Aptos" panose="020B0004020202020204" pitchFamily="34" charset="0"/>
                      </a:rPr>
                      <m:t>𝒊</m:t>
                    </m:r>
                    <m:r>
                      <a:rPr lang="en-US" b="1" smtClean="0">
                        <a:effectLst/>
                        <a:latin typeface="Cambria Math" panose="02040503050406030204" pitchFamily="18" charset="0"/>
                        <a:ea typeface="Aptos" panose="020B0004020202020204" pitchFamily="34" charset="0"/>
                      </a:rPr>
                      <m:t>(</m:t>
                    </m:r>
                    <m:r>
                      <a:rPr lang="en-US" b="1" i="1" smtClean="0">
                        <a:effectLst/>
                        <a:latin typeface="Cambria Math" panose="02040503050406030204" pitchFamily="18" charset="0"/>
                        <a:ea typeface="Aptos" panose="020B0004020202020204" pitchFamily="34" charset="0"/>
                      </a:rPr>
                      <m:t>𝒕</m:t>
                    </m:r>
                    <m:r>
                      <a:rPr lang="en-US" b="1" smtClean="0">
                        <a:effectLst/>
                        <a:latin typeface="Cambria Math" panose="02040503050406030204" pitchFamily="18" charset="0"/>
                        <a:ea typeface="Aptos" panose="020B0004020202020204" pitchFamily="34" charset="0"/>
                      </a:rPr>
                      <m:t>)=</m:t>
                    </m:r>
                    <m:sSub>
                      <m:sSubPr>
                        <m:ctrlPr>
                          <a:rPr lang="ru-RU" b="1" i="1">
                            <a:effectLst/>
                            <a:latin typeface="Cambria Math" panose="02040503050406030204" pitchFamily="18" charset="0"/>
                            <a:ea typeface="Aptos" panose="020B0004020202020204" pitchFamily="34" charset="0"/>
                          </a:rPr>
                        </m:ctrlPr>
                      </m:sSubPr>
                      <m:e>
                        <m:r>
                          <a:rPr lang="en-US" b="1" i="1" smtClean="0">
                            <a:effectLst/>
                            <a:latin typeface="Cambria Math" panose="02040503050406030204" pitchFamily="18" charset="0"/>
                            <a:ea typeface="Aptos" panose="020B0004020202020204" pitchFamily="34" charset="0"/>
                          </a:rPr>
                          <m:t>𝑰</m:t>
                        </m:r>
                      </m:e>
                      <m:sub>
                        <m:r>
                          <a:rPr lang="en-US" b="1" i="1" smtClean="0">
                            <a:effectLst/>
                            <a:latin typeface="Cambria Math" panose="02040503050406030204" pitchFamily="18" charset="0"/>
                            <a:ea typeface="Aptos" panose="020B0004020202020204" pitchFamily="34" charset="0"/>
                          </a:rPr>
                          <m:t>𝒎</m:t>
                        </m:r>
                      </m:sub>
                    </m:sSub>
                    <m:r>
                      <a:rPr lang="en-US" b="1" i="1" smtClean="0">
                        <a:effectLst/>
                        <a:latin typeface="Cambria Math" panose="02040503050406030204" pitchFamily="18" charset="0"/>
                        <a:ea typeface="Aptos" panose="020B0004020202020204" pitchFamily="34" charset="0"/>
                      </a:rPr>
                      <m:t>𝒔𝒊𝒏</m:t>
                    </m:r>
                    <m:r>
                      <a:rPr lang="en-US" b="1" smtClean="0">
                        <a:effectLst/>
                        <a:latin typeface="Cambria Math" panose="02040503050406030204" pitchFamily="18" charset="0"/>
                        <a:ea typeface="Aptos" panose="020B0004020202020204" pitchFamily="34" charset="0"/>
                      </a:rPr>
                      <m:t>(</m:t>
                    </m:r>
                    <m:r>
                      <a:rPr lang="en-US" b="1" i="1" smtClean="0">
                        <a:effectLst/>
                        <a:latin typeface="Cambria Math" panose="02040503050406030204" pitchFamily="18" charset="0"/>
                        <a:ea typeface="Aptos" panose="020B0004020202020204" pitchFamily="34" charset="0"/>
                      </a:rPr>
                      <m:t>𝝎</m:t>
                    </m:r>
                    <m:r>
                      <a:rPr lang="en-US" b="1" i="1" smtClean="0">
                        <a:effectLst/>
                        <a:latin typeface="Cambria Math" panose="02040503050406030204" pitchFamily="18" charset="0"/>
                        <a:ea typeface="Aptos" panose="020B0004020202020204" pitchFamily="34" charset="0"/>
                      </a:rPr>
                      <m:t>𝒕</m:t>
                    </m:r>
                    <m:r>
                      <a:rPr lang="en-US" b="1" smtClean="0">
                        <a:effectLst/>
                        <a:latin typeface="Cambria Math" panose="02040503050406030204" pitchFamily="18" charset="0"/>
                        <a:ea typeface="Aptos" panose="020B0004020202020204" pitchFamily="34" charset="0"/>
                      </a:rPr>
                      <m:t>)</m:t>
                    </m:r>
                  </m:oMath>
                </a14:m>
                <a:r>
                  <a:rPr lang="en-US" b="1" dirty="0">
                    <a:effectLst/>
                    <a:latin typeface="Arial" panose="020B0604020202020204" pitchFamily="34" charset="0"/>
                    <a:ea typeface="Aptos" panose="020B0004020202020204" pitchFamily="34" charset="0"/>
                  </a:rPr>
                  <a:t>, then taking the derivative gives us a cosine wave: </a:t>
                </a:r>
                <a14:m>
                  <m:oMath xmlns:m="http://schemas.openxmlformats.org/officeDocument/2006/math">
                    <m:r>
                      <a:rPr lang="en-US" b="1" i="1" smtClean="0">
                        <a:effectLst/>
                        <a:latin typeface="Cambria Math" panose="02040503050406030204" pitchFamily="18" charset="0"/>
                        <a:ea typeface="Aptos" panose="020B0004020202020204" pitchFamily="34" charset="0"/>
                      </a:rPr>
                      <m:t>𝒗</m:t>
                    </m:r>
                    <m:r>
                      <a:rPr lang="en-US" b="1" smtClean="0">
                        <a:effectLst/>
                        <a:latin typeface="Cambria Math" panose="02040503050406030204" pitchFamily="18" charset="0"/>
                        <a:ea typeface="Aptos" panose="020B0004020202020204" pitchFamily="34" charset="0"/>
                      </a:rPr>
                      <m:t>(</m:t>
                    </m:r>
                    <m:r>
                      <a:rPr lang="en-US" b="1" i="1" smtClean="0">
                        <a:effectLst/>
                        <a:latin typeface="Cambria Math" panose="02040503050406030204" pitchFamily="18" charset="0"/>
                        <a:ea typeface="Aptos" panose="020B0004020202020204" pitchFamily="34" charset="0"/>
                      </a:rPr>
                      <m:t>𝒕</m:t>
                    </m:r>
                    <m:r>
                      <a:rPr lang="en-US" b="1" smtClean="0">
                        <a:effectLst/>
                        <a:latin typeface="Cambria Math" panose="02040503050406030204" pitchFamily="18" charset="0"/>
                        <a:ea typeface="Aptos" panose="020B0004020202020204" pitchFamily="34" charset="0"/>
                      </a:rPr>
                      <m:t>)=</m:t>
                    </m:r>
                    <m:r>
                      <a:rPr lang="en-US" b="1" i="1" smtClean="0">
                        <a:effectLst/>
                        <a:latin typeface="Cambria Math" panose="02040503050406030204" pitchFamily="18" charset="0"/>
                        <a:ea typeface="Aptos" panose="020B0004020202020204" pitchFamily="34" charset="0"/>
                      </a:rPr>
                      <m:t>𝝎</m:t>
                    </m:r>
                    <m:r>
                      <a:rPr lang="en-US" b="1" i="1" smtClean="0">
                        <a:effectLst/>
                        <a:latin typeface="Cambria Math" panose="02040503050406030204" pitchFamily="18" charset="0"/>
                        <a:ea typeface="Aptos" panose="020B0004020202020204" pitchFamily="34" charset="0"/>
                      </a:rPr>
                      <m:t>𝑳</m:t>
                    </m:r>
                    <m:sSub>
                      <m:sSubPr>
                        <m:ctrlPr>
                          <a:rPr lang="ru-RU" b="1" i="1">
                            <a:effectLst/>
                            <a:latin typeface="Cambria Math" panose="02040503050406030204" pitchFamily="18" charset="0"/>
                            <a:ea typeface="Aptos" panose="020B0004020202020204" pitchFamily="34" charset="0"/>
                          </a:rPr>
                        </m:ctrlPr>
                      </m:sSubPr>
                      <m:e>
                        <m:r>
                          <a:rPr lang="en-US" b="1" i="1" smtClean="0">
                            <a:effectLst/>
                            <a:latin typeface="Cambria Math" panose="02040503050406030204" pitchFamily="18" charset="0"/>
                            <a:ea typeface="Aptos" panose="020B0004020202020204" pitchFamily="34" charset="0"/>
                          </a:rPr>
                          <m:t>𝑰</m:t>
                        </m:r>
                      </m:e>
                      <m:sub>
                        <m:r>
                          <a:rPr lang="en-US" b="1" i="1" smtClean="0">
                            <a:effectLst/>
                            <a:latin typeface="Cambria Math" panose="02040503050406030204" pitchFamily="18" charset="0"/>
                            <a:ea typeface="Aptos" panose="020B0004020202020204" pitchFamily="34" charset="0"/>
                          </a:rPr>
                          <m:t>𝒎</m:t>
                        </m:r>
                      </m:sub>
                    </m:sSub>
                    <m:r>
                      <a:rPr lang="en-US" b="1" i="1" smtClean="0">
                        <a:effectLst/>
                        <a:latin typeface="Cambria Math" panose="02040503050406030204" pitchFamily="18" charset="0"/>
                        <a:ea typeface="Aptos" panose="020B0004020202020204" pitchFamily="34" charset="0"/>
                      </a:rPr>
                      <m:t>𝒄𝒐𝒔</m:t>
                    </m:r>
                    <m:r>
                      <a:rPr lang="en-US" b="1" smtClean="0">
                        <a:effectLst/>
                        <a:latin typeface="Cambria Math" panose="02040503050406030204" pitchFamily="18" charset="0"/>
                        <a:ea typeface="Aptos" panose="020B0004020202020204" pitchFamily="34" charset="0"/>
                      </a:rPr>
                      <m:t>(</m:t>
                    </m:r>
                    <m:r>
                      <a:rPr lang="en-US" b="1" i="1" smtClean="0">
                        <a:effectLst/>
                        <a:latin typeface="Cambria Math" panose="02040503050406030204" pitchFamily="18" charset="0"/>
                        <a:ea typeface="Aptos" panose="020B0004020202020204" pitchFamily="34" charset="0"/>
                      </a:rPr>
                      <m:t>𝝎</m:t>
                    </m:r>
                    <m:r>
                      <a:rPr lang="en-US" b="1" i="1" smtClean="0">
                        <a:effectLst/>
                        <a:latin typeface="Cambria Math" panose="02040503050406030204" pitchFamily="18" charset="0"/>
                        <a:ea typeface="Aptos" panose="020B0004020202020204" pitchFamily="34" charset="0"/>
                      </a:rPr>
                      <m:t>𝒕</m:t>
                    </m:r>
                    <m:r>
                      <a:rPr lang="en-US" b="1" smtClean="0">
                        <a:effectLst/>
                        <a:latin typeface="Cambria Math" panose="02040503050406030204" pitchFamily="18" charset="0"/>
                        <a:ea typeface="Aptos" panose="020B0004020202020204" pitchFamily="34" charset="0"/>
                      </a:rPr>
                      <m:t>)</m:t>
                    </m:r>
                  </m:oMath>
                </a14:m>
                <a:r>
                  <a:rPr lang="en-US" b="1" dirty="0">
                    <a:effectLst/>
                    <a:latin typeface="Arial" panose="020B0604020202020204" pitchFamily="34" charset="0"/>
                    <a:ea typeface="Aptos" panose="020B0004020202020204" pitchFamily="34" charset="0"/>
                  </a:rPr>
                  <a:t>. </a:t>
                </a:r>
                <a:endParaRPr lang="ru-RU" b="1" dirty="0">
                  <a:effectLst/>
                  <a:latin typeface="Arial" panose="020B0604020202020204" pitchFamily="34" charset="0"/>
                  <a:ea typeface="Aptos" panose="020B0004020202020204" pitchFamily="34" charset="0"/>
                </a:endParaRPr>
              </a:p>
              <a:p>
                <a:pPr algn="just">
                  <a:lnSpc>
                    <a:spcPct val="120000"/>
                  </a:lnSpc>
                </a:pPr>
                <a:r>
                  <a:rPr lang="en-US" b="1" dirty="0">
                    <a:effectLst/>
                    <a:latin typeface="Arial" panose="020B0604020202020204" pitchFamily="34" charset="0"/>
                    <a:ea typeface="Aptos" panose="020B0004020202020204" pitchFamily="34" charset="0"/>
                  </a:rPr>
                  <a:t>We know from trigonometry that a cosine wave is just a sine wave shifted by </a:t>
                </a:r>
                <a14:m>
                  <m:oMath xmlns:m="http://schemas.openxmlformats.org/officeDocument/2006/math">
                    <m:r>
                      <a:rPr lang="en-US" b="1" smtClean="0">
                        <a:effectLst/>
                        <a:latin typeface="Cambria Math" panose="02040503050406030204" pitchFamily="18" charset="0"/>
                        <a:ea typeface="Aptos" panose="020B0004020202020204" pitchFamily="34" charset="0"/>
                      </a:rPr>
                      <m:t>+</m:t>
                    </m:r>
                    <m:sSup>
                      <m:sSupPr>
                        <m:ctrlPr>
                          <a:rPr lang="ru-RU" b="1" i="1">
                            <a:effectLst/>
                            <a:latin typeface="Cambria Math" panose="02040503050406030204" pitchFamily="18" charset="0"/>
                            <a:ea typeface="Aptos" panose="020B0004020202020204" pitchFamily="34" charset="0"/>
                          </a:rPr>
                        </m:ctrlPr>
                      </m:sSupPr>
                      <m:e>
                        <m:r>
                          <a:rPr lang="en-US" b="1" i="1" smtClean="0">
                            <a:effectLst/>
                            <a:latin typeface="Cambria Math" panose="02040503050406030204" pitchFamily="18" charset="0"/>
                            <a:ea typeface="Aptos" panose="020B0004020202020204" pitchFamily="34" charset="0"/>
                          </a:rPr>
                          <m:t>𝟗𝟎</m:t>
                        </m:r>
                      </m:e>
                      <m:sup>
                        <m:r>
                          <a:rPr lang="en-US" b="1" smtClean="0">
                            <a:effectLst/>
                            <a:latin typeface="Cambria Math" panose="02040503050406030204" pitchFamily="18" charset="0"/>
                            <a:ea typeface="Aptos" panose="020B0004020202020204" pitchFamily="34" charset="0"/>
                          </a:rPr>
                          <m:t>∘</m:t>
                        </m:r>
                      </m:sup>
                    </m:sSup>
                  </m:oMath>
                </a14:m>
                <a:r>
                  <a:rPr lang="en-US" b="1" dirty="0">
                    <a:effectLst/>
                    <a:latin typeface="Arial" panose="020B0604020202020204" pitchFamily="34" charset="0"/>
                    <a:ea typeface="Aptos" panose="020B0004020202020204" pitchFamily="34" charset="0"/>
                  </a:rPr>
                  <a:t>.</a:t>
                </a:r>
                <a:endParaRPr lang="ru-RU" b="1" dirty="0">
                  <a:effectLst/>
                  <a:latin typeface="Arial" panose="020B0604020202020204" pitchFamily="34" charset="0"/>
                  <a:ea typeface="Aptos" panose="020B0004020202020204" pitchFamily="34" charset="0"/>
                </a:endParaRPr>
              </a:p>
            </p:txBody>
          </p:sp>
        </mc:Choice>
        <mc:Fallback xmlns="">
          <p:sp>
            <p:nvSpPr>
              <p:cNvPr id="3" name="Объект 2">
                <a:extLst>
                  <a:ext uri="{FF2B5EF4-FFF2-40B4-BE49-F238E27FC236}">
                    <a16:creationId xmlns:a16="http://schemas.microsoft.com/office/drawing/2014/main" id="{A9D09156-009B-061D-AED5-909BFCF0A14E}"/>
                  </a:ext>
                </a:extLst>
              </p:cNvPr>
              <p:cNvSpPr>
                <a:spLocks noGrp="1" noRot="1" noChangeAspect="1" noMove="1" noResize="1" noEditPoints="1" noAdjustHandles="1" noChangeArrowheads="1" noChangeShapeType="1" noTextEdit="1"/>
              </p:cNvSpPr>
              <p:nvPr>
                <p:ph idx="1"/>
              </p:nvPr>
            </p:nvSpPr>
            <p:spPr>
              <a:xfrm>
                <a:off x="838200" y="1781493"/>
                <a:ext cx="10515600" cy="4351338"/>
              </a:xfrm>
              <a:blipFill>
                <a:blip r:embed="rId2"/>
                <a:stretch>
                  <a:fillRect l="-1043" t="-560" r="-1159" b="-15406"/>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16BBCD87-C7A1-BE2D-03E5-EF9CF8FE9924}"/>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B20FDF94-3072-FA27-B383-2846483AA005}"/>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906A1EC7-F42C-63C9-069E-A2014DF87C14}"/>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25649679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4928A-02A0-25FF-697F-35ED71C92FE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3167BE4-BD08-D7E6-D4E5-3E7D8D0F7723}"/>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5AB6A25A-FC16-5EF2-BB42-98144F0A24C3}"/>
                  </a:ext>
                </a:extLst>
              </p:cNvPr>
              <p:cNvSpPr>
                <a:spLocks noGrp="1"/>
              </p:cNvSpPr>
              <p:nvPr>
                <p:ph idx="1"/>
              </p:nvPr>
            </p:nvSpPr>
            <p:spPr>
              <a:xfrm>
                <a:off x="838200" y="1781493"/>
                <a:ext cx="10515600" cy="4351338"/>
              </a:xfrm>
            </p:spPr>
            <p:txBody>
              <a:bodyPr>
                <a:noAutofit/>
              </a:bodyPr>
              <a:lstStyle/>
              <a:p>
                <a:pPr algn="just">
                  <a:lnSpc>
                    <a:spcPct val="120000"/>
                  </a:lnSpc>
                </a:pPr>
                <a:r>
                  <a:rPr lang="en-US" b="1" dirty="0">
                    <a:effectLst/>
                    <a:ea typeface="Aptos" panose="020B0004020202020204" pitchFamily="34" charset="0"/>
                  </a:rPr>
                  <a:t>Therefore, in an inductor, the voltage leads the current by exactly </a:t>
                </a:r>
                <a14:m>
                  <m:oMath xmlns:m="http://schemas.openxmlformats.org/officeDocument/2006/math">
                    <m:sSup>
                      <m:sSupPr>
                        <m:ctrlPr>
                          <a:rPr lang="ru-RU" b="1" i="1">
                            <a:effectLst/>
                            <a:latin typeface="Cambria Math" panose="02040503050406030204" pitchFamily="18" charset="0"/>
                            <a:ea typeface="Aptos" panose="020B0004020202020204" pitchFamily="34" charset="0"/>
                          </a:rPr>
                        </m:ctrlPr>
                      </m:sSupPr>
                      <m:e>
                        <m:r>
                          <a:rPr lang="en-US" b="1" i="1">
                            <a:effectLst/>
                            <a:latin typeface="Cambria Math" panose="02040503050406030204" pitchFamily="18" charset="0"/>
                            <a:ea typeface="Aptos" panose="020B0004020202020204" pitchFamily="34" charset="0"/>
                          </a:rPr>
                          <m:t>𝟗𝟎</m:t>
                        </m:r>
                      </m:e>
                      <m:sup>
                        <m:r>
                          <a:rPr lang="en-US" b="1">
                            <a:effectLst/>
                            <a:latin typeface="Cambria Math" panose="02040503050406030204" pitchFamily="18" charset="0"/>
                            <a:ea typeface="Aptos" panose="020B0004020202020204" pitchFamily="34" charset="0"/>
                          </a:rPr>
                          <m:t>∘</m:t>
                        </m:r>
                      </m:sup>
                    </m:sSup>
                  </m:oMath>
                </a14:m>
                <a:r>
                  <a:rPr lang="en-US" b="1" dirty="0">
                    <a:effectLst/>
                    <a:ea typeface="Aptos" panose="020B0004020202020204" pitchFamily="34" charset="0"/>
                  </a:rPr>
                  <a:t> (or </a:t>
                </a:r>
                <a14:m>
                  <m:oMath xmlns:m="http://schemas.openxmlformats.org/officeDocument/2006/math">
                    <m:r>
                      <a:rPr lang="en-US" b="1" i="1">
                        <a:effectLst/>
                        <a:latin typeface="Cambria Math" panose="02040503050406030204" pitchFamily="18" charset="0"/>
                        <a:ea typeface="Aptos" panose="020B0004020202020204" pitchFamily="34" charset="0"/>
                      </a:rPr>
                      <m:t>𝝅</m:t>
                    </m:r>
                    <m:r>
                      <a:rPr lang="en-US" b="1">
                        <a:effectLst/>
                        <a:latin typeface="Cambria Math" panose="02040503050406030204" pitchFamily="18" charset="0"/>
                        <a:ea typeface="Aptos" panose="020B0004020202020204" pitchFamily="34" charset="0"/>
                      </a:rPr>
                      <m:t>/</m:t>
                    </m:r>
                    <m:r>
                      <a:rPr lang="en-US" b="1" i="1">
                        <a:effectLst/>
                        <a:latin typeface="Cambria Math" panose="02040503050406030204" pitchFamily="18" charset="0"/>
                        <a:ea typeface="Aptos" panose="020B0004020202020204" pitchFamily="34" charset="0"/>
                      </a:rPr>
                      <m:t>𝟐</m:t>
                    </m:r>
                  </m:oMath>
                </a14:m>
                <a:r>
                  <a:rPr lang="en-US" b="1" dirty="0">
                    <a:effectLst/>
                    <a:ea typeface="Aptos" panose="020B0004020202020204" pitchFamily="34" charset="0"/>
                  </a:rPr>
                  <a:t> radians). </a:t>
                </a:r>
                <a:endParaRPr lang="ru-RU" b="1" dirty="0">
                  <a:effectLst/>
                  <a:ea typeface="Aptos" panose="020B0004020202020204" pitchFamily="34" charset="0"/>
                </a:endParaRPr>
              </a:p>
              <a:p>
                <a:pPr algn="just">
                  <a:lnSpc>
                    <a:spcPct val="120000"/>
                  </a:lnSpc>
                </a:pPr>
                <a:r>
                  <a:rPr lang="en-US" dirty="0">
                    <a:effectLst/>
                    <a:ea typeface="Aptos" panose="020B0004020202020204" pitchFamily="34" charset="0"/>
                  </a:rPr>
                  <a:t>Think of it this way: to force the current to change (rise from zero), the inductor demands a maximum voltage «push» right at the beginning. </a:t>
                </a:r>
              </a:p>
              <a:p>
                <a:pPr algn="just">
                  <a:lnSpc>
                    <a:spcPct val="120000"/>
                  </a:lnSpc>
                </a:pPr>
                <a:r>
                  <a:rPr lang="en-US" dirty="0">
                    <a:effectLst/>
                    <a:ea typeface="Aptos" panose="020B0004020202020204" pitchFamily="34" charset="0"/>
                  </a:rPr>
                  <a:t>By the time the current reaches its maximum, it is no longer changing (the slope is zero), so the voltage drops to zero.</a:t>
                </a:r>
                <a:endParaRPr lang="ru-RU" dirty="0">
                  <a:effectLst/>
                  <a:ea typeface="Aptos" panose="020B0004020202020204" pitchFamily="34" charset="0"/>
                </a:endParaRPr>
              </a:p>
            </p:txBody>
          </p:sp>
        </mc:Choice>
        <mc:Fallback xmlns="">
          <p:sp>
            <p:nvSpPr>
              <p:cNvPr id="3" name="Объект 2">
                <a:extLst>
                  <a:ext uri="{FF2B5EF4-FFF2-40B4-BE49-F238E27FC236}">
                    <a16:creationId xmlns:a16="http://schemas.microsoft.com/office/drawing/2014/main" id="{5AB6A25A-FC16-5EF2-BB42-98144F0A24C3}"/>
                  </a:ext>
                </a:extLst>
              </p:cNvPr>
              <p:cNvSpPr>
                <a:spLocks noGrp="1" noRot="1" noChangeAspect="1" noMove="1" noResize="1" noEditPoints="1" noAdjustHandles="1" noChangeArrowheads="1" noChangeShapeType="1" noTextEdit="1"/>
              </p:cNvSpPr>
              <p:nvPr>
                <p:ph idx="1"/>
              </p:nvPr>
            </p:nvSpPr>
            <p:spPr>
              <a:xfrm>
                <a:off x="838200" y="1781493"/>
                <a:ext cx="10515600" cy="4351338"/>
              </a:xfrm>
              <a:blipFill>
                <a:blip r:embed="rId2"/>
                <a:stretch>
                  <a:fillRect l="-1043" t="-140" r="-1159"/>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8E67A46D-4C0A-B6BB-0C32-A873591809C4}"/>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1826FA44-27B3-DB02-17A4-D999682458C6}"/>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763E463B-A541-79FA-8ED2-9EEA8732CE95}"/>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13259570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59500-14C5-8562-557B-3A2B83219083}"/>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4116497-D92B-AEAF-BF12-2145E29D4B06}"/>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0916F213-1AF2-F157-9580-45F05575BC71}"/>
                  </a:ext>
                </a:extLst>
              </p:cNvPr>
              <p:cNvSpPr>
                <a:spLocks noGrp="1"/>
              </p:cNvSpPr>
              <p:nvPr>
                <p:ph idx="1"/>
              </p:nvPr>
            </p:nvSpPr>
            <p:spPr>
              <a:xfrm>
                <a:off x="838200" y="1781493"/>
                <a:ext cx="10515600" cy="4351338"/>
              </a:xfrm>
            </p:spPr>
            <p:txBody>
              <a:bodyPr>
                <a:noAutofit/>
              </a:bodyPr>
              <a:lstStyle/>
              <a:p>
                <a:r>
                  <a:rPr lang="en-US" dirty="0"/>
                  <a:t>How do we express this </a:t>
                </a:r>
                <a14:m>
                  <m:oMath xmlns:m="http://schemas.openxmlformats.org/officeDocument/2006/math">
                    <m:sSup>
                      <m:sSupPr>
                        <m:ctrlPr>
                          <a:rPr lang="ru-RU" i="1">
                            <a:latin typeface="Cambria Math" panose="02040503050406030204" pitchFamily="18" charset="0"/>
                          </a:rPr>
                        </m:ctrlPr>
                      </m:sSupPr>
                      <m:e>
                        <m:r>
                          <a:rPr lang="en-US" i="1">
                            <a:latin typeface="Cambria Math" panose="02040503050406030204" pitchFamily="18" charset="0"/>
                          </a:rPr>
                          <m:t>90</m:t>
                        </m:r>
                      </m:e>
                      <m:sup>
                        <m:r>
                          <a:rPr lang="en-US">
                            <a:latin typeface="Cambria Math" panose="02040503050406030204" pitchFamily="18" charset="0"/>
                          </a:rPr>
                          <m:t>∘</m:t>
                        </m:r>
                      </m:sup>
                    </m:sSup>
                  </m:oMath>
                </a14:m>
                <a:r>
                  <a:rPr lang="en-US" dirty="0"/>
                  <a:t> phase shift using phasors? </a:t>
                </a:r>
              </a:p>
              <a:p>
                <a:r>
                  <a:rPr lang="en-US" dirty="0"/>
                  <a:t>In the complex plane, rotating a vector by </a:t>
                </a:r>
                <a14:m>
                  <m:oMath xmlns:m="http://schemas.openxmlformats.org/officeDocument/2006/math">
                    <m:r>
                      <a:rPr lang="en-US">
                        <a:latin typeface="Cambria Math" panose="02040503050406030204" pitchFamily="18" charset="0"/>
                      </a:rPr>
                      <m:t>+</m:t>
                    </m:r>
                    <m:sSup>
                      <m:sSupPr>
                        <m:ctrlPr>
                          <a:rPr lang="ru-RU" i="1">
                            <a:latin typeface="Cambria Math" panose="02040503050406030204" pitchFamily="18" charset="0"/>
                          </a:rPr>
                        </m:ctrlPr>
                      </m:sSupPr>
                      <m:e>
                        <m:r>
                          <a:rPr lang="en-US" i="1">
                            <a:latin typeface="Cambria Math" panose="02040503050406030204" pitchFamily="18" charset="0"/>
                          </a:rPr>
                          <m:t>90</m:t>
                        </m:r>
                      </m:e>
                      <m:sup>
                        <m:r>
                          <a:rPr lang="en-US">
                            <a:latin typeface="Cambria Math" panose="02040503050406030204" pitchFamily="18" charset="0"/>
                          </a:rPr>
                          <m:t>∘</m:t>
                        </m:r>
                      </m:sup>
                    </m:sSup>
                  </m:oMath>
                </a14:m>
                <a:r>
                  <a:rPr lang="en-US" dirty="0"/>
                  <a:t> is mathematically equivalent to multiplying by the imaginary unit </a:t>
                </a:r>
                <a14:m>
                  <m:oMath xmlns:m="http://schemas.openxmlformats.org/officeDocument/2006/math">
                    <m:r>
                      <a:rPr lang="en-US" i="1">
                        <a:latin typeface="Cambria Math" panose="02040503050406030204" pitchFamily="18" charset="0"/>
                      </a:rPr>
                      <m:t>𝑗</m:t>
                    </m:r>
                  </m:oMath>
                </a14:m>
                <a:r>
                  <a:rPr lang="en-US" dirty="0"/>
                  <a:t> (where </a:t>
                </a:r>
                <a14:m>
                  <m:oMath xmlns:m="http://schemas.openxmlformats.org/officeDocument/2006/math">
                    <m:r>
                      <a:rPr lang="en-US" i="1">
                        <a:latin typeface="Cambria Math" panose="02040503050406030204" pitchFamily="18" charset="0"/>
                      </a:rPr>
                      <m:t>𝑗</m:t>
                    </m:r>
                    <m:r>
                      <a:rPr lang="en-US">
                        <a:latin typeface="Cambria Math" panose="02040503050406030204" pitchFamily="18" charset="0"/>
                      </a:rPr>
                      <m:t>=</m:t>
                    </m:r>
                    <m:rad>
                      <m:radPr>
                        <m:degHide m:val="on"/>
                        <m:ctrlPr>
                          <a:rPr lang="ru-RU" i="1">
                            <a:latin typeface="Cambria Math" panose="02040503050406030204" pitchFamily="18" charset="0"/>
                          </a:rPr>
                        </m:ctrlPr>
                      </m:radPr>
                      <m:deg/>
                      <m:e>
                        <m:r>
                          <a:rPr lang="en-US" i="1">
                            <a:latin typeface="Cambria Math" panose="02040503050406030204" pitchFamily="18" charset="0"/>
                          </a:rPr>
                          <m:t>−1</m:t>
                        </m:r>
                      </m:e>
                    </m:rad>
                  </m:oMath>
                </a14:m>
                <a:r>
                  <a:rPr lang="en-US" dirty="0"/>
                  <a:t>). </a:t>
                </a:r>
                <a:endParaRPr lang="ru-RU" dirty="0"/>
              </a:p>
            </p:txBody>
          </p:sp>
        </mc:Choice>
        <mc:Fallback xmlns="">
          <p:sp>
            <p:nvSpPr>
              <p:cNvPr id="3" name="Объект 2">
                <a:extLst>
                  <a:ext uri="{FF2B5EF4-FFF2-40B4-BE49-F238E27FC236}">
                    <a16:creationId xmlns:a16="http://schemas.microsoft.com/office/drawing/2014/main" id="{0916F213-1AF2-F157-9580-45F05575BC71}"/>
                  </a:ext>
                </a:extLst>
              </p:cNvPr>
              <p:cNvSpPr>
                <a:spLocks noGrp="1" noRot="1" noChangeAspect="1" noMove="1" noResize="1" noEditPoints="1" noAdjustHandles="1" noChangeArrowheads="1" noChangeShapeType="1" noTextEdit="1"/>
              </p:cNvSpPr>
              <p:nvPr>
                <p:ph idx="1"/>
              </p:nvPr>
            </p:nvSpPr>
            <p:spPr>
              <a:xfrm>
                <a:off x="838200" y="1781493"/>
                <a:ext cx="10515600" cy="4351338"/>
              </a:xfrm>
              <a:blipFill>
                <a:blip r:embed="rId2"/>
                <a:stretch>
                  <a:fillRect l="-1043" t="-2381"/>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B268E422-5D04-75D7-AA4D-6582109E67E3}"/>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F153E039-B753-0DC9-B247-359C0E0E17BE}"/>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415ECF89-48C8-A151-1AB6-ED6DF17BC385}"/>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28753341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9DE80-163E-7342-88B1-ADA7B376D2B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34AEABB-E822-540F-57A3-500486309245}"/>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D7017260-ED5B-DE13-D878-CC9CD06B8772}"/>
                  </a:ext>
                </a:extLst>
              </p:cNvPr>
              <p:cNvSpPr>
                <a:spLocks noGrp="1"/>
              </p:cNvSpPr>
              <p:nvPr>
                <p:ph idx="1"/>
              </p:nvPr>
            </p:nvSpPr>
            <p:spPr>
              <a:xfrm>
                <a:off x="838200" y="1781493"/>
                <a:ext cx="10515600" cy="4351338"/>
              </a:xfrm>
            </p:spPr>
            <p:txBody>
              <a:bodyPr>
                <a:noAutofit/>
              </a:bodyPr>
              <a:lstStyle/>
              <a:p>
                <a:r>
                  <a:rPr lang="en-US" b="1" dirty="0"/>
                  <a:t>Consequently, the Voltage-Current relationship for an inductor in the phasor domain is: </a:t>
                </a:r>
                <a:endParaRPr lang="ru-RU" b="1" dirty="0"/>
              </a:p>
              <a:p>
                <a:pPr marL="0" indent="0">
                  <a:buNone/>
                </a:pPr>
                <a14:m>
                  <m:oMathPara xmlns:m="http://schemas.openxmlformats.org/officeDocument/2006/math">
                    <m:oMathParaPr>
                      <m:jc m:val="centerGroup"/>
                    </m:oMathParaPr>
                    <m:oMath xmlns:m="http://schemas.openxmlformats.org/officeDocument/2006/math">
                      <m:acc>
                        <m:accPr>
                          <m:chr m:val="̇"/>
                          <m:ctrlPr>
                            <a:rPr lang="ru-RU" b="1" i="1">
                              <a:latin typeface="Cambria Math" panose="02040503050406030204" pitchFamily="18" charset="0"/>
                            </a:rPr>
                          </m:ctrlPr>
                        </m:accPr>
                        <m:e>
                          <m:r>
                            <a:rPr lang="en-US" b="1" i="1" smtClean="0">
                              <a:latin typeface="Cambria Math" panose="02040503050406030204" pitchFamily="18" charset="0"/>
                            </a:rPr>
                            <m:t>𝑽</m:t>
                          </m:r>
                        </m:e>
                      </m:acc>
                      <m:r>
                        <a:rPr lang="en-US" b="1" smtClean="0">
                          <a:latin typeface="Cambria Math" panose="02040503050406030204" pitchFamily="18" charset="0"/>
                        </a:rPr>
                        <m:t>=</m:t>
                      </m:r>
                      <m:r>
                        <a:rPr lang="en-US" b="1" i="1" smtClean="0">
                          <a:latin typeface="Cambria Math" panose="02040503050406030204" pitchFamily="18" charset="0"/>
                        </a:rPr>
                        <m:t>𝒋</m:t>
                      </m:r>
                      <m:r>
                        <a:rPr lang="en-US" b="1" i="1" smtClean="0">
                          <a:latin typeface="Cambria Math" panose="02040503050406030204" pitchFamily="18" charset="0"/>
                        </a:rPr>
                        <m:t>𝝎</m:t>
                      </m:r>
                      <m:r>
                        <a:rPr lang="en-US" b="1" i="1" smtClean="0">
                          <a:latin typeface="Cambria Math" panose="02040503050406030204" pitchFamily="18" charset="0"/>
                        </a:rPr>
                        <m:t>𝑳</m:t>
                      </m:r>
                      <m:acc>
                        <m:accPr>
                          <m:chr m:val="̇"/>
                          <m:ctrlPr>
                            <a:rPr lang="ru-RU" b="1" i="1">
                              <a:latin typeface="Cambria Math" panose="02040503050406030204" pitchFamily="18" charset="0"/>
                            </a:rPr>
                          </m:ctrlPr>
                        </m:accPr>
                        <m:e>
                          <m:r>
                            <a:rPr lang="en-US" b="1" i="1" smtClean="0">
                              <a:latin typeface="Cambria Math" panose="02040503050406030204" pitchFamily="18" charset="0"/>
                            </a:rPr>
                            <m:t>𝑰</m:t>
                          </m:r>
                        </m:e>
                      </m:acc>
                      <m:r>
                        <a:rPr lang="en-US" b="1" i="1" smtClean="0">
                          <a:latin typeface="Cambria Math" panose="02040503050406030204" pitchFamily="18" charset="0"/>
                        </a:rPr>
                        <m:t>.</m:t>
                      </m:r>
                    </m:oMath>
                  </m:oMathPara>
                </a14:m>
                <a:endParaRPr lang="ru-RU" b="1" dirty="0"/>
              </a:p>
              <a:p>
                <a:r>
                  <a:rPr lang="en-US" dirty="0">
                    <a:effectLst/>
                    <a:latin typeface="Arial" panose="020B0604020202020204" pitchFamily="34" charset="0"/>
                    <a:ea typeface="Aptos" panose="020B0004020202020204" pitchFamily="34" charset="0"/>
                  </a:rPr>
                  <a:t>Here, </a:t>
                </a:r>
                <a14:m>
                  <m:oMath xmlns:m="http://schemas.openxmlformats.org/officeDocument/2006/math">
                    <m:r>
                      <a:rPr lang="en-US" i="1">
                        <a:effectLst/>
                        <a:latin typeface="Cambria Math" panose="02040503050406030204" pitchFamily="18" charset="0"/>
                        <a:ea typeface="Aptos" panose="020B0004020202020204" pitchFamily="34" charset="0"/>
                      </a:rPr>
                      <m:t>𝜔</m:t>
                    </m:r>
                  </m:oMath>
                </a14:m>
                <a:r>
                  <a:rPr lang="en-US" dirty="0">
                    <a:effectLst/>
                    <a:latin typeface="Arial" panose="020B0604020202020204" pitchFamily="34" charset="0"/>
                    <a:ea typeface="Aptos" panose="020B0004020202020204" pitchFamily="34" charset="0"/>
                  </a:rPr>
                  <a:t> is the angular frequency (</a:t>
                </a:r>
                <a14:m>
                  <m:oMath xmlns:m="http://schemas.openxmlformats.org/officeDocument/2006/math">
                    <m:r>
                      <a:rPr lang="en-US" i="1">
                        <a:effectLst/>
                        <a:latin typeface="Cambria Math" panose="02040503050406030204" pitchFamily="18" charset="0"/>
                        <a:ea typeface="Aptos" panose="020B0004020202020204" pitchFamily="34" charset="0"/>
                      </a:rPr>
                      <m:t>2</m:t>
                    </m:r>
                    <m:r>
                      <a:rPr lang="en-US" i="1">
                        <a:effectLst/>
                        <a:latin typeface="Cambria Math" panose="02040503050406030204" pitchFamily="18" charset="0"/>
                        <a:ea typeface="Aptos" panose="020B0004020202020204" pitchFamily="34" charset="0"/>
                      </a:rPr>
                      <m:t>𝜋</m:t>
                    </m:r>
                    <m:r>
                      <a:rPr lang="en-US" i="1">
                        <a:effectLst/>
                        <a:latin typeface="Cambria Math" panose="02040503050406030204" pitchFamily="18" charset="0"/>
                        <a:ea typeface="Aptos" panose="020B0004020202020204" pitchFamily="34" charset="0"/>
                      </a:rPr>
                      <m:t>𝑓</m:t>
                    </m:r>
                  </m:oMath>
                </a14:m>
                <a:r>
                  <a:rPr lang="en-US" dirty="0">
                    <a:effectLst/>
                    <a:latin typeface="Arial" panose="020B0604020202020204" pitchFamily="34" charset="0"/>
                    <a:ea typeface="Aptos" panose="020B0004020202020204" pitchFamily="34" charset="0"/>
                  </a:rPr>
                  <a:t>). </a:t>
                </a:r>
                <a:endParaRPr lang="en-US" dirty="0"/>
              </a:p>
              <a:p>
                <a:r>
                  <a:rPr lang="en-US" b="1" dirty="0"/>
                  <a:t>The term </a:t>
                </a:r>
                <a14:m>
                  <m:oMath xmlns:m="http://schemas.openxmlformats.org/officeDocument/2006/math">
                    <m:r>
                      <a:rPr lang="en-US" b="1" i="1" smtClean="0">
                        <a:latin typeface="Cambria Math" panose="02040503050406030204" pitchFamily="18" charset="0"/>
                      </a:rPr>
                      <m:t>𝒋</m:t>
                    </m:r>
                    <m:r>
                      <a:rPr lang="en-US" b="1" i="1" smtClean="0">
                        <a:latin typeface="Cambria Math" panose="02040503050406030204" pitchFamily="18" charset="0"/>
                      </a:rPr>
                      <m:t>𝝎</m:t>
                    </m:r>
                    <m:r>
                      <a:rPr lang="en-US" b="1" i="1" smtClean="0">
                        <a:latin typeface="Cambria Math" panose="02040503050406030204" pitchFamily="18" charset="0"/>
                      </a:rPr>
                      <m:t>𝑳</m:t>
                    </m:r>
                  </m:oMath>
                </a14:m>
                <a:r>
                  <a:rPr lang="en-US" b="1" dirty="0"/>
                  <a:t> represents the opposition of the inductor to the AC current. </a:t>
                </a:r>
              </a:p>
              <a:p>
                <a:r>
                  <a:rPr lang="en-US" dirty="0"/>
                  <a:t>Notice that this opposition depends on frequency. </a:t>
                </a:r>
              </a:p>
              <a:p>
                <a:r>
                  <a:rPr lang="en-US" dirty="0"/>
                  <a:t>If the frequency ω is zero (DC), the term becomes zero, and the inductor acts like a short circuit (just a wire). </a:t>
                </a:r>
                <a:endParaRPr lang="ru-RU" b="1" dirty="0"/>
              </a:p>
            </p:txBody>
          </p:sp>
        </mc:Choice>
        <mc:Fallback xmlns="">
          <p:sp>
            <p:nvSpPr>
              <p:cNvPr id="3" name="Объект 2">
                <a:extLst>
                  <a:ext uri="{FF2B5EF4-FFF2-40B4-BE49-F238E27FC236}">
                    <a16:creationId xmlns:a16="http://schemas.microsoft.com/office/drawing/2014/main" id="{D7017260-ED5B-DE13-D878-CC9CD06B8772}"/>
                  </a:ext>
                </a:extLst>
              </p:cNvPr>
              <p:cNvSpPr>
                <a:spLocks noGrp="1" noRot="1" noChangeAspect="1" noMove="1" noResize="1" noEditPoints="1" noAdjustHandles="1" noChangeArrowheads="1" noChangeShapeType="1" noTextEdit="1"/>
              </p:cNvSpPr>
              <p:nvPr>
                <p:ph idx="1"/>
              </p:nvPr>
            </p:nvSpPr>
            <p:spPr>
              <a:xfrm>
                <a:off x="838200" y="1781493"/>
                <a:ext cx="10515600" cy="4351338"/>
              </a:xfrm>
              <a:blipFill>
                <a:blip r:embed="rId2"/>
                <a:stretch>
                  <a:fillRect l="-1043" t="-2381" r="-1623"/>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E665D603-2891-2D6B-2FFE-0A537B379422}"/>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7AB83359-0868-1A21-6B14-E36FB87EC007}"/>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2E3E4B8B-215D-8D6C-4786-3F31296C4A35}"/>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18421293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0D5C0-CA59-79BC-2FAB-F2076F99A73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58F390B-5C43-741C-EF25-2523A788F83D}"/>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DE304498-586F-F375-A65D-FFC218F067C0}"/>
              </a:ext>
            </a:extLst>
          </p:cNvPr>
          <p:cNvSpPr>
            <a:spLocks noGrp="1"/>
          </p:cNvSpPr>
          <p:nvPr>
            <p:ph idx="1"/>
          </p:nvPr>
        </p:nvSpPr>
        <p:spPr>
          <a:xfrm>
            <a:off x="838200" y="1781493"/>
            <a:ext cx="10515600" cy="4351338"/>
          </a:xfrm>
        </p:spPr>
        <p:txBody>
          <a:bodyPr>
            <a:noAutofit/>
          </a:bodyPr>
          <a:lstStyle/>
          <a:p>
            <a:r>
              <a:rPr lang="en-US" b="1" dirty="0"/>
              <a:t>If the frequency is very high, the opposition becomes very large, effectively blocking the current.</a:t>
            </a:r>
          </a:p>
          <a:p>
            <a:r>
              <a:rPr lang="en-US" dirty="0"/>
              <a:t>At the next slide you can see an illustration of the phase relationship of current and voltage for an inductor.</a:t>
            </a:r>
            <a:endParaRPr lang="ru-RU" dirty="0"/>
          </a:p>
        </p:txBody>
      </p:sp>
      <p:grpSp>
        <p:nvGrpSpPr>
          <p:cNvPr id="4" name="Группа 3">
            <a:extLst>
              <a:ext uri="{FF2B5EF4-FFF2-40B4-BE49-F238E27FC236}">
                <a16:creationId xmlns:a16="http://schemas.microsoft.com/office/drawing/2014/main" id="{C2472AC6-3121-AA37-FF84-115D319EC2EA}"/>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02D69F44-2F15-C7A5-1E99-5293E6CAA8F6}"/>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3A0B797E-4214-B321-D67D-E6C320C2291C}"/>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35340724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DC318-2778-46FA-CD29-AB9A6B8E03A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E17D11B-6316-FEF1-FF14-CE8A3333B947}"/>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56D557B6-A4F6-C449-59B8-9304BA75A319}"/>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6903A897-FB8E-5ABF-3822-58F5EAA16301}"/>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577D8943-15C6-D64B-B99F-9397265E35B6}"/>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pic>
        <p:nvPicPr>
          <p:cNvPr id="7" name="Объект 6">
            <a:extLst>
              <a:ext uri="{FF2B5EF4-FFF2-40B4-BE49-F238E27FC236}">
                <a16:creationId xmlns:a16="http://schemas.microsoft.com/office/drawing/2014/main" id="{FFAD597D-143B-8E07-353F-50F208F01F1E}"/>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3490602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8055E-C6DC-9D9A-6079-A9EB75BA92C3}"/>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CB56671-E17E-20D9-6B7D-F2046420E1D2}"/>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BE95E17D-C4B0-3CA3-A90A-4F8AD0991B57}"/>
              </a:ext>
            </a:extLst>
          </p:cNvPr>
          <p:cNvSpPr>
            <a:spLocks noGrp="1"/>
          </p:cNvSpPr>
          <p:nvPr>
            <p:ph idx="1"/>
          </p:nvPr>
        </p:nvSpPr>
        <p:spPr>
          <a:xfrm>
            <a:off x="838200" y="1781493"/>
            <a:ext cx="10515600" cy="4351338"/>
          </a:xfrm>
        </p:spPr>
        <p:txBody>
          <a:bodyPr>
            <a:noAutofit/>
          </a:bodyPr>
          <a:lstStyle/>
          <a:p>
            <a:pPr algn="just">
              <a:lnSpc>
                <a:spcPct val="120000"/>
              </a:lnSpc>
            </a:pPr>
            <a:r>
              <a:rPr lang="en-US" dirty="0">
                <a:effectLst/>
                <a:latin typeface="Arial" panose="020B0604020202020204" pitchFamily="34" charset="0"/>
                <a:ea typeface="Aptos" panose="020B0004020202020204" pitchFamily="34" charset="0"/>
              </a:rPr>
              <a:t>Next, we consider the Capacitor. </a:t>
            </a:r>
          </a:p>
          <a:p>
            <a:pPr algn="just">
              <a:lnSpc>
                <a:spcPct val="120000"/>
              </a:lnSpc>
            </a:pPr>
            <a:r>
              <a:rPr lang="en-US" dirty="0">
                <a:effectLst/>
                <a:latin typeface="Arial" panose="020B0604020202020204" pitchFamily="34" charset="0"/>
                <a:ea typeface="Aptos" panose="020B0004020202020204" pitchFamily="34" charset="0"/>
              </a:rPr>
              <a:t>Its behavior is the inverse of the inductor. </a:t>
            </a:r>
          </a:p>
          <a:p>
            <a:pPr algn="just">
              <a:lnSpc>
                <a:spcPct val="120000"/>
              </a:lnSpc>
            </a:pPr>
            <a:r>
              <a:rPr lang="en-US" dirty="0">
                <a:effectLst/>
                <a:latin typeface="Arial" panose="020B0604020202020204" pitchFamily="34" charset="0"/>
                <a:ea typeface="Aptos" panose="020B0004020202020204" pitchFamily="34" charset="0"/>
              </a:rPr>
              <a:t>A capacitor opposes changes in voltage. </a:t>
            </a:r>
          </a:p>
          <a:p>
            <a:pPr algn="just">
              <a:lnSpc>
                <a:spcPct val="120000"/>
              </a:lnSpc>
            </a:pPr>
            <a:r>
              <a:rPr lang="en-US" dirty="0">
                <a:effectLst/>
                <a:latin typeface="Arial" panose="020B0604020202020204" pitchFamily="34" charset="0"/>
                <a:ea typeface="Aptos" panose="020B0004020202020204" pitchFamily="34" charset="0"/>
              </a:rPr>
              <a:t>Current only flows when the voltage across the plates is changing. </a:t>
            </a:r>
            <a:endParaRPr lang="ru-RU" dirty="0">
              <a:effectLst/>
              <a:latin typeface="Arial" panose="020B0604020202020204" pitchFamily="34" charset="0"/>
              <a:ea typeface="Aptos" panose="020B0004020202020204" pitchFamily="34" charset="0"/>
            </a:endParaRPr>
          </a:p>
        </p:txBody>
      </p:sp>
      <p:grpSp>
        <p:nvGrpSpPr>
          <p:cNvPr id="4" name="Группа 3">
            <a:extLst>
              <a:ext uri="{FF2B5EF4-FFF2-40B4-BE49-F238E27FC236}">
                <a16:creationId xmlns:a16="http://schemas.microsoft.com/office/drawing/2014/main" id="{D7D75E09-D911-8265-AD64-E2F4D5DA4246}"/>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EE584C2B-BE7A-5425-C9A9-6A18763D49B5}"/>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A726A566-EB57-40B0-CB8B-1F72CD8E5E5A}"/>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25546185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4AB50-C06A-8129-AF36-BD3D01FC058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B8BECCD-9037-2A42-9B4D-1B05DD31ED6B}"/>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D970F11D-E617-7E1E-B596-36F48E906AF8}"/>
                  </a:ext>
                </a:extLst>
              </p:cNvPr>
              <p:cNvSpPr>
                <a:spLocks noGrp="1"/>
              </p:cNvSpPr>
              <p:nvPr>
                <p:ph idx="1"/>
              </p:nvPr>
            </p:nvSpPr>
            <p:spPr>
              <a:xfrm>
                <a:off x="838200" y="1781493"/>
                <a:ext cx="10515600" cy="4351338"/>
              </a:xfrm>
            </p:spPr>
            <p:txBody>
              <a:bodyPr>
                <a:noAutofit/>
              </a:bodyPr>
              <a:lstStyle/>
              <a:p>
                <a:pPr algn="just">
                  <a:lnSpc>
                    <a:spcPct val="120000"/>
                  </a:lnSpc>
                </a:pPr>
                <a:r>
                  <a:rPr lang="en-US" b="1" dirty="0">
                    <a:effectLst/>
                    <a:latin typeface="Arial" panose="020B0604020202020204" pitchFamily="34" charset="0"/>
                    <a:ea typeface="Aptos" panose="020B0004020202020204" pitchFamily="34" charset="0"/>
                  </a:rPr>
                  <a:t>In the time domain, the current is proportional to the rate of change of the voltage: </a:t>
                </a:r>
                <a:endParaRPr lang="ru-RU" b="1" dirty="0">
                  <a:effectLst/>
                  <a:latin typeface="Arial" panose="020B0604020202020204" pitchFamily="34" charset="0"/>
                  <a:ea typeface="Aptos" panose="020B0004020202020204" pitchFamily="34" charset="0"/>
                </a:endParaRPr>
              </a:p>
              <a:p>
                <a:pPr marL="0" indent="0" algn="just">
                  <a:lnSpc>
                    <a:spcPct val="120000"/>
                  </a:lnSpc>
                  <a:buNone/>
                </a:pPr>
                <a14:m>
                  <m:oMathPara xmlns:m="http://schemas.openxmlformats.org/officeDocument/2006/math">
                    <m:oMathParaPr>
                      <m:jc m:val="centerGroup"/>
                    </m:oMathParaPr>
                    <m:oMath xmlns:m="http://schemas.openxmlformats.org/officeDocument/2006/math">
                      <m:r>
                        <a:rPr lang="en-US" b="1" i="1" smtClean="0">
                          <a:effectLst/>
                          <a:latin typeface="Cambria Math" panose="02040503050406030204" pitchFamily="18" charset="0"/>
                          <a:ea typeface="Aptos" panose="020B0004020202020204" pitchFamily="34" charset="0"/>
                        </a:rPr>
                        <m:t>𝒊</m:t>
                      </m:r>
                      <m:r>
                        <a:rPr lang="en-US" b="1" smtClean="0">
                          <a:effectLst/>
                          <a:latin typeface="Cambria Math" panose="02040503050406030204" pitchFamily="18" charset="0"/>
                          <a:ea typeface="Aptos" panose="020B0004020202020204" pitchFamily="34" charset="0"/>
                        </a:rPr>
                        <m:t>=</m:t>
                      </m:r>
                      <m:r>
                        <a:rPr lang="en-US" b="1" i="1" smtClean="0">
                          <a:effectLst/>
                          <a:latin typeface="Cambria Math" panose="02040503050406030204" pitchFamily="18" charset="0"/>
                          <a:ea typeface="Aptos" panose="020B0004020202020204" pitchFamily="34" charset="0"/>
                        </a:rPr>
                        <m:t>𝑪</m:t>
                      </m:r>
                      <m:f>
                        <m:fPr>
                          <m:ctrlPr>
                            <a:rPr lang="ru-RU" b="1" i="1">
                              <a:effectLst/>
                              <a:latin typeface="Cambria Math" panose="02040503050406030204" pitchFamily="18" charset="0"/>
                              <a:ea typeface="Aptos" panose="020B0004020202020204" pitchFamily="34" charset="0"/>
                            </a:rPr>
                          </m:ctrlPr>
                        </m:fPr>
                        <m:num>
                          <m:r>
                            <a:rPr lang="en-US" b="1" i="1" smtClean="0">
                              <a:effectLst/>
                              <a:latin typeface="Cambria Math" panose="02040503050406030204" pitchFamily="18" charset="0"/>
                              <a:ea typeface="Aptos" panose="020B0004020202020204" pitchFamily="34" charset="0"/>
                            </a:rPr>
                            <m:t>𝒅𝒗</m:t>
                          </m:r>
                        </m:num>
                        <m:den>
                          <m:r>
                            <a:rPr lang="en-US" b="1" i="1" smtClean="0">
                              <a:effectLst/>
                              <a:latin typeface="Cambria Math" panose="02040503050406030204" pitchFamily="18" charset="0"/>
                              <a:ea typeface="Aptos" panose="020B0004020202020204" pitchFamily="34" charset="0"/>
                            </a:rPr>
                            <m:t>𝒅𝒕</m:t>
                          </m:r>
                        </m:den>
                      </m:f>
                      <m:r>
                        <a:rPr lang="en-US" b="1" i="1" smtClean="0">
                          <a:effectLst/>
                          <a:latin typeface="Cambria Math" panose="02040503050406030204" pitchFamily="18" charset="0"/>
                          <a:ea typeface="Aptos" panose="020B0004020202020204" pitchFamily="34" charset="0"/>
                        </a:rPr>
                        <m:t>.</m:t>
                      </m:r>
                    </m:oMath>
                  </m:oMathPara>
                </a14:m>
                <a:endParaRPr lang="ru-RU" b="1" dirty="0">
                  <a:effectLst/>
                  <a:latin typeface="Arial" panose="020B0604020202020204" pitchFamily="34" charset="0"/>
                  <a:ea typeface="Aptos" panose="020B0004020202020204" pitchFamily="34" charset="0"/>
                </a:endParaRPr>
              </a:p>
              <a:p>
                <a:pPr algn="just">
                  <a:lnSpc>
                    <a:spcPct val="120000"/>
                  </a:lnSpc>
                </a:pPr>
                <a:r>
                  <a:rPr lang="en-US" b="1" dirty="0">
                    <a:effectLst/>
                    <a:latin typeface="Arial" panose="020B0604020202020204" pitchFamily="34" charset="0"/>
                    <a:ea typeface="Aptos" panose="020B0004020202020204" pitchFamily="34" charset="0"/>
                  </a:rPr>
                  <a:t>If we apply a sinusoidal voltage, the resulting current will be a cosine wave. This implies that the current reaches its peak before the voltage does. </a:t>
                </a:r>
                <a:endParaRPr lang="ru-RU" b="1" dirty="0">
                  <a:effectLst/>
                  <a:latin typeface="Arial" panose="020B0604020202020204" pitchFamily="34" charset="0"/>
                  <a:ea typeface="Aptos" panose="020B0004020202020204" pitchFamily="34" charset="0"/>
                </a:endParaRPr>
              </a:p>
            </p:txBody>
          </p:sp>
        </mc:Choice>
        <mc:Fallback xmlns="">
          <p:sp>
            <p:nvSpPr>
              <p:cNvPr id="3" name="Объект 2">
                <a:extLst>
                  <a:ext uri="{FF2B5EF4-FFF2-40B4-BE49-F238E27FC236}">
                    <a16:creationId xmlns:a16="http://schemas.microsoft.com/office/drawing/2014/main" id="{D970F11D-E617-7E1E-B596-36F48E906AF8}"/>
                  </a:ext>
                </a:extLst>
              </p:cNvPr>
              <p:cNvSpPr>
                <a:spLocks noGrp="1" noRot="1" noChangeAspect="1" noMove="1" noResize="1" noEditPoints="1" noAdjustHandles="1" noChangeArrowheads="1" noChangeShapeType="1" noTextEdit="1"/>
              </p:cNvSpPr>
              <p:nvPr>
                <p:ph idx="1"/>
              </p:nvPr>
            </p:nvSpPr>
            <p:spPr>
              <a:xfrm>
                <a:off x="838200" y="1781493"/>
                <a:ext cx="10515600" cy="4351338"/>
              </a:xfrm>
              <a:blipFill>
                <a:blip r:embed="rId2"/>
                <a:stretch>
                  <a:fillRect l="-1043" t="-560" r="-1159"/>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DFF9E56F-FBD0-5D5D-5D49-1D560EC16530}"/>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0D3DB2E2-D6E6-570D-1328-AFAB87D0FC05}"/>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E98E9372-37F6-2E62-7D85-F32D741C86B8}"/>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41608439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19A4C-E63E-5380-79BC-79A886EB741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08E911D-0169-CF46-0B7B-FF1A42DED566}"/>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56EC6B50-E19A-009F-E76E-21438DAB19E5}"/>
                  </a:ext>
                </a:extLst>
              </p:cNvPr>
              <p:cNvSpPr>
                <a:spLocks noGrp="1"/>
              </p:cNvSpPr>
              <p:nvPr>
                <p:ph idx="1"/>
              </p:nvPr>
            </p:nvSpPr>
            <p:spPr>
              <a:xfrm>
                <a:off x="838200" y="1781493"/>
                <a:ext cx="10515600" cy="4351338"/>
              </a:xfrm>
            </p:spPr>
            <p:txBody>
              <a:bodyPr>
                <a:noAutofit/>
              </a:bodyPr>
              <a:lstStyle/>
              <a:p>
                <a:pPr algn="just">
                  <a:lnSpc>
                    <a:spcPct val="120000"/>
                  </a:lnSpc>
                </a:pPr>
                <a:r>
                  <a:rPr lang="en-US" b="1" dirty="0">
                    <a:effectLst/>
                    <a:latin typeface="Arial" panose="020B0604020202020204" pitchFamily="34" charset="0"/>
                    <a:ea typeface="Aptos" panose="020B0004020202020204" pitchFamily="34" charset="0"/>
                  </a:rPr>
                  <a:t>For a capacitor, the current leads the voltage by </a:t>
                </a:r>
                <a14:m>
                  <m:oMath xmlns:m="http://schemas.openxmlformats.org/officeDocument/2006/math">
                    <m:sSup>
                      <m:sSupPr>
                        <m:ctrlPr>
                          <a:rPr lang="ru-RU" b="1" i="1">
                            <a:effectLst/>
                            <a:latin typeface="Cambria Math" panose="02040503050406030204" pitchFamily="18" charset="0"/>
                            <a:ea typeface="Aptos" panose="020B0004020202020204" pitchFamily="34" charset="0"/>
                          </a:rPr>
                        </m:ctrlPr>
                      </m:sSupPr>
                      <m:e>
                        <m:r>
                          <a:rPr lang="en-US" b="1" i="1" smtClean="0">
                            <a:effectLst/>
                            <a:latin typeface="Cambria Math" panose="02040503050406030204" pitchFamily="18" charset="0"/>
                            <a:ea typeface="Aptos" panose="020B0004020202020204" pitchFamily="34" charset="0"/>
                          </a:rPr>
                          <m:t>𝟗𝟎</m:t>
                        </m:r>
                      </m:e>
                      <m:sup>
                        <m:r>
                          <a:rPr lang="en-US" b="1" smtClean="0">
                            <a:effectLst/>
                            <a:latin typeface="Cambria Math" panose="02040503050406030204" pitchFamily="18" charset="0"/>
                            <a:ea typeface="Aptos" panose="020B0004020202020204" pitchFamily="34" charset="0"/>
                          </a:rPr>
                          <m:t>∘</m:t>
                        </m:r>
                      </m:sup>
                    </m:sSup>
                  </m:oMath>
                </a14:m>
                <a:r>
                  <a:rPr lang="en-US" b="1" dirty="0">
                    <a:effectLst/>
                    <a:latin typeface="Arial" panose="020B0604020202020204" pitchFamily="34" charset="0"/>
                    <a:ea typeface="Aptos" panose="020B0004020202020204" pitchFamily="34" charset="0"/>
                  </a:rPr>
                  <a:t>. </a:t>
                </a:r>
                <a:endParaRPr lang="ru-RU" b="1" dirty="0">
                  <a:effectLst/>
                  <a:latin typeface="Arial" panose="020B0604020202020204" pitchFamily="34" charset="0"/>
                  <a:ea typeface="Aptos" panose="020B0004020202020204" pitchFamily="34" charset="0"/>
                </a:endParaRPr>
              </a:p>
              <a:p>
                <a:pPr algn="just">
                  <a:lnSpc>
                    <a:spcPct val="120000"/>
                  </a:lnSpc>
                </a:pPr>
                <a:r>
                  <a:rPr lang="en-US" b="1" dirty="0">
                    <a:effectLst/>
                    <a:latin typeface="Arial" panose="020B0604020202020204" pitchFamily="34" charset="0"/>
                    <a:ea typeface="Aptos" panose="020B0004020202020204" pitchFamily="34" charset="0"/>
                  </a:rPr>
                  <a:t>Alternatively, we can say the voltage lags the current by </a:t>
                </a:r>
                <a14:m>
                  <m:oMath xmlns:m="http://schemas.openxmlformats.org/officeDocument/2006/math">
                    <m:sSup>
                      <m:sSupPr>
                        <m:ctrlPr>
                          <a:rPr lang="ru-RU" b="1" i="1">
                            <a:effectLst/>
                            <a:latin typeface="Cambria Math" panose="02040503050406030204" pitchFamily="18" charset="0"/>
                            <a:ea typeface="Aptos" panose="020B0004020202020204" pitchFamily="34" charset="0"/>
                          </a:rPr>
                        </m:ctrlPr>
                      </m:sSupPr>
                      <m:e>
                        <m:r>
                          <a:rPr lang="en-US" b="1" i="1" smtClean="0">
                            <a:effectLst/>
                            <a:latin typeface="Cambria Math" panose="02040503050406030204" pitchFamily="18" charset="0"/>
                            <a:ea typeface="Aptos" panose="020B0004020202020204" pitchFamily="34" charset="0"/>
                          </a:rPr>
                          <m:t>𝟗𝟎</m:t>
                        </m:r>
                      </m:e>
                      <m:sup>
                        <m:r>
                          <a:rPr lang="en-US" b="1" smtClean="0">
                            <a:effectLst/>
                            <a:latin typeface="Cambria Math" panose="02040503050406030204" pitchFamily="18" charset="0"/>
                            <a:ea typeface="Aptos" panose="020B0004020202020204" pitchFamily="34" charset="0"/>
                          </a:rPr>
                          <m:t>∘</m:t>
                        </m:r>
                      </m:sup>
                    </m:sSup>
                  </m:oMath>
                </a14:m>
                <a:r>
                  <a:rPr lang="en-US" b="1" dirty="0">
                    <a:effectLst/>
                    <a:latin typeface="Arial" panose="020B0604020202020204" pitchFamily="34" charset="0"/>
                    <a:ea typeface="Aptos" panose="020B0004020202020204" pitchFamily="34" charset="0"/>
                  </a:rPr>
                  <a:t>. </a:t>
                </a:r>
              </a:p>
              <a:p>
                <a:pPr algn="just">
                  <a:lnSpc>
                    <a:spcPct val="120000"/>
                  </a:lnSpc>
                </a:pPr>
                <a:r>
                  <a:rPr lang="en-US" dirty="0">
                    <a:effectLst/>
                    <a:latin typeface="Arial" panose="020B0604020202020204" pitchFamily="34" charset="0"/>
                    <a:ea typeface="Aptos" panose="020B0004020202020204" pitchFamily="34" charset="0"/>
                  </a:rPr>
                  <a:t>Imagine charging a battery: current must flow in first before the voltage potential rises. </a:t>
                </a:r>
              </a:p>
              <a:p>
                <a:pPr algn="just">
                  <a:lnSpc>
                    <a:spcPct val="120000"/>
                  </a:lnSpc>
                </a:pPr>
                <a:r>
                  <a:rPr lang="en-US" dirty="0">
                    <a:effectLst/>
                    <a:latin typeface="Arial" panose="020B0604020202020204" pitchFamily="34" charset="0"/>
                    <a:ea typeface="Aptos" panose="020B0004020202020204" pitchFamily="34" charset="0"/>
                  </a:rPr>
                  <a:t>The effect (voltage) comes after the cause (current).</a:t>
                </a:r>
              </a:p>
              <a:p>
                <a:pPr algn="just">
                  <a:lnSpc>
                    <a:spcPct val="120000"/>
                  </a:lnSpc>
                </a:pPr>
                <a:r>
                  <a:rPr lang="en-US" dirty="0">
                    <a:latin typeface="Arial" panose="020B0604020202020204" pitchFamily="34" charset="0"/>
                    <a:ea typeface="Aptos" panose="020B0004020202020204" pitchFamily="34" charset="0"/>
                  </a:rPr>
                  <a:t>You can see an illustration for it on the following slide.</a:t>
                </a:r>
                <a:endParaRPr lang="ru-RU" dirty="0">
                  <a:effectLst/>
                  <a:latin typeface="Arial" panose="020B0604020202020204" pitchFamily="34" charset="0"/>
                  <a:ea typeface="Aptos" panose="020B0004020202020204" pitchFamily="34" charset="0"/>
                </a:endParaRPr>
              </a:p>
            </p:txBody>
          </p:sp>
        </mc:Choice>
        <mc:Fallback xmlns="">
          <p:sp>
            <p:nvSpPr>
              <p:cNvPr id="3" name="Объект 2">
                <a:extLst>
                  <a:ext uri="{FF2B5EF4-FFF2-40B4-BE49-F238E27FC236}">
                    <a16:creationId xmlns:a16="http://schemas.microsoft.com/office/drawing/2014/main" id="{56EC6B50-E19A-009F-E76E-21438DAB19E5}"/>
                  </a:ext>
                </a:extLst>
              </p:cNvPr>
              <p:cNvSpPr>
                <a:spLocks noGrp="1" noRot="1" noChangeAspect="1" noMove="1" noResize="1" noEditPoints="1" noAdjustHandles="1" noChangeArrowheads="1" noChangeShapeType="1" noTextEdit="1"/>
              </p:cNvSpPr>
              <p:nvPr>
                <p:ph idx="1"/>
              </p:nvPr>
            </p:nvSpPr>
            <p:spPr>
              <a:xfrm>
                <a:off x="838200" y="1781493"/>
                <a:ext cx="10515600" cy="4351338"/>
              </a:xfrm>
              <a:blipFill>
                <a:blip r:embed="rId2"/>
                <a:stretch>
                  <a:fillRect l="-1043" t="-560" r="-1159"/>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0948EFB4-FAD6-21C2-4E93-633AD0555022}"/>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2C580258-9759-F694-4B17-93509F4D2AAD}"/>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D06ADAA3-58BD-F9B9-64C2-54D272AED99A}"/>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28700692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D8103-46E6-3F3D-9ADA-FC4CCCE933F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0167F73-8817-2610-4612-1B4C17967BD1}"/>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42756C75-F704-7A92-FF90-3559018D0E8F}"/>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E17C6CCC-2CF4-48D5-F7BC-446116C9D013}"/>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961B68A4-FEDA-A2D5-9E11-AF576B1ECE4B}"/>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pic>
        <p:nvPicPr>
          <p:cNvPr id="7" name="Объект 6">
            <a:extLst>
              <a:ext uri="{FF2B5EF4-FFF2-40B4-BE49-F238E27FC236}">
                <a16:creationId xmlns:a16="http://schemas.microsoft.com/office/drawing/2014/main" id="{48C517C4-11A4-DEC9-BFA1-DF82C9FC3E26}"/>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5252206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4054C-B756-CD47-30B2-BA7259A4E5F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DF6E41B-251B-DAC5-A00F-776683B14614}"/>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C79FA475-B899-11A8-B4AE-DF2731C39B75}"/>
                  </a:ext>
                </a:extLst>
              </p:cNvPr>
              <p:cNvSpPr>
                <a:spLocks noGrp="1"/>
              </p:cNvSpPr>
              <p:nvPr>
                <p:ph idx="1"/>
              </p:nvPr>
            </p:nvSpPr>
            <p:spPr>
              <a:xfrm>
                <a:off x="838200" y="1781493"/>
                <a:ext cx="10515600" cy="4351338"/>
              </a:xfrm>
            </p:spPr>
            <p:txBody>
              <a:bodyPr>
                <a:noAutofit/>
              </a:bodyPr>
              <a:lstStyle/>
              <a:p>
                <a:pPr algn="just">
                  <a:lnSpc>
                    <a:spcPct val="120000"/>
                  </a:lnSpc>
                </a:pPr>
                <a:r>
                  <a:rPr lang="en-US" dirty="0">
                    <a:effectLst/>
                    <a:latin typeface="Arial" panose="020B0604020202020204" pitchFamily="34" charset="0"/>
                    <a:ea typeface="Aptos" panose="020B0004020202020204" pitchFamily="34" charset="0"/>
                  </a:rPr>
                  <a:t>To represent this «lagging» voltage in the phasor domain, we need a rotation of </a:t>
                </a:r>
                <a14:m>
                  <m:oMath xmlns:m="http://schemas.openxmlformats.org/officeDocument/2006/math">
                    <m:r>
                      <a:rPr lang="en-US" i="1">
                        <a:effectLst/>
                        <a:latin typeface="Cambria Math" panose="02040503050406030204" pitchFamily="18" charset="0"/>
                        <a:ea typeface="Aptos" panose="020B0004020202020204" pitchFamily="34" charset="0"/>
                      </a:rPr>
                      <m:t>−</m:t>
                    </m:r>
                    <m:sSup>
                      <m:sSupPr>
                        <m:ctrlPr>
                          <a:rPr lang="ru-RU" i="1">
                            <a:effectLst/>
                            <a:latin typeface="Cambria Math" panose="02040503050406030204" pitchFamily="18" charset="0"/>
                            <a:ea typeface="Aptos" panose="020B0004020202020204" pitchFamily="34" charset="0"/>
                          </a:rPr>
                        </m:ctrlPr>
                      </m:sSupPr>
                      <m:e>
                        <m:r>
                          <a:rPr lang="en-US" i="1">
                            <a:effectLst/>
                            <a:latin typeface="Cambria Math" panose="02040503050406030204" pitchFamily="18" charset="0"/>
                            <a:ea typeface="Aptos" panose="020B0004020202020204" pitchFamily="34" charset="0"/>
                          </a:rPr>
                          <m:t>90</m:t>
                        </m:r>
                      </m:e>
                      <m:sup>
                        <m:r>
                          <a:rPr lang="en-US">
                            <a:effectLst/>
                            <a:latin typeface="Cambria Math" panose="02040503050406030204" pitchFamily="18" charset="0"/>
                            <a:ea typeface="Aptos" panose="020B0004020202020204" pitchFamily="34" charset="0"/>
                          </a:rPr>
                          <m:t>∘</m:t>
                        </m:r>
                      </m:sup>
                    </m:sSup>
                  </m:oMath>
                </a14:m>
                <a:r>
                  <a:rPr lang="en-US" dirty="0">
                    <a:effectLst/>
                    <a:latin typeface="Arial" panose="020B0604020202020204" pitchFamily="34" charset="0"/>
                    <a:ea typeface="Aptos" panose="020B0004020202020204" pitchFamily="34" charset="0"/>
                  </a:rPr>
                  <a:t>. </a:t>
                </a:r>
              </a:p>
              <a:p>
                <a:pPr algn="just">
                  <a:lnSpc>
                    <a:spcPct val="120000"/>
                  </a:lnSpc>
                </a:pPr>
                <a:r>
                  <a:rPr lang="en-US" dirty="0">
                    <a:effectLst/>
                    <a:latin typeface="Arial" panose="020B0604020202020204" pitchFamily="34" charset="0"/>
                    <a:ea typeface="Aptos" panose="020B0004020202020204" pitchFamily="34" charset="0"/>
                  </a:rPr>
                  <a:t>Mathematically, dividing by </a:t>
                </a:r>
                <a14:m>
                  <m:oMath xmlns:m="http://schemas.openxmlformats.org/officeDocument/2006/math">
                    <m:r>
                      <a:rPr lang="en-US" i="1">
                        <a:effectLst/>
                        <a:latin typeface="Cambria Math" panose="02040503050406030204" pitchFamily="18" charset="0"/>
                        <a:ea typeface="Aptos" panose="020B0004020202020204" pitchFamily="34" charset="0"/>
                      </a:rPr>
                      <m:t>𝑗</m:t>
                    </m:r>
                  </m:oMath>
                </a14:m>
                <a:r>
                  <a:rPr lang="en-US" dirty="0">
                    <a:effectLst/>
                    <a:latin typeface="Arial" panose="020B0604020202020204" pitchFamily="34" charset="0"/>
                    <a:ea typeface="Aptos" panose="020B0004020202020204" pitchFamily="34" charset="0"/>
                  </a:rPr>
                  <a:t> (or multiplying by </a:t>
                </a:r>
                <a14:m>
                  <m:oMath xmlns:m="http://schemas.openxmlformats.org/officeDocument/2006/math">
                    <m:r>
                      <a:rPr lang="en-US" i="1">
                        <a:effectLst/>
                        <a:latin typeface="Cambria Math" panose="02040503050406030204" pitchFamily="18" charset="0"/>
                        <a:ea typeface="Aptos" panose="020B0004020202020204" pitchFamily="34" charset="0"/>
                      </a:rPr>
                      <m:t>−</m:t>
                    </m:r>
                    <m:r>
                      <a:rPr lang="en-US" i="1">
                        <a:effectLst/>
                        <a:latin typeface="Cambria Math" panose="02040503050406030204" pitchFamily="18" charset="0"/>
                        <a:ea typeface="Aptos" panose="020B0004020202020204" pitchFamily="34" charset="0"/>
                      </a:rPr>
                      <m:t>𝑗</m:t>
                    </m:r>
                  </m:oMath>
                </a14:m>
                <a:r>
                  <a:rPr lang="en-US" dirty="0">
                    <a:effectLst/>
                    <a:latin typeface="Arial" panose="020B0604020202020204" pitchFamily="34" charset="0"/>
                    <a:ea typeface="Aptos" panose="020B0004020202020204" pitchFamily="34" charset="0"/>
                  </a:rPr>
                  <a:t>) provides a </a:t>
                </a:r>
                <a14:m>
                  <m:oMath xmlns:m="http://schemas.openxmlformats.org/officeDocument/2006/math">
                    <m:r>
                      <a:rPr lang="en-US" i="1">
                        <a:effectLst/>
                        <a:latin typeface="Cambria Math" panose="02040503050406030204" pitchFamily="18" charset="0"/>
                        <a:ea typeface="Aptos" panose="020B0004020202020204" pitchFamily="34" charset="0"/>
                      </a:rPr>
                      <m:t>−</m:t>
                    </m:r>
                    <m:sSup>
                      <m:sSupPr>
                        <m:ctrlPr>
                          <a:rPr lang="ru-RU" i="1">
                            <a:effectLst/>
                            <a:latin typeface="Cambria Math" panose="02040503050406030204" pitchFamily="18" charset="0"/>
                            <a:ea typeface="Aptos" panose="020B0004020202020204" pitchFamily="34" charset="0"/>
                          </a:rPr>
                        </m:ctrlPr>
                      </m:sSupPr>
                      <m:e>
                        <m:r>
                          <a:rPr lang="en-US" i="1">
                            <a:effectLst/>
                            <a:latin typeface="Cambria Math" panose="02040503050406030204" pitchFamily="18" charset="0"/>
                            <a:ea typeface="Aptos" panose="020B0004020202020204" pitchFamily="34" charset="0"/>
                          </a:rPr>
                          <m:t>90</m:t>
                        </m:r>
                      </m:e>
                      <m:sup>
                        <m:r>
                          <a:rPr lang="en-US">
                            <a:effectLst/>
                            <a:latin typeface="Cambria Math" panose="02040503050406030204" pitchFamily="18" charset="0"/>
                            <a:ea typeface="Aptos" panose="020B0004020202020204" pitchFamily="34" charset="0"/>
                          </a:rPr>
                          <m:t>∘</m:t>
                        </m:r>
                      </m:sup>
                    </m:sSup>
                  </m:oMath>
                </a14:m>
                <a:r>
                  <a:rPr lang="en-US" dirty="0">
                    <a:effectLst/>
                    <a:latin typeface="Arial" panose="020B0604020202020204" pitchFamily="34" charset="0"/>
                    <a:ea typeface="Aptos" panose="020B0004020202020204" pitchFamily="34" charset="0"/>
                  </a:rPr>
                  <a:t> rotation. </a:t>
                </a:r>
              </a:p>
              <a:p>
                <a:pPr algn="just">
                  <a:lnSpc>
                    <a:spcPct val="120000"/>
                  </a:lnSpc>
                </a:pPr>
                <a:r>
                  <a:rPr lang="en-US" b="1" dirty="0">
                    <a:effectLst/>
                    <a:latin typeface="Arial" panose="020B0604020202020204" pitchFamily="34" charset="0"/>
                    <a:ea typeface="Aptos" panose="020B0004020202020204" pitchFamily="34" charset="0"/>
                  </a:rPr>
                  <a:t>The Voltage-Current relationship for a capacitor in the phasor domain is: </a:t>
                </a:r>
                <a:endParaRPr lang="ru-RU" b="1" dirty="0">
                  <a:effectLst/>
                  <a:latin typeface="Arial" panose="020B0604020202020204" pitchFamily="34" charset="0"/>
                  <a:ea typeface="Aptos" panose="020B0004020202020204" pitchFamily="34" charset="0"/>
                </a:endParaRPr>
              </a:p>
              <a:p>
                <a:pPr marL="0" indent="0" algn="just">
                  <a:lnSpc>
                    <a:spcPct val="120000"/>
                  </a:lnSpc>
                  <a:buNone/>
                </a:pPr>
                <a14:m>
                  <m:oMathPara xmlns:m="http://schemas.openxmlformats.org/officeDocument/2006/math">
                    <m:oMathParaPr>
                      <m:jc m:val="centerGroup"/>
                    </m:oMathParaPr>
                    <m:oMath xmlns:m="http://schemas.openxmlformats.org/officeDocument/2006/math">
                      <m:acc>
                        <m:accPr>
                          <m:chr m:val="̇"/>
                          <m:ctrlPr>
                            <a:rPr lang="ru-RU" b="1" i="1">
                              <a:effectLst/>
                              <a:latin typeface="Cambria Math" panose="02040503050406030204" pitchFamily="18" charset="0"/>
                              <a:ea typeface="Aptos" panose="020B0004020202020204" pitchFamily="34" charset="0"/>
                            </a:rPr>
                          </m:ctrlPr>
                        </m:accPr>
                        <m:e>
                          <m:r>
                            <a:rPr lang="en-US" b="1" i="1" smtClean="0">
                              <a:effectLst/>
                              <a:latin typeface="Cambria Math" panose="02040503050406030204" pitchFamily="18" charset="0"/>
                              <a:ea typeface="Aptos" panose="020B0004020202020204" pitchFamily="34" charset="0"/>
                            </a:rPr>
                            <m:t>𝑽</m:t>
                          </m:r>
                        </m:e>
                      </m:acc>
                      <m:r>
                        <a:rPr lang="en-US" b="1" smtClean="0">
                          <a:effectLst/>
                          <a:latin typeface="Cambria Math" panose="02040503050406030204" pitchFamily="18" charset="0"/>
                          <a:ea typeface="Aptos" panose="020B0004020202020204" pitchFamily="34" charset="0"/>
                        </a:rPr>
                        <m:t>=</m:t>
                      </m:r>
                      <m:f>
                        <m:fPr>
                          <m:ctrlPr>
                            <a:rPr lang="ru-RU" b="1" i="1">
                              <a:effectLst/>
                              <a:latin typeface="Cambria Math" panose="02040503050406030204" pitchFamily="18" charset="0"/>
                              <a:ea typeface="Aptos" panose="020B0004020202020204" pitchFamily="34" charset="0"/>
                            </a:rPr>
                          </m:ctrlPr>
                        </m:fPr>
                        <m:num>
                          <m:r>
                            <a:rPr lang="en-US" b="1" i="1" smtClean="0">
                              <a:effectLst/>
                              <a:latin typeface="Cambria Math" panose="02040503050406030204" pitchFamily="18" charset="0"/>
                              <a:ea typeface="Aptos" panose="020B0004020202020204" pitchFamily="34" charset="0"/>
                            </a:rPr>
                            <m:t>𝟏</m:t>
                          </m:r>
                        </m:num>
                        <m:den>
                          <m:r>
                            <a:rPr lang="en-US" b="1" i="1" smtClean="0">
                              <a:effectLst/>
                              <a:latin typeface="Cambria Math" panose="02040503050406030204" pitchFamily="18" charset="0"/>
                              <a:ea typeface="Aptos" panose="020B0004020202020204" pitchFamily="34" charset="0"/>
                            </a:rPr>
                            <m:t>𝒋</m:t>
                          </m:r>
                          <m:r>
                            <a:rPr lang="en-US" b="1" i="1" smtClean="0">
                              <a:effectLst/>
                              <a:latin typeface="Cambria Math" panose="02040503050406030204" pitchFamily="18" charset="0"/>
                              <a:ea typeface="Aptos" panose="020B0004020202020204" pitchFamily="34" charset="0"/>
                            </a:rPr>
                            <m:t>𝝎</m:t>
                          </m:r>
                          <m:r>
                            <a:rPr lang="en-US" b="1" i="1" smtClean="0">
                              <a:effectLst/>
                              <a:latin typeface="Cambria Math" panose="02040503050406030204" pitchFamily="18" charset="0"/>
                              <a:ea typeface="Aptos" panose="020B0004020202020204" pitchFamily="34" charset="0"/>
                            </a:rPr>
                            <m:t>𝑪</m:t>
                          </m:r>
                        </m:den>
                      </m:f>
                      <m:acc>
                        <m:accPr>
                          <m:chr m:val="̇"/>
                          <m:ctrlPr>
                            <a:rPr lang="ru-RU" b="1" i="1">
                              <a:effectLst/>
                              <a:latin typeface="Cambria Math" panose="02040503050406030204" pitchFamily="18" charset="0"/>
                              <a:ea typeface="Aptos" panose="020B0004020202020204" pitchFamily="34" charset="0"/>
                            </a:rPr>
                          </m:ctrlPr>
                        </m:accPr>
                        <m:e>
                          <m:r>
                            <a:rPr lang="en-US" b="1" i="1" smtClean="0">
                              <a:effectLst/>
                              <a:latin typeface="Cambria Math" panose="02040503050406030204" pitchFamily="18" charset="0"/>
                              <a:ea typeface="Aptos" panose="020B0004020202020204" pitchFamily="34" charset="0"/>
                            </a:rPr>
                            <m:t>𝑰</m:t>
                          </m:r>
                        </m:e>
                      </m:acc>
                      <m:r>
                        <a:rPr lang="en-US" b="1" i="1" smtClean="0">
                          <a:effectLst/>
                          <a:latin typeface="Cambria Math" panose="02040503050406030204" pitchFamily="18" charset="0"/>
                          <a:ea typeface="Times New Roman" panose="02020603050405020304" pitchFamily="18" charset="0"/>
                        </a:rPr>
                        <m:t>.</m:t>
                      </m:r>
                    </m:oMath>
                  </m:oMathPara>
                </a14:m>
                <a:endParaRPr lang="ru-RU" b="1" dirty="0">
                  <a:effectLst/>
                  <a:latin typeface="Arial" panose="020B0604020202020204" pitchFamily="34" charset="0"/>
                  <a:ea typeface="Aptos" panose="020B0004020202020204" pitchFamily="34" charset="0"/>
                </a:endParaRPr>
              </a:p>
            </p:txBody>
          </p:sp>
        </mc:Choice>
        <mc:Fallback xmlns="">
          <p:sp>
            <p:nvSpPr>
              <p:cNvPr id="3" name="Объект 2">
                <a:extLst>
                  <a:ext uri="{FF2B5EF4-FFF2-40B4-BE49-F238E27FC236}">
                    <a16:creationId xmlns:a16="http://schemas.microsoft.com/office/drawing/2014/main" id="{C79FA475-B899-11A8-B4AE-DF2731C39B75}"/>
                  </a:ext>
                </a:extLst>
              </p:cNvPr>
              <p:cNvSpPr>
                <a:spLocks noGrp="1" noRot="1" noChangeAspect="1" noMove="1" noResize="1" noEditPoints="1" noAdjustHandles="1" noChangeArrowheads="1" noChangeShapeType="1" noTextEdit="1"/>
              </p:cNvSpPr>
              <p:nvPr>
                <p:ph idx="1"/>
              </p:nvPr>
            </p:nvSpPr>
            <p:spPr>
              <a:xfrm>
                <a:off x="838200" y="1781493"/>
                <a:ext cx="10515600" cy="4351338"/>
              </a:xfrm>
              <a:blipFill>
                <a:blip r:embed="rId2"/>
                <a:stretch>
                  <a:fillRect l="-1043" t="-560" r="-1159" b="-1681"/>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B5197A04-EF88-617B-5A58-6148899E1278}"/>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59B85523-4C61-BE13-B505-4CF10D48744F}"/>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88BA8E92-B709-5BE2-CADF-7071EF1E01A0}"/>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37754984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1D189-82E8-C10D-9DCA-3590439E60D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FC5FCE3-33A7-E991-43E7-06BB920910D3}"/>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74CD2636-588B-09E0-AD1A-DC19563001B4}"/>
                  </a:ext>
                </a:extLst>
              </p:cNvPr>
              <p:cNvSpPr>
                <a:spLocks noGrp="1"/>
              </p:cNvSpPr>
              <p:nvPr>
                <p:ph idx="1"/>
              </p:nvPr>
            </p:nvSpPr>
            <p:spPr>
              <a:xfrm>
                <a:off x="838200" y="1781493"/>
                <a:ext cx="10515600" cy="4351338"/>
              </a:xfrm>
            </p:spPr>
            <p:txBody>
              <a:bodyPr>
                <a:noAutofit/>
              </a:bodyPr>
              <a:lstStyle/>
              <a:p>
                <a:pPr algn="just">
                  <a:lnSpc>
                    <a:spcPct val="120000"/>
                  </a:lnSpc>
                </a:pPr>
                <a:r>
                  <a:rPr lang="en-US" b="1" dirty="0">
                    <a:effectLst/>
                    <a:latin typeface="Arial" panose="020B0604020202020204" pitchFamily="34" charset="0"/>
                    <a:ea typeface="Aptos" panose="020B0004020202020204" pitchFamily="34" charset="0"/>
                  </a:rPr>
                  <a:t>Or, equivalently: </a:t>
                </a:r>
                <a:endParaRPr lang="ru-RU" b="1" dirty="0">
                  <a:effectLst/>
                  <a:latin typeface="Arial" panose="020B0604020202020204" pitchFamily="34" charset="0"/>
                  <a:ea typeface="Aptos" panose="020B0004020202020204" pitchFamily="34" charset="0"/>
                </a:endParaRPr>
              </a:p>
              <a:p>
                <a:pPr marL="0" indent="0" algn="just">
                  <a:lnSpc>
                    <a:spcPct val="120000"/>
                  </a:lnSpc>
                  <a:buNone/>
                </a:pPr>
                <a14:m>
                  <m:oMathPara xmlns:m="http://schemas.openxmlformats.org/officeDocument/2006/math">
                    <m:oMathParaPr>
                      <m:jc m:val="centerGroup"/>
                    </m:oMathParaPr>
                    <m:oMath xmlns:m="http://schemas.openxmlformats.org/officeDocument/2006/math">
                      <m:acc>
                        <m:accPr>
                          <m:chr m:val="̇"/>
                          <m:ctrlPr>
                            <a:rPr lang="ru-RU" b="1" i="1">
                              <a:effectLst/>
                              <a:latin typeface="Cambria Math" panose="02040503050406030204" pitchFamily="18" charset="0"/>
                              <a:ea typeface="Aptos" panose="020B0004020202020204" pitchFamily="34" charset="0"/>
                            </a:rPr>
                          </m:ctrlPr>
                        </m:accPr>
                        <m:e>
                          <m:r>
                            <a:rPr lang="en-US" b="1" i="1" smtClean="0">
                              <a:effectLst/>
                              <a:latin typeface="Cambria Math" panose="02040503050406030204" pitchFamily="18" charset="0"/>
                              <a:ea typeface="Aptos" panose="020B0004020202020204" pitchFamily="34" charset="0"/>
                            </a:rPr>
                            <m:t>𝑽</m:t>
                          </m:r>
                        </m:e>
                      </m:acc>
                      <m:r>
                        <a:rPr lang="en-US" b="1" smtClean="0">
                          <a:effectLst/>
                          <a:latin typeface="Cambria Math" panose="02040503050406030204" pitchFamily="18" charset="0"/>
                          <a:ea typeface="Aptos" panose="020B0004020202020204" pitchFamily="34" charset="0"/>
                        </a:rPr>
                        <m:t>=</m:t>
                      </m:r>
                      <m:r>
                        <a:rPr lang="en-US" b="1" i="1" smtClean="0">
                          <a:effectLst/>
                          <a:latin typeface="Cambria Math" panose="02040503050406030204" pitchFamily="18" charset="0"/>
                          <a:ea typeface="Aptos" panose="020B0004020202020204" pitchFamily="34" charset="0"/>
                        </a:rPr>
                        <m:t>−</m:t>
                      </m:r>
                      <m:r>
                        <a:rPr lang="en-US" b="1" i="1" smtClean="0">
                          <a:effectLst/>
                          <a:latin typeface="Cambria Math" panose="02040503050406030204" pitchFamily="18" charset="0"/>
                          <a:ea typeface="Aptos" panose="020B0004020202020204" pitchFamily="34" charset="0"/>
                        </a:rPr>
                        <m:t>𝒋</m:t>
                      </m:r>
                      <m:f>
                        <m:fPr>
                          <m:ctrlPr>
                            <a:rPr lang="ru-RU" b="1" i="1">
                              <a:effectLst/>
                              <a:latin typeface="Cambria Math" panose="02040503050406030204" pitchFamily="18" charset="0"/>
                              <a:ea typeface="Aptos" panose="020B0004020202020204" pitchFamily="34" charset="0"/>
                            </a:rPr>
                          </m:ctrlPr>
                        </m:fPr>
                        <m:num>
                          <m:r>
                            <a:rPr lang="en-US" b="1" i="1" smtClean="0">
                              <a:effectLst/>
                              <a:latin typeface="Cambria Math" panose="02040503050406030204" pitchFamily="18" charset="0"/>
                              <a:ea typeface="Aptos" panose="020B0004020202020204" pitchFamily="34" charset="0"/>
                            </a:rPr>
                            <m:t>𝟏</m:t>
                          </m:r>
                        </m:num>
                        <m:den>
                          <m:r>
                            <a:rPr lang="en-US" b="1" i="1" smtClean="0">
                              <a:effectLst/>
                              <a:latin typeface="Cambria Math" panose="02040503050406030204" pitchFamily="18" charset="0"/>
                              <a:ea typeface="Aptos" panose="020B0004020202020204" pitchFamily="34" charset="0"/>
                            </a:rPr>
                            <m:t>𝝎</m:t>
                          </m:r>
                          <m:r>
                            <a:rPr lang="en-US" b="1" i="1" smtClean="0">
                              <a:effectLst/>
                              <a:latin typeface="Cambria Math" panose="02040503050406030204" pitchFamily="18" charset="0"/>
                              <a:ea typeface="Aptos" panose="020B0004020202020204" pitchFamily="34" charset="0"/>
                            </a:rPr>
                            <m:t>𝑪</m:t>
                          </m:r>
                        </m:den>
                      </m:f>
                      <m:acc>
                        <m:accPr>
                          <m:chr m:val="̇"/>
                          <m:ctrlPr>
                            <a:rPr lang="ru-RU" b="1" i="1">
                              <a:effectLst/>
                              <a:latin typeface="Cambria Math" panose="02040503050406030204" pitchFamily="18" charset="0"/>
                              <a:ea typeface="Aptos" panose="020B0004020202020204" pitchFamily="34" charset="0"/>
                            </a:rPr>
                          </m:ctrlPr>
                        </m:accPr>
                        <m:e>
                          <m:r>
                            <a:rPr lang="en-US" b="1" i="1" smtClean="0">
                              <a:effectLst/>
                              <a:latin typeface="Cambria Math" panose="02040503050406030204" pitchFamily="18" charset="0"/>
                              <a:ea typeface="Aptos" panose="020B0004020202020204" pitchFamily="34" charset="0"/>
                            </a:rPr>
                            <m:t>𝑰</m:t>
                          </m:r>
                        </m:e>
                      </m:acc>
                      <m:r>
                        <a:rPr lang="en-US" b="1" i="1" smtClean="0">
                          <a:effectLst/>
                          <a:latin typeface="Cambria Math" panose="02040503050406030204" pitchFamily="18" charset="0"/>
                          <a:ea typeface="Times New Roman" panose="02020603050405020304" pitchFamily="18" charset="0"/>
                        </a:rPr>
                        <m:t>.</m:t>
                      </m:r>
                    </m:oMath>
                  </m:oMathPara>
                </a14:m>
                <a:endParaRPr lang="ru-RU" b="1" dirty="0">
                  <a:effectLst/>
                  <a:latin typeface="Arial" panose="020B0604020202020204" pitchFamily="34" charset="0"/>
                  <a:ea typeface="Aptos" panose="020B0004020202020204" pitchFamily="34" charset="0"/>
                </a:endParaRPr>
              </a:p>
              <a:p>
                <a:pPr algn="just">
                  <a:lnSpc>
                    <a:spcPct val="120000"/>
                  </a:lnSpc>
                </a:pPr>
                <a:r>
                  <a:rPr lang="en-US" b="1" dirty="0">
                    <a:effectLst/>
                    <a:latin typeface="Arial" panose="020B0604020202020204" pitchFamily="34" charset="0"/>
                    <a:ea typeface="Aptos" panose="020B0004020202020204" pitchFamily="34" charset="0"/>
                  </a:rPr>
                  <a:t> Notice that the opposition to current is inversely proportional to frequency.</a:t>
                </a:r>
              </a:p>
              <a:p>
                <a:pPr algn="just">
                  <a:lnSpc>
                    <a:spcPct val="120000"/>
                  </a:lnSpc>
                </a:pPr>
                <a:r>
                  <a:rPr lang="en-US" dirty="0">
                    <a:effectLst/>
                    <a:latin typeface="Arial" panose="020B0604020202020204" pitchFamily="34" charset="0"/>
                    <a:ea typeface="Aptos" panose="020B0004020202020204" pitchFamily="34" charset="0"/>
                  </a:rPr>
                  <a:t>At very high frequencies, the opposition approaches zero, and the capacitor acts like a short circuit. </a:t>
                </a:r>
              </a:p>
              <a:p>
                <a:pPr algn="just">
                  <a:lnSpc>
                    <a:spcPct val="120000"/>
                  </a:lnSpc>
                </a:pPr>
                <a:r>
                  <a:rPr lang="en-US" dirty="0">
                    <a:effectLst/>
                    <a:latin typeface="Arial" panose="020B0604020202020204" pitchFamily="34" charset="0"/>
                    <a:ea typeface="Aptos" panose="020B0004020202020204" pitchFamily="34" charset="0"/>
                  </a:rPr>
                  <a:t>At zero frequency (DC), the opposition is infinite, and the capacitor acts like an open circuit.</a:t>
                </a:r>
                <a:endParaRPr lang="ru-RU" dirty="0">
                  <a:effectLst/>
                  <a:latin typeface="Arial" panose="020B0604020202020204" pitchFamily="34" charset="0"/>
                  <a:ea typeface="Aptos" panose="020B0004020202020204" pitchFamily="34" charset="0"/>
                </a:endParaRPr>
              </a:p>
            </p:txBody>
          </p:sp>
        </mc:Choice>
        <mc:Fallback xmlns="">
          <p:sp>
            <p:nvSpPr>
              <p:cNvPr id="3" name="Объект 2">
                <a:extLst>
                  <a:ext uri="{FF2B5EF4-FFF2-40B4-BE49-F238E27FC236}">
                    <a16:creationId xmlns:a16="http://schemas.microsoft.com/office/drawing/2014/main" id="{74CD2636-588B-09E0-AD1A-DC19563001B4}"/>
                  </a:ext>
                </a:extLst>
              </p:cNvPr>
              <p:cNvSpPr>
                <a:spLocks noGrp="1" noRot="1" noChangeAspect="1" noMove="1" noResize="1" noEditPoints="1" noAdjustHandles="1" noChangeArrowheads="1" noChangeShapeType="1" noTextEdit="1"/>
              </p:cNvSpPr>
              <p:nvPr>
                <p:ph idx="1"/>
              </p:nvPr>
            </p:nvSpPr>
            <p:spPr>
              <a:xfrm>
                <a:off x="838200" y="1781493"/>
                <a:ext cx="10515600" cy="4351338"/>
              </a:xfrm>
              <a:blipFill>
                <a:blip r:embed="rId2"/>
                <a:stretch>
                  <a:fillRect l="-1043" t="-560" r="-1159" b="-18067"/>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C8DC9CE5-0AE4-C3B4-2D59-83B08537AB20}"/>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0CDB8001-C6C2-AD7D-38E6-1767B56313CE}"/>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99B48CE4-1164-EB2F-C1A0-93167312C04E}"/>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20793079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7E138-9906-82CF-AA72-8E9F83B5D92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094CDC2-6EF1-0CB7-47F8-55973BBC9725}"/>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8F7555B1-FDE7-248F-4C3E-47A5E4A3C41B}"/>
              </a:ext>
            </a:extLst>
          </p:cNvPr>
          <p:cNvSpPr>
            <a:spLocks noGrp="1"/>
          </p:cNvSpPr>
          <p:nvPr>
            <p:ph idx="1"/>
          </p:nvPr>
        </p:nvSpPr>
        <p:spPr>
          <a:xfrm>
            <a:off x="320842" y="1781493"/>
            <a:ext cx="11502190" cy="4351338"/>
          </a:xfrm>
        </p:spPr>
        <p:txBody>
          <a:bodyPr>
            <a:noAutofit/>
          </a:bodyPr>
          <a:lstStyle/>
          <a:p>
            <a:pPr algn="just">
              <a:lnSpc>
                <a:spcPct val="120000"/>
              </a:lnSpc>
            </a:pPr>
            <a:r>
              <a:rPr lang="en-US" dirty="0">
                <a:effectLst/>
                <a:latin typeface="Arial" panose="020B0604020202020204" pitchFamily="34" charset="0"/>
                <a:ea typeface="Aptos" panose="020B0004020202020204" pitchFamily="34" charset="0"/>
              </a:rPr>
              <a:t>Students often confuse which component leads and which lags. </a:t>
            </a:r>
          </a:p>
          <a:p>
            <a:pPr algn="just">
              <a:lnSpc>
                <a:spcPct val="120000"/>
              </a:lnSpc>
            </a:pPr>
            <a:r>
              <a:rPr lang="en-US" dirty="0">
                <a:effectLst/>
                <a:latin typeface="Arial" panose="020B0604020202020204" pitchFamily="34" charset="0"/>
                <a:ea typeface="Aptos" panose="020B0004020202020204" pitchFamily="34" charset="0"/>
              </a:rPr>
              <a:t>To remember these phase relationships, engineers use the famous mnemonic: «ELI the ICE man». </a:t>
            </a:r>
            <a:endParaRPr lang="ru-RU" dirty="0">
              <a:effectLst/>
              <a:latin typeface="Arial" panose="020B0604020202020204" pitchFamily="34" charset="0"/>
              <a:ea typeface="Aptos" panose="020B0004020202020204" pitchFamily="34" charset="0"/>
            </a:endParaRPr>
          </a:p>
          <a:p>
            <a:pPr algn="just">
              <a:lnSpc>
                <a:spcPct val="120000"/>
              </a:lnSpc>
            </a:pPr>
            <a:r>
              <a:rPr lang="en-US" dirty="0">
                <a:effectLst/>
                <a:latin typeface="Arial" panose="020B0604020202020204" pitchFamily="34" charset="0"/>
                <a:ea typeface="Aptos" panose="020B0004020202020204" pitchFamily="34" charset="0"/>
              </a:rPr>
              <a:t>ELI: In an inductor (L), Voltage (E – electromotive force) comes before (leads) Current (I). </a:t>
            </a:r>
            <a:endParaRPr lang="ru-RU" dirty="0">
              <a:effectLst/>
              <a:latin typeface="Arial" panose="020B0604020202020204" pitchFamily="34" charset="0"/>
              <a:ea typeface="Aptos" panose="020B0004020202020204" pitchFamily="34" charset="0"/>
            </a:endParaRPr>
          </a:p>
          <a:p>
            <a:pPr algn="just">
              <a:lnSpc>
                <a:spcPct val="120000"/>
              </a:lnSpc>
            </a:pPr>
            <a:r>
              <a:rPr lang="en-US" dirty="0">
                <a:effectLst/>
                <a:latin typeface="Arial" panose="020B0604020202020204" pitchFamily="34" charset="0"/>
                <a:ea typeface="Aptos" panose="020B0004020202020204" pitchFamily="34" charset="0"/>
              </a:rPr>
              <a:t>ICE: In a capacitor (C), Current (I) comes before (leads) Voltage (E). </a:t>
            </a:r>
          </a:p>
          <a:p>
            <a:pPr algn="just">
              <a:lnSpc>
                <a:spcPct val="120000"/>
              </a:lnSpc>
            </a:pPr>
            <a:r>
              <a:rPr lang="en-US" dirty="0">
                <a:effectLst/>
                <a:latin typeface="Arial" panose="020B0604020202020204" pitchFamily="34" charset="0"/>
                <a:ea typeface="Aptos" panose="020B0004020202020204" pitchFamily="34" charset="0"/>
              </a:rPr>
              <a:t>This simple phrase will save you from many sign errors in your calculations. Just remember: Voltage leads in L, Current leads in C.</a:t>
            </a:r>
            <a:endParaRPr lang="ru-RU" dirty="0">
              <a:effectLst/>
              <a:latin typeface="Arial" panose="020B0604020202020204" pitchFamily="34" charset="0"/>
              <a:ea typeface="Aptos" panose="020B0004020202020204" pitchFamily="34" charset="0"/>
            </a:endParaRPr>
          </a:p>
        </p:txBody>
      </p:sp>
      <p:grpSp>
        <p:nvGrpSpPr>
          <p:cNvPr id="4" name="Группа 3">
            <a:extLst>
              <a:ext uri="{FF2B5EF4-FFF2-40B4-BE49-F238E27FC236}">
                <a16:creationId xmlns:a16="http://schemas.microsoft.com/office/drawing/2014/main" id="{18B99919-1E0F-EC96-3178-C01D78AA7AB7}"/>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7442AD72-FE0E-C67A-15CC-CC6C8A785BF4}"/>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F3B1C087-84F4-6FF8-8301-BBE1FCED3B59}"/>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7286606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C5658-5227-7EA0-5027-459FE4B3DB5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8AE69BA-C20E-FB18-63E2-1D37E3FF6FB7}"/>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F718AAF2-1218-8FD5-7791-2DE8FC6B6F9B}"/>
                  </a:ext>
                </a:extLst>
              </p:cNvPr>
              <p:cNvSpPr>
                <a:spLocks noGrp="1"/>
              </p:cNvSpPr>
              <p:nvPr>
                <p:ph idx="1"/>
              </p:nvPr>
            </p:nvSpPr>
            <p:spPr>
              <a:xfrm>
                <a:off x="838200" y="1781493"/>
                <a:ext cx="10515600" cy="4351338"/>
              </a:xfrm>
            </p:spPr>
            <p:txBody>
              <a:bodyPr>
                <a:noAutofit/>
              </a:bodyPr>
              <a:lstStyle/>
              <a:p>
                <a:r>
                  <a:rPr lang="en-US" dirty="0"/>
                  <a:t>We have established three separate formulas for R, L, and C:</a:t>
                </a:r>
                <a:endParaRPr lang="ru-RU" dirty="0"/>
              </a:p>
              <a:p>
                <a:pPr marL="0" lvl="0" indent="0">
                  <a:buNone/>
                </a:pPr>
                <a14:m>
                  <m:oMathPara xmlns:m="http://schemas.openxmlformats.org/officeDocument/2006/math">
                    <m:oMathParaPr>
                      <m:jc m:val="centerGroup"/>
                    </m:oMathParaPr>
                    <m:oMath xmlns:m="http://schemas.openxmlformats.org/officeDocument/2006/math">
                      <m:acc>
                        <m:accPr>
                          <m:chr m:val="̇"/>
                          <m:ctrlPr>
                            <a:rPr lang="ru-RU" i="1">
                              <a:latin typeface="Cambria Math" panose="02040503050406030204" pitchFamily="18" charset="0"/>
                            </a:rPr>
                          </m:ctrlPr>
                        </m:accPr>
                        <m:e>
                          <m:r>
                            <a:rPr lang="en-US" i="1">
                              <a:latin typeface="Cambria Math" panose="02040503050406030204" pitchFamily="18" charset="0"/>
                            </a:rPr>
                            <m:t>𝑉</m:t>
                          </m:r>
                        </m:e>
                      </m:acc>
                      <m:r>
                        <a:rPr lang="en-US">
                          <a:latin typeface="Cambria Math" panose="02040503050406030204" pitchFamily="18" charset="0"/>
                        </a:rPr>
                        <m:t>=</m:t>
                      </m:r>
                      <m:r>
                        <a:rPr lang="en-US" i="1">
                          <a:latin typeface="Cambria Math" panose="02040503050406030204" pitchFamily="18" charset="0"/>
                        </a:rPr>
                        <m:t>𝑅</m:t>
                      </m:r>
                      <m:acc>
                        <m:accPr>
                          <m:chr m:val="̇"/>
                          <m:ctrlPr>
                            <a:rPr lang="ru-RU" i="1">
                              <a:latin typeface="Cambria Math" panose="02040503050406030204" pitchFamily="18" charset="0"/>
                            </a:rPr>
                          </m:ctrlPr>
                        </m:accPr>
                        <m:e>
                          <m:r>
                            <a:rPr lang="en-US" i="1">
                              <a:latin typeface="Cambria Math" panose="02040503050406030204" pitchFamily="18" charset="0"/>
                            </a:rPr>
                            <m:t>𝐼</m:t>
                          </m:r>
                        </m:e>
                      </m:acc>
                    </m:oMath>
                  </m:oMathPara>
                </a14:m>
                <a:endParaRPr lang="ru-RU" dirty="0"/>
              </a:p>
              <a:p>
                <a:pPr marL="0" lvl="0" indent="0">
                  <a:buNone/>
                </a:pPr>
                <a14:m>
                  <m:oMathPara xmlns:m="http://schemas.openxmlformats.org/officeDocument/2006/math">
                    <m:oMathParaPr>
                      <m:jc m:val="centerGroup"/>
                    </m:oMathParaPr>
                    <m:oMath xmlns:m="http://schemas.openxmlformats.org/officeDocument/2006/math">
                      <m:acc>
                        <m:accPr>
                          <m:chr m:val="̇"/>
                          <m:ctrlPr>
                            <a:rPr lang="ru-RU" i="1">
                              <a:latin typeface="Cambria Math" panose="02040503050406030204" pitchFamily="18" charset="0"/>
                            </a:rPr>
                          </m:ctrlPr>
                        </m:accPr>
                        <m:e>
                          <m:r>
                            <a:rPr lang="en-US" i="1">
                              <a:latin typeface="Cambria Math" panose="02040503050406030204" pitchFamily="18" charset="0"/>
                            </a:rPr>
                            <m:t>𝑉</m:t>
                          </m:r>
                        </m:e>
                      </m:acc>
                      <m:r>
                        <a:rPr lang="en-US">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𝜔</m:t>
                      </m:r>
                      <m:r>
                        <a:rPr lang="en-US" i="1">
                          <a:latin typeface="Cambria Math" panose="02040503050406030204" pitchFamily="18" charset="0"/>
                        </a:rPr>
                        <m:t>𝐿</m:t>
                      </m:r>
                      <m:acc>
                        <m:accPr>
                          <m:chr m:val="̇"/>
                          <m:ctrlPr>
                            <a:rPr lang="ru-RU" i="1">
                              <a:latin typeface="Cambria Math" panose="02040503050406030204" pitchFamily="18" charset="0"/>
                            </a:rPr>
                          </m:ctrlPr>
                        </m:accPr>
                        <m:e>
                          <m:r>
                            <a:rPr lang="en-US" i="1">
                              <a:latin typeface="Cambria Math" panose="02040503050406030204" pitchFamily="18" charset="0"/>
                            </a:rPr>
                            <m:t>𝐼</m:t>
                          </m:r>
                        </m:e>
                      </m:acc>
                    </m:oMath>
                  </m:oMathPara>
                </a14:m>
                <a:endParaRPr lang="ru-RU" dirty="0"/>
              </a:p>
              <a:p>
                <a:pPr marL="0" lvl="0" indent="0">
                  <a:buNone/>
                </a:pPr>
                <a14:m>
                  <m:oMathPara xmlns:m="http://schemas.openxmlformats.org/officeDocument/2006/math">
                    <m:oMathParaPr>
                      <m:jc m:val="centerGroup"/>
                    </m:oMathParaPr>
                    <m:oMath xmlns:m="http://schemas.openxmlformats.org/officeDocument/2006/math">
                      <m:acc>
                        <m:accPr>
                          <m:chr m:val="̇"/>
                          <m:ctrlPr>
                            <a:rPr lang="ru-RU" i="1">
                              <a:latin typeface="Cambria Math" panose="02040503050406030204" pitchFamily="18" charset="0"/>
                            </a:rPr>
                          </m:ctrlPr>
                        </m:accPr>
                        <m:e>
                          <m:r>
                            <a:rPr lang="en-US" i="1">
                              <a:latin typeface="Cambria Math" panose="02040503050406030204" pitchFamily="18" charset="0"/>
                            </a:rPr>
                            <m:t>𝑉</m:t>
                          </m:r>
                        </m:e>
                      </m:acc>
                      <m:r>
                        <a:rPr lang="en-US">
                          <a:latin typeface="Cambria Math" panose="02040503050406030204" pitchFamily="18" charset="0"/>
                        </a:rPr>
                        <m:t>=</m:t>
                      </m:r>
                      <m:f>
                        <m:fPr>
                          <m:ctrlPr>
                            <a:rPr lang="ru-RU"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𝑗</m:t>
                          </m:r>
                          <m:r>
                            <a:rPr lang="en-US" i="1">
                              <a:latin typeface="Cambria Math" panose="02040503050406030204" pitchFamily="18" charset="0"/>
                            </a:rPr>
                            <m:t>𝜔</m:t>
                          </m:r>
                          <m:r>
                            <a:rPr lang="en-US" i="1">
                              <a:latin typeface="Cambria Math" panose="02040503050406030204" pitchFamily="18" charset="0"/>
                            </a:rPr>
                            <m:t>𝐶</m:t>
                          </m:r>
                        </m:den>
                      </m:f>
                      <m:acc>
                        <m:accPr>
                          <m:chr m:val="̇"/>
                          <m:ctrlPr>
                            <a:rPr lang="ru-RU" i="1">
                              <a:latin typeface="Cambria Math" panose="02040503050406030204" pitchFamily="18" charset="0"/>
                            </a:rPr>
                          </m:ctrlPr>
                        </m:accPr>
                        <m:e>
                          <m:r>
                            <a:rPr lang="en-US" i="1">
                              <a:latin typeface="Cambria Math" panose="02040503050406030204" pitchFamily="18" charset="0"/>
                            </a:rPr>
                            <m:t>𝐼</m:t>
                          </m:r>
                        </m:e>
                      </m:acc>
                    </m:oMath>
                  </m:oMathPara>
                </a14:m>
                <a:endParaRPr lang="ru-RU" dirty="0"/>
              </a:p>
              <a:p>
                <a:r>
                  <a:rPr lang="en-US" dirty="0"/>
                  <a:t>Notice that all three equations look remarkably like Ohm's Law (</a:t>
                </a:r>
                <a14:m>
                  <m:oMath xmlns:m="http://schemas.openxmlformats.org/officeDocument/2006/math">
                    <m:r>
                      <a:rPr lang="en-US" i="1">
                        <a:latin typeface="Cambria Math" panose="02040503050406030204" pitchFamily="18" charset="0"/>
                      </a:rPr>
                      <m:t>𝑉</m:t>
                    </m:r>
                    <m:r>
                      <a:rPr lang="en-US">
                        <a:latin typeface="Cambria Math" panose="02040503050406030204" pitchFamily="18" charset="0"/>
                      </a:rPr>
                      <m:t>=</m:t>
                    </m:r>
                    <m:r>
                      <a:rPr lang="en-US" i="1">
                        <a:latin typeface="Cambria Math" panose="02040503050406030204" pitchFamily="18" charset="0"/>
                      </a:rPr>
                      <m:t>𝐼𝑅</m:t>
                    </m:r>
                  </m:oMath>
                </a14:m>
                <a:r>
                  <a:rPr lang="en-US" dirty="0"/>
                  <a:t>). They all relate Voltage to Current through a proportionality factor. </a:t>
                </a:r>
                <a:endParaRPr lang="ru-RU" dirty="0"/>
              </a:p>
            </p:txBody>
          </p:sp>
        </mc:Choice>
        <mc:Fallback xmlns="">
          <p:sp>
            <p:nvSpPr>
              <p:cNvPr id="3" name="Объект 2">
                <a:extLst>
                  <a:ext uri="{FF2B5EF4-FFF2-40B4-BE49-F238E27FC236}">
                    <a16:creationId xmlns:a16="http://schemas.microsoft.com/office/drawing/2014/main" id="{F718AAF2-1218-8FD5-7791-2DE8FC6B6F9B}"/>
                  </a:ext>
                </a:extLst>
              </p:cNvPr>
              <p:cNvSpPr>
                <a:spLocks noGrp="1" noRot="1" noChangeAspect="1" noMove="1" noResize="1" noEditPoints="1" noAdjustHandles="1" noChangeArrowheads="1" noChangeShapeType="1" noTextEdit="1"/>
              </p:cNvSpPr>
              <p:nvPr>
                <p:ph idx="1"/>
              </p:nvPr>
            </p:nvSpPr>
            <p:spPr>
              <a:xfrm>
                <a:off x="838200" y="1781493"/>
                <a:ext cx="10515600" cy="4351338"/>
              </a:xfrm>
              <a:blipFill>
                <a:blip r:embed="rId2"/>
                <a:stretch>
                  <a:fillRect l="-1043" t="-2381"/>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573EDA61-7F84-4C83-569E-D248F9872313}"/>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02649402-4889-7C25-6832-588CEF87570F}"/>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98FCB370-39F7-183E-7398-DA5088820710}"/>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10521992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65A91-911C-3846-EF88-2D9992D6EE07}"/>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ACDE9-0DED-5B54-130F-48D55AAF7937}"/>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243EA29B-8631-1BFA-477B-8D197AA8BE3B}"/>
                  </a:ext>
                </a:extLst>
              </p:cNvPr>
              <p:cNvSpPr>
                <a:spLocks noGrp="1"/>
              </p:cNvSpPr>
              <p:nvPr>
                <p:ph idx="1"/>
              </p:nvPr>
            </p:nvSpPr>
            <p:spPr>
              <a:xfrm>
                <a:off x="838200" y="1781493"/>
                <a:ext cx="10515600" cy="4351338"/>
              </a:xfrm>
            </p:spPr>
            <p:txBody>
              <a:bodyPr>
                <a:noAutofit/>
              </a:bodyPr>
              <a:lstStyle/>
              <a:p>
                <a:pPr algn="just">
                  <a:lnSpc>
                    <a:spcPct val="120000"/>
                  </a:lnSpc>
                </a:pPr>
                <a:r>
                  <a:rPr lang="en-US" b="1" dirty="0">
                    <a:effectLst/>
                    <a:ea typeface="Aptos" panose="020B0004020202020204" pitchFamily="34" charset="0"/>
                  </a:rPr>
                  <a:t>We generalize this factor by introducing the concept of «Impedance», denoted by the letter </a:t>
                </a:r>
                <a14:m>
                  <m:oMath xmlns:m="http://schemas.openxmlformats.org/officeDocument/2006/math">
                    <m:r>
                      <a:rPr lang="en-US" b="1" i="1">
                        <a:effectLst/>
                        <a:latin typeface="Cambria Math" panose="02040503050406030204" pitchFamily="18" charset="0"/>
                        <a:ea typeface="Aptos" panose="020B0004020202020204" pitchFamily="34" charset="0"/>
                      </a:rPr>
                      <m:t>𝒁</m:t>
                    </m:r>
                  </m:oMath>
                </a14:m>
                <a:r>
                  <a:rPr lang="en-US" b="1" dirty="0">
                    <a:effectLst/>
                    <a:ea typeface="Aptos" panose="020B0004020202020204" pitchFamily="34" charset="0"/>
                  </a:rPr>
                  <a:t>. </a:t>
                </a:r>
                <a:endParaRPr lang="ru-RU" b="1" dirty="0">
                  <a:effectLst/>
                  <a:ea typeface="Aptos" panose="020B0004020202020204" pitchFamily="34" charset="0"/>
                </a:endParaRPr>
              </a:p>
              <a:p>
                <a:pPr algn="just">
                  <a:lnSpc>
                    <a:spcPct val="120000"/>
                  </a:lnSpc>
                </a:pPr>
                <a:r>
                  <a:rPr lang="en-US" b="1" dirty="0">
                    <a:effectLst/>
                    <a:ea typeface="Aptos" panose="020B0004020202020204" pitchFamily="34" charset="0"/>
                  </a:rPr>
                  <a:t>Impedance is defined as the ratio of the phasor voltage to the phasor current:</a:t>
                </a:r>
                <a:endParaRPr lang="ru-RU" b="1" dirty="0">
                  <a:effectLst/>
                  <a:ea typeface="Aptos" panose="020B0004020202020204" pitchFamily="34" charset="0"/>
                </a:endParaRPr>
              </a:p>
              <a:p>
                <a:pPr marL="0" indent="0" algn="just">
                  <a:lnSpc>
                    <a:spcPct val="120000"/>
                  </a:lnSpc>
                  <a:buNone/>
                </a:pPr>
                <a14:m>
                  <m:oMathPara xmlns:m="http://schemas.openxmlformats.org/officeDocument/2006/math">
                    <m:oMathParaPr>
                      <m:jc m:val="centerGroup"/>
                    </m:oMathParaPr>
                    <m:oMath xmlns:m="http://schemas.openxmlformats.org/officeDocument/2006/math">
                      <m:r>
                        <a:rPr lang="en-US" b="1" i="1">
                          <a:effectLst/>
                          <a:latin typeface="Cambria Math" panose="02040503050406030204" pitchFamily="18" charset="0"/>
                          <a:ea typeface="Aptos" panose="020B0004020202020204" pitchFamily="34" charset="0"/>
                        </a:rPr>
                        <m:t>𝒁</m:t>
                      </m:r>
                      <m:r>
                        <a:rPr lang="en-US" b="1">
                          <a:effectLst/>
                          <a:latin typeface="Cambria Math" panose="02040503050406030204" pitchFamily="18" charset="0"/>
                          <a:ea typeface="Aptos" panose="020B0004020202020204" pitchFamily="34" charset="0"/>
                        </a:rPr>
                        <m:t>=</m:t>
                      </m:r>
                      <m:f>
                        <m:fPr>
                          <m:ctrlPr>
                            <a:rPr lang="ru-RU" b="1" i="1">
                              <a:effectLst/>
                              <a:latin typeface="Cambria Math" panose="02040503050406030204" pitchFamily="18" charset="0"/>
                              <a:ea typeface="Aptos" panose="020B0004020202020204" pitchFamily="34" charset="0"/>
                            </a:rPr>
                          </m:ctrlPr>
                        </m:fPr>
                        <m:num>
                          <m:acc>
                            <m:accPr>
                              <m:chr m:val="̇"/>
                              <m:ctrlPr>
                                <a:rPr lang="ru-RU" b="1" i="1">
                                  <a:effectLst/>
                                  <a:latin typeface="Cambria Math" panose="02040503050406030204" pitchFamily="18" charset="0"/>
                                  <a:ea typeface="Aptos" panose="020B0004020202020204" pitchFamily="34" charset="0"/>
                                </a:rPr>
                              </m:ctrlPr>
                            </m:accPr>
                            <m:e>
                              <m:r>
                                <a:rPr lang="en-US" b="1" i="1">
                                  <a:effectLst/>
                                  <a:latin typeface="Cambria Math" panose="02040503050406030204" pitchFamily="18" charset="0"/>
                                  <a:ea typeface="Aptos" panose="020B0004020202020204" pitchFamily="34" charset="0"/>
                                </a:rPr>
                                <m:t>𝑽</m:t>
                              </m:r>
                            </m:e>
                          </m:acc>
                        </m:num>
                        <m:den>
                          <m:acc>
                            <m:accPr>
                              <m:chr m:val="̇"/>
                              <m:ctrlPr>
                                <a:rPr lang="ru-RU" b="1" i="1">
                                  <a:effectLst/>
                                  <a:latin typeface="Cambria Math" panose="02040503050406030204" pitchFamily="18" charset="0"/>
                                  <a:ea typeface="Aptos" panose="020B0004020202020204" pitchFamily="34" charset="0"/>
                                </a:rPr>
                              </m:ctrlPr>
                            </m:accPr>
                            <m:e>
                              <m:r>
                                <a:rPr lang="en-US" b="1" i="1">
                                  <a:effectLst/>
                                  <a:latin typeface="Cambria Math" panose="02040503050406030204" pitchFamily="18" charset="0"/>
                                  <a:ea typeface="Aptos" panose="020B0004020202020204" pitchFamily="34" charset="0"/>
                                </a:rPr>
                                <m:t>𝑰</m:t>
                              </m:r>
                            </m:e>
                          </m:acc>
                        </m:den>
                      </m:f>
                      <m:r>
                        <a:rPr lang="en-US" b="1" i="1">
                          <a:effectLst/>
                          <a:latin typeface="Cambria Math" panose="02040503050406030204" pitchFamily="18" charset="0"/>
                          <a:ea typeface="Times New Roman" panose="02020603050405020304" pitchFamily="18" charset="0"/>
                        </a:rPr>
                        <m:t>.</m:t>
                      </m:r>
                    </m:oMath>
                  </m:oMathPara>
                </a14:m>
                <a:endParaRPr lang="ru-RU" b="1" dirty="0">
                  <a:effectLst/>
                  <a:ea typeface="Aptos" panose="020B0004020202020204" pitchFamily="34" charset="0"/>
                </a:endParaRPr>
              </a:p>
              <a:p>
                <a:pPr algn="just">
                  <a:lnSpc>
                    <a:spcPct val="120000"/>
                  </a:lnSpc>
                </a:pPr>
                <a:r>
                  <a:rPr lang="en-US" b="1" dirty="0">
                    <a:effectLst/>
                    <a:ea typeface="Aptos" panose="020B0004020202020204" pitchFamily="34" charset="0"/>
                  </a:rPr>
                  <a:t>Impedance is measured in Ohms (</a:t>
                </a:r>
                <a14:m>
                  <m:oMath xmlns:m="http://schemas.openxmlformats.org/officeDocument/2006/math">
                    <m:r>
                      <a:rPr lang="en-US" b="1" i="1">
                        <a:effectLst/>
                        <a:latin typeface="Cambria Math" panose="02040503050406030204" pitchFamily="18" charset="0"/>
                        <a:ea typeface="Aptos" panose="020B0004020202020204" pitchFamily="34" charset="0"/>
                      </a:rPr>
                      <m:t>𝛀</m:t>
                    </m:r>
                  </m:oMath>
                </a14:m>
                <a:r>
                  <a:rPr lang="en-US" b="1" dirty="0">
                    <a:effectLst/>
                    <a:ea typeface="Aptos" panose="020B0004020202020204" pitchFamily="34" charset="0"/>
                  </a:rPr>
                  <a:t>), just like resistance. </a:t>
                </a:r>
                <a:endParaRPr lang="ru-RU" b="1" dirty="0">
                  <a:effectLst/>
                  <a:ea typeface="Aptos" panose="020B0004020202020204" pitchFamily="34" charset="0"/>
                </a:endParaRPr>
              </a:p>
            </p:txBody>
          </p:sp>
        </mc:Choice>
        <mc:Fallback xmlns="">
          <p:sp>
            <p:nvSpPr>
              <p:cNvPr id="3" name="Объект 2">
                <a:extLst>
                  <a:ext uri="{FF2B5EF4-FFF2-40B4-BE49-F238E27FC236}">
                    <a16:creationId xmlns:a16="http://schemas.microsoft.com/office/drawing/2014/main" id="{243EA29B-8631-1BFA-477B-8D197AA8BE3B}"/>
                  </a:ext>
                </a:extLst>
              </p:cNvPr>
              <p:cNvSpPr>
                <a:spLocks noGrp="1" noRot="1" noChangeAspect="1" noMove="1" noResize="1" noEditPoints="1" noAdjustHandles="1" noChangeArrowheads="1" noChangeShapeType="1" noTextEdit="1"/>
              </p:cNvSpPr>
              <p:nvPr>
                <p:ph idx="1"/>
              </p:nvPr>
            </p:nvSpPr>
            <p:spPr>
              <a:xfrm>
                <a:off x="838200" y="1781493"/>
                <a:ext cx="10515600" cy="4351338"/>
              </a:xfrm>
              <a:blipFill>
                <a:blip r:embed="rId2"/>
                <a:stretch>
                  <a:fillRect l="-1043" t="-140" r="-1159"/>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74F1D705-9860-1EF0-2447-F044ABC847A5}"/>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D2A26729-CE44-18CE-E860-8389D2BAFF3C}"/>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819439C9-4FE4-D438-A168-6889962D452D}"/>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42082166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E6338-89DE-DD2D-21AF-7426489E6A7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77C817D-91D9-EDE1-7939-BF5455F80138}"/>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39C00224-399F-791A-B966-1620885C3BC6}"/>
                  </a:ext>
                </a:extLst>
              </p:cNvPr>
              <p:cNvSpPr>
                <a:spLocks noGrp="1"/>
              </p:cNvSpPr>
              <p:nvPr>
                <p:ph idx="1"/>
              </p:nvPr>
            </p:nvSpPr>
            <p:spPr>
              <a:xfrm>
                <a:off x="838200" y="1781493"/>
                <a:ext cx="10515600" cy="4351338"/>
              </a:xfrm>
            </p:spPr>
            <p:txBody>
              <a:bodyPr>
                <a:noAutofit/>
              </a:bodyPr>
              <a:lstStyle/>
              <a:p>
                <a:pPr algn="just">
                  <a:lnSpc>
                    <a:spcPct val="120000"/>
                  </a:lnSpc>
                </a:pPr>
                <a:r>
                  <a:rPr lang="en-US" b="1" dirty="0">
                    <a:effectLst/>
                    <a:ea typeface="Aptos" panose="020B0004020202020204" pitchFamily="34" charset="0"/>
                  </a:rPr>
                  <a:t>However, unlike resistance, Impedance is a complex number.</a:t>
                </a:r>
              </a:p>
              <a:p>
                <a:pPr algn="just">
                  <a:lnSpc>
                    <a:spcPct val="120000"/>
                  </a:lnSpc>
                </a:pPr>
                <a:r>
                  <a:rPr lang="en-US" dirty="0">
                    <a:effectLst/>
                    <a:ea typeface="Aptos" panose="020B0004020202020204" pitchFamily="34" charset="0"/>
                  </a:rPr>
                  <a:t>It has both a magnitude and an angle. </a:t>
                </a:r>
              </a:p>
              <a:p>
                <a:pPr algn="just">
                  <a:lnSpc>
                    <a:spcPct val="120000"/>
                  </a:lnSpc>
                </a:pPr>
                <a:r>
                  <a:rPr lang="en-US" dirty="0">
                    <a:effectLst/>
                    <a:ea typeface="Aptos" panose="020B0004020202020204" pitchFamily="34" charset="0"/>
                  </a:rPr>
                  <a:t>Let us formally define the impedance for our three components.</a:t>
                </a:r>
              </a:p>
              <a:p>
                <a:r>
                  <a:rPr lang="en-US" b="1" dirty="0"/>
                  <a:t>The Impedance of a Resistor is purely real: </a:t>
                </a:r>
                <a14:m>
                  <m:oMath xmlns:m="http://schemas.openxmlformats.org/officeDocument/2006/math">
                    <m:sSub>
                      <m:sSubPr>
                        <m:ctrlPr>
                          <a:rPr lang="ru-RU" b="1" i="1">
                            <a:latin typeface="Cambria Math" panose="02040503050406030204" pitchFamily="18" charset="0"/>
                          </a:rPr>
                        </m:ctrlPr>
                      </m:sSubPr>
                      <m:e>
                        <m:r>
                          <a:rPr lang="en-US" b="1" i="1">
                            <a:latin typeface="Cambria Math" panose="02040503050406030204" pitchFamily="18" charset="0"/>
                          </a:rPr>
                          <m:t>𝒁</m:t>
                        </m:r>
                      </m:e>
                      <m:sub>
                        <m:r>
                          <a:rPr lang="en-US" b="1" i="1">
                            <a:latin typeface="Cambria Math" panose="02040503050406030204" pitchFamily="18" charset="0"/>
                          </a:rPr>
                          <m:t>𝑹</m:t>
                        </m:r>
                      </m:sub>
                    </m:sSub>
                    <m:r>
                      <a:rPr lang="en-US" b="1">
                        <a:latin typeface="Cambria Math" panose="02040503050406030204" pitchFamily="18" charset="0"/>
                      </a:rPr>
                      <m:t>=</m:t>
                    </m:r>
                    <m:r>
                      <a:rPr lang="en-US" b="1" i="1">
                        <a:latin typeface="Cambria Math" panose="02040503050406030204" pitchFamily="18" charset="0"/>
                      </a:rPr>
                      <m:t>𝑹</m:t>
                    </m:r>
                  </m:oMath>
                </a14:m>
                <a:r>
                  <a:rPr lang="en-US" b="1" dirty="0"/>
                  <a:t>.</a:t>
                </a:r>
                <a:endParaRPr lang="ru-RU" b="1" dirty="0"/>
              </a:p>
              <a:p>
                <a:r>
                  <a:rPr lang="en-US" b="1" dirty="0"/>
                  <a:t>The Impedance of an Inductor is purely imaginary and positive: </a:t>
                </a:r>
                <a14:m>
                  <m:oMath xmlns:m="http://schemas.openxmlformats.org/officeDocument/2006/math">
                    <m:sSub>
                      <m:sSubPr>
                        <m:ctrlPr>
                          <a:rPr lang="ru-RU" b="1" i="1">
                            <a:latin typeface="Cambria Math" panose="02040503050406030204" pitchFamily="18" charset="0"/>
                          </a:rPr>
                        </m:ctrlPr>
                      </m:sSubPr>
                      <m:e>
                        <m:r>
                          <a:rPr lang="en-US" b="1" i="1">
                            <a:latin typeface="Cambria Math" panose="02040503050406030204" pitchFamily="18" charset="0"/>
                          </a:rPr>
                          <m:t>𝒁</m:t>
                        </m:r>
                      </m:e>
                      <m:sub>
                        <m:r>
                          <a:rPr lang="en-US" b="1" i="1">
                            <a:latin typeface="Cambria Math" panose="02040503050406030204" pitchFamily="18" charset="0"/>
                          </a:rPr>
                          <m:t>𝑳</m:t>
                        </m:r>
                      </m:sub>
                    </m:sSub>
                    <m:r>
                      <a:rPr lang="en-US" b="1">
                        <a:latin typeface="Cambria Math" panose="02040503050406030204" pitchFamily="18" charset="0"/>
                      </a:rPr>
                      <m:t>=</m:t>
                    </m:r>
                    <m:r>
                      <a:rPr lang="en-US" b="1" i="1">
                        <a:latin typeface="Cambria Math" panose="02040503050406030204" pitchFamily="18" charset="0"/>
                      </a:rPr>
                      <m:t>𝒋</m:t>
                    </m:r>
                    <m:r>
                      <a:rPr lang="en-US" b="1" i="1">
                        <a:latin typeface="Cambria Math" panose="02040503050406030204" pitchFamily="18" charset="0"/>
                      </a:rPr>
                      <m:t>𝝎</m:t>
                    </m:r>
                    <m:r>
                      <a:rPr lang="en-US" b="1" i="1">
                        <a:latin typeface="Cambria Math" panose="02040503050406030204" pitchFamily="18" charset="0"/>
                      </a:rPr>
                      <m:t>𝑳</m:t>
                    </m:r>
                  </m:oMath>
                </a14:m>
                <a:r>
                  <a:rPr lang="en-US" b="1" dirty="0"/>
                  <a:t>.</a:t>
                </a:r>
                <a:endParaRPr lang="ru-RU" b="1" dirty="0"/>
              </a:p>
              <a:p>
                <a:pPr algn="just">
                  <a:lnSpc>
                    <a:spcPct val="120000"/>
                  </a:lnSpc>
                </a:pPr>
                <a:endParaRPr lang="ru-RU" b="1" dirty="0">
                  <a:effectLst/>
                  <a:ea typeface="Aptos" panose="020B0004020202020204" pitchFamily="34" charset="0"/>
                </a:endParaRPr>
              </a:p>
            </p:txBody>
          </p:sp>
        </mc:Choice>
        <mc:Fallback xmlns="">
          <p:sp>
            <p:nvSpPr>
              <p:cNvPr id="3" name="Объект 2">
                <a:extLst>
                  <a:ext uri="{FF2B5EF4-FFF2-40B4-BE49-F238E27FC236}">
                    <a16:creationId xmlns:a16="http://schemas.microsoft.com/office/drawing/2014/main" id="{39C00224-399F-791A-B966-1620885C3BC6}"/>
                  </a:ext>
                </a:extLst>
              </p:cNvPr>
              <p:cNvSpPr>
                <a:spLocks noGrp="1" noRot="1" noChangeAspect="1" noMove="1" noResize="1" noEditPoints="1" noAdjustHandles="1" noChangeArrowheads="1" noChangeShapeType="1" noTextEdit="1"/>
              </p:cNvSpPr>
              <p:nvPr>
                <p:ph idx="1"/>
              </p:nvPr>
            </p:nvSpPr>
            <p:spPr>
              <a:xfrm>
                <a:off x="838200" y="1781493"/>
                <a:ext cx="10515600" cy="4351338"/>
              </a:xfrm>
              <a:blipFill>
                <a:blip r:embed="rId2"/>
                <a:stretch>
                  <a:fillRect l="-1043" t="-140" r="-1681"/>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40FAD153-99CE-CF21-6582-BF14F8E07AA7}"/>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7E2634EC-DAF7-0C74-B3B9-56FA53FB7EC5}"/>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40D32FA2-DFCD-B66C-76F8-940AE87E18CA}"/>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27496578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6B99E-FA44-91FF-E0E2-7F519F5EF44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FB2032F-D3DF-E563-FC9F-EB8F3FFFBFFC}"/>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EB47C9BB-60CD-249D-8B1C-22A92142B8E0}"/>
                  </a:ext>
                </a:extLst>
              </p:cNvPr>
              <p:cNvSpPr>
                <a:spLocks noGrp="1"/>
              </p:cNvSpPr>
              <p:nvPr>
                <p:ph idx="1"/>
              </p:nvPr>
            </p:nvSpPr>
            <p:spPr>
              <a:xfrm>
                <a:off x="838200" y="1781493"/>
                <a:ext cx="10515600" cy="4351338"/>
              </a:xfrm>
            </p:spPr>
            <p:txBody>
              <a:bodyPr>
                <a:noAutofit/>
              </a:bodyPr>
              <a:lstStyle/>
              <a:p>
                <a:r>
                  <a:rPr lang="en-US" b="1" dirty="0"/>
                  <a:t>The Impedance of a Capacitor is purely imaginary and negative: </a:t>
                </a:r>
                <a14:m>
                  <m:oMath xmlns:m="http://schemas.openxmlformats.org/officeDocument/2006/math">
                    <m:sSub>
                      <m:sSubPr>
                        <m:ctrlPr>
                          <a:rPr lang="ru-RU" b="1" i="1">
                            <a:latin typeface="Cambria Math" panose="02040503050406030204" pitchFamily="18" charset="0"/>
                          </a:rPr>
                        </m:ctrlPr>
                      </m:sSubPr>
                      <m:e>
                        <m:r>
                          <a:rPr lang="en-US" b="1" i="1">
                            <a:latin typeface="Cambria Math" panose="02040503050406030204" pitchFamily="18" charset="0"/>
                          </a:rPr>
                          <m:t>𝒁</m:t>
                        </m:r>
                      </m:e>
                      <m:sub>
                        <m:r>
                          <a:rPr lang="en-US" b="1" i="1">
                            <a:latin typeface="Cambria Math" panose="02040503050406030204" pitchFamily="18" charset="0"/>
                          </a:rPr>
                          <m:t>𝑪</m:t>
                        </m:r>
                      </m:sub>
                    </m:sSub>
                    <m:r>
                      <a:rPr lang="en-US" b="1">
                        <a:latin typeface="Cambria Math" panose="02040503050406030204" pitchFamily="18" charset="0"/>
                      </a:rPr>
                      <m:t>=</m:t>
                    </m:r>
                    <m:f>
                      <m:fPr>
                        <m:ctrlPr>
                          <a:rPr lang="ru-RU" b="1" i="1">
                            <a:latin typeface="Cambria Math" panose="02040503050406030204" pitchFamily="18" charset="0"/>
                          </a:rPr>
                        </m:ctrlPr>
                      </m:fPr>
                      <m:num>
                        <m:r>
                          <a:rPr lang="en-US" b="1" i="1">
                            <a:latin typeface="Cambria Math" panose="02040503050406030204" pitchFamily="18" charset="0"/>
                          </a:rPr>
                          <m:t>𝟏</m:t>
                        </m:r>
                      </m:num>
                      <m:den>
                        <m:r>
                          <a:rPr lang="en-US" b="1" i="1">
                            <a:latin typeface="Cambria Math" panose="02040503050406030204" pitchFamily="18" charset="0"/>
                          </a:rPr>
                          <m:t>𝒋</m:t>
                        </m:r>
                        <m:r>
                          <a:rPr lang="en-US" b="1" i="1">
                            <a:latin typeface="Cambria Math" panose="02040503050406030204" pitchFamily="18" charset="0"/>
                          </a:rPr>
                          <m:t>𝝎</m:t>
                        </m:r>
                        <m:r>
                          <a:rPr lang="en-US" b="1" i="1">
                            <a:latin typeface="Cambria Math" panose="02040503050406030204" pitchFamily="18" charset="0"/>
                          </a:rPr>
                          <m:t>𝑪</m:t>
                        </m:r>
                      </m:den>
                    </m:f>
                    <m:r>
                      <a:rPr lang="en-US" b="1">
                        <a:latin typeface="Cambria Math" panose="02040503050406030204" pitchFamily="18" charset="0"/>
                      </a:rPr>
                      <m:t>=</m:t>
                    </m:r>
                    <m:r>
                      <a:rPr lang="en-US" b="1" i="1">
                        <a:latin typeface="Cambria Math" panose="02040503050406030204" pitchFamily="18" charset="0"/>
                      </a:rPr>
                      <m:t>−</m:t>
                    </m:r>
                    <m:r>
                      <a:rPr lang="en-US" b="1" i="1">
                        <a:latin typeface="Cambria Math" panose="02040503050406030204" pitchFamily="18" charset="0"/>
                      </a:rPr>
                      <m:t>𝒋</m:t>
                    </m:r>
                    <m:f>
                      <m:fPr>
                        <m:ctrlPr>
                          <a:rPr lang="ru-RU" b="1" i="1">
                            <a:latin typeface="Cambria Math" panose="02040503050406030204" pitchFamily="18" charset="0"/>
                          </a:rPr>
                        </m:ctrlPr>
                      </m:fPr>
                      <m:num>
                        <m:r>
                          <a:rPr lang="en-US" b="1" i="1">
                            <a:latin typeface="Cambria Math" panose="02040503050406030204" pitchFamily="18" charset="0"/>
                          </a:rPr>
                          <m:t>𝟏</m:t>
                        </m:r>
                      </m:num>
                      <m:den>
                        <m:r>
                          <a:rPr lang="en-US" b="1" i="1">
                            <a:latin typeface="Cambria Math" panose="02040503050406030204" pitchFamily="18" charset="0"/>
                          </a:rPr>
                          <m:t>𝝎</m:t>
                        </m:r>
                        <m:r>
                          <a:rPr lang="en-US" b="1" i="1">
                            <a:latin typeface="Cambria Math" panose="02040503050406030204" pitchFamily="18" charset="0"/>
                          </a:rPr>
                          <m:t>𝑪</m:t>
                        </m:r>
                      </m:den>
                    </m:f>
                  </m:oMath>
                </a14:m>
                <a:r>
                  <a:rPr lang="en-US" b="1" dirty="0"/>
                  <a:t>.</a:t>
                </a:r>
                <a:endParaRPr lang="ru-RU" b="1" dirty="0"/>
              </a:p>
              <a:p>
                <a:r>
                  <a:rPr lang="en-US" b="1" dirty="0"/>
                  <a:t>By using Impedance (</a:t>
                </a:r>
                <a14:m>
                  <m:oMath xmlns:m="http://schemas.openxmlformats.org/officeDocument/2006/math">
                    <m:r>
                      <a:rPr lang="en-US" b="1" i="1">
                        <a:latin typeface="Cambria Math" panose="02040503050406030204" pitchFamily="18" charset="0"/>
                      </a:rPr>
                      <m:t>𝒁</m:t>
                    </m:r>
                  </m:oMath>
                </a14:m>
                <a:r>
                  <a:rPr lang="en-US" b="1" dirty="0"/>
                  <a:t>) instead of just Resistance (</a:t>
                </a:r>
                <a14:m>
                  <m:oMath xmlns:m="http://schemas.openxmlformats.org/officeDocument/2006/math">
                    <m:r>
                      <a:rPr lang="en-US" b="1" i="1">
                        <a:latin typeface="Cambria Math" panose="02040503050406030204" pitchFamily="18" charset="0"/>
                      </a:rPr>
                      <m:t>𝑹</m:t>
                    </m:r>
                  </m:oMath>
                </a14:m>
                <a:r>
                  <a:rPr lang="en-US" b="1" dirty="0"/>
                  <a:t>), we can transform Ohm's Law into its Phasor Form: </a:t>
                </a:r>
                <a14:m>
                  <m:oMath xmlns:m="http://schemas.openxmlformats.org/officeDocument/2006/math">
                    <m:acc>
                      <m:accPr>
                        <m:chr m:val="̇"/>
                        <m:ctrlPr>
                          <a:rPr lang="ru-RU" b="1" i="1">
                            <a:latin typeface="Cambria Math" panose="02040503050406030204" pitchFamily="18" charset="0"/>
                          </a:rPr>
                        </m:ctrlPr>
                      </m:accPr>
                      <m:e>
                        <m:r>
                          <a:rPr lang="en-US" b="1" i="1">
                            <a:latin typeface="Cambria Math" panose="02040503050406030204" pitchFamily="18" charset="0"/>
                          </a:rPr>
                          <m:t>𝑽</m:t>
                        </m:r>
                      </m:e>
                    </m:acc>
                    <m:r>
                      <a:rPr lang="en-US" b="1">
                        <a:latin typeface="Cambria Math" panose="02040503050406030204" pitchFamily="18" charset="0"/>
                      </a:rPr>
                      <m:t>=</m:t>
                    </m:r>
                    <m:acc>
                      <m:accPr>
                        <m:chr m:val="̇"/>
                        <m:ctrlPr>
                          <a:rPr lang="ru-RU" b="1" i="1">
                            <a:latin typeface="Cambria Math" panose="02040503050406030204" pitchFamily="18" charset="0"/>
                          </a:rPr>
                        </m:ctrlPr>
                      </m:accPr>
                      <m:e>
                        <m:r>
                          <a:rPr lang="en-US" b="1" i="1">
                            <a:latin typeface="Cambria Math" panose="02040503050406030204" pitchFamily="18" charset="0"/>
                          </a:rPr>
                          <m:t>𝑰</m:t>
                        </m:r>
                      </m:e>
                    </m:acc>
                    <m:r>
                      <a:rPr lang="en-US" b="1" i="1">
                        <a:latin typeface="Cambria Math" panose="02040503050406030204" pitchFamily="18" charset="0"/>
                      </a:rPr>
                      <m:t>𝒁</m:t>
                    </m:r>
                  </m:oMath>
                </a14:m>
                <a:r>
                  <a:rPr lang="en-US" b="1" dirty="0"/>
                  <a:t>. </a:t>
                </a:r>
              </a:p>
              <a:p>
                <a:r>
                  <a:rPr lang="en-US" dirty="0"/>
                  <a:t>This is the most important equation in AC circuit analysis. </a:t>
                </a:r>
              </a:p>
              <a:p>
                <a:r>
                  <a:rPr lang="en-US" dirty="0"/>
                  <a:t>It allows us to solve AC circuits using the exact same algebraic methods (series, parallel, KVL, KCL) we used for DC circuits, simply by using complex numbers.</a:t>
                </a:r>
                <a:endParaRPr lang="ru-RU" dirty="0"/>
              </a:p>
            </p:txBody>
          </p:sp>
        </mc:Choice>
        <mc:Fallback xmlns="">
          <p:sp>
            <p:nvSpPr>
              <p:cNvPr id="3" name="Объект 2">
                <a:extLst>
                  <a:ext uri="{FF2B5EF4-FFF2-40B4-BE49-F238E27FC236}">
                    <a16:creationId xmlns:a16="http://schemas.microsoft.com/office/drawing/2014/main" id="{EB47C9BB-60CD-249D-8B1C-22A92142B8E0}"/>
                  </a:ext>
                </a:extLst>
              </p:cNvPr>
              <p:cNvSpPr>
                <a:spLocks noGrp="1" noRot="1" noChangeAspect="1" noMove="1" noResize="1" noEditPoints="1" noAdjustHandles="1" noChangeArrowheads="1" noChangeShapeType="1" noTextEdit="1"/>
              </p:cNvSpPr>
              <p:nvPr>
                <p:ph idx="1"/>
              </p:nvPr>
            </p:nvSpPr>
            <p:spPr>
              <a:xfrm>
                <a:off x="838200" y="1781493"/>
                <a:ext cx="10515600" cy="4351338"/>
              </a:xfrm>
              <a:blipFill>
                <a:blip r:embed="rId2"/>
                <a:stretch>
                  <a:fillRect l="-1043" t="-2381"/>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3E804E27-343D-FA65-E12C-F683A107572F}"/>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F7B58459-114D-D3F4-B232-5D8652634067}"/>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81687C3C-8133-15F0-4049-AC8EA681FA64}"/>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14986540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616A0-9278-2AF7-9A3C-703FEC12F373}"/>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8EEAC06-3E20-925C-F06A-973563E25074}"/>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53709492-729D-666B-1A04-2CCFF99CAA87}"/>
              </a:ext>
            </a:extLst>
          </p:cNvPr>
          <p:cNvSpPr>
            <a:spLocks noGrp="1"/>
          </p:cNvSpPr>
          <p:nvPr>
            <p:ph idx="1"/>
          </p:nvPr>
        </p:nvSpPr>
        <p:spPr>
          <a:xfrm>
            <a:off x="838200" y="1781493"/>
            <a:ext cx="10515600" cy="4351338"/>
          </a:xfrm>
        </p:spPr>
        <p:txBody>
          <a:bodyPr>
            <a:noAutofit/>
          </a:bodyPr>
          <a:lstStyle/>
          <a:p>
            <a:endParaRPr lang="ru-RU" dirty="0"/>
          </a:p>
        </p:txBody>
      </p:sp>
      <p:grpSp>
        <p:nvGrpSpPr>
          <p:cNvPr id="4" name="Группа 3">
            <a:extLst>
              <a:ext uri="{FF2B5EF4-FFF2-40B4-BE49-F238E27FC236}">
                <a16:creationId xmlns:a16="http://schemas.microsoft.com/office/drawing/2014/main" id="{1A919156-F4EA-A99E-DC3B-3A3817287D88}"/>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F3CC82EF-0EEC-2635-55D7-BE5D10CCC224}"/>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B4162A14-06C5-F9B8-7895-5AEEECA72359}"/>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
        <p:nvSpPr>
          <p:cNvPr id="7" name="Объект 2">
            <a:extLst>
              <a:ext uri="{FF2B5EF4-FFF2-40B4-BE49-F238E27FC236}">
                <a16:creationId xmlns:a16="http://schemas.microsoft.com/office/drawing/2014/main" id="{0B595CD8-0D63-7CC7-6977-37CF7700C823}"/>
              </a:ext>
            </a:extLst>
          </p:cNvPr>
          <p:cNvSpPr txBox="1">
            <a:spLocks/>
          </p:cNvSpPr>
          <p:nvPr/>
        </p:nvSpPr>
        <p:spPr>
          <a:xfrm>
            <a:off x="838200" y="1825625"/>
            <a:ext cx="5403574"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endParaRPr lang="en-US" dirty="0">
              <a:ea typeface="Aptos" panose="020B0004020202020204" pitchFamily="34" charset="0"/>
              <a:cs typeface="Arial" panose="020B0604020202020204" pitchFamily="34" charset="0"/>
            </a:endParaRPr>
          </a:p>
          <a:p>
            <a:pPr algn="just">
              <a:lnSpc>
                <a:spcPct val="120000"/>
              </a:lnSpc>
            </a:pPr>
            <a:endParaRPr lang="en-US" dirty="0">
              <a:ea typeface="Aptos" panose="020B0004020202020204" pitchFamily="34" charset="0"/>
              <a:cs typeface="Arial" panose="020B0604020202020204" pitchFamily="34" charset="0"/>
            </a:endParaRPr>
          </a:p>
          <a:p>
            <a:pPr algn="just">
              <a:lnSpc>
                <a:spcPct val="120000"/>
              </a:lnSpc>
            </a:pPr>
            <a:r>
              <a:rPr lang="en-US" dirty="0">
                <a:ea typeface="Aptos" panose="020B0004020202020204" pitchFamily="34" charset="0"/>
                <a:cs typeface="Arial" panose="020B0604020202020204" pitchFamily="34" charset="0"/>
              </a:rPr>
              <a:t>Do you have you any questions at the moment?</a:t>
            </a:r>
            <a:endParaRPr lang="ru-RU" dirty="0">
              <a:ea typeface="Aptos" panose="020B0004020202020204" pitchFamily="34" charset="0"/>
              <a:cs typeface="Arial" panose="020B0604020202020204" pitchFamily="34" charset="0"/>
            </a:endParaRPr>
          </a:p>
        </p:txBody>
      </p:sp>
      <p:pic>
        <p:nvPicPr>
          <p:cNvPr id="8" name="Picture 2">
            <a:extLst>
              <a:ext uri="{FF2B5EF4-FFF2-40B4-BE49-F238E27FC236}">
                <a16:creationId xmlns:a16="http://schemas.microsoft.com/office/drawing/2014/main" id="{7E0CAFBE-D3EC-D0BD-224E-16C25149EBDF}"/>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6974323" y="2070119"/>
            <a:ext cx="4220156" cy="4220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46218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5912E-E45B-B068-28CA-401489516C7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05950CD-FCD4-BF5A-77D3-344BA1FF6D43}"/>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3B7B3FB0-9726-D963-AD4C-D76ADE8A7EC8}"/>
                  </a:ext>
                </a:extLst>
              </p:cNvPr>
              <p:cNvSpPr>
                <a:spLocks noGrp="1"/>
              </p:cNvSpPr>
              <p:nvPr>
                <p:ph idx="1"/>
              </p:nvPr>
            </p:nvSpPr>
            <p:spPr>
              <a:xfrm>
                <a:off x="838200" y="1781493"/>
                <a:ext cx="10515600" cy="4351338"/>
              </a:xfrm>
            </p:spPr>
            <p:txBody>
              <a:bodyPr>
                <a:noAutofit/>
              </a:bodyPr>
              <a:lstStyle/>
              <a:p>
                <a:r>
                  <a:rPr lang="en-US" dirty="0">
                    <a:effectLst/>
                    <a:latin typeface="Aptos" panose="020B0004020202020204" pitchFamily="34" charset="0"/>
                    <a:ea typeface="Aptos" panose="020B0004020202020204" pitchFamily="34" charset="0"/>
                    <a:cs typeface="Times New Roman" panose="02020603050405020304" pitchFamily="18" charset="0"/>
                  </a:rPr>
                  <a:t>Since Impedance </a:t>
                </a:r>
                <a14:m>
                  <m:oMath xmlns:m="http://schemas.openxmlformats.org/officeDocument/2006/math">
                    <m:r>
                      <a:rPr lang="en-US" i="1">
                        <a:effectLst/>
                        <a:latin typeface="Cambria Math" panose="02040503050406030204" pitchFamily="18" charset="0"/>
                        <a:ea typeface="Aptos" panose="020B0004020202020204" pitchFamily="34" charset="0"/>
                        <a:cs typeface="Times New Roman" panose="02020603050405020304" pitchFamily="18" charset="0"/>
                      </a:rPr>
                      <m:t>𝑍</m:t>
                    </m:r>
                  </m:oMath>
                </a14:m>
                <a:r>
                  <a:rPr lang="en-US" dirty="0">
                    <a:effectLst/>
                    <a:latin typeface="Aptos" panose="020B0004020202020204" pitchFamily="34" charset="0"/>
                    <a:ea typeface="Aptos" panose="020B0004020202020204" pitchFamily="34" charset="0"/>
                    <a:cs typeface="Times New Roman" panose="02020603050405020304" pitchFamily="18" charset="0"/>
                  </a:rPr>
                  <a:t> is a complex number, it can be written in rectangular form: </a:t>
                </a:r>
                <a14:m>
                  <m:oMath xmlns:m="http://schemas.openxmlformats.org/officeDocument/2006/math">
                    <m:r>
                      <a:rPr lang="en-US" i="1">
                        <a:effectLst/>
                        <a:latin typeface="Cambria Math" panose="02040503050406030204" pitchFamily="18" charset="0"/>
                        <a:ea typeface="Aptos" panose="020B0004020202020204" pitchFamily="34" charset="0"/>
                        <a:cs typeface="Times New Roman" panose="02020603050405020304" pitchFamily="18" charset="0"/>
                      </a:rPr>
                      <m:t>𝑍</m:t>
                    </m:r>
                    <m:r>
                      <a:rPr lang="en-US">
                        <a:effectLst/>
                        <a:latin typeface="Cambria Math" panose="02040503050406030204" pitchFamily="18" charset="0"/>
                        <a:ea typeface="Aptos" panose="020B0004020202020204" pitchFamily="34" charset="0"/>
                        <a:cs typeface="Times New Roman" panose="02020603050405020304" pitchFamily="18" charset="0"/>
                      </a:rPr>
                      <m:t>=</m:t>
                    </m:r>
                    <m:r>
                      <a:rPr lang="en-US" i="1">
                        <a:effectLst/>
                        <a:latin typeface="Cambria Math" panose="02040503050406030204" pitchFamily="18" charset="0"/>
                        <a:ea typeface="Aptos" panose="020B0004020202020204" pitchFamily="34" charset="0"/>
                        <a:cs typeface="Times New Roman" panose="02020603050405020304" pitchFamily="18" charset="0"/>
                      </a:rPr>
                      <m:t>𝑅</m:t>
                    </m:r>
                    <m:r>
                      <a:rPr lang="en-US">
                        <a:effectLst/>
                        <a:latin typeface="Cambria Math" panose="02040503050406030204" pitchFamily="18" charset="0"/>
                        <a:ea typeface="Aptos" panose="020B0004020202020204" pitchFamily="34" charset="0"/>
                        <a:cs typeface="Times New Roman" panose="02020603050405020304" pitchFamily="18" charset="0"/>
                      </a:rPr>
                      <m:t>+</m:t>
                    </m:r>
                    <m:r>
                      <a:rPr lang="en-US" i="1">
                        <a:effectLst/>
                        <a:latin typeface="Cambria Math" panose="02040503050406030204" pitchFamily="18" charset="0"/>
                        <a:ea typeface="Aptos" panose="020B0004020202020204" pitchFamily="34" charset="0"/>
                        <a:cs typeface="Times New Roman" panose="02020603050405020304" pitchFamily="18" charset="0"/>
                      </a:rPr>
                      <m:t>𝑗𝑋</m:t>
                    </m:r>
                  </m:oMath>
                </a14:m>
                <a:endParaRPr lang="en-US" dirty="0"/>
              </a:p>
              <a:p>
                <a:r>
                  <a:rPr lang="en-US" b="1" dirty="0"/>
                  <a:t>The real part, </a:t>
                </a:r>
                <a14:m>
                  <m:oMath xmlns:m="http://schemas.openxmlformats.org/officeDocument/2006/math">
                    <m:r>
                      <a:rPr lang="en-US" b="1" i="1">
                        <a:latin typeface="Cambria Math" panose="02040503050406030204" pitchFamily="18" charset="0"/>
                      </a:rPr>
                      <m:t>𝑹</m:t>
                    </m:r>
                  </m:oMath>
                </a14:m>
                <a:r>
                  <a:rPr lang="en-US" b="1" dirty="0"/>
                  <a:t>, is the Resistance.</a:t>
                </a:r>
              </a:p>
              <a:p>
                <a:r>
                  <a:rPr lang="en-US" dirty="0">
                    <a:effectLst/>
                    <a:latin typeface="Aptos" panose="020B0004020202020204" pitchFamily="34" charset="0"/>
                    <a:ea typeface="Aptos" panose="020B0004020202020204" pitchFamily="34" charset="0"/>
                    <a:cs typeface="Times New Roman" panose="02020603050405020304" pitchFamily="18" charset="0"/>
                  </a:rPr>
                  <a:t>It represents the element's ability to dissipate energy as heat. It is always non-negative (</a:t>
                </a:r>
                <a14:m>
                  <m:oMath xmlns:m="http://schemas.openxmlformats.org/officeDocument/2006/math">
                    <m:r>
                      <a:rPr lang="en-US" i="1">
                        <a:effectLst/>
                        <a:latin typeface="Cambria Math" panose="02040503050406030204" pitchFamily="18" charset="0"/>
                        <a:ea typeface="Aptos" panose="020B0004020202020204" pitchFamily="34" charset="0"/>
                        <a:cs typeface="Times New Roman" panose="02020603050405020304" pitchFamily="18" charset="0"/>
                      </a:rPr>
                      <m:t>𝑅</m:t>
                    </m:r>
                    <m:r>
                      <a:rPr lang="en-US">
                        <a:effectLst/>
                        <a:latin typeface="Cambria Math" panose="02040503050406030204" pitchFamily="18" charset="0"/>
                        <a:ea typeface="Aptos" panose="020B0004020202020204" pitchFamily="34" charset="0"/>
                        <a:cs typeface="Times New Roman" panose="02020603050405020304" pitchFamily="18" charset="0"/>
                      </a:rPr>
                      <m:t>≥</m:t>
                    </m:r>
                    <m:r>
                      <a:rPr lang="en-US" i="1">
                        <a:effectLst/>
                        <a:latin typeface="Cambria Math" panose="02040503050406030204" pitchFamily="18" charset="0"/>
                        <a:ea typeface="Aptos" panose="020B0004020202020204" pitchFamily="34" charset="0"/>
                        <a:cs typeface="Times New Roman" panose="02020603050405020304" pitchFamily="18" charset="0"/>
                      </a:rPr>
                      <m:t>0</m:t>
                    </m:r>
                  </m:oMath>
                </a14:m>
                <a:r>
                  <a:rPr lang="en-US" dirty="0">
                    <a:effectLst/>
                    <a:latin typeface="Aptos" panose="020B0004020202020204" pitchFamily="34" charset="0"/>
                    <a:ea typeface="Aptos" panose="020B0004020202020204" pitchFamily="34" charset="0"/>
                    <a:cs typeface="Times New Roman" panose="02020603050405020304" pitchFamily="18" charset="0"/>
                  </a:rPr>
                  <a:t>). </a:t>
                </a:r>
                <a:endParaRPr lang="en-US" dirty="0"/>
              </a:p>
              <a:p>
                <a:r>
                  <a:rPr lang="en-US" b="1" dirty="0"/>
                  <a:t>The imaginary part, </a:t>
                </a:r>
                <a14:m>
                  <m:oMath xmlns:m="http://schemas.openxmlformats.org/officeDocument/2006/math">
                    <m:r>
                      <a:rPr lang="en-US" b="1" i="1">
                        <a:latin typeface="Cambria Math" panose="02040503050406030204" pitchFamily="18" charset="0"/>
                      </a:rPr>
                      <m:t>𝑿</m:t>
                    </m:r>
                  </m:oMath>
                </a14:m>
                <a:r>
                  <a:rPr lang="en-US" b="1" dirty="0"/>
                  <a:t>, is called «Reactance». </a:t>
                </a:r>
              </a:p>
              <a:p>
                <a:r>
                  <a:rPr lang="en-US" dirty="0">
                    <a:effectLst/>
                    <a:latin typeface="Aptos" panose="020B0004020202020204" pitchFamily="34" charset="0"/>
                    <a:ea typeface="Aptos" panose="020B0004020202020204" pitchFamily="34" charset="0"/>
                    <a:cs typeface="Times New Roman" panose="02020603050405020304" pitchFamily="18" charset="0"/>
                  </a:rPr>
                  <a:t>It represents the element's ability to store energy in electric or magnetic fields.</a:t>
                </a:r>
                <a:endParaRPr lang="ru-RU" b="1" dirty="0"/>
              </a:p>
            </p:txBody>
          </p:sp>
        </mc:Choice>
        <mc:Fallback xmlns="">
          <p:sp>
            <p:nvSpPr>
              <p:cNvPr id="3" name="Объект 2">
                <a:extLst>
                  <a:ext uri="{FF2B5EF4-FFF2-40B4-BE49-F238E27FC236}">
                    <a16:creationId xmlns:a16="http://schemas.microsoft.com/office/drawing/2014/main" id="{3B7B3FB0-9726-D963-AD4C-D76ADE8A7EC8}"/>
                  </a:ext>
                </a:extLst>
              </p:cNvPr>
              <p:cNvSpPr>
                <a:spLocks noGrp="1" noRot="1" noChangeAspect="1" noMove="1" noResize="1" noEditPoints="1" noAdjustHandles="1" noChangeArrowheads="1" noChangeShapeType="1" noTextEdit="1"/>
              </p:cNvSpPr>
              <p:nvPr>
                <p:ph idx="1"/>
              </p:nvPr>
            </p:nvSpPr>
            <p:spPr>
              <a:xfrm>
                <a:off x="838200" y="1781493"/>
                <a:ext cx="10515600" cy="4351338"/>
              </a:xfrm>
              <a:blipFill>
                <a:blip r:embed="rId2"/>
                <a:stretch>
                  <a:fillRect l="-1043" t="-2381" r="-116"/>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F6E39CC7-A1F4-5FC8-0C5B-6664D5874D35}"/>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807A9AD9-EB33-3980-2E8F-6F9C50470C87}"/>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06102579-7A2C-C908-16B3-410D1AD02C7D}"/>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1132853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A1436-0C20-2C93-7812-EACCFFDCA613}"/>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71F95A-0734-C808-EF65-C09C567A880C}"/>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1181AA46-E3B6-4374-7926-913092B2C001}"/>
                  </a:ext>
                </a:extLst>
              </p:cNvPr>
              <p:cNvSpPr>
                <a:spLocks noGrp="1"/>
              </p:cNvSpPr>
              <p:nvPr>
                <p:ph idx="1"/>
              </p:nvPr>
            </p:nvSpPr>
            <p:spPr>
              <a:xfrm>
                <a:off x="838200" y="1781493"/>
                <a:ext cx="10515600" cy="4351338"/>
              </a:xfrm>
            </p:spPr>
            <p:txBody>
              <a:bodyPr>
                <a:noAutofit/>
              </a:bodyPr>
              <a:lstStyle/>
              <a:p>
                <a:r>
                  <a:rPr lang="en-US" b="1" dirty="0"/>
                  <a:t>Reactance is measured in Ohms.</a:t>
                </a:r>
              </a:p>
              <a:p>
                <a:r>
                  <a:rPr lang="en-US" b="1" dirty="0">
                    <a:effectLst/>
                    <a:latin typeface="Aptos" panose="020B0004020202020204" pitchFamily="34" charset="0"/>
                    <a:ea typeface="Aptos" panose="020B0004020202020204" pitchFamily="34" charset="0"/>
                    <a:cs typeface="Times New Roman" panose="02020603050405020304" pitchFamily="18" charset="0"/>
                  </a:rPr>
                  <a:t>For an inductor, the Inductive Reactance is </a:t>
                </a:r>
                <a14:m>
                  <m:oMath xmlns:m="http://schemas.openxmlformats.org/officeDocument/2006/math">
                    <m:sSub>
                      <m:sSubPr>
                        <m:ctrlPr>
                          <a:rPr lang="ru-RU" b="1" i="1">
                            <a:effectLst/>
                            <a:latin typeface="Cambria Math" panose="02040503050406030204" pitchFamily="18" charset="0"/>
                          </a:rPr>
                        </m:ctrlPr>
                      </m:sSubPr>
                      <m:e>
                        <m:r>
                          <a:rPr lang="en-US" b="1" i="1">
                            <a:effectLst/>
                            <a:latin typeface="Cambria Math" panose="02040503050406030204" pitchFamily="18" charset="0"/>
                            <a:ea typeface="Aptos" panose="020B0004020202020204" pitchFamily="34" charset="0"/>
                            <a:cs typeface="Times New Roman" panose="02020603050405020304" pitchFamily="18" charset="0"/>
                          </a:rPr>
                          <m:t>𝑿</m:t>
                        </m:r>
                      </m:e>
                      <m:sub>
                        <m:r>
                          <a:rPr lang="en-US" b="1" i="1">
                            <a:effectLst/>
                            <a:latin typeface="Cambria Math" panose="02040503050406030204" pitchFamily="18" charset="0"/>
                            <a:ea typeface="Aptos" panose="020B0004020202020204" pitchFamily="34" charset="0"/>
                            <a:cs typeface="Times New Roman" panose="02020603050405020304" pitchFamily="18" charset="0"/>
                          </a:rPr>
                          <m:t>𝑳</m:t>
                        </m:r>
                      </m:sub>
                    </m:sSub>
                    <m:r>
                      <a:rPr lang="en-US" b="1">
                        <a:effectLst/>
                        <a:latin typeface="Cambria Math" panose="02040503050406030204" pitchFamily="18" charset="0"/>
                        <a:ea typeface="Aptos" panose="020B0004020202020204" pitchFamily="34" charset="0"/>
                        <a:cs typeface="Times New Roman" panose="02020603050405020304" pitchFamily="18" charset="0"/>
                      </a:rPr>
                      <m:t>=</m:t>
                    </m:r>
                    <m:r>
                      <a:rPr lang="en-US" b="1" i="1">
                        <a:effectLst/>
                        <a:latin typeface="Cambria Math" panose="02040503050406030204" pitchFamily="18" charset="0"/>
                        <a:ea typeface="Aptos" panose="020B0004020202020204" pitchFamily="34" charset="0"/>
                        <a:cs typeface="Times New Roman" panose="02020603050405020304" pitchFamily="18" charset="0"/>
                      </a:rPr>
                      <m:t>𝝎</m:t>
                    </m:r>
                    <m:r>
                      <a:rPr lang="en-US" b="1" i="1">
                        <a:effectLst/>
                        <a:latin typeface="Cambria Math" panose="02040503050406030204" pitchFamily="18" charset="0"/>
                        <a:ea typeface="Aptos" panose="020B0004020202020204" pitchFamily="34" charset="0"/>
                        <a:cs typeface="Times New Roman" panose="02020603050405020304" pitchFamily="18" charset="0"/>
                      </a:rPr>
                      <m:t>𝑳</m:t>
                    </m:r>
                  </m:oMath>
                </a14:m>
                <a:r>
                  <a:rPr lang="en-US" b="1" dirty="0">
                    <a:effectLst/>
                    <a:latin typeface="Aptos" panose="020B0004020202020204" pitchFamily="34" charset="0"/>
                    <a:ea typeface="Aptos" panose="020B0004020202020204" pitchFamily="34" charset="0"/>
                    <a:cs typeface="Times New Roman" panose="02020603050405020304" pitchFamily="18" charset="0"/>
                  </a:rPr>
                  <a:t>. It is positive. </a:t>
                </a:r>
              </a:p>
              <a:p>
                <a:r>
                  <a:rPr lang="en-US" b="1" dirty="0">
                    <a:effectLst/>
                    <a:latin typeface="Aptos" panose="020B0004020202020204" pitchFamily="34" charset="0"/>
                    <a:ea typeface="Aptos" panose="020B0004020202020204" pitchFamily="34" charset="0"/>
                    <a:cs typeface="Times New Roman" panose="02020603050405020304" pitchFamily="18" charset="0"/>
                  </a:rPr>
                  <a:t>For a capacitor, the Capacitive Reactance is </a:t>
                </a:r>
                <a14:m>
                  <m:oMath xmlns:m="http://schemas.openxmlformats.org/officeDocument/2006/math">
                    <m:sSub>
                      <m:sSubPr>
                        <m:ctrlPr>
                          <a:rPr lang="ru-RU" b="1" i="1">
                            <a:effectLst/>
                            <a:latin typeface="Cambria Math" panose="02040503050406030204" pitchFamily="18" charset="0"/>
                          </a:rPr>
                        </m:ctrlPr>
                      </m:sSubPr>
                      <m:e>
                        <m:r>
                          <a:rPr lang="en-US" b="1" i="1">
                            <a:effectLst/>
                            <a:latin typeface="Cambria Math" panose="02040503050406030204" pitchFamily="18" charset="0"/>
                            <a:ea typeface="Aptos" panose="020B0004020202020204" pitchFamily="34" charset="0"/>
                            <a:cs typeface="Times New Roman" panose="02020603050405020304" pitchFamily="18" charset="0"/>
                          </a:rPr>
                          <m:t>𝑿</m:t>
                        </m:r>
                      </m:e>
                      <m:sub>
                        <m:r>
                          <a:rPr lang="en-US" b="1" i="1">
                            <a:effectLst/>
                            <a:latin typeface="Cambria Math" panose="02040503050406030204" pitchFamily="18" charset="0"/>
                            <a:ea typeface="Aptos" panose="020B0004020202020204" pitchFamily="34" charset="0"/>
                            <a:cs typeface="Times New Roman" panose="02020603050405020304" pitchFamily="18" charset="0"/>
                          </a:rPr>
                          <m:t>𝑪</m:t>
                        </m:r>
                      </m:sub>
                    </m:sSub>
                    <m:r>
                      <a:rPr lang="en-US" b="1">
                        <a:effectLst/>
                        <a:latin typeface="Cambria Math" panose="02040503050406030204" pitchFamily="18" charset="0"/>
                        <a:ea typeface="Aptos" panose="020B0004020202020204" pitchFamily="34" charset="0"/>
                        <a:cs typeface="Times New Roman" panose="02020603050405020304" pitchFamily="18" charset="0"/>
                      </a:rPr>
                      <m:t>=</m:t>
                    </m:r>
                    <m:r>
                      <a:rPr lang="en-US" b="1" i="1">
                        <a:effectLst/>
                        <a:latin typeface="Cambria Math" panose="02040503050406030204" pitchFamily="18" charset="0"/>
                        <a:ea typeface="Aptos" panose="020B0004020202020204" pitchFamily="34" charset="0"/>
                        <a:cs typeface="Times New Roman" panose="02020603050405020304" pitchFamily="18" charset="0"/>
                      </a:rPr>
                      <m:t>−</m:t>
                    </m:r>
                    <m:f>
                      <m:fPr>
                        <m:ctrlPr>
                          <a:rPr lang="ru-RU" b="1" i="1">
                            <a:effectLst/>
                            <a:latin typeface="Cambria Math" panose="02040503050406030204" pitchFamily="18" charset="0"/>
                          </a:rPr>
                        </m:ctrlPr>
                      </m:fPr>
                      <m:num>
                        <m:r>
                          <a:rPr lang="en-US" b="1" i="1">
                            <a:effectLst/>
                            <a:latin typeface="Cambria Math" panose="02040503050406030204" pitchFamily="18" charset="0"/>
                            <a:ea typeface="Aptos" panose="020B0004020202020204" pitchFamily="34" charset="0"/>
                            <a:cs typeface="Times New Roman" panose="02020603050405020304" pitchFamily="18" charset="0"/>
                          </a:rPr>
                          <m:t>𝟏</m:t>
                        </m:r>
                      </m:num>
                      <m:den>
                        <m:r>
                          <a:rPr lang="en-US" b="1" i="1">
                            <a:effectLst/>
                            <a:latin typeface="Cambria Math" panose="02040503050406030204" pitchFamily="18" charset="0"/>
                            <a:ea typeface="Aptos" panose="020B0004020202020204" pitchFamily="34" charset="0"/>
                            <a:cs typeface="Times New Roman" panose="02020603050405020304" pitchFamily="18" charset="0"/>
                          </a:rPr>
                          <m:t>𝝎</m:t>
                        </m:r>
                        <m:r>
                          <a:rPr lang="en-US" b="1" i="1">
                            <a:effectLst/>
                            <a:latin typeface="Cambria Math" panose="02040503050406030204" pitchFamily="18" charset="0"/>
                            <a:ea typeface="Aptos" panose="020B0004020202020204" pitchFamily="34" charset="0"/>
                            <a:cs typeface="Times New Roman" panose="02020603050405020304" pitchFamily="18" charset="0"/>
                          </a:rPr>
                          <m:t>𝑪</m:t>
                        </m:r>
                      </m:den>
                    </m:f>
                  </m:oMath>
                </a14:m>
                <a:r>
                  <a:rPr lang="en-US" b="1" dirty="0">
                    <a:effectLst/>
                    <a:latin typeface="Aptos" panose="020B0004020202020204" pitchFamily="34" charset="0"/>
                    <a:ea typeface="Aptos" panose="020B0004020202020204" pitchFamily="34" charset="0"/>
                    <a:cs typeface="Times New Roman" panose="02020603050405020304" pitchFamily="18" charset="0"/>
                  </a:rPr>
                  <a:t>. It is negative.</a:t>
                </a:r>
                <a:endParaRPr lang="en-US" b="1" dirty="0"/>
              </a:p>
              <a:p>
                <a:r>
                  <a:rPr lang="en-US" b="1" dirty="0"/>
                  <a:t>Reactance depends on the frequency (</a:t>
                </a:r>
                <a14:m>
                  <m:oMath xmlns:m="http://schemas.openxmlformats.org/officeDocument/2006/math">
                    <m:r>
                      <a:rPr lang="en-US" b="1" i="1">
                        <a:latin typeface="Cambria Math" panose="02040503050406030204" pitchFamily="18" charset="0"/>
                      </a:rPr>
                      <m:t>𝒇</m:t>
                    </m:r>
                  </m:oMath>
                </a14:m>
                <a:r>
                  <a:rPr lang="en-US" b="1" dirty="0"/>
                  <a:t>) of the signal. </a:t>
                </a:r>
              </a:p>
              <a:p>
                <a:r>
                  <a:rPr lang="en-US" dirty="0">
                    <a:effectLst/>
                    <a:latin typeface="Arial" panose="020B0604020202020204" pitchFamily="34" charset="0"/>
                    <a:ea typeface="Aptos" panose="020B0004020202020204" pitchFamily="34" charset="0"/>
                  </a:rPr>
                  <a:t>If you change the frequency of the generator, the resistance </a:t>
                </a:r>
                <a14:m>
                  <m:oMath xmlns:m="http://schemas.openxmlformats.org/officeDocument/2006/math">
                    <m:r>
                      <a:rPr lang="en-US" i="1">
                        <a:effectLst/>
                        <a:latin typeface="Cambria Math" panose="02040503050406030204" pitchFamily="18" charset="0"/>
                        <a:ea typeface="Aptos" panose="020B0004020202020204" pitchFamily="34" charset="0"/>
                      </a:rPr>
                      <m:t>𝑅</m:t>
                    </m:r>
                  </m:oMath>
                </a14:m>
                <a:r>
                  <a:rPr lang="en-US" dirty="0">
                    <a:effectLst/>
                    <a:latin typeface="Arial" panose="020B0604020202020204" pitchFamily="34" charset="0"/>
                    <a:ea typeface="Aptos" panose="020B0004020202020204" pitchFamily="34" charset="0"/>
                  </a:rPr>
                  <a:t> stays the same, but the reactance </a:t>
                </a:r>
                <a14:m>
                  <m:oMath xmlns:m="http://schemas.openxmlformats.org/officeDocument/2006/math">
                    <m:r>
                      <a:rPr lang="en-US" i="1">
                        <a:effectLst/>
                        <a:latin typeface="Cambria Math" panose="02040503050406030204" pitchFamily="18" charset="0"/>
                        <a:ea typeface="Aptos" panose="020B0004020202020204" pitchFamily="34" charset="0"/>
                      </a:rPr>
                      <m:t>𝑋</m:t>
                    </m:r>
                  </m:oMath>
                </a14:m>
                <a:r>
                  <a:rPr lang="en-US" dirty="0">
                    <a:effectLst/>
                    <a:latin typeface="Arial" panose="020B0604020202020204" pitchFamily="34" charset="0"/>
                    <a:ea typeface="Aptos" panose="020B0004020202020204" pitchFamily="34" charset="0"/>
                  </a:rPr>
                  <a:t> changes, altering the total impedance.</a:t>
                </a:r>
                <a:endParaRPr lang="ru-RU" dirty="0">
                  <a:effectLst/>
                  <a:latin typeface="Arial" panose="020B0604020202020204" pitchFamily="34" charset="0"/>
                  <a:ea typeface="Aptos" panose="020B0004020202020204" pitchFamily="34" charset="0"/>
                </a:endParaRPr>
              </a:p>
              <a:p>
                <a:endParaRPr lang="ru-RU" dirty="0"/>
              </a:p>
            </p:txBody>
          </p:sp>
        </mc:Choice>
        <mc:Fallback xmlns="">
          <p:sp>
            <p:nvSpPr>
              <p:cNvPr id="3" name="Объект 2">
                <a:extLst>
                  <a:ext uri="{FF2B5EF4-FFF2-40B4-BE49-F238E27FC236}">
                    <a16:creationId xmlns:a16="http://schemas.microsoft.com/office/drawing/2014/main" id="{1181AA46-E3B6-4374-7926-913092B2C001}"/>
                  </a:ext>
                </a:extLst>
              </p:cNvPr>
              <p:cNvSpPr>
                <a:spLocks noGrp="1" noRot="1" noChangeAspect="1" noMove="1" noResize="1" noEditPoints="1" noAdjustHandles="1" noChangeArrowheads="1" noChangeShapeType="1" noTextEdit="1"/>
              </p:cNvSpPr>
              <p:nvPr>
                <p:ph idx="1"/>
              </p:nvPr>
            </p:nvSpPr>
            <p:spPr>
              <a:xfrm>
                <a:off x="838200" y="1781493"/>
                <a:ext cx="10515600" cy="4351338"/>
              </a:xfrm>
              <a:blipFill>
                <a:blip r:embed="rId2"/>
                <a:stretch>
                  <a:fillRect l="-1043" t="-2381" b="-980"/>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5357D479-C798-AE55-556D-8110A09D63D7}"/>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63EAB772-98FA-6F37-792E-DE2CA4B1E2B7}"/>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7D0742D8-4417-C65C-2EDD-F445D2E09AB8}"/>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36540053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00A97-360E-928C-A234-E166F407252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56C744D-34C6-8F7B-E334-4E4F0F8DBFC6}"/>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A2A325D5-5C97-58C5-9E9A-04A7D97FC553}"/>
                  </a:ext>
                </a:extLst>
              </p:cNvPr>
              <p:cNvSpPr>
                <a:spLocks noGrp="1"/>
              </p:cNvSpPr>
              <p:nvPr>
                <p:ph idx="1"/>
              </p:nvPr>
            </p:nvSpPr>
            <p:spPr>
              <a:xfrm>
                <a:off x="838200" y="1781493"/>
                <a:ext cx="10515600" cy="4351338"/>
              </a:xfrm>
            </p:spPr>
            <p:txBody>
              <a:bodyPr>
                <a:noAutofit/>
              </a:bodyPr>
              <a:lstStyle/>
              <a:p>
                <a:pPr algn="just">
                  <a:lnSpc>
                    <a:spcPct val="120000"/>
                  </a:lnSpc>
                </a:pPr>
                <a:r>
                  <a:rPr lang="en-US" dirty="0">
                    <a:effectLst/>
                    <a:latin typeface="Arial" panose="020B0604020202020204" pitchFamily="34" charset="0"/>
                    <a:ea typeface="Aptos" panose="020B0004020202020204" pitchFamily="34" charset="0"/>
                  </a:rPr>
                  <a:t>Now that we have defined Impedance, we can combine elements. </a:t>
                </a:r>
                <a:endParaRPr lang="ru-RU" dirty="0">
                  <a:effectLst/>
                  <a:latin typeface="Arial" panose="020B0604020202020204" pitchFamily="34" charset="0"/>
                  <a:ea typeface="Aptos" panose="020B0004020202020204" pitchFamily="34" charset="0"/>
                </a:endParaRPr>
              </a:p>
              <a:p>
                <a:pPr algn="just">
                  <a:lnSpc>
                    <a:spcPct val="120000"/>
                  </a:lnSpc>
                </a:pPr>
                <a:r>
                  <a:rPr lang="en-US" b="1" dirty="0">
                    <a:effectLst/>
                    <a:latin typeface="Arial" panose="020B0604020202020204" pitchFamily="34" charset="0"/>
                    <a:ea typeface="Aptos" panose="020B0004020202020204" pitchFamily="34" charset="0"/>
                  </a:rPr>
                  <a:t>Impedances connected in series add together, just like resistors in DC:</a:t>
                </a:r>
                <a:endParaRPr lang="ru-RU" dirty="0">
                  <a:effectLst/>
                  <a:latin typeface="Arial" panose="020B0604020202020204" pitchFamily="34" charset="0"/>
                  <a:ea typeface="Aptos" panose="020B0004020202020204" pitchFamily="34" charset="0"/>
                </a:endParaRPr>
              </a:p>
              <a:p>
                <a:pPr marL="0" indent="0" algn="just">
                  <a:lnSpc>
                    <a:spcPct val="120000"/>
                  </a:lnSpc>
                  <a:buNone/>
                </a:pPr>
                <a14:m>
                  <m:oMathPara xmlns:m="http://schemas.openxmlformats.org/officeDocument/2006/math">
                    <m:oMathParaPr>
                      <m:jc m:val="centerGroup"/>
                    </m:oMathParaPr>
                    <m:oMath xmlns:m="http://schemas.openxmlformats.org/officeDocument/2006/math">
                      <m:sSub>
                        <m:sSubPr>
                          <m:ctrlPr>
                            <a:rPr lang="ru-RU" b="1" i="1" smtClean="0">
                              <a:effectLst/>
                              <a:latin typeface="Cambria Math" panose="02040503050406030204" pitchFamily="18" charset="0"/>
                              <a:ea typeface="Aptos" panose="020B0004020202020204" pitchFamily="34" charset="0"/>
                            </a:rPr>
                          </m:ctrlPr>
                        </m:sSubPr>
                        <m:e>
                          <m:r>
                            <a:rPr lang="en-US" b="1" i="1">
                              <a:effectLst/>
                              <a:latin typeface="Cambria Math" panose="02040503050406030204" pitchFamily="18" charset="0"/>
                              <a:ea typeface="Aptos" panose="020B0004020202020204" pitchFamily="34" charset="0"/>
                            </a:rPr>
                            <m:t>𝒁</m:t>
                          </m:r>
                        </m:e>
                        <m:sub>
                          <m:r>
                            <a:rPr lang="en-US" b="1" i="1">
                              <a:effectLst/>
                              <a:latin typeface="Cambria Math" panose="02040503050406030204" pitchFamily="18" charset="0"/>
                              <a:ea typeface="Aptos" panose="020B0004020202020204" pitchFamily="34" charset="0"/>
                            </a:rPr>
                            <m:t>𝒆𝒒</m:t>
                          </m:r>
                        </m:sub>
                      </m:sSub>
                      <m:r>
                        <a:rPr lang="en-US" b="1">
                          <a:effectLst/>
                          <a:latin typeface="Cambria Math" panose="02040503050406030204" pitchFamily="18" charset="0"/>
                          <a:ea typeface="Aptos" panose="020B0004020202020204" pitchFamily="34" charset="0"/>
                        </a:rPr>
                        <m:t>=</m:t>
                      </m:r>
                      <m:sSub>
                        <m:sSubPr>
                          <m:ctrlPr>
                            <a:rPr lang="ru-RU" b="1" i="1">
                              <a:effectLst/>
                              <a:latin typeface="Cambria Math" panose="02040503050406030204" pitchFamily="18" charset="0"/>
                              <a:ea typeface="Aptos" panose="020B0004020202020204" pitchFamily="34" charset="0"/>
                            </a:rPr>
                          </m:ctrlPr>
                        </m:sSubPr>
                        <m:e>
                          <m:r>
                            <a:rPr lang="en-US" b="1" i="1">
                              <a:effectLst/>
                              <a:latin typeface="Cambria Math" panose="02040503050406030204" pitchFamily="18" charset="0"/>
                              <a:ea typeface="Aptos" panose="020B0004020202020204" pitchFamily="34" charset="0"/>
                            </a:rPr>
                            <m:t>𝒁</m:t>
                          </m:r>
                        </m:e>
                        <m:sub>
                          <m:r>
                            <a:rPr lang="en-US" b="1" i="1">
                              <a:effectLst/>
                              <a:latin typeface="Cambria Math" panose="02040503050406030204" pitchFamily="18" charset="0"/>
                              <a:ea typeface="Aptos" panose="020B0004020202020204" pitchFamily="34" charset="0"/>
                            </a:rPr>
                            <m:t>𝟏</m:t>
                          </m:r>
                        </m:sub>
                      </m:sSub>
                      <m:r>
                        <a:rPr lang="en-US" b="1">
                          <a:effectLst/>
                          <a:latin typeface="Cambria Math" panose="02040503050406030204" pitchFamily="18" charset="0"/>
                          <a:ea typeface="Aptos" panose="020B0004020202020204" pitchFamily="34" charset="0"/>
                        </a:rPr>
                        <m:t>+</m:t>
                      </m:r>
                      <m:sSub>
                        <m:sSubPr>
                          <m:ctrlPr>
                            <a:rPr lang="ru-RU" b="1" i="1">
                              <a:effectLst/>
                              <a:latin typeface="Cambria Math" panose="02040503050406030204" pitchFamily="18" charset="0"/>
                              <a:ea typeface="Aptos" panose="020B0004020202020204" pitchFamily="34" charset="0"/>
                            </a:rPr>
                          </m:ctrlPr>
                        </m:sSubPr>
                        <m:e>
                          <m:r>
                            <a:rPr lang="en-US" b="1" i="1">
                              <a:effectLst/>
                              <a:latin typeface="Cambria Math" panose="02040503050406030204" pitchFamily="18" charset="0"/>
                              <a:ea typeface="Aptos" panose="020B0004020202020204" pitchFamily="34" charset="0"/>
                            </a:rPr>
                            <m:t>𝒁</m:t>
                          </m:r>
                        </m:e>
                        <m:sub>
                          <m:r>
                            <a:rPr lang="en-US" b="1" i="1">
                              <a:effectLst/>
                              <a:latin typeface="Cambria Math" panose="02040503050406030204" pitchFamily="18" charset="0"/>
                              <a:ea typeface="Aptos" panose="020B0004020202020204" pitchFamily="34" charset="0"/>
                            </a:rPr>
                            <m:t>𝟐</m:t>
                          </m:r>
                        </m:sub>
                      </m:sSub>
                      <m:r>
                        <a:rPr lang="en-US" b="1">
                          <a:effectLst/>
                          <a:latin typeface="Cambria Math" panose="02040503050406030204" pitchFamily="18" charset="0"/>
                          <a:ea typeface="Aptos" panose="020B0004020202020204" pitchFamily="34" charset="0"/>
                        </a:rPr>
                        <m:t>+...+</m:t>
                      </m:r>
                      <m:sSub>
                        <m:sSubPr>
                          <m:ctrlPr>
                            <a:rPr lang="ru-RU" b="1" i="1">
                              <a:effectLst/>
                              <a:latin typeface="Cambria Math" panose="02040503050406030204" pitchFamily="18" charset="0"/>
                              <a:ea typeface="Aptos" panose="020B0004020202020204" pitchFamily="34" charset="0"/>
                            </a:rPr>
                          </m:ctrlPr>
                        </m:sSubPr>
                        <m:e>
                          <m:r>
                            <a:rPr lang="en-US" b="1" i="1">
                              <a:effectLst/>
                              <a:latin typeface="Cambria Math" panose="02040503050406030204" pitchFamily="18" charset="0"/>
                              <a:ea typeface="Aptos" panose="020B0004020202020204" pitchFamily="34" charset="0"/>
                            </a:rPr>
                            <m:t>𝒁</m:t>
                          </m:r>
                        </m:e>
                        <m:sub>
                          <m:r>
                            <a:rPr lang="en-US" b="1" i="1">
                              <a:effectLst/>
                              <a:latin typeface="Cambria Math" panose="02040503050406030204" pitchFamily="18" charset="0"/>
                              <a:ea typeface="Aptos" panose="020B0004020202020204" pitchFamily="34" charset="0"/>
                            </a:rPr>
                            <m:t>𝒏</m:t>
                          </m:r>
                        </m:sub>
                      </m:sSub>
                      <m:r>
                        <a:rPr lang="en-US" b="1" i="1">
                          <a:effectLst/>
                          <a:latin typeface="Cambria Math" panose="02040503050406030204" pitchFamily="18" charset="0"/>
                          <a:ea typeface="Aptos" panose="020B0004020202020204" pitchFamily="34" charset="0"/>
                        </a:rPr>
                        <m:t>.</m:t>
                      </m:r>
                    </m:oMath>
                  </m:oMathPara>
                </a14:m>
                <a:endParaRPr lang="ru-RU" dirty="0">
                  <a:effectLst/>
                  <a:latin typeface="Arial" panose="020B0604020202020204" pitchFamily="34" charset="0"/>
                  <a:ea typeface="Aptos" panose="020B0004020202020204" pitchFamily="34" charset="0"/>
                </a:endParaRPr>
              </a:p>
              <a:p>
                <a:pPr algn="just">
                  <a:lnSpc>
                    <a:spcPct val="120000"/>
                  </a:lnSpc>
                </a:pPr>
                <a:r>
                  <a:rPr lang="en-US" dirty="0">
                    <a:effectLst/>
                    <a:latin typeface="Arial" panose="020B0604020202020204" pitchFamily="34" charset="0"/>
                    <a:ea typeface="Aptos" panose="020B0004020202020204" pitchFamily="34" charset="0"/>
                  </a:rPr>
                  <a:t>Let's consider a practical example: a coil of wire. </a:t>
                </a:r>
              </a:p>
            </p:txBody>
          </p:sp>
        </mc:Choice>
        <mc:Fallback xmlns="">
          <p:sp>
            <p:nvSpPr>
              <p:cNvPr id="3" name="Объект 2">
                <a:extLst>
                  <a:ext uri="{FF2B5EF4-FFF2-40B4-BE49-F238E27FC236}">
                    <a16:creationId xmlns:a16="http://schemas.microsoft.com/office/drawing/2014/main" id="{A2A325D5-5C97-58C5-9E9A-04A7D97FC553}"/>
                  </a:ext>
                </a:extLst>
              </p:cNvPr>
              <p:cNvSpPr>
                <a:spLocks noGrp="1" noRot="1" noChangeAspect="1" noMove="1" noResize="1" noEditPoints="1" noAdjustHandles="1" noChangeArrowheads="1" noChangeShapeType="1" noTextEdit="1"/>
              </p:cNvSpPr>
              <p:nvPr>
                <p:ph idx="1"/>
              </p:nvPr>
            </p:nvSpPr>
            <p:spPr>
              <a:xfrm>
                <a:off x="838200" y="1781493"/>
                <a:ext cx="10515600" cy="4351338"/>
              </a:xfrm>
              <a:blipFill>
                <a:blip r:embed="rId2"/>
                <a:stretch>
                  <a:fillRect l="-1043" t="-560" r="-1159"/>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E859A8B3-6567-827E-C6D1-B8ECC9F46109}"/>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0F1958D7-1817-2468-52F0-3F743A8F61F9}"/>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4594C683-87BA-EF59-07EC-B4F01DF9F05C}"/>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38026943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721DC-85E9-E64C-CA8B-DC3CF1C91DC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D6A05555-733F-DD79-30F1-5288DCA03731}"/>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FCC9C98C-50E2-2060-89A1-179A8867C471}"/>
                  </a:ext>
                </a:extLst>
              </p:cNvPr>
              <p:cNvSpPr>
                <a:spLocks noGrp="1"/>
              </p:cNvSpPr>
              <p:nvPr>
                <p:ph idx="1"/>
              </p:nvPr>
            </p:nvSpPr>
            <p:spPr>
              <a:xfrm>
                <a:off x="838200" y="1781493"/>
                <a:ext cx="10515600" cy="4351338"/>
              </a:xfrm>
            </p:spPr>
            <p:txBody>
              <a:bodyPr>
                <a:noAutofit/>
              </a:bodyPr>
              <a:lstStyle/>
              <a:p>
                <a:pPr algn="just">
                  <a:lnSpc>
                    <a:spcPct val="120000"/>
                  </a:lnSpc>
                </a:pPr>
                <a:r>
                  <a:rPr lang="en-US" dirty="0">
                    <a:effectLst/>
                    <a:latin typeface="Arial" panose="020B0604020202020204" pitchFamily="34" charset="0"/>
                    <a:ea typeface="Aptos" panose="020B0004020202020204" pitchFamily="34" charset="0"/>
                  </a:rPr>
                  <a:t>Real wire has resistance, and the coil shape creates inductance. We model this as a resistor </a:t>
                </a:r>
                <a14:m>
                  <m:oMath xmlns:m="http://schemas.openxmlformats.org/officeDocument/2006/math">
                    <m:r>
                      <a:rPr lang="en-US" i="1">
                        <a:effectLst/>
                        <a:latin typeface="Cambria Math" panose="02040503050406030204" pitchFamily="18" charset="0"/>
                        <a:ea typeface="Aptos" panose="020B0004020202020204" pitchFamily="34" charset="0"/>
                      </a:rPr>
                      <m:t>𝑅</m:t>
                    </m:r>
                  </m:oMath>
                </a14:m>
                <a:r>
                  <a:rPr lang="en-US" dirty="0">
                    <a:effectLst/>
                    <a:latin typeface="Arial" panose="020B0604020202020204" pitchFamily="34" charset="0"/>
                    <a:ea typeface="Aptos" panose="020B0004020202020204" pitchFamily="34" charset="0"/>
                  </a:rPr>
                  <a:t> in series with an inductor </a:t>
                </a:r>
                <a14:m>
                  <m:oMath xmlns:m="http://schemas.openxmlformats.org/officeDocument/2006/math">
                    <m:r>
                      <a:rPr lang="en-US" i="1">
                        <a:effectLst/>
                        <a:latin typeface="Cambria Math" panose="02040503050406030204" pitchFamily="18" charset="0"/>
                        <a:ea typeface="Aptos" panose="020B0004020202020204" pitchFamily="34" charset="0"/>
                      </a:rPr>
                      <m:t>𝐿</m:t>
                    </m:r>
                  </m:oMath>
                </a14:m>
                <a:r>
                  <a:rPr lang="en-US" dirty="0">
                    <a:effectLst/>
                    <a:latin typeface="Arial" panose="020B0604020202020204" pitchFamily="34" charset="0"/>
                    <a:ea typeface="Aptos" panose="020B0004020202020204" pitchFamily="34" charset="0"/>
                  </a:rPr>
                  <a:t>. </a:t>
                </a:r>
                <a:endParaRPr lang="ru-RU" dirty="0">
                  <a:effectLst/>
                  <a:latin typeface="Arial" panose="020B0604020202020204" pitchFamily="34" charset="0"/>
                  <a:ea typeface="Aptos" panose="020B0004020202020204" pitchFamily="34" charset="0"/>
                </a:endParaRPr>
              </a:p>
              <a:p>
                <a:pPr algn="just">
                  <a:lnSpc>
                    <a:spcPct val="120000"/>
                  </a:lnSpc>
                </a:pPr>
                <a:r>
                  <a:rPr lang="en-US" b="1" dirty="0">
                    <a:effectLst/>
                    <a:latin typeface="Arial" panose="020B0604020202020204" pitchFamily="34" charset="0"/>
                    <a:ea typeface="Aptos" panose="020B0004020202020204" pitchFamily="34" charset="0"/>
                  </a:rPr>
                  <a:t>The total impedance of this series RL combination is:</a:t>
                </a:r>
                <a:r>
                  <a:rPr lang="en-US" dirty="0">
                    <a:effectLst/>
                    <a:latin typeface="Arial" panose="020B0604020202020204" pitchFamily="34" charset="0"/>
                    <a:ea typeface="Aptos" panose="020B0004020202020204" pitchFamily="34" charset="0"/>
                  </a:rPr>
                  <a:t> </a:t>
                </a:r>
                <a14:m>
                  <m:oMath xmlns:m="http://schemas.openxmlformats.org/officeDocument/2006/math">
                    <m:r>
                      <a:rPr lang="en-US" b="1" i="1">
                        <a:effectLst/>
                        <a:latin typeface="Cambria Math" panose="02040503050406030204" pitchFamily="18" charset="0"/>
                        <a:ea typeface="Aptos" panose="020B0004020202020204" pitchFamily="34" charset="0"/>
                      </a:rPr>
                      <m:t>𝒁</m:t>
                    </m:r>
                    <m:r>
                      <a:rPr lang="en-US" b="1">
                        <a:effectLst/>
                        <a:latin typeface="Cambria Math" panose="02040503050406030204" pitchFamily="18" charset="0"/>
                        <a:ea typeface="Aptos" panose="020B0004020202020204" pitchFamily="34" charset="0"/>
                      </a:rPr>
                      <m:t>=</m:t>
                    </m:r>
                    <m:r>
                      <a:rPr lang="en-US" b="1" i="1">
                        <a:effectLst/>
                        <a:latin typeface="Cambria Math" panose="02040503050406030204" pitchFamily="18" charset="0"/>
                        <a:ea typeface="Aptos" panose="020B0004020202020204" pitchFamily="34" charset="0"/>
                      </a:rPr>
                      <m:t>𝑹</m:t>
                    </m:r>
                    <m:r>
                      <a:rPr lang="en-US" b="1">
                        <a:effectLst/>
                        <a:latin typeface="Cambria Math" panose="02040503050406030204" pitchFamily="18" charset="0"/>
                        <a:ea typeface="Aptos" panose="020B0004020202020204" pitchFamily="34" charset="0"/>
                      </a:rPr>
                      <m:t>+</m:t>
                    </m:r>
                    <m:r>
                      <a:rPr lang="en-US" b="1" i="1">
                        <a:effectLst/>
                        <a:latin typeface="Cambria Math" panose="02040503050406030204" pitchFamily="18" charset="0"/>
                        <a:ea typeface="Aptos" panose="020B0004020202020204" pitchFamily="34" charset="0"/>
                      </a:rPr>
                      <m:t>𝒋</m:t>
                    </m:r>
                    <m:r>
                      <a:rPr lang="en-US" b="1" i="1">
                        <a:effectLst/>
                        <a:latin typeface="Cambria Math" panose="02040503050406030204" pitchFamily="18" charset="0"/>
                        <a:ea typeface="Aptos" panose="020B0004020202020204" pitchFamily="34" charset="0"/>
                      </a:rPr>
                      <m:t>𝝎</m:t>
                    </m:r>
                    <m:r>
                      <a:rPr lang="en-US" b="1" i="1">
                        <a:effectLst/>
                        <a:latin typeface="Cambria Math" panose="02040503050406030204" pitchFamily="18" charset="0"/>
                        <a:ea typeface="Aptos" panose="020B0004020202020204" pitchFamily="34" charset="0"/>
                      </a:rPr>
                      <m:t>𝑳</m:t>
                    </m:r>
                  </m:oMath>
                </a14:m>
                <a:r>
                  <a:rPr lang="en-US" dirty="0">
                    <a:effectLst/>
                    <a:latin typeface="Arial" panose="020B0604020202020204" pitchFamily="34" charset="0"/>
                    <a:ea typeface="Aptos" panose="020B0004020202020204" pitchFamily="34" charset="0"/>
                  </a:rPr>
                  <a:t>.</a:t>
                </a:r>
                <a:endParaRPr lang="ru-RU" dirty="0">
                  <a:effectLst/>
                  <a:latin typeface="Arial" panose="020B0604020202020204" pitchFamily="34" charset="0"/>
                  <a:ea typeface="Aptos" panose="020B0004020202020204" pitchFamily="34" charset="0"/>
                </a:endParaRPr>
              </a:p>
              <a:p>
                <a:pPr algn="just">
                  <a:lnSpc>
                    <a:spcPct val="120000"/>
                  </a:lnSpc>
                </a:pPr>
                <a:r>
                  <a:rPr lang="en-US" dirty="0">
                    <a:effectLst/>
                    <a:latin typeface="Arial" panose="020B0604020202020204" pitchFamily="34" charset="0"/>
                    <a:ea typeface="Aptos" panose="020B0004020202020204" pitchFamily="34" charset="0"/>
                  </a:rPr>
                  <a:t>To understand the physical meaning, we often convert this rectangular form into polar form: </a:t>
                </a:r>
                <a14:m>
                  <m:oMath xmlns:m="http://schemas.openxmlformats.org/officeDocument/2006/math">
                    <m:r>
                      <a:rPr lang="en-US" i="1">
                        <a:effectLst/>
                        <a:latin typeface="Cambria Math" panose="02040503050406030204" pitchFamily="18" charset="0"/>
                        <a:ea typeface="Aptos" panose="020B0004020202020204" pitchFamily="34" charset="0"/>
                      </a:rPr>
                      <m:t>𝑍</m:t>
                    </m:r>
                    <m:r>
                      <a:rPr lang="en-US">
                        <a:effectLst/>
                        <a:latin typeface="Cambria Math" panose="02040503050406030204" pitchFamily="18" charset="0"/>
                        <a:ea typeface="Aptos" panose="020B0004020202020204" pitchFamily="34" charset="0"/>
                      </a:rPr>
                      <m:t>=|</m:t>
                    </m:r>
                    <m:r>
                      <a:rPr lang="en-US" i="1">
                        <a:effectLst/>
                        <a:latin typeface="Cambria Math" panose="02040503050406030204" pitchFamily="18" charset="0"/>
                        <a:ea typeface="Aptos" panose="020B0004020202020204" pitchFamily="34" charset="0"/>
                      </a:rPr>
                      <m:t>𝑍</m:t>
                    </m:r>
                    <m:r>
                      <a:rPr lang="en-US">
                        <a:effectLst/>
                        <a:latin typeface="Cambria Math" panose="02040503050406030204" pitchFamily="18" charset="0"/>
                        <a:ea typeface="Aptos" panose="020B0004020202020204" pitchFamily="34" charset="0"/>
                      </a:rPr>
                      <m:t>|∠</m:t>
                    </m:r>
                    <m:r>
                      <a:rPr lang="en-US" i="1">
                        <a:effectLst/>
                        <a:latin typeface="Cambria Math" panose="02040503050406030204" pitchFamily="18" charset="0"/>
                        <a:ea typeface="Aptos" panose="020B0004020202020204" pitchFamily="34" charset="0"/>
                      </a:rPr>
                      <m:t>𝜙</m:t>
                    </m:r>
                  </m:oMath>
                </a14:m>
                <a:r>
                  <a:rPr lang="en-US" dirty="0">
                    <a:effectLst/>
                    <a:latin typeface="Arial" panose="020B0604020202020204" pitchFamily="34" charset="0"/>
                    <a:ea typeface="Aptos" panose="020B0004020202020204" pitchFamily="34" charset="0"/>
                  </a:rPr>
                  <a:t>.</a:t>
                </a:r>
                <a:endParaRPr lang="ru-RU" dirty="0">
                  <a:effectLst/>
                  <a:latin typeface="Arial" panose="020B0604020202020204" pitchFamily="34" charset="0"/>
                  <a:ea typeface="Aptos" panose="020B0004020202020204" pitchFamily="34" charset="0"/>
                </a:endParaRPr>
              </a:p>
            </p:txBody>
          </p:sp>
        </mc:Choice>
        <mc:Fallback xmlns="">
          <p:sp>
            <p:nvSpPr>
              <p:cNvPr id="3" name="Объект 2">
                <a:extLst>
                  <a:ext uri="{FF2B5EF4-FFF2-40B4-BE49-F238E27FC236}">
                    <a16:creationId xmlns:a16="http://schemas.microsoft.com/office/drawing/2014/main" id="{FCC9C98C-50E2-2060-89A1-179A8867C471}"/>
                  </a:ext>
                </a:extLst>
              </p:cNvPr>
              <p:cNvSpPr>
                <a:spLocks noGrp="1" noRot="1" noChangeAspect="1" noMove="1" noResize="1" noEditPoints="1" noAdjustHandles="1" noChangeArrowheads="1" noChangeShapeType="1" noTextEdit="1"/>
              </p:cNvSpPr>
              <p:nvPr>
                <p:ph idx="1"/>
              </p:nvPr>
            </p:nvSpPr>
            <p:spPr>
              <a:xfrm>
                <a:off x="838200" y="1781493"/>
                <a:ext cx="10515600" cy="4351338"/>
              </a:xfrm>
              <a:blipFill>
                <a:blip r:embed="rId2"/>
                <a:stretch>
                  <a:fillRect l="-1043" t="-560" r="-1159"/>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5D6AF627-ABF3-17AD-2F5C-A7889E60A4ED}"/>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675496DB-30D7-708A-DDBE-B17423C265AE}"/>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6EEF0600-2AB8-B951-EBF8-4B77BC719906}"/>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33058884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8C61A-EEF1-6AE7-7F0F-DD4F5AE23AC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38D25010-E5BF-FB85-6934-5E95D73934C6}"/>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B00B1455-714D-8E37-4467-6C0E26F40929}"/>
                  </a:ext>
                </a:extLst>
              </p:cNvPr>
              <p:cNvSpPr>
                <a:spLocks noGrp="1"/>
              </p:cNvSpPr>
              <p:nvPr>
                <p:ph idx="1"/>
              </p:nvPr>
            </p:nvSpPr>
            <p:spPr>
              <a:xfrm>
                <a:off x="838200" y="1781493"/>
                <a:ext cx="10515600" cy="4351338"/>
              </a:xfrm>
            </p:spPr>
            <p:txBody>
              <a:bodyPr>
                <a:noAutofit/>
              </a:bodyPr>
              <a:lstStyle/>
              <a:p>
                <a:r>
                  <a:rPr lang="en-US" b="1" dirty="0"/>
                  <a:t>The magnitude </a:t>
                </a:r>
                <a14:m>
                  <m:oMath xmlns:m="http://schemas.openxmlformats.org/officeDocument/2006/math">
                    <m:r>
                      <a:rPr lang="en-US" b="1">
                        <a:latin typeface="Cambria Math" panose="02040503050406030204" pitchFamily="18" charset="0"/>
                      </a:rPr>
                      <m:t>|</m:t>
                    </m:r>
                    <m:r>
                      <a:rPr lang="en-US" b="1" i="1">
                        <a:latin typeface="Cambria Math" panose="02040503050406030204" pitchFamily="18" charset="0"/>
                      </a:rPr>
                      <m:t>𝒁</m:t>
                    </m:r>
                    <m:r>
                      <a:rPr lang="en-US" b="1">
                        <a:latin typeface="Cambria Math" panose="02040503050406030204" pitchFamily="18" charset="0"/>
                      </a:rPr>
                      <m:t>|=</m:t>
                    </m:r>
                    <m:rad>
                      <m:radPr>
                        <m:degHide m:val="on"/>
                        <m:ctrlPr>
                          <a:rPr lang="ru-RU" b="1" i="1">
                            <a:latin typeface="Cambria Math" panose="02040503050406030204" pitchFamily="18" charset="0"/>
                          </a:rPr>
                        </m:ctrlPr>
                      </m:radPr>
                      <m:deg/>
                      <m:e>
                        <m:sSup>
                          <m:sSupPr>
                            <m:ctrlPr>
                              <a:rPr lang="ru-RU" b="1" i="1">
                                <a:latin typeface="Cambria Math" panose="02040503050406030204" pitchFamily="18" charset="0"/>
                              </a:rPr>
                            </m:ctrlPr>
                          </m:sSupPr>
                          <m:e>
                            <m:r>
                              <a:rPr lang="en-US" b="1" i="1">
                                <a:latin typeface="Cambria Math" panose="02040503050406030204" pitchFamily="18" charset="0"/>
                              </a:rPr>
                              <m:t>𝑹</m:t>
                            </m:r>
                          </m:e>
                          <m:sup>
                            <m:r>
                              <a:rPr lang="en-US" b="1" i="1">
                                <a:latin typeface="Cambria Math" panose="02040503050406030204" pitchFamily="18" charset="0"/>
                              </a:rPr>
                              <m:t>𝟐</m:t>
                            </m:r>
                          </m:sup>
                        </m:sSup>
                        <m:r>
                          <a:rPr lang="en-US" b="1">
                            <a:latin typeface="Cambria Math" panose="02040503050406030204" pitchFamily="18" charset="0"/>
                          </a:rPr>
                          <m:t>+(</m:t>
                        </m:r>
                        <m:r>
                          <a:rPr lang="en-US" b="1" i="1">
                            <a:latin typeface="Cambria Math" panose="02040503050406030204" pitchFamily="18" charset="0"/>
                          </a:rPr>
                          <m:t>𝝎</m:t>
                        </m:r>
                        <m:r>
                          <a:rPr lang="en-US" b="1" i="1">
                            <a:latin typeface="Cambria Math" panose="02040503050406030204" pitchFamily="18" charset="0"/>
                          </a:rPr>
                          <m:t>𝑳</m:t>
                        </m:r>
                        <m:sSup>
                          <m:sSupPr>
                            <m:ctrlPr>
                              <a:rPr lang="ru-RU" b="1" i="1">
                                <a:latin typeface="Cambria Math" panose="02040503050406030204" pitchFamily="18" charset="0"/>
                              </a:rPr>
                            </m:ctrlPr>
                          </m:sSupPr>
                          <m:e>
                            <m:r>
                              <a:rPr lang="en-US" b="1">
                                <a:latin typeface="Cambria Math" panose="02040503050406030204" pitchFamily="18" charset="0"/>
                              </a:rPr>
                              <m:t>)</m:t>
                            </m:r>
                          </m:e>
                          <m:sup>
                            <m:r>
                              <a:rPr lang="en-US" b="1" i="1">
                                <a:latin typeface="Cambria Math" panose="02040503050406030204" pitchFamily="18" charset="0"/>
                              </a:rPr>
                              <m:t>𝟐</m:t>
                            </m:r>
                          </m:sup>
                        </m:sSup>
                      </m:e>
                    </m:rad>
                  </m:oMath>
                </a14:m>
                <a:r>
                  <a:rPr lang="en-US" b="1" dirty="0"/>
                  <a:t> tells us the ratio of voltage amplitude to current amplitude. </a:t>
                </a:r>
                <a:endParaRPr lang="ru-RU" dirty="0"/>
              </a:p>
              <a:p>
                <a:r>
                  <a:rPr lang="en-US" b="1" dirty="0"/>
                  <a:t>The angle </a:t>
                </a:r>
                <a14:m>
                  <m:oMath xmlns:m="http://schemas.openxmlformats.org/officeDocument/2006/math">
                    <m:r>
                      <a:rPr lang="en-US" b="1" i="1">
                        <a:latin typeface="Cambria Math" panose="02040503050406030204" pitchFamily="18" charset="0"/>
                      </a:rPr>
                      <m:t>𝝓</m:t>
                    </m:r>
                    <m:r>
                      <a:rPr lang="en-US" b="1">
                        <a:latin typeface="Cambria Math" panose="02040503050406030204" pitchFamily="18" charset="0"/>
                      </a:rPr>
                      <m:t>=</m:t>
                    </m:r>
                    <m:r>
                      <a:rPr lang="en-US" b="1" i="1">
                        <a:latin typeface="Cambria Math" panose="02040503050406030204" pitchFamily="18" charset="0"/>
                      </a:rPr>
                      <m:t>𝐚𝐫𝐜𝐭𝐚𝐧</m:t>
                    </m:r>
                    <m:r>
                      <a:rPr lang="en-US" b="1">
                        <a:latin typeface="Cambria Math" panose="02040503050406030204" pitchFamily="18" charset="0"/>
                      </a:rPr>
                      <m:t>(</m:t>
                    </m:r>
                    <m:f>
                      <m:fPr>
                        <m:ctrlPr>
                          <a:rPr lang="ru-RU" b="1" i="1">
                            <a:latin typeface="Cambria Math" panose="02040503050406030204" pitchFamily="18" charset="0"/>
                          </a:rPr>
                        </m:ctrlPr>
                      </m:fPr>
                      <m:num>
                        <m:r>
                          <a:rPr lang="en-US" b="1" i="1">
                            <a:latin typeface="Cambria Math" panose="02040503050406030204" pitchFamily="18" charset="0"/>
                          </a:rPr>
                          <m:t>𝝎</m:t>
                        </m:r>
                        <m:r>
                          <a:rPr lang="en-US" b="1" i="1">
                            <a:latin typeface="Cambria Math" panose="02040503050406030204" pitchFamily="18" charset="0"/>
                          </a:rPr>
                          <m:t>𝑳</m:t>
                        </m:r>
                      </m:num>
                      <m:den>
                        <m:r>
                          <a:rPr lang="en-US" b="1" i="1">
                            <a:latin typeface="Cambria Math" panose="02040503050406030204" pitchFamily="18" charset="0"/>
                          </a:rPr>
                          <m:t>𝑹</m:t>
                        </m:r>
                      </m:den>
                    </m:f>
                    <m:r>
                      <a:rPr lang="en-US" b="1">
                        <a:latin typeface="Cambria Math" panose="02040503050406030204" pitchFamily="18" charset="0"/>
                      </a:rPr>
                      <m:t>)</m:t>
                    </m:r>
                  </m:oMath>
                </a14:m>
                <a:r>
                  <a:rPr lang="en-US" b="1" dirty="0"/>
                  <a:t> tells us the phase shift–how much the voltage leads the current.</a:t>
                </a:r>
              </a:p>
              <a:p>
                <a:r>
                  <a:rPr lang="en-US" dirty="0"/>
                  <a:t>On the next slide you can see an illustration of the impedance of a circuit consisting of resistors, inductors and capacitors. </a:t>
                </a:r>
              </a:p>
              <a:p>
                <a:r>
                  <a:rPr lang="en-US" dirty="0"/>
                  <a:t>As you will see, the impedance can be calculated by vector addition. </a:t>
                </a:r>
                <a:endParaRPr lang="ru-RU" dirty="0"/>
              </a:p>
            </p:txBody>
          </p:sp>
        </mc:Choice>
        <mc:Fallback xmlns="">
          <p:sp>
            <p:nvSpPr>
              <p:cNvPr id="3" name="Объект 2">
                <a:extLst>
                  <a:ext uri="{FF2B5EF4-FFF2-40B4-BE49-F238E27FC236}">
                    <a16:creationId xmlns:a16="http://schemas.microsoft.com/office/drawing/2014/main" id="{B00B1455-714D-8E37-4467-6C0E26F40929}"/>
                  </a:ext>
                </a:extLst>
              </p:cNvPr>
              <p:cNvSpPr>
                <a:spLocks noGrp="1" noRot="1" noChangeAspect="1" noMove="1" noResize="1" noEditPoints="1" noAdjustHandles="1" noChangeArrowheads="1" noChangeShapeType="1" noTextEdit="1"/>
              </p:cNvSpPr>
              <p:nvPr>
                <p:ph idx="1"/>
              </p:nvPr>
            </p:nvSpPr>
            <p:spPr>
              <a:xfrm>
                <a:off x="838200" y="1781493"/>
                <a:ext cx="10515600" cy="4351338"/>
              </a:xfrm>
              <a:blipFill>
                <a:blip r:embed="rId2"/>
                <a:stretch>
                  <a:fillRect l="-1043" t="-560" r="-928"/>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E5263C4A-C111-DEA5-AF10-FF7C29D2D7E1}"/>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C35D6B3C-F245-0379-C1AB-1C2A15D2CFD6}"/>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5B26FD25-2A99-AA80-EDAD-47868F5F2618}"/>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28448665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C1A43-8F7E-EF75-6BCF-9A7599965E8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A50146F-2582-754D-A690-BEA844C5A606}"/>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5CB7D156-A626-172C-65D0-350C3C1C1181}"/>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60442DE8-E85B-799C-C1AA-CED3B3972E9C}"/>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6C000CD1-6B2C-DCF2-6F95-A232EE489825}"/>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pic>
        <p:nvPicPr>
          <p:cNvPr id="7" name="Объект 6">
            <a:extLst>
              <a:ext uri="{FF2B5EF4-FFF2-40B4-BE49-F238E27FC236}">
                <a16:creationId xmlns:a16="http://schemas.microsoft.com/office/drawing/2014/main" id="{D514D073-5680-2EBA-34E8-7FD595CF8E39}"/>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0111791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11005-93D4-2C48-EC40-75545C2A4C5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AD507B4-8536-EBDD-F35F-2252CD1A4282}"/>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039A4614-EA86-A93C-D4AA-3E9DACCDF484}"/>
                  </a:ext>
                </a:extLst>
              </p:cNvPr>
              <p:cNvSpPr>
                <a:spLocks noGrp="1"/>
              </p:cNvSpPr>
              <p:nvPr>
                <p:ph idx="1"/>
              </p:nvPr>
            </p:nvSpPr>
            <p:spPr>
              <a:xfrm>
                <a:off x="838200" y="1781493"/>
                <a:ext cx="10515600" cy="4351338"/>
              </a:xfrm>
            </p:spPr>
            <p:txBody>
              <a:bodyPr>
                <a:noAutofit/>
              </a:bodyPr>
              <a:lstStyle/>
              <a:p>
                <a:pPr algn="just">
                  <a:lnSpc>
                    <a:spcPct val="120000"/>
                  </a:lnSpc>
                </a:pPr>
                <a:r>
                  <a:rPr lang="en-US" b="1" dirty="0">
                    <a:effectLst/>
                    <a:latin typeface="Arial" panose="020B0604020202020204" pitchFamily="34" charset="0"/>
                    <a:ea typeface="Aptos" panose="020B0004020202020204" pitchFamily="34" charset="0"/>
                  </a:rPr>
                  <a:t>Impedances connected in parallel follow the reciprocal rule, identical to DC resistors. </a:t>
                </a:r>
                <a:endParaRPr lang="ru-RU" b="1" dirty="0">
                  <a:effectLst/>
                  <a:latin typeface="Arial" panose="020B0604020202020204" pitchFamily="34" charset="0"/>
                  <a:ea typeface="Aptos" panose="020B0004020202020204" pitchFamily="34" charset="0"/>
                </a:endParaRPr>
              </a:p>
              <a:p>
                <a:pPr marL="0" indent="0" algn="just">
                  <a:lnSpc>
                    <a:spcPct val="120000"/>
                  </a:lnSpc>
                  <a:buNone/>
                </a:pPr>
                <a14:m>
                  <m:oMathPara xmlns:m="http://schemas.openxmlformats.org/officeDocument/2006/math">
                    <m:oMathParaPr>
                      <m:jc m:val="centerGroup"/>
                    </m:oMathParaPr>
                    <m:oMath xmlns:m="http://schemas.openxmlformats.org/officeDocument/2006/math">
                      <m:f>
                        <m:fPr>
                          <m:ctrlPr>
                            <a:rPr lang="ru-RU" b="1" i="1">
                              <a:effectLst/>
                              <a:latin typeface="Cambria Math" panose="02040503050406030204" pitchFamily="18" charset="0"/>
                              <a:ea typeface="Aptos" panose="020B0004020202020204" pitchFamily="34" charset="0"/>
                            </a:rPr>
                          </m:ctrlPr>
                        </m:fPr>
                        <m:num>
                          <m:r>
                            <a:rPr lang="en-US" b="1" i="1" smtClean="0">
                              <a:effectLst/>
                              <a:latin typeface="Cambria Math" panose="02040503050406030204" pitchFamily="18" charset="0"/>
                              <a:ea typeface="Aptos" panose="020B0004020202020204" pitchFamily="34" charset="0"/>
                            </a:rPr>
                            <m:t>𝟏</m:t>
                          </m:r>
                        </m:num>
                        <m:den>
                          <m:sSub>
                            <m:sSubPr>
                              <m:ctrlPr>
                                <a:rPr lang="ru-RU" b="1" i="1">
                                  <a:effectLst/>
                                  <a:latin typeface="Cambria Math" panose="02040503050406030204" pitchFamily="18" charset="0"/>
                                  <a:ea typeface="Aptos" panose="020B0004020202020204" pitchFamily="34" charset="0"/>
                                </a:rPr>
                              </m:ctrlPr>
                            </m:sSubPr>
                            <m:e>
                              <m:r>
                                <a:rPr lang="en-US" b="1" i="1" smtClean="0">
                                  <a:effectLst/>
                                  <a:latin typeface="Cambria Math" panose="02040503050406030204" pitchFamily="18" charset="0"/>
                                  <a:ea typeface="Aptos" panose="020B0004020202020204" pitchFamily="34" charset="0"/>
                                </a:rPr>
                                <m:t>𝒁</m:t>
                              </m:r>
                            </m:e>
                            <m:sub>
                              <m:r>
                                <a:rPr lang="en-US" b="1" i="1" smtClean="0">
                                  <a:effectLst/>
                                  <a:latin typeface="Cambria Math" panose="02040503050406030204" pitchFamily="18" charset="0"/>
                                  <a:ea typeface="Aptos" panose="020B0004020202020204" pitchFamily="34" charset="0"/>
                                </a:rPr>
                                <m:t>𝒆𝒒</m:t>
                              </m:r>
                            </m:sub>
                          </m:sSub>
                        </m:den>
                      </m:f>
                      <m:r>
                        <a:rPr lang="en-US" b="1" smtClean="0">
                          <a:effectLst/>
                          <a:latin typeface="Cambria Math" panose="02040503050406030204" pitchFamily="18" charset="0"/>
                          <a:ea typeface="Aptos" panose="020B0004020202020204" pitchFamily="34" charset="0"/>
                        </a:rPr>
                        <m:t>=</m:t>
                      </m:r>
                      <m:f>
                        <m:fPr>
                          <m:ctrlPr>
                            <a:rPr lang="ru-RU" b="1" i="1">
                              <a:effectLst/>
                              <a:latin typeface="Cambria Math" panose="02040503050406030204" pitchFamily="18" charset="0"/>
                              <a:ea typeface="Aptos" panose="020B0004020202020204" pitchFamily="34" charset="0"/>
                            </a:rPr>
                          </m:ctrlPr>
                        </m:fPr>
                        <m:num>
                          <m:r>
                            <a:rPr lang="en-US" b="1" i="1" smtClean="0">
                              <a:effectLst/>
                              <a:latin typeface="Cambria Math" panose="02040503050406030204" pitchFamily="18" charset="0"/>
                              <a:ea typeface="Aptos" panose="020B0004020202020204" pitchFamily="34" charset="0"/>
                            </a:rPr>
                            <m:t>𝟏</m:t>
                          </m:r>
                        </m:num>
                        <m:den>
                          <m:sSub>
                            <m:sSubPr>
                              <m:ctrlPr>
                                <a:rPr lang="ru-RU" b="1" i="1">
                                  <a:effectLst/>
                                  <a:latin typeface="Cambria Math" panose="02040503050406030204" pitchFamily="18" charset="0"/>
                                  <a:ea typeface="Aptos" panose="020B0004020202020204" pitchFamily="34" charset="0"/>
                                </a:rPr>
                              </m:ctrlPr>
                            </m:sSubPr>
                            <m:e>
                              <m:r>
                                <a:rPr lang="en-US" b="1" i="1" smtClean="0">
                                  <a:effectLst/>
                                  <a:latin typeface="Cambria Math" panose="02040503050406030204" pitchFamily="18" charset="0"/>
                                  <a:ea typeface="Aptos" panose="020B0004020202020204" pitchFamily="34" charset="0"/>
                                </a:rPr>
                                <m:t>𝒁</m:t>
                              </m:r>
                            </m:e>
                            <m:sub>
                              <m:r>
                                <a:rPr lang="en-US" b="1" i="1" smtClean="0">
                                  <a:effectLst/>
                                  <a:latin typeface="Cambria Math" panose="02040503050406030204" pitchFamily="18" charset="0"/>
                                  <a:ea typeface="Aptos" panose="020B0004020202020204" pitchFamily="34" charset="0"/>
                                </a:rPr>
                                <m:t>𝟏</m:t>
                              </m:r>
                            </m:sub>
                          </m:sSub>
                        </m:den>
                      </m:f>
                      <m:r>
                        <a:rPr lang="en-US" b="1" smtClean="0">
                          <a:effectLst/>
                          <a:latin typeface="Cambria Math" panose="02040503050406030204" pitchFamily="18" charset="0"/>
                          <a:ea typeface="Aptos" panose="020B0004020202020204" pitchFamily="34" charset="0"/>
                        </a:rPr>
                        <m:t>+</m:t>
                      </m:r>
                      <m:f>
                        <m:fPr>
                          <m:ctrlPr>
                            <a:rPr lang="ru-RU" b="1" i="1">
                              <a:effectLst/>
                              <a:latin typeface="Cambria Math" panose="02040503050406030204" pitchFamily="18" charset="0"/>
                              <a:ea typeface="Aptos" panose="020B0004020202020204" pitchFamily="34" charset="0"/>
                            </a:rPr>
                          </m:ctrlPr>
                        </m:fPr>
                        <m:num>
                          <m:r>
                            <a:rPr lang="en-US" b="1" i="1" smtClean="0">
                              <a:effectLst/>
                              <a:latin typeface="Cambria Math" panose="02040503050406030204" pitchFamily="18" charset="0"/>
                              <a:ea typeface="Aptos" panose="020B0004020202020204" pitchFamily="34" charset="0"/>
                            </a:rPr>
                            <m:t>𝟏</m:t>
                          </m:r>
                        </m:num>
                        <m:den>
                          <m:sSub>
                            <m:sSubPr>
                              <m:ctrlPr>
                                <a:rPr lang="ru-RU" b="1" i="1">
                                  <a:effectLst/>
                                  <a:latin typeface="Cambria Math" panose="02040503050406030204" pitchFamily="18" charset="0"/>
                                  <a:ea typeface="Aptos" panose="020B0004020202020204" pitchFamily="34" charset="0"/>
                                </a:rPr>
                              </m:ctrlPr>
                            </m:sSubPr>
                            <m:e>
                              <m:r>
                                <a:rPr lang="en-US" b="1" i="1" smtClean="0">
                                  <a:effectLst/>
                                  <a:latin typeface="Cambria Math" panose="02040503050406030204" pitchFamily="18" charset="0"/>
                                  <a:ea typeface="Aptos" panose="020B0004020202020204" pitchFamily="34" charset="0"/>
                                </a:rPr>
                                <m:t>𝒁</m:t>
                              </m:r>
                            </m:e>
                            <m:sub>
                              <m:r>
                                <a:rPr lang="en-US" b="1" i="1" smtClean="0">
                                  <a:effectLst/>
                                  <a:latin typeface="Cambria Math" panose="02040503050406030204" pitchFamily="18" charset="0"/>
                                  <a:ea typeface="Aptos" panose="020B0004020202020204" pitchFamily="34" charset="0"/>
                                </a:rPr>
                                <m:t>𝟐</m:t>
                              </m:r>
                            </m:sub>
                          </m:sSub>
                        </m:den>
                      </m:f>
                      <m:r>
                        <a:rPr lang="en-US" b="1" smtClean="0">
                          <a:effectLst/>
                          <a:latin typeface="Cambria Math" panose="02040503050406030204" pitchFamily="18" charset="0"/>
                          <a:ea typeface="Aptos" panose="020B0004020202020204" pitchFamily="34" charset="0"/>
                        </a:rPr>
                        <m:t>+...</m:t>
                      </m:r>
                    </m:oMath>
                  </m:oMathPara>
                </a14:m>
                <a:endParaRPr lang="ru-RU" b="1" dirty="0">
                  <a:effectLst/>
                  <a:latin typeface="Arial" panose="020B0604020202020204" pitchFamily="34" charset="0"/>
                  <a:ea typeface="Aptos" panose="020B0004020202020204" pitchFamily="34" charset="0"/>
                </a:endParaRPr>
              </a:p>
              <a:p>
                <a:pPr algn="just">
                  <a:lnSpc>
                    <a:spcPct val="120000"/>
                  </a:lnSpc>
                </a:pPr>
                <a:r>
                  <a:rPr lang="en-US" b="1" dirty="0">
                    <a:effectLst/>
                    <a:latin typeface="Arial" panose="020B0604020202020204" pitchFamily="34" charset="0"/>
                    <a:ea typeface="Aptos" panose="020B0004020202020204" pitchFamily="34" charset="0"/>
                  </a:rPr>
                  <a:t>Or, for two impedances in parallel: </a:t>
                </a:r>
                <a:endParaRPr lang="ru-RU" b="1" dirty="0">
                  <a:effectLst/>
                  <a:latin typeface="Arial" panose="020B0604020202020204" pitchFamily="34" charset="0"/>
                  <a:ea typeface="Aptos" panose="020B0004020202020204" pitchFamily="34" charset="0"/>
                </a:endParaRPr>
              </a:p>
              <a:p>
                <a:pPr marL="0" indent="0" algn="just">
                  <a:lnSpc>
                    <a:spcPct val="120000"/>
                  </a:lnSpc>
                  <a:buNone/>
                </a:pPr>
                <a14:m>
                  <m:oMathPara xmlns:m="http://schemas.openxmlformats.org/officeDocument/2006/math">
                    <m:oMathParaPr>
                      <m:jc m:val="centerGroup"/>
                    </m:oMathParaPr>
                    <m:oMath xmlns:m="http://schemas.openxmlformats.org/officeDocument/2006/math">
                      <m:sSub>
                        <m:sSubPr>
                          <m:ctrlPr>
                            <a:rPr lang="ru-RU" b="1" i="1">
                              <a:effectLst/>
                              <a:latin typeface="Cambria Math" panose="02040503050406030204" pitchFamily="18" charset="0"/>
                              <a:ea typeface="Aptos" panose="020B0004020202020204" pitchFamily="34" charset="0"/>
                            </a:rPr>
                          </m:ctrlPr>
                        </m:sSubPr>
                        <m:e>
                          <m:r>
                            <a:rPr lang="en-US" b="1" i="1" smtClean="0">
                              <a:effectLst/>
                              <a:latin typeface="Cambria Math" panose="02040503050406030204" pitchFamily="18" charset="0"/>
                              <a:ea typeface="Aptos" panose="020B0004020202020204" pitchFamily="34" charset="0"/>
                            </a:rPr>
                            <m:t>𝒁</m:t>
                          </m:r>
                        </m:e>
                        <m:sub>
                          <m:r>
                            <a:rPr lang="en-US" b="1" i="1" smtClean="0">
                              <a:effectLst/>
                              <a:latin typeface="Cambria Math" panose="02040503050406030204" pitchFamily="18" charset="0"/>
                              <a:ea typeface="Aptos" panose="020B0004020202020204" pitchFamily="34" charset="0"/>
                            </a:rPr>
                            <m:t>𝒆𝒒</m:t>
                          </m:r>
                        </m:sub>
                      </m:sSub>
                      <m:r>
                        <a:rPr lang="en-US" b="1" smtClean="0">
                          <a:effectLst/>
                          <a:latin typeface="Cambria Math" panose="02040503050406030204" pitchFamily="18" charset="0"/>
                          <a:ea typeface="Aptos" panose="020B0004020202020204" pitchFamily="34" charset="0"/>
                        </a:rPr>
                        <m:t>=</m:t>
                      </m:r>
                      <m:f>
                        <m:fPr>
                          <m:ctrlPr>
                            <a:rPr lang="ru-RU" b="1" i="1">
                              <a:effectLst/>
                              <a:latin typeface="Cambria Math" panose="02040503050406030204" pitchFamily="18" charset="0"/>
                              <a:ea typeface="Aptos" panose="020B0004020202020204" pitchFamily="34" charset="0"/>
                            </a:rPr>
                          </m:ctrlPr>
                        </m:fPr>
                        <m:num>
                          <m:sSub>
                            <m:sSubPr>
                              <m:ctrlPr>
                                <a:rPr lang="ru-RU" b="1" i="1">
                                  <a:effectLst/>
                                  <a:latin typeface="Cambria Math" panose="02040503050406030204" pitchFamily="18" charset="0"/>
                                  <a:ea typeface="Aptos" panose="020B0004020202020204" pitchFamily="34" charset="0"/>
                                </a:rPr>
                              </m:ctrlPr>
                            </m:sSubPr>
                            <m:e>
                              <m:r>
                                <a:rPr lang="en-US" b="1" i="1" smtClean="0">
                                  <a:effectLst/>
                                  <a:latin typeface="Cambria Math" panose="02040503050406030204" pitchFamily="18" charset="0"/>
                                  <a:ea typeface="Aptos" panose="020B0004020202020204" pitchFamily="34" charset="0"/>
                                </a:rPr>
                                <m:t>𝒁</m:t>
                              </m:r>
                            </m:e>
                            <m:sub>
                              <m:r>
                                <a:rPr lang="en-US" b="1" i="1" smtClean="0">
                                  <a:effectLst/>
                                  <a:latin typeface="Cambria Math" panose="02040503050406030204" pitchFamily="18" charset="0"/>
                                  <a:ea typeface="Aptos" panose="020B0004020202020204" pitchFamily="34" charset="0"/>
                                </a:rPr>
                                <m:t>𝟏</m:t>
                              </m:r>
                            </m:sub>
                          </m:sSub>
                          <m:sSub>
                            <m:sSubPr>
                              <m:ctrlPr>
                                <a:rPr lang="ru-RU" b="1" i="1">
                                  <a:effectLst/>
                                  <a:latin typeface="Cambria Math" panose="02040503050406030204" pitchFamily="18" charset="0"/>
                                  <a:ea typeface="Aptos" panose="020B0004020202020204" pitchFamily="34" charset="0"/>
                                </a:rPr>
                              </m:ctrlPr>
                            </m:sSubPr>
                            <m:e>
                              <m:r>
                                <a:rPr lang="en-US" b="1" i="1" smtClean="0">
                                  <a:effectLst/>
                                  <a:latin typeface="Cambria Math" panose="02040503050406030204" pitchFamily="18" charset="0"/>
                                  <a:ea typeface="Aptos" panose="020B0004020202020204" pitchFamily="34" charset="0"/>
                                </a:rPr>
                                <m:t>𝒁</m:t>
                              </m:r>
                            </m:e>
                            <m:sub>
                              <m:r>
                                <a:rPr lang="en-US" b="1" i="1" smtClean="0">
                                  <a:effectLst/>
                                  <a:latin typeface="Cambria Math" panose="02040503050406030204" pitchFamily="18" charset="0"/>
                                  <a:ea typeface="Aptos" panose="020B0004020202020204" pitchFamily="34" charset="0"/>
                                </a:rPr>
                                <m:t>𝟐</m:t>
                              </m:r>
                            </m:sub>
                          </m:sSub>
                        </m:num>
                        <m:den>
                          <m:sSub>
                            <m:sSubPr>
                              <m:ctrlPr>
                                <a:rPr lang="ru-RU" b="1" i="1">
                                  <a:effectLst/>
                                  <a:latin typeface="Cambria Math" panose="02040503050406030204" pitchFamily="18" charset="0"/>
                                  <a:ea typeface="Aptos" panose="020B0004020202020204" pitchFamily="34" charset="0"/>
                                </a:rPr>
                              </m:ctrlPr>
                            </m:sSubPr>
                            <m:e>
                              <m:r>
                                <a:rPr lang="en-US" b="1" i="1" smtClean="0">
                                  <a:effectLst/>
                                  <a:latin typeface="Cambria Math" panose="02040503050406030204" pitchFamily="18" charset="0"/>
                                  <a:ea typeface="Aptos" panose="020B0004020202020204" pitchFamily="34" charset="0"/>
                                </a:rPr>
                                <m:t>𝒁</m:t>
                              </m:r>
                            </m:e>
                            <m:sub>
                              <m:r>
                                <a:rPr lang="en-US" b="1" i="1" smtClean="0">
                                  <a:effectLst/>
                                  <a:latin typeface="Cambria Math" panose="02040503050406030204" pitchFamily="18" charset="0"/>
                                  <a:ea typeface="Aptos" panose="020B0004020202020204" pitchFamily="34" charset="0"/>
                                </a:rPr>
                                <m:t>𝟏</m:t>
                              </m:r>
                            </m:sub>
                          </m:sSub>
                          <m:r>
                            <a:rPr lang="en-US" b="1" smtClean="0">
                              <a:effectLst/>
                              <a:latin typeface="Cambria Math" panose="02040503050406030204" pitchFamily="18" charset="0"/>
                              <a:ea typeface="Aptos" panose="020B0004020202020204" pitchFamily="34" charset="0"/>
                            </a:rPr>
                            <m:t>+</m:t>
                          </m:r>
                          <m:sSub>
                            <m:sSubPr>
                              <m:ctrlPr>
                                <a:rPr lang="ru-RU" b="1" i="1">
                                  <a:effectLst/>
                                  <a:latin typeface="Cambria Math" panose="02040503050406030204" pitchFamily="18" charset="0"/>
                                  <a:ea typeface="Aptos" panose="020B0004020202020204" pitchFamily="34" charset="0"/>
                                </a:rPr>
                              </m:ctrlPr>
                            </m:sSubPr>
                            <m:e>
                              <m:r>
                                <a:rPr lang="en-US" b="1" i="1" smtClean="0">
                                  <a:effectLst/>
                                  <a:latin typeface="Cambria Math" panose="02040503050406030204" pitchFamily="18" charset="0"/>
                                  <a:ea typeface="Aptos" panose="020B0004020202020204" pitchFamily="34" charset="0"/>
                                </a:rPr>
                                <m:t>𝒁</m:t>
                              </m:r>
                            </m:e>
                            <m:sub>
                              <m:r>
                                <a:rPr lang="en-US" b="1" i="1" smtClean="0">
                                  <a:effectLst/>
                                  <a:latin typeface="Cambria Math" panose="02040503050406030204" pitchFamily="18" charset="0"/>
                                  <a:ea typeface="Aptos" panose="020B0004020202020204" pitchFamily="34" charset="0"/>
                                </a:rPr>
                                <m:t>𝟐</m:t>
                              </m:r>
                            </m:sub>
                          </m:sSub>
                        </m:den>
                      </m:f>
                      <m:r>
                        <a:rPr lang="en-US" b="1" i="1" smtClean="0">
                          <a:effectLst/>
                          <a:latin typeface="Cambria Math" panose="02040503050406030204" pitchFamily="18" charset="0"/>
                          <a:ea typeface="Times New Roman" panose="02020603050405020304" pitchFamily="18" charset="0"/>
                        </a:rPr>
                        <m:t>.</m:t>
                      </m:r>
                    </m:oMath>
                  </m:oMathPara>
                </a14:m>
                <a:endParaRPr lang="ru-RU" b="1" dirty="0">
                  <a:effectLst/>
                  <a:latin typeface="Arial" panose="020B0604020202020204" pitchFamily="34" charset="0"/>
                  <a:ea typeface="Aptos" panose="020B0004020202020204" pitchFamily="34" charset="0"/>
                </a:endParaRPr>
              </a:p>
            </p:txBody>
          </p:sp>
        </mc:Choice>
        <mc:Fallback xmlns="">
          <p:sp>
            <p:nvSpPr>
              <p:cNvPr id="3" name="Объект 2">
                <a:extLst>
                  <a:ext uri="{FF2B5EF4-FFF2-40B4-BE49-F238E27FC236}">
                    <a16:creationId xmlns:a16="http://schemas.microsoft.com/office/drawing/2014/main" id="{039A4614-EA86-A93C-D4AA-3E9DACCDF484}"/>
                  </a:ext>
                </a:extLst>
              </p:cNvPr>
              <p:cNvSpPr>
                <a:spLocks noGrp="1" noRot="1" noChangeAspect="1" noMove="1" noResize="1" noEditPoints="1" noAdjustHandles="1" noChangeArrowheads="1" noChangeShapeType="1" noTextEdit="1"/>
              </p:cNvSpPr>
              <p:nvPr>
                <p:ph idx="1"/>
              </p:nvPr>
            </p:nvSpPr>
            <p:spPr>
              <a:xfrm>
                <a:off x="838200" y="1781493"/>
                <a:ext cx="10515600" cy="4351338"/>
              </a:xfrm>
              <a:blipFill>
                <a:blip r:embed="rId2"/>
                <a:stretch>
                  <a:fillRect l="-1043" t="-560" r="-1159"/>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466A56F1-C3BE-0790-2197-E2D3BB156191}"/>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E83243AB-D3EB-9533-1E9A-FB64340350F0}"/>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A556AB36-412B-C9D2-9AAB-6936EA314769}"/>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30624179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1A6A5-67F3-3B69-F6A2-D8C9BA44F8B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8585D66-D378-0D01-A4FC-0D31E7216883}"/>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D3C3EA24-36B6-9F17-CC6F-343597B672FC}"/>
                  </a:ext>
                </a:extLst>
              </p:cNvPr>
              <p:cNvSpPr>
                <a:spLocks noGrp="1"/>
              </p:cNvSpPr>
              <p:nvPr>
                <p:ph idx="1"/>
              </p:nvPr>
            </p:nvSpPr>
            <p:spPr>
              <a:xfrm>
                <a:off x="838200" y="1781493"/>
                <a:ext cx="10515600" cy="4351338"/>
              </a:xfrm>
            </p:spPr>
            <p:txBody>
              <a:bodyPr>
                <a:noAutofit/>
              </a:bodyPr>
              <a:lstStyle/>
              <a:p>
                <a:pPr algn="just">
                  <a:lnSpc>
                    <a:spcPct val="120000"/>
                  </a:lnSpc>
                </a:pPr>
                <a:r>
                  <a:rPr lang="en-US" dirty="0">
                    <a:effectLst/>
                    <a:ea typeface="Aptos" panose="020B0004020202020204" pitchFamily="34" charset="0"/>
                  </a:rPr>
                  <a:t>Sometimes, it is mathematically convenient to work with the reciprocal of impedance. </a:t>
                </a:r>
              </a:p>
              <a:p>
                <a:pPr algn="just">
                  <a:lnSpc>
                    <a:spcPct val="120000"/>
                  </a:lnSpc>
                </a:pPr>
                <a:r>
                  <a:rPr lang="en-US" b="1" dirty="0">
                    <a:effectLst/>
                    <a:ea typeface="Aptos" panose="020B0004020202020204" pitchFamily="34" charset="0"/>
                  </a:rPr>
                  <a:t>We define «Admittance», denoted by </a:t>
                </a:r>
                <a14:m>
                  <m:oMath xmlns:m="http://schemas.openxmlformats.org/officeDocument/2006/math">
                    <m:r>
                      <a:rPr lang="en-US" b="1" i="1">
                        <a:effectLst/>
                        <a:latin typeface="Cambria Math" panose="02040503050406030204" pitchFamily="18" charset="0"/>
                        <a:ea typeface="Aptos" panose="020B0004020202020204" pitchFamily="34" charset="0"/>
                      </a:rPr>
                      <m:t>𝒀</m:t>
                    </m:r>
                  </m:oMath>
                </a14:m>
                <a:r>
                  <a:rPr lang="en-US" b="1" dirty="0">
                    <a:effectLst/>
                    <a:ea typeface="Aptos" panose="020B0004020202020204" pitchFamily="34" charset="0"/>
                  </a:rPr>
                  <a:t>, as the reciprocal of Impedance: </a:t>
                </a:r>
                <a14:m>
                  <m:oMath xmlns:m="http://schemas.openxmlformats.org/officeDocument/2006/math">
                    <m:r>
                      <a:rPr lang="en-US" b="1" i="1">
                        <a:effectLst/>
                        <a:latin typeface="Cambria Math" panose="02040503050406030204" pitchFamily="18" charset="0"/>
                        <a:ea typeface="Aptos" panose="020B0004020202020204" pitchFamily="34" charset="0"/>
                      </a:rPr>
                      <m:t>𝒀</m:t>
                    </m:r>
                    <m:r>
                      <a:rPr lang="en-US" b="1">
                        <a:effectLst/>
                        <a:latin typeface="Cambria Math" panose="02040503050406030204" pitchFamily="18" charset="0"/>
                        <a:ea typeface="Aptos" panose="020B0004020202020204" pitchFamily="34" charset="0"/>
                      </a:rPr>
                      <m:t>=</m:t>
                    </m:r>
                    <m:f>
                      <m:fPr>
                        <m:ctrlPr>
                          <a:rPr lang="ru-RU" b="1" i="1">
                            <a:effectLst/>
                            <a:latin typeface="Cambria Math" panose="02040503050406030204" pitchFamily="18" charset="0"/>
                            <a:ea typeface="Aptos" panose="020B0004020202020204" pitchFamily="34" charset="0"/>
                          </a:rPr>
                        </m:ctrlPr>
                      </m:fPr>
                      <m:num>
                        <m:r>
                          <a:rPr lang="en-US" b="1" i="1">
                            <a:effectLst/>
                            <a:latin typeface="Cambria Math" panose="02040503050406030204" pitchFamily="18" charset="0"/>
                            <a:ea typeface="Aptos" panose="020B0004020202020204" pitchFamily="34" charset="0"/>
                          </a:rPr>
                          <m:t>𝟏</m:t>
                        </m:r>
                      </m:num>
                      <m:den>
                        <m:r>
                          <a:rPr lang="en-US" b="1" i="1">
                            <a:effectLst/>
                            <a:latin typeface="Cambria Math" panose="02040503050406030204" pitchFamily="18" charset="0"/>
                            <a:ea typeface="Aptos" panose="020B0004020202020204" pitchFamily="34" charset="0"/>
                          </a:rPr>
                          <m:t>𝒁</m:t>
                        </m:r>
                      </m:den>
                    </m:f>
                    <m:r>
                      <a:rPr lang="en-US" b="1" i="1">
                        <a:effectLst/>
                        <a:latin typeface="Cambria Math" panose="02040503050406030204" pitchFamily="18" charset="0"/>
                        <a:ea typeface="Times New Roman" panose="02020603050405020304" pitchFamily="18" charset="0"/>
                      </a:rPr>
                      <m:t>.</m:t>
                    </m:r>
                  </m:oMath>
                </a14:m>
                <a:endParaRPr lang="ru-RU" b="1" dirty="0">
                  <a:effectLst/>
                  <a:ea typeface="Aptos" panose="020B0004020202020204" pitchFamily="34" charset="0"/>
                </a:endParaRPr>
              </a:p>
              <a:p>
                <a:pPr algn="just">
                  <a:lnSpc>
                    <a:spcPct val="120000"/>
                  </a:lnSpc>
                </a:pPr>
                <a:r>
                  <a:rPr lang="en-US" b="1" dirty="0">
                    <a:effectLst/>
                    <a:ea typeface="Aptos" panose="020B0004020202020204" pitchFamily="34" charset="0"/>
                  </a:rPr>
                  <a:t>Admittance is measured in Siemens (S). </a:t>
                </a:r>
                <a:endParaRPr lang="ru-RU" b="1" dirty="0">
                  <a:effectLst/>
                  <a:ea typeface="Aptos" panose="020B0004020202020204" pitchFamily="34" charset="0"/>
                </a:endParaRPr>
              </a:p>
            </p:txBody>
          </p:sp>
        </mc:Choice>
        <mc:Fallback xmlns="">
          <p:sp>
            <p:nvSpPr>
              <p:cNvPr id="3" name="Объект 2">
                <a:extLst>
                  <a:ext uri="{FF2B5EF4-FFF2-40B4-BE49-F238E27FC236}">
                    <a16:creationId xmlns:a16="http://schemas.microsoft.com/office/drawing/2014/main" id="{D3C3EA24-36B6-9F17-CC6F-343597B672FC}"/>
                  </a:ext>
                </a:extLst>
              </p:cNvPr>
              <p:cNvSpPr>
                <a:spLocks noGrp="1" noRot="1" noChangeAspect="1" noMove="1" noResize="1" noEditPoints="1" noAdjustHandles="1" noChangeArrowheads="1" noChangeShapeType="1" noTextEdit="1"/>
              </p:cNvSpPr>
              <p:nvPr>
                <p:ph idx="1"/>
              </p:nvPr>
            </p:nvSpPr>
            <p:spPr>
              <a:xfrm>
                <a:off x="838200" y="1781493"/>
                <a:ext cx="10515600" cy="4351338"/>
              </a:xfrm>
              <a:blipFill>
                <a:blip r:embed="rId2"/>
                <a:stretch>
                  <a:fillRect l="-1043" t="-140" r="-1159"/>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5123E217-2EC7-BA46-EE0A-FCDA5724F0F8}"/>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67249851-F312-96D3-19FB-40B08D182078}"/>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0F779594-B9E2-C396-9A7A-8FA07915C48E}"/>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15726392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A5F6C-F435-CE74-F0D1-4F4467CA185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8682E6F-9345-C18B-D8D5-08B10B1F9D96}"/>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B71B5850-7990-76F0-6F99-2E8A2E90A136}"/>
                  </a:ext>
                </a:extLst>
              </p:cNvPr>
              <p:cNvSpPr>
                <a:spLocks noGrp="1"/>
              </p:cNvSpPr>
              <p:nvPr>
                <p:ph idx="1"/>
              </p:nvPr>
            </p:nvSpPr>
            <p:spPr>
              <a:xfrm>
                <a:off x="838200" y="1781493"/>
                <a:ext cx="10515600" cy="4351338"/>
              </a:xfrm>
            </p:spPr>
            <p:txBody>
              <a:bodyPr>
                <a:noAutofit/>
              </a:bodyPr>
              <a:lstStyle/>
              <a:p>
                <a:pPr algn="just">
                  <a:lnSpc>
                    <a:spcPct val="120000"/>
                  </a:lnSpc>
                </a:pPr>
                <a:r>
                  <a:rPr lang="en-US" dirty="0">
                    <a:effectLst/>
                    <a:latin typeface="Arial" panose="020B0604020202020204" pitchFamily="34" charset="0"/>
                    <a:ea typeface="Aptos" panose="020B0004020202020204" pitchFamily="34" charset="0"/>
                  </a:rPr>
                  <a:t>Just as Impedance has Resistance and Reactance </a:t>
                </a:r>
                <a:br>
                  <a:rPr lang="en-US" dirty="0">
                    <a:effectLst/>
                    <a:latin typeface="Arial" panose="020B0604020202020204" pitchFamily="34" charset="0"/>
                    <a:ea typeface="Aptos" panose="020B0004020202020204" pitchFamily="34" charset="0"/>
                  </a:rPr>
                </a:br>
                <a:r>
                  <a:rPr lang="en-US" dirty="0">
                    <a:effectLst/>
                    <a:latin typeface="Arial" panose="020B0604020202020204" pitchFamily="34" charset="0"/>
                    <a:ea typeface="Aptos" panose="020B0004020202020204" pitchFamily="34" charset="0"/>
                  </a:rPr>
                  <a:t>(</a:t>
                </a:r>
                <a14:m>
                  <m:oMath xmlns:m="http://schemas.openxmlformats.org/officeDocument/2006/math">
                    <m:r>
                      <a:rPr lang="en-US" i="1">
                        <a:effectLst/>
                        <a:latin typeface="Cambria Math" panose="02040503050406030204" pitchFamily="18" charset="0"/>
                        <a:ea typeface="Aptos" panose="020B0004020202020204" pitchFamily="34" charset="0"/>
                      </a:rPr>
                      <m:t>𝑍</m:t>
                    </m:r>
                    <m:r>
                      <a:rPr lang="en-US">
                        <a:effectLst/>
                        <a:latin typeface="Cambria Math" panose="02040503050406030204" pitchFamily="18" charset="0"/>
                        <a:ea typeface="Aptos" panose="020B0004020202020204" pitchFamily="34" charset="0"/>
                      </a:rPr>
                      <m:t>=</m:t>
                    </m:r>
                    <m:r>
                      <a:rPr lang="en-US" i="1">
                        <a:effectLst/>
                        <a:latin typeface="Cambria Math" panose="02040503050406030204" pitchFamily="18" charset="0"/>
                        <a:ea typeface="Aptos" panose="020B0004020202020204" pitchFamily="34" charset="0"/>
                      </a:rPr>
                      <m:t>𝑅</m:t>
                    </m:r>
                    <m:r>
                      <a:rPr lang="en-US">
                        <a:effectLst/>
                        <a:latin typeface="Cambria Math" panose="02040503050406030204" pitchFamily="18" charset="0"/>
                        <a:ea typeface="Aptos" panose="020B0004020202020204" pitchFamily="34" charset="0"/>
                      </a:rPr>
                      <m:t>+</m:t>
                    </m:r>
                    <m:r>
                      <a:rPr lang="en-US" i="1">
                        <a:effectLst/>
                        <a:latin typeface="Cambria Math" panose="02040503050406030204" pitchFamily="18" charset="0"/>
                        <a:ea typeface="Aptos" panose="020B0004020202020204" pitchFamily="34" charset="0"/>
                      </a:rPr>
                      <m:t>𝑗𝑋</m:t>
                    </m:r>
                  </m:oMath>
                </a14:m>
                <a:r>
                  <a:rPr lang="en-US" dirty="0">
                    <a:effectLst/>
                    <a:latin typeface="Arial" panose="020B0604020202020204" pitchFamily="34" charset="0"/>
                    <a:ea typeface="Aptos" panose="020B0004020202020204" pitchFamily="34" charset="0"/>
                  </a:rPr>
                  <a:t>), Admittance has Conductance (</a:t>
                </a:r>
                <a14:m>
                  <m:oMath xmlns:m="http://schemas.openxmlformats.org/officeDocument/2006/math">
                    <m:r>
                      <a:rPr lang="en-US" i="1">
                        <a:effectLst/>
                        <a:latin typeface="Cambria Math" panose="02040503050406030204" pitchFamily="18" charset="0"/>
                        <a:ea typeface="Aptos" panose="020B0004020202020204" pitchFamily="34" charset="0"/>
                      </a:rPr>
                      <m:t>𝐺</m:t>
                    </m:r>
                  </m:oMath>
                </a14:m>
                <a:r>
                  <a:rPr lang="en-US" dirty="0">
                    <a:effectLst/>
                    <a:latin typeface="Arial" panose="020B0604020202020204" pitchFamily="34" charset="0"/>
                    <a:ea typeface="Aptos" panose="020B0004020202020204" pitchFamily="34" charset="0"/>
                  </a:rPr>
                  <a:t>) and Susceptance (</a:t>
                </a:r>
                <a14:m>
                  <m:oMath xmlns:m="http://schemas.openxmlformats.org/officeDocument/2006/math">
                    <m:r>
                      <a:rPr lang="en-US" i="1">
                        <a:effectLst/>
                        <a:latin typeface="Cambria Math" panose="02040503050406030204" pitchFamily="18" charset="0"/>
                        <a:ea typeface="Aptos" panose="020B0004020202020204" pitchFamily="34" charset="0"/>
                      </a:rPr>
                      <m:t>𝐵</m:t>
                    </m:r>
                  </m:oMath>
                </a14:m>
                <a:r>
                  <a:rPr lang="en-US" dirty="0">
                    <a:effectLst/>
                    <a:latin typeface="Arial" panose="020B0604020202020204" pitchFamily="34" charset="0"/>
                    <a:ea typeface="Aptos" panose="020B0004020202020204" pitchFamily="34" charset="0"/>
                  </a:rPr>
                  <a:t>): </a:t>
                </a:r>
                <a14:m>
                  <m:oMath xmlns:m="http://schemas.openxmlformats.org/officeDocument/2006/math">
                    <m:r>
                      <a:rPr lang="en-US" i="1">
                        <a:effectLst/>
                        <a:latin typeface="Cambria Math" panose="02040503050406030204" pitchFamily="18" charset="0"/>
                        <a:ea typeface="Aptos" panose="020B0004020202020204" pitchFamily="34" charset="0"/>
                      </a:rPr>
                      <m:t>𝑌</m:t>
                    </m:r>
                    <m:r>
                      <a:rPr lang="en-US">
                        <a:effectLst/>
                        <a:latin typeface="Cambria Math" panose="02040503050406030204" pitchFamily="18" charset="0"/>
                        <a:ea typeface="Aptos" panose="020B0004020202020204" pitchFamily="34" charset="0"/>
                      </a:rPr>
                      <m:t>=</m:t>
                    </m:r>
                    <m:r>
                      <a:rPr lang="en-US" i="1">
                        <a:effectLst/>
                        <a:latin typeface="Cambria Math" panose="02040503050406030204" pitchFamily="18" charset="0"/>
                        <a:ea typeface="Aptos" panose="020B0004020202020204" pitchFamily="34" charset="0"/>
                      </a:rPr>
                      <m:t>𝐺</m:t>
                    </m:r>
                    <m:r>
                      <a:rPr lang="en-US">
                        <a:effectLst/>
                        <a:latin typeface="Cambria Math" panose="02040503050406030204" pitchFamily="18" charset="0"/>
                        <a:ea typeface="Aptos" panose="020B0004020202020204" pitchFamily="34" charset="0"/>
                      </a:rPr>
                      <m:t>+</m:t>
                    </m:r>
                    <m:r>
                      <a:rPr lang="en-US" i="1">
                        <a:effectLst/>
                        <a:latin typeface="Cambria Math" panose="02040503050406030204" pitchFamily="18" charset="0"/>
                        <a:ea typeface="Aptos" panose="020B0004020202020204" pitchFamily="34" charset="0"/>
                      </a:rPr>
                      <m:t>𝑗𝐵</m:t>
                    </m:r>
                  </m:oMath>
                </a14:m>
                <a:r>
                  <a:rPr lang="en-US" dirty="0">
                    <a:effectLst/>
                    <a:latin typeface="Arial" panose="020B0604020202020204" pitchFamily="34" charset="0"/>
                    <a:ea typeface="Aptos" panose="020B0004020202020204" pitchFamily="34" charset="0"/>
                  </a:rPr>
                  <a:t> </a:t>
                </a:r>
              </a:p>
              <a:p>
                <a:pPr algn="just">
                  <a:lnSpc>
                    <a:spcPct val="120000"/>
                  </a:lnSpc>
                </a:pPr>
                <a:r>
                  <a:rPr lang="en-US" dirty="0">
                    <a:effectLst/>
                    <a:latin typeface="Arial" panose="020B0604020202020204" pitchFamily="34" charset="0"/>
                    <a:ea typeface="Aptos" panose="020B0004020202020204" pitchFamily="34" charset="0"/>
                  </a:rPr>
                  <a:t>Be careful with signs: since </a:t>
                </a:r>
                <a14:m>
                  <m:oMath xmlns:m="http://schemas.openxmlformats.org/officeDocument/2006/math">
                    <m:r>
                      <a:rPr lang="en-US" i="1">
                        <a:effectLst/>
                        <a:latin typeface="Cambria Math" panose="02040503050406030204" pitchFamily="18" charset="0"/>
                        <a:ea typeface="Aptos" panose="020B0004020202020204" pitchFamily="34" charset="0"/>
                      </a:rPr>
                      <m:t>𝑌</m:t>
                    </m:r>
                    <m:r>
                      <a:rPr lang="en-US">
                        <a:effectLst/>
                        <a:latin typeface="Cambria Math" panose="02040503050406030204" pitchFamily="18" charset="0"/>
                        <a:ea typeface="Aptos" panose="020B0004020202020204" pitchFamily="34" charset="0"/>
                      </a:rPr>
                      <m:t>=</m:t>
                    </m:r>
                    <m:r>
                      <a:rPr lang="en-US" i="1">
                        <a:effectLst/>
                        <a:latin typeface="Cambria Math" panose="02040503050406030204" pitchFamily="18" charset="0"/>
                        <a:ea typeface="Aptos" panose="020B0004020202020204" pitchFamily="34" charset="0"/>
                      </a:rPr>
                      <m:t>1</m:t>
                    </m:r>
                    <m:r>
                      <a:rPr lang="en-US">
                        <a:effectLst/>
                        <a:latin typeface="Cambria Math" panose="02040503050406030204" pitchFamily="18" charset="0"/>
                        <a:ea typeface="Aptos" panose="020B0004020202020204" pitchFamily="34" charset="0"/>
                      </a:rPr>
                      <m:t>/</m:t>
                    </m:r>
                    <m:r>
                      <a:rPr lang="en-US" i="1">
                        <a:effectLst/>
                        <a:latin typeface="Cambria Math" panose="02040503050406030204" pitchFamily="18" charset="0"/>
                        <a:ea typeface="Aptos" panose="020B0004020202020204" pitchFamily="34" charset="0"/>
                      </a:rPr>
                      <m:t>𝑍</m:t>
                    </m:r>
                  </m:oMath>
                </a14:m>
                <a:r>
                  <a:rPr lang="en-US" dirty="0">
                    <a:effectLst/>
                    <a:latin typeface="Arial" panose="020B0604020202020204" pitchFamily="34" charset="0"/>
                    <a:ea typeface="Aptos" panose="020B0004020202020204" pitchFamily="34" charset="0"/>
                  </a:rPr>
                  <a:t>, a positive inductive reactance corresponds to a negative inductive susceptance.</a:t>
                </a:r>
                <a:endParaRPr lang="ru-RU" dirty="0">
                  <a:effectLst/>
                  <a:latin typeface="Arial" panose="020B0604020202020204" pitchFamily="34" charset="0"/>
                  <a:ea typeface="Aptos" panose="020B0004020202020204" pitchFamily="34" charset="0"/>
                </a:endParaRPr>
              </a:p>
            </p:txBody>
          </p:sp>
        </mc:Choice>
        <mc:Fallback xmlns="">
          <p:sp>
            <p:nvSpPr>
              <p:cNvPr id="3" name="Объект 2">
                <a:extLst>
                  <a:ext uri="{FF2B5EF4-FFF2-40B4-BE49-F238E27FC236}">
                    <a16:creationId xmlns:a16="http://schemas.microsoft.com/office/drawing/2014/main" id="{B71B5850-7990-76F0-6F99-2E8A2E90A136}"/>
                  </a:ext>
                </a:extLst>
              </p:cNvPr>
              <p:cNvSpPr>
                <a:spLocks noGrp="1" noRot="1" noChangeAspect="1" noMove="1" noResize="1" noEditPoints="1" noAdjustHandles="1" noChangeArrowheads="1" noChangeShapeType="1" noTextEdit="1"/>
              </p:cNvSpPr>
              <p:nvPr>
                <p:ph idx="1"/>
              </p:nvPr>
            </p:nvSpPr>
            <p:spPr>
              <a:xfrm>
                <a:off x="838200" y="1781493"/>
                <a:ext cx="10515600" cy="4351338"/>
              </a:xfrm>
              <a:blipFill>
                <a:blip r:embed="rId2"/>
                <a:stretch>
                  <a:fillRect l="-1043" t="-560" r="-1159"/>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24B65ED9-27A6-58FD-B48D-5D08E623F1F1}"/>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9D5963DE-9779-4EA0-2F5B-164B3E470FCA}"/>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68736BA1-BCB0-E865-CB3E-26BF2EFC1679}"/>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29648670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ED7A8-592F-52A1-19E6-BAF2F7E4DBF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6C38414-5F81-D09A-CE7D-F87CD681644D}"/>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F1CC55D4-C579-68F7-5A28-ADED82803B59}"/>
                  </a:ext>
                </a:extLst>
              </p:cNvPr>
              <p:cNvSpPr>
                <a:spLocks noGrp="1"/>
              </p:cNvSpPr>
              <p:nvPr>
                <p:ph idx="1"/>
              </p:nvPr>
            </p:nvSpPr>
            <p:spPr>
              <a:xfrm>
                <a:off x="838200" y="1781493"/>
                <a:ext cx="10515600" cy="4351338"/>
              </a:xfrm>
            </p:spPr>
            <p:txBody>
              <a:bodyPr>
                <a:noAutofit/>
              </a:bodyPr>
              <a:lstStyle/>
              <a:p>
                <a:r>
                  <a:rPr lang="en-US" dirty="0"/>
                  <a:t>Let us perform a calculation example. </a:t>
                </a:r>
              </a:p>
              <a:p>
                <a:r>
                  <a:rPr lang="en-US" dirty="0"/>
                  <a:t>We have a circuit with a </a:t>
                </a:r>
                <a14:m>
                  <m:oMath xmlns:m="http://schemas.openxmlformats.org/officeDocument/2006/math">
                    <m:r>
                      <a:rPr lang="en-US" b="0" i="1" smtClean="0">
                        <a:latin typeface="Cambria Math" panose="02040503050406030204" pitchFamily="18" charset="0"/>
                      </a:rPr>
                      <m:t>100</m:t>
                    </m:r>
                    <m:r>
                      <a:rPr lang="en-US" b="0" i="1" smtClean="0">
                        <a:latin typeface="Cambria Math" panose="02040503050406030204" pitchFamily="18" charset="0"/>
                      </a:rPr>
                      <m:t>𝛺</m:t>
                    </m:r>
                  </m:oMath>
                </a14:m>
                <a:r>
                  <a:rPr lang="en-US" dirty="0"/>
                  <a:t> Resistor in series with a </a:t>
                </a:r>
                <a14:m>
                  <m:oMath xmlns:m="http://schemas.openxmlformats.org/officeDocument/2006/math">
                    <m:r>
                      <a:rPr lang="en-US" b="0" i="1" smtClean="0">
                        <a:latin typeface="Cambria Math" panose="02040503050406030204" pitchFamily="18" charset="0"/>
                      </a:rPr>
                      <m:t>10</m:t>
                    </m:r>
                  </m:oMath>
                </a14:m>
                <a:r>
                  <a:rPr lang="en-US" dirty="0"/>
                  <a:t> </a:t>
                </a:r>
                <a:r>
                  <a:rPr lang="en-US" dirty="0" err="1"/>
                  <a:t>mH</a:t>
                </a:r>
                <a:r>
                  <a:rPr lang="en-US" dirty="0"/>
                  <a:t> Inductor. </a:t>
                </a:r>
                <a:endParaRPr lang="ru-RU" dirty="0"/>
              </a:p>
              <a:p>
                <a:r>
                  <a:rPr lang="en-US" dirty="0"/>
                  <a:t>The source is </a:t>
                </a:r>
                <a14:m>
                  <m:oMath xmlns:m="http://schemas.openxmlformats.org/officeDocument/2006/math">
                    <m:r>
                      <a:rPr lang="en-US" b="0" i="1" smtClean="0">
                        <a:latin typeface="Cambria Math" panose="02040503050406030204" pitchFamily="18" charset="0"/>
                      </a:rPr>
                      <m:t>100</m:t>
                    </m:r>
                  </m:oMath>
                </a14:m>
                <a:r>
                  <a:rPr lang="en-US" dirty="0"/>
                  <a:t> V (RMS) with a frequency of </a:t>
                </a:r>
                <a14:m>
                  <m:oMath xmlns:m="http://schemas.openxmlformats.org/officeDocument/2006/math">
                    <m:r>
                      <a:rPr lang="en-US" b="0" i="1" smtClean="0">
                        <a:latin typeface="Cambria Math" panose="02040503050406030204" pitchFamily="18" charset="0"/>
                      </a:rPr>
                      <m:t>5000</m:t>
                    </m:r>
                  </m:oMath>
                </a14:m>
                <a:r>
                  <a:rPr lang="en-US" dirty="0"/>
                  <a:t> rad/s. </a:t>
                </a:r>
              </a:p>
              <a:p>
                <a:pPr algn="just">
                  <a:lnSpc>
                    <a:spcPct val="120000"/>
                  </a:lnSpc>
                </a:pPr>
                <a:r>
                  <a:rPr lang="en-US" dirty="0">
                    <a:effectLst/>
                    <a:latin typeface="Arial" panose="020B0604020202020204" pitchFamily="34" charset="0"/>
                    <a:ea typeface="Aptos" panose="020B0004020202020204" pitchFamily="34" charset="0"/>
                  </a:rPr>
                  <a:t>First, determine the impedance of each component. </a:t>
                </a:r>
                <a:endParaRPr lang="ru-RU" dirty="0">
                  <a:effectLst/>
                  <a:latin typeface="Arial" panose="020B0604020202020204" pitchFamily="34" charset="0"/>
                  <a:ea typeface="Aptos" panose="020B0004020202020204" pitchFamily="34" charset="0"/>
                </a:endParaRPr>
              </a:p>
              <a:p>
                <a:pPr marL="0" indent="0" algn="just">
                  <a:lnSpc>
                    <a:spcPct val="120000"/>
                  </a:lnSpc>
                  <a:buNone/>
                </a:pPr>
                <a14:m>
                  <m:oMathPara xmlns:m="http://schemas.openxmlformats.org/officeDocument/2006/math">
                    <m:oMathParaPr>
                      <m:jc m:val="centerGroup"/>
                    </m:oMathParaPr>
                    <m:oMath xmlns:m="http://schemas.openxmlformats.org/officeDocument/2006/math">
                      <m:sSub>
                        <m:sSubPr>
                          <m:ctrlPr>
                            <a:rPr lang="ru-RU" i="1">
                              <a:effectLst/>
                              <a:latin typeface="Cambria Math" panose="02040503050406030204" pitchFamily="18" charset="0"/>
                              <a:ea typeface="Aptos" panose="020B0004020202020204" pitchFamily="34" charset="0"/>
                            </a:rPr>
                          </m:ctrlPr>
                        </m:sSubPr>
                        <m:e>
                          <m:r>
                            <a:rPr lang="en-US" i="1">
                              <a:effectLst/>
                              <a:latin typeface="Cambria Math" panose="02040503050406030204" pitchFamily="18" charset="0"/>
                              <a:ea typeface="Aptos" panose="020B0004020202020204" pitchFamily="34" charset="0"/>
                            </a:rPr>
                            <m:t>𝑍</m:t>
                          </m:r>
                        </m:e>
                        <m:sub>
                          <m:r>
                            <a:rPr lang="en-US" i="1">
                              <a:effectLst/>
                              <a:latin typeface="Cambria Math" panose="02040503050406030204" pitchFamily="18" charset="0"/>
                              <a:ea typeface="Aptos" panose="020B0004020202020204" pitchFamily="34" charset="0"/>
                            </a:rPr>
                            <m:t>𝑅</m:t>
                          </m:r>
                        </m:sub>
                      </m:sSub>
                      <m:r>
                        <a:rPr lang="en-US">
                          <a:effectLst/>
                          <a:latin typeface="Cambria Math" panose="02040503050406030204" pitchFamily="18" charset="0"/>
                          <a:ea typeface="Aptos" panose="020B0004020202020204" pitchFamily="34" charset="0"/>
                        </a:rPr>
                        <m:t>=</m:t>
                      </m:r>
                      <m:r>
                        <a:rPr lang="en-US" i="1">
                          <a:effectLst/>
                          <a:latin typeface="Cambria Math" panose="02040503050406030204" pitchFamily="18" charset="0"/>
                          <a:ea typeface="Aptos" panose="020B0004020202020204" pitchFamily="34" charset="0"/>
                        </a:rPr>
                        <m:t>100</m:t>
                      </m:r>
                      <m:r>
                        <m:rPr>
                          <m:sty m:val="p"/>
                        </m:rPr>
                        <a:rPr lang="en-US">
                          <a:effectLst/>
                          <a:latin typeface="Cambria Math" panose="02040503050406030204" pitchFamily="18" charset="0"/>
                          <a:ea typeface="Aptos" panose="020B0004020202020204" pitchFamily="34" charset="0"/>
                        </a:rPr>
                        <m:t>Ω</m:t>
                      </m:r>
                      <m:r>
                        <a:rPr lang="en-US">
                          <a:effectLst/>
                          <a:latin typeface="Cambria Math" panose="02040503050406030204" pitchFamily="18" charset="0"/>
                          <a:ea typeface="Aptos" panose="020B0004020202020204" pitchFamily="34" charset="0"/>
                        </a:rPr>
                        <m:t>.</m:t>
                      </m:r>
                    </m:oMath>
                  </m:oMathPara>
                </a14:m>
                <a:endParaRPr lang="ru-RU" dirty="0">
                  <a:effectLst/>
                  <a:latin typeface="Arial" panose="020B0604020202020204" pitchFamily="34" charset="0"/>
                  <a:ea typeface="Aptos" panose="020B0004020202020204" pitchFamily="34" charset="0"/>
                </a:endParaRPr>
              </a:p>
              <a:p>
                <a:pPr marL="0" indent="0" algn="just">
                  <a:lnSpc>
                    <a:spcPct val="120000"/>
                  </a:lnSpc>
                  <a:buNone/>
                </a:pPr>
                <a14:m>
                  <m:oMathPara xmlns:m="http://schemas.openxmlformats.org/officeDocument/2006/math">
                    <m:oMathParaPr>
                      <m:jc m:val="centerGroup"/>
                    </m:oMathParaPr>
                    <m:oMath xmlns:m="http://schemas.openxmlformats.org/officeDocument/2006/math">
                      <m:sSub>
                        <m:sSubPr>
                          <m:ctrlPr>
                            <a:rPr lang="ru-RU" i="1">
                              <a:effectLst/>
                              <a:latin typeface="Cambria Math" panose="02040503050406030204" pitchFamily="18" charset="0"/>
                              <a:ea typeface="Aptos" panose="020B0004020202020204" pitchFamily="34" charset="0"/>
                            </a:rPr>
                          </m:ctrlPr>
                        </m:sSubPr>
                        <m:e>
                          <m:r>
                            <a:rPr lang="en-US" i="1">
                              <a:effectLst/>
                              <a:latin typeface="Cambria Math" panose="02040503050406030204" pitchFamily="18" charset="0"/>
                              <a:ea typeface="Aptos" panose="020B0004020202020204" pitchFamily="34" charset="0"/>
                            </a:rPr>
                            <m:t>𝑍</m:t>
                          </m:r>
                        </m:e>
                        <m:sub>
                          <m:r>
                            <a:rPr lang="en-US" i="1">
                              <a:effectLst/>
                              <a:latin typeface="Cambria Math" panose="02040503050406030204" pitchFamily="18" charset="0"/>
                              <a:ea typeface="Aptos" panose="020B0004020202020204" pitchFamily="34" charset="0"/>
                            </a:rPr>
                            <m:t>𝐿</m:t>
                          </m:r>
                        </m:sub>
                      </m:sSub>
                      <m:r>
                        <a:rPr lang="en-US">
                          <a:effectLst/>
                          <a:latin typeface="Cambria Math" panose="02040503050406030204" pitchFamily="18" charset="0"/>
                          <a:ea typeface="Aptos" panose="020B0004020202020204" pitchFamily="34" charset="0"/>
                        </a:rPr>
                        <m:t>=</m:t>
                      </m:r>
                      <m:r>
                        <a:rPr lang="en-US" i="1">
                          <a:effectLst/>
                          <a:latin typeface="Cambria Math" panose="02040503050406030204" pitchFamily="18" charset="0"/>
                          <a:ea typeface="Aptos" panose="020B0004020202020204" pitchFamily="34" charset="0"/>
                        </a:rPr>
                        <m:t>𝑗</m:t>
                      </m:r>
                      <m:r>
                        <a:rPr lang="en-US" i="1">
                          <a:effectLst/>
                          <a:latin typeface="Cambria Math" panose="02040503050406030204" pitchFamily="18" charset="0"/>
                          <a:ea typeface="Aptos" panose="020B0004020202020204" pitchFamily="34" charset="0"/>
                        </a:rPr>
                        <m:t>𝜔</m:t>
                      </m:r>
                      <m:r>
                        <a:rPr lang="en-US" i="1">
                          <a:effectLst/>
                          <a:latin typeface="Cambria Math" panose="02040503050406030204" pitchFamily="18" charset="0"/>
                          <a:ea typeface="Aptos" panose="020B0004020202020204" pitchFamily="34" charset="0"/>
                        </a:rPr>
                        <m:t>𝐿</m:t>
                      </m:r>
                      <m:r>
                        <a:rPr lang="en-US">
                          <a:effectLst/>
                          <a:latin typeface="Cambria Math" panose="02040503050406030204" pitchFamily="18" charset="0"/>
                          <a:ea typeface="Aptos" panose="020B0004020202020204" pitchFamily="34" charset="0"/>
                        </a:rPr>
                        <m:t>=</m:t>
                      </m:r>
                      <m:r>
                        <a:rPr lang="en-US" i="1">
                          <a:effectLst/>
                          <a:latin typeface="Cambria Math" panose="02040503050406030204" pitchFamily="18" charset="0"/>
                          <a:ea typeface="Aptos" panose="020B0004020202020204" pitchFamily="34" charset="0"/>
                        </a:rPr>
                        <m:t>𝑗</m:t>
                      </m:r>
                      <m:d>
                        <m:dPr>
                          <m:ctrlPr>
                            <a:rPr lang="ru-RU" i="1">
                              <a:effectLst/>
                              <a:latin typeface="Cambria Math" panose="02040503050406030204" pitchFamily="18" charset="0"/>
                              <a:ea typeface="Aptos" panose="020B0004020202020204" pitchFamily="34" charset="0"/>
                            </a:rPr>
                          </m:ctrlPr>
                        </m:dPr>
                        <m:e>
                          <m:r>
                            <a:rPr lang="en-US" i="1">
                              <a:effectLst/>
                              <a:latin typeface="Cambria Math" panose="02040503050406030204" pitchFamily="18" charset="0"/>
                              <a:ea typeface="Aptos" panose="020B0004020202020204" pitchFamily="34" charset="0"/>
                            </a:rPr>
                            <m:t>5000</m:t>
                          </m:r>
                        </m:e>
                      </m:d>
                      <m:d>
                        <m:dPr>
                          <m:ctrlPr>
                            <a:rPr lang="ru-RU" i="1">
                              <a:effectLst/>
                              <a:latin typeface="Cambria Math" panose="02040503050406030204" pitchFamily="18" charset="0"/>
                              <a:ea typeface="Aptos" panose="020B0004020202020204" pitchFamily="34" charset="0"/>
                            </a:rPr>
                          </m:ctrlPr>
                        </m:dPr>
                        <m:e>
                          <m:r>
                            <a:rPr lang="en-US" i="1">
                              <a:effectLst/>
                              <a:latin typeface="Cambria Math" panose="02040503050406030204" pitchFamily="18" charset="0"/>
                              <a:ea typeface="Aptos" panose="020B0004020202020204" pitchFamily="34" charset="0"/>
                            </a:rPr>
                            <m:t>0.010</m:t>
                          </m:r>
                        </m:e>
                      </m:d>
                      <m:r>
                        <a:rPr lang="en-US">
                          <a:effectLst/>
                          <a:latin typeface="Cambria Math" panose="02040503050406030204" pitchFamily="18" charset="0"/>
                          <a:ea typeface="Aptos" panose="020B0004020202020204" pitchFamily="34" charset="0"/>
                        </a:rPr>
                        <m:t>=</m:t>
                      </m:r>
                      <m:r>
                        <a:rPr lang="en-US" i="1">
                          <a:effectLst/>
                          <a:latin typeface="Cambria Math" panose="02040503050406030204" pitchFamily="18" charset="0"/>
                          <a:ea typeface="Aptos" panose="020B0004020202020204" pitchFamily="34" charset="0"/>
                        </a:rPr>
                        <m:t>𝑗</m:t>
                      </m:r>
                      <m:r>
                        <a:rPr lang="en-US" i="1">
                          <a:effectLst/>
                          <a:latin typeface="Cambria Math" panose="02040503050406030204" pitchFamily="18" charset="0"/>
                          <a:ea typeface="Aptos" panose="020B0004020202020204" pitchFamily="34" charset="0"/>
                        </a:rPr>
                        <m:t>50</m:t>
                      </m:r>
                      <m:r>
                        <m:rPr>
                          <m:sty m:val="p"/>
                        </m:rPr>
                        <a:rPr lang="en-US">
                          <a:effectLst/>
                          <a:latin typeface="Cambria Math" panose="02040503050406030204" pitchFamily="18" charset="0"/>
                          <a:ea typeface="Aptos" panose="020B0004020202020204" pitchFamily="34" charset="0"/>
                        </a:rPr>
                        <m:t>Ω</m:t>
                      </m:r>
                      <m:r>
                        <a:rPr lang="en-US" i="1">
                          <a:effectLst/>
                          <a:latin typeface="Cambria Math" panose="02040503050406030204" pitchFamily="18" charset="0"/>
                          <a:ea typeface="Aptos" panose="020B0004020202020204" pitchFamily="34" charset="0"/>
                        </a:rPr>
                        <m:t>.</m:t>
                      </m:r>
                    </m:oMath>
                  </m:oMathPara>
                </a14:m>
                <a:endParaRPr lang="ru-RU" dirty="0"/>
              </a:p>
              <a:p>
                <a:r>
                  <a:rPr lang="en-US" dirty="0"/>
                  <a:t>The total series Impedance is: </a:t>
                </a:r>
                <a14:m>
                  <m:oMath xmlns:m="http://schemas.openxmlformats.org/officeDocument/2006/math">
                    <m:sSub>
                      <m:sSubPr>
                        <m:ctrlPr>
                          <a:rPr lang="ru-RU" i="1">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𝑡𝑜𝑡𝑎𝑙</m:t>
                        </m:r>
                      </m:sub>
                    </m:sSub>
                    <m:r>
                      <a:rPr lang="en-US" b="0" smtClean="0">
                        <a:latin typeface="Cambria Math" panose="02040503050406030204" pitchFamily="18" charset="0"/>
                      </a:rPr>
                      <m:t>=</m:t>
                    </m:r>
                    <m:r>
                      <a:rPr lang="en-US" b="0" i="1" smtClean="0">
                        <a:latin typeface="Cambria Math" panose="02040503050406030204" pitchFamily="18" charset="0"/>
                      </a:rPr>
                      <m:t>100</m:t>
                    </m:r>
                    <m:r>
                      <a:rPr lang="en-US" b="0"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50</m:t>
                    </m:r>
                    <m:r>
                      <a:rPr lang="en-US" b="0" i="1" smtClean="0">
                        <a:latin typeface="Cambria Math" panose="02040503050406030204" pitchFamily="18" charset="0"/>
                      </a:rPr>
                      <m:t>𝛺</m:t>
                    </m:r>
                  </m:oMath>
                </a14:m>
                <a:r>
                  <a:rPr lang="en-US" dirty="0"/>
                  <a:t>. </a:t>
                </a:r>
                <a:endParaRPr lang="ru-RU" dirty="0"/>
              </a:p>
            </p:txBody>
          </p:sp>
        </mc:Choice>
        <mc:Fallback xmlns="">
          <p:sp>
            <p:nvSpPr>
              <p:cNvPr id="3" name="Объект 2">
                <a:extLst>
                  <a:ext uri="{FF2B5EF4-FFF2-40B4-BE49-F238E27FC236}">
                    <a16:creationId xmlns:a16="http://schemas.microsoft.com/office/drawing/2014/main" id="{F1CC55D4-C579-68F7-5A28-ADED82803B59}"/>
                  </a:ext>
                </a:extLst>
              </p:cNvPr>
              <p:cNvSpPr>
                <a:spLocks noGrp="1" noRot="1" noChangeAspect="1" noMove="1" noResize="1" noEditPoints="1" noAdjustHandles="1" noChangeArrowheads="1" noChangeShapeType="1" noTextEdit="1"/>
              </p:cNvSpPr>
              <p:nvPr>
                <p:ph idx="1"/>
              </p:nvPr>
            </p:nvSpPr>
            <p:spPr>
              <a:xfrm>
                <a:off x="838200" y="1781493"/>
                <a:ext cx="10515600" cy="4351338"/>
              </a:xfrm>
              <a:blipFill>
                <a:blip r:embed="rId2"/>
                <a:stretch>
                  <a:fillRect l="-1043" t="-2381"/>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EE5B922A-E10D-FAC7-B6B2-502D375FD374}"/>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361C1D36-F675-FAAE-2E70-9380DED6F21A}"/>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94EA347D-E35F-9767-B0BC-27C9C1504978}"/>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18686172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5EBB5-515E-C889-5E0B-176CE6E0B6F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52D3556-D7D0-357F-C74D-0517129A44DE}"/>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78AD7865-941A-D8D9-B5FC-3AEF567606B7}"/>
                  </a:ext>
                </a:extLst>
              </p:cNvPr>
              <p:cNvSpPr>
                <a:spLocks noGrp="1"/>
              </p:cNvSpPr>
              <p:nvPr>
                <p:ph idx="1"/>
              </p:nvPr>
            </p:nvSpPr>
            <p:spPr>
              <a:xfrm>
                <a:off x="838200" y="1781493"/>
                <a:ext cx="10515600" cy="4351338"/>
              </a:xfrm>
            </p:spPr>
            <p:txBody>
              <a:bodyPr>
                <a:noAutofit/>
              </a:bodyPr>
              <a:lstStyle/>
              <a:p>
                <a:r>
                  <a:rPr lang="en-US" dirty="0">
                    <a:effectLst/>
                    <a:latin typeface="Arial" panose="020B0604020202020204" pitchFamily="34" charset="0"/>
                    <a:ea typeface="Aptos" panose="020B0004020202020204" pitchFamily="34" charset="0"/>
                  </a:rPr>
                  <a:t>Now, calculate the current phasor </a:t>
                </a:r>
                <a14:m>
                  <m:oMath xmlns:m="http://schemas.openxmlformats.org/officeDocument/2006/math">
                    <m:acc>
                      <m:accPr>
                        <m:chr m:val="̇"/>
                        <m:ctrlPr>
                          <a:rPr lang="ru-RU" i="1">
                            <a:effectLst/>
                            <a:latin typeface="Cambria Math" panose="02040503050406030204" pitchFamily="18" charset="0"/>
                            <a:ea typeface="Aptos" panose="020B0004020202020204" pitchFamily="34" charset="0"/>
                          </a:rPr>
                        </m:ctrlPr>
                      </m:accPr>
                      <m:e>
                        <m:r>
                          <a:rPr lang="en-US" b="0" i="1">
                            <a:effectLst/>
                            <a:latin typeface="Cambria Math" panose="02040503050406030204" pitchFamily="18" charset="0"/>
                            <a:ea typeface="Aptos" panose="020B0004020202020204" pitchFamily="34" charset="0"/>
                          </a:rPr>
                          <m:t>𝐼</m:t>
                        </m:r>
                      </m:e>
                    </m:acc>
                  </m:oMath>
                </a14:m>
                <a:r>
                  <a:rPr lang="en-US" dirty="0">
                    <a:effectLst/>
                    <a:latin typeface="Arial" panose="020B0604020202020204" pitchFamily="34" charset="0"/>
                    <a:ea typeface="Aptos" panose="020B0004020202020204" pitchFamily="34" charset="0"/>
                  </a:rPr>
                  <a:t>. </a:t>
                </a:r>
                <a:endParaRPr lang="en-US" dirty="0"/>
              </a:p>
              <a:p>
                <a:r>
                  <a:rPr lang="en-US" dirty="0"/>
                  <a:t>Assume the voltage angle is zero (</a:t>
                </a:r>
                <a14:m>
                  <m:oMath xmlns:m="http://schemas.openxmlformats.org/officeDocument/2006/math">
                    <m:acc>
                      <m:accPr>
                        <m:chr m:val="̇"/>
                        <m:ctrlPr>
                          <a:rPr lang="ru-RU" i="1">
                            <a:latin typeface="Cambria Math" panose="02040503050406030204" pitchFamily="18" charset="0"/>
                          </a:rPr>
                        </m:ctrlPr>
                      </m:accPr>
                      <m:e>
                        <m:r>
                          <a:rPr lang="en-US" b="0" i="1" smtClean="0">
                            <a:latin typeface="Cambria Math" panose="02040503050406030204" pitchFamily="18" charset="0"/>
                          </a:rPr>
                          <m:t>𝑉</m:t>
                        </m:r>
                      </m:e>
                    </m:acc>
                    <m:r>
                      <a:rPr lang="en-US" b="0" smtClean="0">
                        <a:latin typeface="Cambria Math" panose="02040503050406030204" pitchFamily="18" charset="0"/>
                      </a:rPr>
                      <m:t>=</m:t>
                    </m:r>
                    <m:r>
                      <a:rPr lang="en-US" b="0" i="1" smtClean="0">
                        <a:latin typeface="Cambria Math" panose="02040503050406030204" pitchFamily="18" charset="0"/>
                      </a:rPr>
                      <m:t>100</m:t>
                    </m:r>
                    <m:r>
                      <a:rPr lang="en-US" b="0" smtClean="0">
                        <a:latin typeface="Cambria Math" panose="02040503050406030204" pitchFamily="18" charset="0"/>
                      </a:rPr>
                      <m:t>∠</m:t>
                    </m:r>
                    <m:sSup>
                      <m:sSupPr>
                        <m:ctrlPr>
                          <a:rPr lang="ru-RU" i="1">
                            <a:latin typeface="Cambria Math" panose="02040503050406030204" pitchFamily="18" charset="0"/>
                          </a:rPr>
                        </m:ctrlPr>
                      </m:sSupPr>
                      <m:e>
                        <m:r>
                          <a:rPr lang="en-US" b="0" i="1" smtClean="0">
                            <a:latin typeface="Cambria Math" panose="02040503050406030204" pitchFamily="18" charset="0"/>
                          </a:rPr>
                          <m:t>0</m:t>
                        </m:r>
                      </m:e>
                      <m:sup>
                        <m:r>
                          <a:rPr lang="en-US" b="0" smtClean="0">
                            <a:latin typeface="Cambria Math" panose="02040503050406030204" pitchFamily="18" charset="0"/>
                          </a:rPr>
                          <m:t>∘</m:t>
                        </m:r>
                      </m:sup>
                    </m:sSup>
                  </m:oMath>
                </a14:m>
                <a:r>
                  <a:rPr lang="en-US" dirty="0"/>
                  <a:t>). </a:t>
                </a:r>
              </a:p>
              <a:p>
                <a:r>
                  <a:rPr lang="en-US" dirty="0"/>
                  <a:t>Using phasor Ohm's law:</a:t>
                </a:r>
                <a:endParaRPr lang="ru-RU" dirty="0"/>
              </a:p>
              <a:p>
                <a:pPr marL="0" indent="0">
                  <a:buNone/>
                </a:pPr>
                <a14:m>
                  <m:oMathPara xmlns:m="http://schemas.openxmlformats.org/officeDocument/2006/math">
                    <m:oMathParaPr>
                      <m:jc m:val="centerGroup"/>
                    </m:oMathParaPr>
                    <m:oMath xmlns:m="http://schemas.openxmlformats.org/officeDocument/2006/math">
                      <m:acc>
                        <m:accPr>
                          <m:chr m:val="̇"/>
                          <m:ctrlPr>
                            <a:rPr lang="ru-RU" i="1">
                              <a:latin typeface="Cambria Math" panose="02040503050406030204" pitchFamily="18" charset="0"/>
                            </a:rPr>
                          </m:ctrlPr>
                        </m:accPr>
                        <m:e>
                          <m:r>
                            <a:rPr lang="en-US" b="0" i="1" smtClean="0">
                              <a:latin typeface="Cambria Math" panose="02040503050406030204" pitchFamily="18" charset="0"/>
                            </a:rPr>
                            <m:t>𝐼</m:t>
                          </m:r>
                        </m:e>
                      </m:acc>
                      <m:r>
                        <a:rPr lang="en-US" b="0" smtClean="0">
                          <a:latin typeface="Cambria Math" panose="02040503050406030204" pitchFamily="18" charset="0"/>
                        </a:rPr>
                        <m:t>=</m:t>
                      </m:r>
                      <m:f>
                        <m:fPr>
                          <m:ctrlPr>
                            <a:rPr lang="ru-RU" i="1">
                              <a:latin typeface="Cambria Math" panose="02040503050406030204" pitchFamily="18" charset="0"/>
                            </a:rPr>
                          </m:ctrlPr>
                        </m:fPr>
                        <m:num>
                          <m:acc>
                            <m:accPr>
                              <m:chr m:val="̇"/>
                              <m:ctrlPr>
                                <a:rPr lang="ru-RU" i="1">
                                  <a:latin typeface="Cambria Math" panose="02040503050406030204" pitchFamily="18" charset="0"/>
                                </a:rPr>
                              </m:ctrlPr>
                            </m:accPr>
                            <m:e>
                              <m:r>
                                <a:rPr lang="en-US" b="0" i="1" smtClean="0">
                                  <a:latin typeface="Cambria Math" panose="02040503050406030204" pitchFamily="18" charset="0"/>
                                </a:rPr>
                                <m:t>𝑉</m:t>
                              </m:r>
                            </m:e>
                          </m:acc>
                        </m:num>
                        <m:den>
                          <m:sSub>
                            <m:sSubPr>
                              <m:ctrlPr>
                                <a:rPr lang="ru-RU" i="1">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𝑡𝑜𝑡𝑎𝑙</m:t>
                              </m:r>
                            </m:sub>
                          </m:sSub>
                        </m:den>
                      </m:f>
                      <m:r>
                        <a:rPr lang="en-US" b="0" smtClean="0">
                          <a:latin typeface="Cambria Math" panose="02040503050406030204" pitchFamily="18" charset="0"/>
                        </a:rPr>
                        <m:t>=</m:t>
                      </m:r>
                      <m:f>
                        <m:fPr>
                          <m:ctrlPr>
                            <a:rPr lang="ru-RU" i="1">
                              <a:latin typeface="Cambria Math" panose="02040503050406030204" pitchFamily="18" charset="0"/>
                            </a:rPr>
                          </m:ctrlPr>
                        </m:fPr>
                        <m:num>
                          <m:r>
                            <a:rPr lang="en-US" b="0" i="1" smtClean="0">
                              <a:latin typeface="Cambria Math" panose="02040503050406030204" pitchFamily="18" charset="0"/>
                            </a:rPr>
                            <m:t>100</m:t>
                          </m:r>
                          <m:r>
                            <a:rPr lang="en-US" b="0" smtClean="0">
                              <a:latin typeface="Cambria Math" panose="02040503050406030204" pitchFamily="18" charset="0"/>
                            </a:rPr>
                            <m:t>∠</m:t>
                          </m:r>
                          <m:sSup>
                            <m:sSupPr>
                              <m:ctrlPr>
                                <a:rPr lang="ru-RU" i="1">
                                  <a:latin typeface="Cambria Math" panose="02040503050406030204" pitchFamily="18" charset="0"/>
                                </a:rPr>
                              </m:ctrlPr>
                            </m:sSupPr>
                            <m:e>
                              <m:r>
                                <a:rPr lang="en-US" b="0" i="1" smtClean="0">
                                  <a:latin typeface="Cambria Math" panose="02040503050406030204" pitchFamily="18" charset="0"/>
                                </a:rPr>
                                <m:t>0</m:t>
                              </m:r>
                            </m:e>
                            <m:sup>
                              <m:r>
                                <a:rPr lang="en-US" b="0" smtClean="0">
                                  <a:latin typeface="Cambria Math" panose="02040503050406030204" pitchFamily="18" charset="0"/>
                                </a:rPr>
                                <m:t>∘</m:t>
                              </m:r>
                            </m:sup>
                          </m:sSup>
                        </m:num>
                        <m:den>
                          <m:r>
                            <a:rPr lang="en-US" b="0" i="1" smtClean="0">
                              <a:latin typeface="Cambria Math" panose="02040503050406030204" pitchFamily="18" charset="0"/>
                            </a:rPr>
                            <m:t>100</m:t>
                          </m:r>
                          <m:r>
                            <a:rPr lang="en-US" b="0"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50</m:t>
                          </m:r>
                        </m:den>
                      </m:f>
                      <m:r>
                        <a:rPr lang="en-US" b="0" i="1" smtClean="0">
                          <a:latin typeface="Cambria Math" panose="02040503050406030204" pitchFamily="18" charset="0"/>
                        </a:rPr>
                        <m:t>.</m:t>
                      </m:r>
                    </m:oMath>
                  </m:oMathPara>
                </a14:m>
                <a:endParaRPr lang="ru-RU" dirty="0"/>
              </a:p>
              <a:p>
                <a:endParaRPr lang="ru-RU" dirty="0"/>
              </a:p>
            </p:txBody>
          </p:sp>
        </mc:Choice>
        <mc:Fallback xmlns="">
          <p:sp>
            <p:nvSpPr>
              <p:cNvPr id="3" name="Объект 2">
                <a:extLst>
                  <a:ext uri="{FF2B5EF4-FFF2-40B4-BE49-F238E27FC236}">
                    <a16:creationId xmlns:a16="http://schemas.microsoft.com/office/drawing/2014/main" id="{78AD7865-941A-D8D9-B5FC-3AEF567606B7}"/>
                  </a:ext>
                </a:extLst>
              </p:cNvPr>
              <p:cNvSpPr>
                <a:spLocks noGrp="1" noRot="1" noChangeAspect="1" noMove="1" noResize="1" noEditPoints="1" noAdjustHandles="1" noChangeArrowheads="1" noChangeShapeType="1" noTextEdit="1"/>
              </p:cNvSpPr>
              <p:nvPr>
                <p:ph idx="1"/>
              </p:nvPr>
            </p:nvSpPr>
            <p:spPr>
              <a:xfrm>
                <a:off x="838200" y="1781493"/>
                <a:ext cx="10515600" cy="4351338"/>
              </a:xfrm>
              <a:blipFill>
                <a:blip r:embed="rId2"/>
                <a:stretch>
                  <a:fillRect l="-1043" t="-2381"/>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AFD41AAE-980D-5AA6-01C0-530CD66347EE}"/>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4951340F-0CE9-68A5-8AD2-6330CB2136FE}"/>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64A097D2-B25F-8A46-73A7-3672529E9138}"/>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30871595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AAB94-62FC-2290-4B06-B80F0DBA4F7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D83DDD4-2FEF-6911-CCE7-A5269A914168}"/>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5B3D2B7C-FE0C-4E4B-F5AE-D692FEEF660A}"/>
                  </a:ext>
                </a:extLst>
              </p:cNvPr>
              <p:cNvSpPr>
                <a:spLocks noGrp="1"/>
              </p:cNvSpPr>
              <p:nvPr>
                <p:ph idx="1"/>
              </p:nvPr>
            </p:nvSpPr>
            <p:spPr>
              <a:xfrm>
                <a:off x="838200" y="1781493"/>
                <a:ext cx="10515600" cy="4351338"/>
              </a:xfrm>
            </p:spPr>
            <p:txBody>
              <a:bodyPr>
                <a:noAutofit/>
              </a:bodyPr>
              <a:lstStyle/>
              <a:p>
                <a:r>
                  <a:rPr lang="en-US" dirty="0"/>
                  <a:t>We convert </a:t>
                </a:r>
                <a14:m>
                  <m:oMath xmlns:m="http://schemas.openxmlformats.org/officeDocument/2006/math">
                    <m:r>
                      <a:rPr lang="en-US" b="0" i="1" smtClean="0">
                        <a:latin typeface="Cambria Math" panose="02040503050406030204" pitchFamily="18" charset="0"/>
                      </a:rPr>
                      <m:t>𝑍</m:t>
                    </m:r>
                  </m:oMath>
                </a14:m>
                <a:r>
                  <a:rPr lang="en-US" dirty="0"/>
                  <a:t> to polar form: </a:t>
                </a:r>
                <a14:m>
                  <m:oMath xmlns:m="http://schemas.openxmlformats.org/officeDocument/2006/math">
                    <m:r>
                      <a:rPr lang="en-US" b="0" smtClean="0">
                        <a:latin typeface="Cambria Math" panose="02040503050406030204" pitchFamily="18" charset="0"/>
                      </a:rPr>
                      <m:t>|</m:t>
                    </m:r>
                    <m:r>
                      <a:rPr lang="en-US" b="0" i="1" smtClean="0">
                        <a:latin typeface="Cambria Math" panose="02040503050406030204" pitchFamily="18" charset="0"/>
                      </a:rPr>
                      <m:t>𝑍</m:t>
                    </m:r>
                    <m:r>
                      <a:rPr lang="en-US" b="0" smtClean="0">
                        <a:latin typeface="Cambria Math" panose="02040503050406030204" pitchFamily="18" charset="0"/>
                      </a:rPr>
                      <m:t>|=</m:t>
                    </m:r>
                    <m:rad>
                      <m:radPr>
                        <m:degHide m:val="on"/>
                        <m:ctrlPr>
                          <a:rPr lang="ru-RU" i="1">
                            <a:latin typeface="Cambria Math" panose="02040503050406030204" pitchFamily="18" charset="0"/>
                          </a:rPr>
                        </m:ctrlPr>
                      </m:radPr>
                      <m:deg/>
                      <m:e>
                        <m:sSup>
                          <m:sSupPr>
                            <m:ctrlPr>
                              <a:rPr lang="ru-RU" i="1">
                                <a:latin typeface="Cambria Math" panose="02040503050406030204" pitchFamily="18" charset="0"/>
                              </a:rPr>
                            </m:ctrlPr>
                          </m:sSupPr>
                          <m:e>
                            <m:r>
                              <a:rPr lang="en-US" b="0" i="1" smtClean="0">
                                <a:latin typeface="Cambria Math" panose="02040503050406030204" pitchFamily="18" charset="0"/>
                              </a:rPr>
                              <m:t>100</m:t>
                            </m:r>
                          </m:e>
                          <m:sup>
                            <m:r>
                              <a:rPr lang="en-US" b="0" i="1" smtClean="0">
                                <a:latin typeface="Cambria Math" panose="02040503050406030204" pitchFamily="18" charset="0"/>
                              </a:rPr>
                              <m:t>2</m:t>
                            </m:r>
                          </m:sup>
                        </m:sSup>
                        <m:r>
                          <a:rPr lang="en-US" b="0" smtClean="0">
                            <a:latin typeface="Cambria Math" panose="02040503050406030204" pitchFamily="18" charset="0"/>
                          </a:rPr>
                          <m:t>+</m:t>
                        </m:r>
                        <m:sSup>
                          <m:sSupPr>
                            <m:ctrlPr>
                              <a:rPr lang="ru-RU" i="1">
                                <a:latin typeface="Cambria Math" panose="02040503050406030204" pitchFamily="18" charset="0"/>
                              </a:rPr>
                            </m:ctrlPr>
                          </m:sSupPr>
                          <m:e>
                            <m:r>
                              <a:rPr lang="en-US" b="0" i="1" smtClean="0">
                                <a:latin typeface="Cambria Math" panose="02040503050406030204" pitchFamily="18" charset="0"/>
                              </a:rPr>
                              <m:t>50</m:t>
                            </m:r>
                          </m:e>
                          <m:sup>
                            <m:r>
                              <a:rPr lang="en-US" b="0" i="1" smtClean="0">
                                <a:latin typeface="Cambria Math" panose="02040503050406030204" pitchFamily="18" charset="0"/>
                              </a:rPr>
                              <m:t>2</m:t>
                            </m:r>
                          </m:sup>
                        </m:sSup>
                      </m:e>
                    </m:rad>
                    <m:r>
                      <a:rPr lang="en-US" b="0" smtClean="0">
                        <a:latin typeface="Cambria Math" panose="02040503050406030204" pitchFamily="18" charset="0"/>
                      </a:rPr>
                      <m:t>≈</m:t>
                    </m:r>
                    <m:r>
                      <a:rPr lang="en-US" b="0" i="1" smtClean="0">
                        <a:latin typeface="Cambria Math" panose="02040503050406030204" pitchFamily="18" charset="0"/>
                      </a:rPr>
                      <m:t>111.8</m:t>
                    </m:r>
                  </m:oMath>
                </a14:m>
                <a:r>
                  <a:rPr lang="en-US" dirty="0"/>
                  <a:t>. </a:t>
                </a:r>
                <a:endParaRPr lang="ru-RU" dirty="0"/>
              </a:p>
              <a:p>
                <a:r>
                  <a:rPr lang="en-US" dirty="0"/>
                  <a:t>Angle </a:t>
                </a:r>
                <a14:m>
                  <m:oMath xmlns:m="http://schemas.openxmlformats.org/officeDocument/2006/math">
                    <m:r>
                      <a:rPr lang="en-US" b="0" i="1" smtClean="0">
                        <a:latin typeface="Cambria Math" panose="02040503050406030204" pitchFamily="18" charset="0"/>
                      </a:rPr>
                      <m:t>𝜙</m:t>
                    </m:r>
                    <m:r>
                      <a:rPr lang="en-US" b="0" smtClean="0">
                        <a:latin typeface="Cambria Math" panose="02040503050406030204" pitchFamily="18" charset="0"/>
                      </a:rPr>
                      <m:t>=</m:t>
                    </m:r>
                    <m:r>
                      <a:rPr lang="en-US" b="0" i="1" smtClean="0">
                        <a:latin typeface="Cambria Math" panose="02040503050406030204" pitchFamily="18" charset="0"/>
                      </a:rPr>
                      <m:t>𝑎𝑟𝑐𝑡𝑎𝑛</m:t>
                    </m:r>
                    <m:r>
                      <a:rPr lang="en-US" b="0" smtClean="0">
                        <a:latin typeface="Cambria Math" panose="02040503050406030204" pitchFamily="18" charset="0"/>
                      </a:rPr>
                      <m:t>(</m:t>
                    </m:r>
                    <m:r>
                      <a:rPr lang="en-US" b="0" i="1" smtClean="0">
                        <a:latin typeface="Cambria Math" panose="02040503050406030204" pitchFamily="18" charset="0"/>
                      </a:rPr>
                      <m:t>50</m:t>
                    </m:r>
                    <m:r>
                      <a:rPr lang="en-US" b="0" smtClean="0">
                        <a:latin typeface="Cambria Math" panose="02040503050406030204" pitchFamily="18" charset="0"/>
                      </a:rPr>
                      <m:t>/</m:t>
                    </m:r>
                    <m:r>
                      <a:rPr lang="en-US" b="0" i="1" smtClean="0">
                        <a:latin typeface="Cambria Math" panose="02040503050406030204" pitchFamily="18" charset="0"/>
                      </a:rPr>
                      <m:t>100</m:t>
                    </m:r>
                    <m:r>
                      <a:rPr lang="en-US" b="0" smtClean="0">
                        <a:latin typeface="Cambria Math" panose="02040503050406030204" pitchFamily="18" charset="0"/>
                      </a:rPr>
                      <m:t>)≈</m:t>
                    </m:r>
                    <m:sSup>
                      <m:sSupPr>
                        <m:ctrlPr>
                          <a:rPr lang="ru-RU" i="1">
                            <a:latin typeface="Cambria Math" panose="02040503050406030204" pitchFamily="18" charset="0"/>
                          </a:rPr>
                        </m:ctrlPr>
                      </m:sSupPr>
                      <m:e>
                        <m:r>
                          <a:rPr lang="en-US" b="0" i="1" smtClean="0">
                            <a:latin typeface="Cambria Math" panose="02040503050406030204" pitchFamily="18" charset="0"/>
                          </a:rPr>
                          <m:t>26.6</m:t>
                        </m:r>
                      </m:e>
                      <m:sup>
                        <m:r>
                          <a:rPr lang="en-US" b="0" smtClean="0">
                            <a:latin typeface="Cambria Math" panose="02040503050406030204" pitchFamily="18" charset="0"/>
                          </a:rPr>
                          <m:t>∘</m:t>
                        </m:r>
                      </m:sup>
                    </m:sSup>
                  </m:oMath>
                </a14:m>
                <a:r>
                  <a:rPr lang="en-US" dirty="0"/>
                  <a:t>. </a:t>
                </a:r>
                <a:endParaRPr lang="ru-RU" dirty="0"/>
              </a:p>
              <a:p>
                <a:r>
                  <a:rPr lang="en-US" dirty="0"/>
                  <a:t>So, </a:t>
                </a:r>
                <a14:m>
                  <m:oMath xmlns:m="http://schemas.openxmlformats.org/officeDocument/2006/math">
                    <m:r>
                      <a:rPr lang="en-US" b="0" i="1" smtClean="0">
                        <a:latin typeface="Cambria Math" panose="02040503050406030204" pitchFamily="18" charset="0"/>
                      </a:rPr>
                      <m:t>𝑍</m:t>
                    </m:r>
                    <m:r>
                      <a:rPr lang="en-US" b="0" smtClean="0">
                        <a:latin typeface="Cambria Math" panose="02040503050406030204" pitchFamily="18" charset="0"/>
                      </a:rPr>
                      <m:t>=</m:t>
                    </m:r>
                    <m:r>
                      <a:rPr lang="en-US" b="0" i="1" smtClean="0">
                        <a:latin typeface="Cambria Math" panose="02040503050406030204" pitchFamily="18" charset="0"/>
                      </a:rPr>
                      <m:t>111.8</m:t>
                    </m:r>
                    <m:r>
                      <a:rPr lang="en-US" b="0" smtClean="0">
                        <a:latin typeface="Cambria Math" panose="02040503050406030204" pitchFamily="18" charset="0"/>
                      </a:rPr>
                      <m:t>∠</m:t>
                    </m:r>
                    <m:sSup>
                      <m:sSupPr>
                        <m:ctrlPr>
                          <a:rPr lang="ru-RU" i="1">
                            <a:latin typeface="Cambria Math" panose="02040503050406030204" pitchFamily="18" charset="0"/>
                          </a:rPr>
                        </m:ctrlPr>
                      </m:sSupPr>
                      <m:e>
                        <m:r>
                          <a:rPr lang="en-US" b="0" i="1" smtClean="0">
                            <a:latin typeface="Cambria Math" panose="02040503050406030204" pitchFamily="18" charset="0"/>
                          </a:rPr>
                          <m:t>26.6</m:t>
                        </m:r>
                      </m:e>
                      <m:sup>
                        <m:r>
                          <a:rPr lang="en-US" b="0" smtClean="0">
                            <a:latin typeface="Cambria Math" panose="02040503050406030204" pitchFamily="18" charset="0"/>
                          </a:rPr>
                          <m:t>∘</m:t>
                        </m:r>
                      </m:sup>
                    </m:sSup>
                  </m:oMath>
                </a14:m>
                <a:r>
                  <a:rPr lang="en-US" dirty="0"/>
                  <a:t>. </a:t>
                </a:r>
                <a14:m>
                  <m:oMath xmlns:m="http://schemas.openxmlformats.org/officeDocument/2006/math">
                    <m:acc>
                      <m:accPr>
                        <m:chr m:val="̇"/>
                        <m:ctrlPr>
                          <a:rPr lang="ru-RU" i="1">
                            <a:latin typeface="Cambria Math" panose="02040503050406030204" pitchFamily="18" charset="0"/>
                          </a:rPr>
                        </m:ctrlPr>
                      </m:accPr>
                      <m:e>
                        <m:r>
                          <a:rPr lang="en-US" b="0" i="1" smtClean="0">
                            <a:latin typeface="Cambria Math" panose="02040503050406030204" pitchFamily="18" charset="0"/>
                          </a:rPr>
                          <m:t>𝐼</m:t>
                        </m:r>
                      </m:e>
                    </m:acc>
                    <m:r>
                      <a:rPr lang="en-US" b="0" smtClean="0">
                        <a:latin typeface="Cambria Math" panose="02040503050406030204" pitchFamily="18" charset="0"/>
                      </a:rPr>
                      <m:t>=</m:t>
                    </m:r>
                    <m:f>
                      <m:fPr>
                        <m:ctrlPr>
                          <a:rPr lang="ru-RU" i="1">
                            <a:latin typeface="Cambria Math" panose="02040503050406030204" pitchFamily="18" charset="0"/>
                          </a:rPr>
                        </m:ctrlPr>
                      </m:fPr>
                      <m:num>
                        <m:r>
                          <a:rPr lang="en-US" b="0" i="1" smtClean="0">
                            <a:latin typeface="Cambria Math" panose="02040503050406030204" pitchFamily="18" charset="0"/>
                          </a:rPr>
                          <m:t>100</m:t>
                        </m:r>
                        <m:r>
                          <a:rPr lang="en-US" b="0" smtClean="0">
                            <a:latin typeface="Cambria Math" panose="02040503050406030204" pitchFamily="18" charset="0"/>
                          </a:rPr>
                          <m:t>∠</m:t>
                        </m:r>
                        <m:sSup>
                          <m:sSupPr>
                            <m:ctrlPr>
                              <a:rPr lang="ru-RU" i="1">
                                <a:latin typeface="Cambria Math" panose="02040503050406030204" pitchFamily="18" charset="0"/>
                              </a:rPr>
                            </m:ctrlPr>
                          </m:sSupPr>
                          <m:e>
                            <m:r>
                              <a:rPr lang="en-US" b="0" i="1" smtClean="0">
                                <a:latin typeface="Cambria Math" panose="02040503050406030204" pitchFamily="18" charset="0"/>
                              </a:rPr>
                              <m:t>0</m:t>
                            </m:r>
                          </m:e>
                          <m:sup>
                            <m:r>
                              <a:rPr lang="en-US" b="0" smtClean="0">
                                <a:latin typeface="Cambria Math" panose="02040503050406030204" pitchFamily="18" charset="0"/>
                              </a:rPr>
                              <m:t>∘</m:t>
                            </m:r>
                          </m:sup>
                        </m:sSup>
                      </m:num>
                      <m:den>
                        <m:r>
                          <a:rPr lang="en-US" b="0" i="1" smtClean="0">
                            <a:latin typeface="Cambria Math" panose="02040503050406030204" pitchFamily="18" charset="0"/>
                          </a:rPr>
                          <m:t>111.8</m:t>
                        </m:r>
                        <m:r>
                          <a:rPr lang="en-US" b="0" smtClean="0">
                            <a:latin typeface="Cambria Math" panose="02040503050406030204" pitchFamily="18" charset="0"/>
                          </a:rPr>
                          <m:t>∠</m:t>
                        </m:r>
                        <m:sSup>
                          <m:sSupPr>
                            <m:ctrlPr>
                              <a:rPr lang="ru-RU" i="1">
                                <a:latin typeface="Cambria Math" panose="02040503050406030204" pitchFamily="18" charset="0"/>
                              </a:rPr>
                            </m:ctrlPr>
                          </m:sSupPr>
                          <m:e>
                            <m:r>
                              <a:rPr lang="en-US" b="0" i="1" smtClean="0">
                                <a:latin typeface="Cambria Math" panose="02040503050406030204" pitchFamily="18" charset="0"/>
                              </a:rPr>
                              <m:t>26.6</m:t>
                            </m:r>
                          </m:e>
                          <m:sup>
                            <m:r>
                              <a:rPr lang="en-US" b="0" smtClean="0">
                                <a:latin typeface="Cambria Math" panose="02040503050406030204" pitchFamily="18" charset="0"/>
                              </a:rPr>
                              <m:t>∘</m:t>
                            </m:r>
                          </m:sup>
                        </m:sSup>
                      </m:den>
                    </m:f>
                    <m:r>
                      <a:rPr lang="en-US" b="0" smtClean="0">
                        <a:latin typeface="Cambria Math" panose="02040503050406030204" pitchFamily="18" charset="0"/>
                      </a:rPr>
                      <m:t>=</m:t>
                    </m:r>
                    <m:r>
                      <a:rPr lang="en-US" b="0" i="1" smtClean="0">
                        <a:latin typeface="Cambria Math" panose="02040503050406030204" pitchFamily="18" charset="0"/>
                      </a:rPr>
                      <m:t>0.89</m:t>
                    </m:r>
                    <m:r>
                      <a:rPr lang="en-US" b="0" smtClean="0">
                        <a:latin typeface="Cambria Math" panose="02040503050406030204" pitchFamily="18" charset="0"/>
                      </a:rPr>
                      <m:t>∠</m:t>
                    </m:r>
                    <m:r>
                      <a:rPr lang="en-US" b="0" i="1" smtClean="0">
                        <a:latin typeface="Cambria Math" panose="02040503050406030204" pitchFamily="18" charset="0"/>
                      </a:rPr>
                      <m:t>−</m:t>
                    </m:r>
                    <m:sSup>
                      <m:sSupPr>
                        <m:ctrlPr>
                          <a:rPr lang="ru-RU" i="1">
                            <a:latin typeface="Cambria Math" panose="02040503050406030204" pitchFamily="18" charset="0"/>
                          </a:rPr>
                        </m:ctrlPr>
                      </m:sSupPr>
                      <m:e>
                        <m:r>
                          <a:rPr lang="en-US" b="0" i="1" smtClean="0">
                            <a:latin typeface="Cambria Math" panose="02040503050406030204" pitchFamily="18" charset="0"/>
                          </a:rPr>
                          <m:t>26.6</m:t>
                        </m:r>
                      </m:e>
                      <m:sup>
                        <m:r>
                          <a:rPr lang="en-US" b="0" smtClean="0">
                            <a:latin typeface="Cambria Math" panose="02040503050406030204" pitchFamily="18" charset="0"/>
                          </a:rPr>
                          <m:t>∘</m:t>
                        </m:r>
                      </m:sup>
                    </m:sSup>
                    <m:r>
                      <m:rPr>
                        <m:nor/>
                      </m:rPr>
                      <a:rPr lang="en-US"/>
                      <m:t> </m:t>
                    </m:r>
                    <m:r>
                      <m:rPr>
                        <m:nor/>
                      </m:rPr>
                      <a:rPr lang="en-US"/>
                      <m:t>A</m:t>
                    </m:r>
                    <m:r>
                      <a:rPr lang="en-US" b="0" i="1" smtClean="0">
                        <a:latin typeface="Cambria Math" panose="02040503050406030204" pitchFamily="18" charset="0"/>
                      </a:rPr>
                      <m:t>.</m:t>
                    </m:r>
                  </m:oMath>
                </a14:m>
                <a:endParaRPr lang="en-US" dirty="0"/>
              </a:p>
              <a:p>
                <a:r>
                  <a:rPr lang="en-US" dirty="0"/>
                  <a:t>The result tells us the current amplitude is 0.89 A, and it lags the voltage by 26.6 degrees.</a:t>
                </a:r>
                <a:endParaRPr lang="ru-RU" dirty="0"/>
              </a:p>
            </p:txBody>
          </p:sp>
        </mc:Choice>
        <mc:Fallback xmlns="">
          <p:sp>
            <p:nvSpPr>
              <p:cNvPr id="3" name="Объект 2">
                <a:extLst>
                  <a:ext uri="{FF2B5EF4-FFF2-40B4-BE49-F238E27FC236}">
                    <a16:creationId xmlns:a16="http://schemas.microsoft.com/office/drawing/2014/main" id="{5B3D2B7C-FE0C-4E4B-F5AE-D692FEEF660A}"/>
                  </a:ext>
                </a:extLst>
              </p:cNvPr>
              <p:cNvSpPr>
                <a:spLocks noGrp="1" noRot="1" noChangeAspect="1" noMove="1" noResize="1" noEditPoints="1" noAdjustHandles="1" noChangeArrowheads="1" noChangeShapeType="1" noTextEdit="1"/>
              </p:cNvSpPr>
              <p:nvPr>
                <p:ph idx="1"/>
              </p:nvPr>
            </p:nvSpPr>
            <p:spPr>
              <a:xfrm>
                <a:off x="838200" y="1781493"/>
                <a:ext cx="10515600" cy="4351338"/>
              </a:xfrm>
              <a:blipFill>
                <a:blip r:embed="rId2"/>
                <a:stretch>
                  <a:fillRect l="-1043" t="-1261"/>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29E5F2AD-AACF-6503-9B20-DD853ED709ED}"/>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186CB4EA-97E0-D94B-546D-1A099C88B28B}"/>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FF099AA4-3D5D-7652-C2A7-90E1BD871A29}"/>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11838743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DEC68-5EED-B28F-88C0-512FA026E7C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3D086A21-BA07-7480-0DBD-441BDD962F03}"/>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1192D432-D3CF-6FE7-B8E7-9BA3848ED631}"/>
                  </a:ext>
                </a:extLst>
              </p:cNvPr>
              <p:cNvSpPr>
                <a:spLocks noGrp="1"/>
              </p:cNvSpPr>
              <p:nvPr>
                <p:ph idx="1"/>
              </p:nvPr>
            </p:nvSpPr>
            <p:spPr>
              <a:xfrm>
                <a:off x="838200" y="1781493"/>
                <a:ext cx="10515600" cy="4351338"/>
              </a:xfrm>
            </p:spPr>
            <p:txBody>
              <a:bodyPr>
                <a:noAutofit/>
              </a:bodyPr>
              <a:lstStyle/>
              <a:p>
                <a:pPr algn="just">
                  <a:lnSpc>
                    <a:spcPct val="120000"/>
                  </a:lnSpc>
                </a:pPr>
                <a:r>
                  <a:rPr lang="en-US" dirty="0">
                    <a:effectLst/>
                    <a:ea typeface="Aptos" panose="020B0004020202020204" pitchFamily="34" charset="0"/>
                  </a:rPr>
                  <a:t>Let us briefly look at the «Impedance Triangle». This is a geometric way to visualize </a:t>
                </a:r>
                <a14:m>
                  <m:oMath xmlns:m="http://schemas.openxmlformats.org/officeDocument/2006/math">
                    <m:r>
                      <a:rPr lang="en-US" i="1" dirty="0" smtClean="0">
                        <a:effectLst/>
                        <a:latin typeface="Cambria Math" panose="02040503050406030204" pitchFamily="18" charset="0"/>
                        <a:ea typeface="Aptos" panose="020B0004020202020204" pitchFamily="34" charset="0"/>
                      </a:rPr>
                      <m:t>𝑍</m:t>
                    </m:r>
                    <m:r>
                      <a:rPr lang="en-US" i="1" dirty="0" smtClean="0">
                        <a:effectLst/>
                        <a:latin typeface="Cambria Math" panose="02040503050406030204" pitchFamily="18" charset="0"/>
                        <a:ea typeface="Aptos" panose="020B0004020202020204" pitchFamily="34" charset="0"/>
                      </a:rPr>
                      <m:t>=</m:t>
                    </m:r>
                    <m:r>
                      <a:rPr lang="en-US" i="1" dirty="0" err="1" smtClean="0">
                        <a:effectLst/>
                        <a:latin typeface="Cambria Math" panose="02040503050406030204" pitchFamily="18" charset="0"/>
                        <a:ea typeface="Aptos" panose="020B0004020202020204" pitchFamily="34" charset="0"/>
                      </a:rPr>
                      <m:t>𝑅</m:t>
                    </m:r>
                    <m:r>
                      <a:rPr lang="en-US" i="1" dirty="0" err="1" smtClean="0">
                        <a:effectLst/>
                        <a:latin typeface="Cambria Math" panose="02040503050406030204" pitchFamily="18" charset="0"/>
                        <a:ea typeface="Aptos" panose="020B0004020202020204" pitchFamily="34" charset="0"/>
                      </a:rPr>
                      <m:t>+</m:t>
                    </m:r>
                    <m:r>
                      <a:rPr lang="en-US" i="1" dirty="0" err="1" smtClean="0">
                        <a:effectLst/>
                        <a:latin typeface="Cambria Math" panose="02040503050406030204" pitchFamily="18" charset="0"/>
                        <a:ea typeface="Aptos" panose="020B0004020202020204" pitchFamily="34" charset="0"/>
                      </a:rPr>
                      <m:t>𝑗𝑋</m:t>
                    </m:r>
                  </m:oMath>
                </a14:m>
                <a:r>
                  <a:rPr lang="en-US" dirty="0">
                    <a:effectLst/>
                    <a:ea typeface="Aptos" panose="020B0004020202020204" pitchFamily="34" charset="0"/>
                  </a:rPr>
                  <a:t>. </a:t>
                </a:r>
              </a:p>
              <a:p>
                <a:pPr algn="just">
                  <a:lnSpc>
                    <a:spcPct val="120000"/>
                  </a:lnSpc>
                </a:pPr>
                <a:r>
                  <a:rPr lang="en-US" b="1" dirty="0">
                    <a:effectLst/>
                    <a:ea typeface="Aptos" panose="020B0004020202020204" pitchFamily="34" charset="0"/>
                  </a:rPr>
                  <a:t>We draw the Resistance </a:t>
                </a:r>
                <a14:m>
                  <m:oMath xmlns:m="http://schemas.openxmlformats.org/officeDocument/2006/math">
                    <m:r>
                      <a:rPr lang="en-US" b="1" i="1">
                        <a:effectLst/>
                        <a:latin typeface="Cambria Math" panose="02040503050406030204" pitchFamily="18" charset="0"/>
                        <a:ea typeface="Aptos" panose="020B0004020202020204" pitchFamily="34" charset="0"/>
                      </a:rPr>
                      <m:t>𝑹</m:t>
                    </m:r>
                  </m:oMath>
                </a14:m>
                <a:r>
                  <a:rPr lang="en-US" b="1" dirty="0">
                    <a:effectLst/>
                    <a:ea typeface="Aptos" panose="020B0004020202020204" pitchFamily="34" charset="0"/>
                  </a:rPr>
                  <a:t> on the horizontal (Real) axis. We draw the Reactance </a:t>
                </a:r>
                <a14:m>
                  <m:oMath xmlns:m="http://schemas.openxmlformats.org/officeDocument/2006/math">
                    <m:r>
                      <a:rPr lang="en-US" b="1" i="1">
                        <a:effectLst/>
                        <a:latin typeface="Cambria Math" panose="02040503050406030204" pitchFamily="18" charset="0"/>
                        <a:ea typeface="Aptos" panose="020B0004020202020204" pitchFamily="34" charset="0"/>
                      </a:rPr>
                      <m:t>𝑿</m:t>
                    </m:r>
                  </m:oMath>
                </a14:m>
                <a:r>
                  <a:rPr lang="en-US" b="1" dirty="0">
                    <a:effectLst/>
                    <a:ea typeface="Aptos" panose="020B0004020202020204" pitchFamily="34" charset="0"/>
                  </a:rPr>
                  <a:t> on the vertical (Imaginary) axis.</a:t>
                </a:r>
              </a:p>
              <a:p>
                <a:pPr algn="just">
                  <a:lnSpc>
                    <a:spcPct val="120000"/>
                  </a:lnSpc>
                </a:pPr>
                <a:r>
                  <a:rPr lang="en-US" dirty="0">
                    <a:effectLst/>
                    <a:ea typeface="Aptos" panose="020B0004020202020204" pitchFamily="34" charset="0"/>
                  </a:rPr>
                  <a:t>If X is inductive (positive), we draw it pointing Up. </a:t>
                </a:r>
              </a:p>
              <a:p>
                <a:pPr algn="just">
                  <a:lnSpc>
                    <a:spcPct val="120000"/>
                  </a:lnSpc>
                </a:pPr>
                <a:r>
                  <a:rPr lang="en-US" dirty="0">
                    <a:effectLst/>
                    <a:ea typeface="Aptos" panose="020B0004020202020204" pitchFamily="34" charset="0"/>
                  </a:rPr>
                  <a:t>If X is capacitive (negative), we draw it pointing Down. </a:t>
                </a:r>
                <a:endParaRPr lang="ru-RU" dirty="0">
                  <a:effectLst/>
                  <a:ea typeface="Aptos" panose="020B0004020202020204" pitchFamily="34" charset="0"/>
                </a:endParaRPr>
              </a:p>
            </p:txBody>
          </p:sp>
        </mc:Choice>
        <mc:Fallback xmlns="">
          <p:sp>
            <p:nvSpPr>
              <p:cNvPr id="3" name="Объект 2">
                <a:extLst>
                  <a:ext uri="{FF2B5EF4-FFF2-40B4-BE49-F238E27FC236}">
                    <a16:creationId xmlns:a16="http://schemas.microsoft.com/office/drawing/2014/main" id="{1192D432-D3CF-6FE7-B8E7-9BA3848ED631}"/>
                  </a:ext>
                </a:extLst>
              </p:cNvPr>
              <p:cNvSpPr>
                <a:spLocks noGrp="1" noRot="1" noChangeAspect="1" noMove="1" noResize="1" noEditPoints="1" noAdjustHandles="1" noChangeArrowheads="1" noChangeShapeType="1" noTextEdit="1"/>
              </p:cNvSpPr>
              <p:nvPr>
                <p:ph idx="1"/>
              </p:nvPr>
            </p:nvSpPr>
            <p:spPr>
              <a:xfrm>
                <a:off x="838200" y="1781493"/>
                <a:ext cx="10515600" cy="4351338"/>
              </a:xfrm>
              <a:blipFill>
                <a:blip r:embed="rId2"/>
                <a:stretch>
                  <a:fillRect l="-1043" t="-140" r="-1159"/>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074A9738-D881-11FF-5EE3-8EB5966F8905}"/>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6E6064F4-D02B-1741-D49E-6ECDE5F5DD4E}"/>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785B0C82-EC37-C349-D1E1-5ED7247F9F95}"/>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20886983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2FAB6-91C5-7D7B-A591-440F892E3B9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D13253C-0351-1B60-B136-4F80708B46DF}"/>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B33845F0-927B-9784-9FF7-4D3C42209C61}"/>
                  </a:ext>
                </a:extLst>
              </p:cNvPr>
              <p:cNvSpPr>
                <a:spLocks noGrp="1"/>
              </p:cNvSpPr>
              <p:nvPr>
                <p:ph idx="1"/>
              </p:nvPr>
            </p:nvSpPr>
            <p:spPr>
              <a:xfrm>
                <a:off x="838200" y="1781493"/>
                <a:ext cx="10515600" cy="4351338"/>
              </a:xfrm>
            </p:spPr>
            <p:txBody>
              <a:bodyPr>
                <a:noAutofit/>
              </a:bodyPr>
              <a:lstStyle/>
              <a:p>
                <a:r>
                  <a:rPr lang="en-US" b="1" dirty="0"/>
                  <a:t>The Impedance </a:t>
                </a:r>
                <a14:m>
                  <m:oMath xmlns:m="http://schemas.openxmlformats.org/officeDocument/2006/math">
                    <m:r>
                      <a:rPr lang="en-US" b="1" i="1">
                        <a:latin typeface="Cambria Math" panose="02040503050406030204" pitchFamily="18" charset="0"/>
                      </a:rPr>
                      <m:t>𝒁</m:t>
                    </m:r>
                  </m:oMath>
                </a14:m>
                <a:r>
                  <a:rPr lang="en-US" b="1" dirty="0"/>
                  <a:t> is the hypotenuse of this right-angled triangle.</a:t>
                </a:r>
                <a:r>
                  <a:rPr lang="en-US" dirty="0"/>
                  <a:t> </a:t>
                </a:r>
                <a:endParaRPr lang="ru-RU" dirty="0"/>
              </a:p>
              <a:p>
                <a:r>
                  <a:rPr lang="en-US" dirty="0"/>
                  <a:t>This visual tool helps us understand how changing </a:t>
                </a:r>
                <a14:m>
                  <m:oMath xmlns:m="http://schemas.openxmlformats.org/officeDocument/2006/math">
                    <m:r>
                      <a:rPr lang="en-US" i="1">
                        <a:latin typeface="Cambria Math" panose="02040503050406030204" pitchFamily="18" charset="0"/>
                      </a:rPr>
                      <m:t>𝑅</m:t>
                    </m:r>
                  </m:oMath>
                </a14:m>
                <a:r>
                  <a:rPr lang="en-US" dirty="0"/>
                  <a:t> or </a:t>
                </a:r>
                <a14:m>
                  <m:oMath xmlns:m="http://schemas.openxmlformats.org/officeDocument/2006/math">
                    <m:r>
                      <a:rPr lang="en-US" i="1">
                        <a:latin typeface="Cambria Math" panose="02040503050406030204" pitchFamily="18" charset="0"/>
                      </a:rPr>
                      <m:t>𝑋</m:t>
                    </m:r>
                  </m:oMath>
                </a14:m>
                <a:r>
                  <a:rPr lang="en-US" dirty="0"/>
                  <a:t> affects the total magnitude and the phase angle </a:t>
                </a:r>
                <a14:m>
                  <m:oMath xmlns:m="http://schemas.openxmlformats.org/officeDocument/2006/math">
                    <m:r>
                      <a:rPr lang="en-US" i="1">
                        <a:latin typeface="Cambria Math" panose="02040503050406030204" pitchFamily="18" charset="0"/>
                      </a:rPr>
                      <m:t>𝜙</m:t>
                    </m:r>
                  </m:oMath>
                </a14:m>
                <a:r>
                  <a:rPr lang="en-US" dirty="0"/>
                  <a:t>. Power engineers use this constantly to correct «Power Factor», which we will discuss in Lecture 10.</a:t>
                </a:r>
                <a:endParaRPr lang="ru-RU" dirty="0"/>
              </a:p>
            </p:txBody>
          </p:sp>
        </mc:Choice>
        <mc:Fallback xmlns="">
          <p:sp>
            <p:nvSpPr>
              <p:cNvPr id="3" name="Объект 2">
                <a:extLst>
                  <a:ext uri="{FF2B5EF4-FFF2-40B4-BE49-F238E27FC236}">
                    <a16:creationId xmlns:a16="http://schemas.microsoft.com/office/drawing/2014/main" id="{B33845F0-927B-9784-9FF7-4D3C42209C61}"/>
                  </a:ext>
                </a:extLst>
              </p:cNvPr>
              <p:cNvSpPr>
                <a:spLocks noGrp="1" noRot="1" noChangeAspect="1" noMove="1" noResize="1" noEditPoints="1" noAdjustHandles="1" noChangeArrowheads="1" noChangeShapeType="1" noTextEdit="1"/>
              </p:cNvSpPr>
              <p:nvPr>
                <p:ph idx="1"/>
              </p:nvPr>
            </p:nvSpPr>
            <p:spPr>
              <a:xfrm>
                <a:off x="838200" y="1781493"/>
                <a:ext cx="10515600" cy="4351338"/>
              </a:xfrm>
              <a:blipFill>
                <a:blip r:embed="rId2"/>
                <a:stretch>
                  <a:fillRect l="-1043" t="-2381" r="-754"/>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D2A18EC2-5301-04F0-359A-8DC4390D7351}"/>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4195461F-3E2C-C2D3-73C2-520B7E7F0E73}"/>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469570DD-A729-A208-944C-EB97FB75A82A}"/>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21567563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3F9AC-7E50-9B8C-B168-E9259D97A22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FA7A7AE-FF7C-56DB-32A0-1544DE338D11}"/>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sp>
        <p:nvSpPr>
          <p:cNvPr id="3" name="Объект 2">
            <a:extLst>
              <a:ext uri="{FF2B5EF4-FFF2-40B4-BE49-F238E27FC236}">
                <a16:creationId xmlns:a16="http://schemas.microsoft.com/office/drawing/2014/main" id="{79BD75F8-5E4F-FF4E-367C-5FC3C0D72035}"/>
              </a:ext>
            </a:extLst>
          </p:cNvPr>
          <p:cNvSpPr>
            <a:spLocks noGrp="1"/>
          </p:cNvSpPr>
          <p:nvPr>
            <p:ph idx="1"/>
          </p:nvPr>
        </p:nvSpPr>
        <p:spPr>
          <a:xfrm>
            <a:off x="838200" y="1781493"/>
            <a:ext cx="10515600" cy="4351338"/>
          </a:xfrm>
        </p:spPr>
        <p:txBody>
          <a:bodyPr>
            <a:noAutofit/>
          </a:bodyPr>
          <a:lstStyle/>
          <a:p>
            <a:r>
              <a:rPr lang="en-US" dirty="0"/>
              <a:t>We must discuss the behavior of «Real» components versus «Ideal» components in AC.</a:t>
            </a:r>
          </a:p>
          <a:p>
            <a:r>
              <a:rPr lang="en-US" dirty="0"/>
              <a:t>Ideally, an inductor has only inductance (L), and a capacitor has only capacitance (C). </a:t>
            </a:r>
          </a:p>
          <a:p>
            <a:r>
              <a:rPr lang="en-US" dirty="0"/>
              <a:t>However, in the real world, materials are not perfect.</a:t>
            </a:r>
          </a:p>
          <a:p>
            <a:r>
              <a:rPr lang="en-US" b="1" dirty="0"/>
              <a:t>A real inductor is made of a long wire coiled up, this wire has resistance. </a:t>
            </a:r>
            <a:endParaRPr lang="ru-RU" b="1" dirty="0"/>
          </a:p>
        </p:txBody>
      </p:sp>
      <p:grpSp>
        <p:nvGrpSpPr>
          <p:cNvPr id="4" name="Группа 3">
            <a:extLst>
              <a:ext uri="{FF2B5EF4-FFF2-40B4-BE49-F238E27FC236}">
                <a16:creationId xmlns:a16="http://schemas.microsoft.com/office/drawing/2014/main" id="{086598E7-B29D-576B-0603-51767B39A4D6}"/>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BEA46130-4524-604C-13CF-707CAA49B2C3}"/>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2E6C3CBA-082A-E071-2047-34FB9151F263}"/>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25349497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59A3A-3889-9EC8-D2B2-9973572E0AD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4DE5EDD-1E10-E258-58F3-73339FF67002}"/>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761C3215-4596-0023-2113-C12FDD66F837}"/>
                  </a:ext>
                </a:extLst>
              </p:cNvPr>
              <p:cNvSpPr>
                <a:spLocks noGrp="1"/>
              </p:cNvSpPr>
              <p:nvPr>
                <p:ph idx="1"/>
              </p:nvPr>
            </p:nvSpPr>
            <p:spPr>
              <a:xfrm>
                <a:off x="838200" y="1781493"/>
                <a:ext cx="10515600" cy="4351338"/>
              </a:xfrm>
            </p:spPr>
            <p:txBody>
              <a:bodyPr>
                <a:noAutofit/>
              </a:bodyPr>
              <a:lstStyle/>
              <a:p>
                <a:r>
                  <a:rPr lang="en-US" b="1" dirty="0"/>
                  <a:t>Therefore, a real inductor is modeled as an ideal inductance </a:t>
                </a:r>
                <a14:m>
                  <m:oMath xmlns:m="http://schemas.openxmlformats.org/officeDocument/2006/math">
                    <m:r>
                      <a:rPr lang="en-US" b="1" i="1" smtClean="0">
                        <a:latin typeface="Cambria Math" panose="02040503050406030204" pitchFamily="18" charset="0"/>
                      </a:rPr>
                      <m:t>𝑳</m:t>
                    </m:r>
                  </m:oMath>
                </a14:m>
                <a:r>
                  <a:rPr lang="en-US" b="1" dirty="0"/>
                  <a:t> in series with a small resistance </a:t>
                </a:r>
                <a14:m>
                  <m:oMath xmlns:m="http://schemas.openxmlformats.org/officeDocument/2006/math">
                    <m:sSub>
                      <m:sSubPr>
                        <m:ctrlPr>
                          <a:rPr lang="ru-RU" b="1" i="1">
                            <a:latin typeface="Cambria Math" panose="02040503050406030204" pitchFamily="18" charset="0"/>
                          </a:rPr>
                        </m:ctrlPr>
                      </m:sSubPr>
                      <m:e>
                        <m:r>
                          <a:rPr lang="en-US" b="1" i="1" smtClean="0">
                            <a:latin typeface="Cambria Math" panose="02040503050406030204" pitchFamily="18" charset="0"/>
                          </a:rPr>
                          <m:t>𝑹</m:t>
                        </m:r>
                      </m:e>
                      <m:sub>
                        <m:r>
                          <a:rPr lang="en-US" b="1" i="1" smtClean="0">
                            <a:latin typeface="Cambria Math" panose="02040503050406030204" pitchFamily="18" charset="0"/>
                          </a:rPr>
                          <m:t>𝒘𝒊𝒓𝒆</m:t>
                        </m:r>
                      </m:sub>
                    </m:sSub>
                    <m:r>
                      <a:rPr lang="en-US" b="1" smtClean="0">
                        <a:latin typeface="Cambria Math" panose="02040503050406030204" pitchFamily="18" charset="0"/>
                      </a:rPr>
                      <m:t>.</m:t>
                    </m:r>
                  </m:oMath>
                </a14:m>
                <a:r>
                  <a:rPr lang="en-US" b="1" dirty="0"/>
                  <a:t> </a:t>
                </a:r>
                <a:endParaRPr lang="ru-RU" b="1" dirty="0"/>
              </a:p>
              <a:p>
                <a:r>
                  <a:rPr lang="en-US" dirty="0"/>
                  <a:t>The impedance of a real inductor is:</a:t>
                </a:r>
              </a:p>
              <a:p>
                <a:pPr marL="0" indent="0">
                  <a:buNone/>
                </a:pPr>
                <a14:m>
                  <m:oMathPara xmlns:m="http://schemas.openxmlformats.org/officeDocument/2006/math">
                    <m:oMathParaPr>
                      <m:jc m:val="centerGroup"/>
                    </m:oMathParaPr>
                    <m:oMath xmlns:m="http://schemas.openxmlformats.org/officeDocument/2006/math">
                      <m:sSub>
                        <m:sSubPr>
                          <m:ctrlPr>
                            <a:rPr lang="ru-RU" b="1" i="1">
                              <a:latin typeface="Cambria Math" panose="02040503050406030204" pitchFamily="18" charset="0"/>
                            </a:rPr>
                          </m:ctrlPr>
                        </m:sSubPr>
                        <m:e>
                          <m:r>
                            <a:rPr lang="en-US" b="1" i="1" smtClean="0">
                              <a:latin typeface="Cambria Math" panose="02040503050406030204" pitchFamily="18" charset="0"/>
                            </a:rPr>
                            <m:t>𝒁</m:t>
                          </m:r>
                        </m:e>
                        <m:sub>
                          <m:r>
                            <a:rPr lang="en-US" b="1" i="1" smtClean="0">
                              <a:latin typeface="Cambria Math" panose="02040503050406030204" pitchFamily="18" charset="0"/>
                            </a:rPr>
                            <m:t>𝒓𝒆𝒂</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𝒍</m:t>
                              </m:r>
                            </m:e>
                            <m:sub>
                              <m:r>
                                <a:rPr lang="en-US" b="1" i="1" smtClean="0">
                                  <a:latin typeface="Cambria Math" panose="02040503050406030204" pitchFamily="18" charset="0"/>
                                </a:rPr>
                                <m:t>𝑳</m:t>
                              </m:r>
                            </m:sub>
                          </m:sSub>
                        </m:sub>
                      </m:sSub>
                      <m:r>
                        <a:rPr lang="en-US" b="1" smtClean="0">
                          <a:latin typeface="Cambria Math" panose="02040503050406030204" pitchFamily="18" charset="0"/>
                        </a:rPr>
                        <m:t>=</m:t>
                      </m:r>
                      <m:sSub>
                        <m:sSubPr>
                          <m:ctrlPr>
                            <a:rPr lang="ru-RU" b="1" i="1">
                              <a:latin typeface="Cambria Math" panose="02040503050406030204" pitchFamily="18" charset="0"/>
                            </a:rPr>
                          </m:ctrlPr>
                        </m:sSubPr>
                        <m:e>
                          <m:r>
                            <a:rPr lang="en-US" b="1" i="1" smtClean="0">
                              <a:latin typeface="Cambria Math" panose="02040503050406030204" pitchFamily="18" charset="0"/>
                            </a:rPr>
                            <m:t>𝑹</m:t>
                          </m:r>
                        </m:e>
                        <m:sub>
                          <m:r>
                            <a:rPr lang="en-US" b="1" i="1" smtClean="0">
                              <a:latin typeface="Cambria Math" panose="02040503050406030204" pitchFamily="18" charset="0"/>
                            </a:rPr>
                            <m:t>𝒘𝒊𝒓𝒆</m:t>
                          </m:r>
                        </m:sub>
                      </m:sSub>
                      <m:r>
                        <a:rPr lang="en-US" b="1" smtClean="0">
                          <a:latin typeface="Cambria Math" panose="02040503050406030204" pitchFamily="18" charset="0"/>
                        </a:rPr>
                        <m:t>+</m:t>
                      </m:r>
                      <m:r>
                        <a:rPr lang="en-US" b="1" i="1" smtClean="0">
                          <a:latin typeface="Cambria Math" panose="02040503050406030204" pitchFamily="18" charset="0"/>
                        </a:rPr>
                        <m:t>𝒋</m:t>
                      </m:r>
                      <m:r>
                        <a:rPr lang="en-US" b="1" i="1" smtClean="0">
                          <a:latin typeface="Cambria Math" panose="02040503050406030204" pitchFamily="18" charset="0"/>
                        </a:rPr>
                        <m:t>𝝎</m:t>
                      </m:r>
                      <m:r>
                        <a:rPr lang="en-US" b="1" i="1" smtClean="0">
                          <a:latin typeface="Cambria Math" panose="02040503050406030204" pitchFamily="18" charset="0"/>
                        </a:rPr>
                        <m:t>𝑳</m:t>
                      </m:r>
                      <m:r>
                        <a:rPr lang="en-US" b="1" smtClean="0">
                          <a:latin typeface="Cambria Math" panose="02040503050406030204" pitchFamily="18" charset="0"/>
                        </a:rPr>
                        <m:t>.</m:t>
                      </m:r>
                    </m:oMath>
                  </m:oMathPara>
                </a14:m>
                <a:endParaRPr lang="ru-RU" b="1" dirty="0"/>
              </a:p>
              <a:p>
                <a:r>
                  <a:rPr lang="en-US" b="1" dirty="0"/>
                  <a:t>This means the phase angle will be slightly less than </a:t>
                </a:r>
                <a14:m>
                  <m:oMath xmlns:m="http://schemas.openxmlformats.org/officeDocument/2006/math">
                    <m:sSup>
                      <m:sSupPr>
                        <m:ctrlPr>
                          <a:rPr lang="ru-RU" b="1" i="1">
                            <a:latin typeface="Cambria Math" panose="02040503050406030204" pitchFamily="18" charset="0"/>
                          </a:rPr>
                        </m:ctrlPr>
                      </m:sSupPr>
                      <m:e>
                        <m:r>
                          <a:rPr lang="en-US" b="1" i="1" smtClean="0">
                            <a:latin typeface="Cambria Math" panose="02040503050406030204" pitchFamily="18" charset="0"/>
                          </a:rPr>
                          <m:t>𝟗𝟎</m:t>
                        </m:r>
                      </m:e>
                      <m:sup>
                        <m:r>
                          <a:rPr lang="en-US" b="1" smtClean="0">
                            <a:latin typeface="Cambria Math" panose="02040503050406030204" pitchFamily="18" charset="0"/>
                          </a:rPr>
                          <m:t>∘</m:t>
                        </m:r>
                      </m:sup>
                    </m:sSup>
                    <m:r>
                      <a:rPr lang="en-US" b="1" smtClean="0">
                        <a:latin typeface="Cambria Math" panose="02040503050406030204" pitchFamily="18" charset="0"/>
                      </a:rPr>
                      <m:t>,</m:t>
                    </m:r>
                  </m:oMath>
                </a14:m>
                <a:r>
                  <a:rPr lang="en-US" b="1" dirty="0"/>
                  <a:t> depending on the quality of the wire.</a:t>
                </a:r>
                <a:endParaRPr lang="ru-RU" b="1" dirty="0"/>
              </a:p>
            </p:txBody>
          </p:sp>
        </mc:Choice>
        <mc:Fallback xmlns="">
          <p:sp>
            <p:nvSpPr>
              <p:cNvPr id="3" name="Объект 2">
                <a:extLst>
                  <a:ext uri="{FF2B5EF4-FFF2-40B4-BE49-F238E27FC236}">
                    <a16:creationId xmlns:a16="http://schemas.microsoft.com/office/drawing/2014/main" id="{761C3215-4596-0023-2113-C12FDD66F837}"/>
                  </a:ext>
                </a:extLst>
              </p:cNvPr>
              <p:cNvSpPr>
                <a:spLocks noGrp="1" noRot="1" noChangeAspect="1" noMove="1" noResize="1" noEditPoints="1" noAdjustHandles="1" noChangeArrowheads="1" noChangeShapeType="1" noTextEdit="1"/>
              </p:cNvSpPr>
              <p:nvPr>
                <p:ph idx="1"/>
              </p:nvPr>
            </p:nvSpPr>
            <p:spPr>
              <a:xfrm>
                <a:off x="838200" y="1781493"/>
                <a:ext cx="10515600" cy="4351338"/>
              </a:xfrm>
              <a:blipFill>
                <a:blip r:embed="rId2"/>
                <a:stretch>
                  <a:fillRect l="-1043" t="-2381"/>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9F53908C-3040-A1B3-3E9B-B2B5B35C7C70}"/>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8651B20B-6957-CBF6-4203-72A6DB9F3160}"/>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69B2DA8E-5689-57CC-6929-1D7B5C695697}"/>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21260459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237E1-5536-A6F2-1B54-81419C834A6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30C4692-D413-C21C-ED2D-3E5FED35BD71}"/>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363C826F-B2E6-1481-1391-4440ED4A7D7C}"/>
                  </a:ext>
                </a:extLst>
              </p:cNvPr>
              <p:cNvSpPr>
                <a:spLocks noGrp="1"/>
              </p:cNvSpPr>
              <p:nvPr>
                <p:ph idx="1"/>
              </p:nvPr>
            </p:nvSpPr>
            <p:spPr>
              <a:xfrm>
                <a:off x="838200" y="1781493"/>
                <a:ext cx="10515600" cy="4351338"/>
              </a:xfrm>
            </p:spPr>
            <p:txBody>
              <a:bodyPr>
                <a:noAutofit/>
              </a:bodyPr>
              <a:lstStyle/>
              <a:p>
                <a:pPr algn="just">
                  <a:lnSpc>
                    <a:spcPct val="120000"/>
                  </a:lnSpc>
                </a:pPr>
                <a:r>
                  <a:rPr lang="en-US" b="1" dirty="0">
                    <a:effectLst/>
                    <a:latin typeface="Arial" panose="020B0604020202020204" pitchFamily="34" charset="0"/>
                    <a:ea typeface="Aptos" panose="020B0004020202020204" pitchFamily="34" charset="0"/>
                  </a:rPr>
                  <a:t>Similarly, a real capacitor has «leakage» resistance. </a:t>
                </a:r>
                <a:endParaRPr lang="ru-RU" b="1" dirty="0">
                  <a:effectLst/>
                  <a:latin typeface="Arial" panose="020B0604020202020204" pitchFamily="34" charset="0"/>
                  <a:ea typeface="Aptos" panose="020B0004020202020204" pitchFamily="34" charset="0"/>
                </a:endParaRPr>
              </a:p>
              <a:p>
                <a:pPr algn="just">
                  <a:lnSpc>
                    <a:spcPct val="120000"/>
                  </a:lnSpc>
                </a:pPr>
                <a:r>
                  <a:rPr lang="en-US" dirty="0">
                    <a:effectLst/>
                    <a:latin typeface="Arial" panose="020B0604020202020204" pitchFamily="34" charset="0"/>
                    <a:ea typeface="Aptos" panose="020B0004020202020204" pitchFamily="34" charset="0"/>
                  </a:rPr>
                  <a:t>No insulator is perfect; a tiny amount of current can flow through the dielectric material between the plates. </a:t>
                </a:r>
                <a:endParaRPr lang="ru-RU" dirty="0">
                  <a:effectLst/>
                  <a:latin typeface="Arial" panose="020B0604020202020204" pitchFamily="34" charset="0"/>
                  <a:ea typeface="Aptos" panose="020B0004020202020204" pitchFamily="34" charset="0"/>
                </a:endParaRPr>
              </a:p>
              <a:p>
                <a:pPr algn="just">
                  <a:lnSpc>
                    <a:spcPct val="120000"/>
                  </a:lnSpc>
                </a:pPr>
                <a:r>
                  <a:rPr lang="en-US" b="1" dirty="0">
                    <a:effectLst/>
                    <a:latin typeface="Arial" panose="020B0604020202020204" pitchFamily="34" charset="0"/>
                    <a:ea typeface="Aptos" panose="020B0004020202020204" pitchFamily="34" charset="0"/>
                  </a:rPr>
                  <a:t>We model a real capacitor as an ideal capacitance </a:t>
                </a:r>
                <a14:m>
                  <m:oMath xmlns:m="http://schemas.openxmlformats.org/officeDocument/2006/math">
                    <m:r>
                      <a:rPr lang="en-US" b="1" i="1" smtClean="0">
                        <a:effectLst/>
                        <a:latin typeface="Cambria Math" panose="02040503050406030204" pitchFamily="18" charset="0"/>
                        <a:ea typeface="Aptos" panose="020B0004020202020204" pitchFamily="34" charset="0"/>
                      </a:rPr>
                      <m:t>𝑪</m:t>
                    </m:r>
                  </m:oMath>
                </a14:m>
                <a:r>
                  <a:rPr lang="en-US" b="1" dirty="0">
                    <a:effectLst/>
                    <a:latin typeface="Arial" panose="020B0604020202020204" pitchFamily="34" charset="0"/>
                    <a:ea typeface="Aptos" panose="020B0004020202020204" pitchFamily="34" charset="0"/>
                  </a:rPr>
                  <a:t> in parallel with a very large resistance </a:t>
                </a:r>
                <a14:m>
                  <m:oMath xmlns:m="http://schemas.openxmlformats.org/officeDocument/2006/math">
                    <m:sSub>
                      <m:sSubPr>
                        <m:ctrlPr>
                          <a:rPr lang="ru-RU" b="1" i="1">
                            <a:effectLst/>
                            <a:latin typeface="Cambria Math" panose="02040503050406030204" pitchFamily="18" charset="0"/>
                            <a:ea typeface="Aptos" panose="020B0004020202020204" pitchFamily="34" charset="0"/>
                          </a:rPr>
                        </m:ctrlPr>
                      </m:sSubPr>
                      <m:e>
                        <m:r>
                          <a:rPr lang="en-US" b="1" i="1" smtClean="0">
                            <a:effectLst/>
                            <a:latin typeface="Cambria Math" panose="02040503050406030204" pitchFamily="18" charset="0"/>
                            <a:ea typeface="Aptos" panose="020B0004020202020204" pitchFamily="34" charset="0"/>
                          </a:rPr>
                          <m:t>𝑹</m:t>
                        </m:r>
                      </m:e>
                      <m:sub>
                        <m:r>
                          <a:rPr lang="en-US" b="1" i="1" smtClean="0">
                            <a:effectLst/>
                            <a:latin typeface="Cambria Math" panose="02040503050406030204" pitchFamily="18" charset="0"/>
                            <a:ea typeface="Aptos" panose="020B0004020202020204" pitchFamily="34" charset="0"/>
                          </a:rPr>
                          <m:t>𝒍𝒆𝒂𝒌</m:t>
                        </m:r>
                      </m:sub>
                    </m:sSub>
                    <m:r>
                      <a:rPr lang="en-US" b="1" smtClean="0">
                        <a:effectLst/>
                        <a:latin typeface="Cambria Math" panose="02040503050406030204" pitchFamily="18" charset="0"/>
                        <a:ea typeface="Aptos" panose="020B0004020202020204" pitchFamily="34" charset="0"/>
                      </a:rPr>
                      <m:t>.</m:t>
                    </m:r>
                  </m:oMath>
                </a14:m>
                <a:r>
                  <a:rPr lang="en-US" b="1" dirty="0">
                    <a:effectLst/>
                    <a:latin typeface="Arial" panose="020B0604020202020204" pitchFamily="34" charset="0"/>
                    <a:ea typeface="Aptos" panose="020B0004020202020204" pitchFamily="34" charset="0"/>
                  </a:rPr>
                  <a:t> </a:t>
                </a:r>
                <a:endParaRPr lang="ru-RU" b="1" dirty="0">
                  <a:effectLst/>
                  <a:latin typeface="Arial" panose="020B0604020202020204" pitchFamily="34" charset="0"/>
                  <a:ea typeface="Aptos" panose="020B0004020202020204" pitchFamily="34" charset="0"/>
                </a:endParaRPr>
              </a:p>
              <a:p>
                <a:pPr algn="just">
                  <a:lnSpc>
                    <a:spcPct val="120000"/>
                  </a:lnSpc>
                </a:pPr>
                <a:r>
                  <a:rPr lang="en-US" b="1" dirty="0">
                    <a:effectLst/>
                    <a:latin typeface="Arial" panose="020B0604020202020204" pitchFamily="34" charset="0"/>
                    <a:ea typeface="Aptos" panose="020B0004020202020204" pitchFamily="34" charset="0"/>
                  </a:rPr>
                  <a:t>Usually, </a:t>
                </a:r>
                <a14:m>
                  <m:oMath xmlns:m="http://schemas.openxmlformats.org/officeDocument/2006/math">
                    <m:sSub>
                      <m:sSubPr>
                        <m:ctrlPr>
                          <a:rPr lang="ru-RU" b="1" i="1">
                            <a:effectLst/>
                            <a:latin typeface="Cambria Math" panose="02040503050406030204" pitchFamily="18" charset="0"/>
                            <a:ea typeface="Aptos" panose="020B0004020202020204" pitchFamily="34" charset="0"/>
                          </a:rPr>
                        </m:ctrlPr>
                      </m:sSubPr>
                      <m:e>
                        <m:r>
                          <a:rPr lang="en-US" b="1" i="1" smtClean="0">
                            <a:effectLst/>
                            <a:latin typeface="Cambria Math" panose="02040503050406030204" pitchFamily="18" charset="0"/>
                            <a:ea typeface="Aptos" panose="020B0004020202020204" pitchFamily="34" charset="0"/>
                          </a:rPr>
                          <m:t>𝑹</m:t>
                        </m:r>
                      </m:e>
                      <m:sub>
                        <m:r>
                          <a:rPr lang="en-US" b="1" i="1" smtClean="0">
                            <a:effectLst/>
                            <a:latin typeface="Cambria Math" panose="02040503050406030204" pitchFamily="18" charset="0"/>
                            <a:ea typeface="Aptos" panose="020B0004020202020204" pitchFamily="34" charset="0"/>
                          </a:rPr>
                          <m:t>𝒍𝒆𝒂𝒌</m:t>
                        </m:r>
                      </m:sub>
                    </m:sSub>
                  </m:oMath>
                </a14:m>
                <a:r>
                  <a:rPr lang="en-US" b="1" dirty="0">
                    <a:effectLst/>
                    <a:latin typeface="Arial" panose="020B0604020202020204" pitchFamily="34" charset="0"/>
                    <a:ea typeface="Aptos" panose="020B0004020202020204" pitchFamily="34" charset="0"/>
                  </a:rPr>
                  <a:t> is so huge (Mega-ohms) that we ignore it, but at low frequencies, it can matter. </a:t>
                </a:r>
                <a:endParaRPr lang="ru-RU" b="1" dirty="0">
                  <a:effectLst/>
                  <a:latin typeface="Arial" panose="020B0604020202020204" pitchFamily="34" charset="0"/>
                  <a:ea typeface="Aptos" panose="020B0004020202020204" pitchFamily="34" charset="0"/>
                </a:endParaRPr>
              </a:p>
            </p:txBody>
          </p:sp>
        </mc:Choice>
        <mc:Fallback xmlns="">
          <p:sp>
            <p:nvSpPr>
              <p:cNvPr id="3" name="Объект 2">
                <a:extLst>
                  <a:ext uri="{FF2B5EF4-FFF2-40B4-BE49-F238E27FC236}">
                    <a16:creationId xmlns:a16="http://schemas.microsoft.com/office/drawing/2014/main" id="{363C826F-B2E6-1481-1391-4440ED4A7D7C}"/>
                  </a:ext>
                </a:extLst>
              </p:cNvPr>
              <p:cNvSpPr>
                <a:spLocks noGrp="1" noRot="1" noChangeAspect="1" noMove="1" noResize="1" noEditPoints="1" noAdjustHandles="1" noChangeArrowheads="1" noChangeShapeType="1" noTextEdit="1"/>
              </p:cNvSpPr>
              <p:nvPr>
                <p:ph idx="1"/>
              </p:nvPr>
            </p:nvSpPr>
            <p:spPr>
              <a:xfrm>
                <a:off x="838200" y="1781493"/>
                <a:ext cx="10515600" cy="4351338"/>
              </a:xfrm>
              <a:blipFill>
                <a:blip r:embed="rId2"/>
                <a:stretch>
                  <a:fillRect l="-1043" t="-560" r="-1159"/>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477E222E-2FDD-4518-E3F4-16BE3D104A40}"/>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8F37F984-DEC6-8AAE-E40A-C5665BF28378}"/>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B3092361-C1A0-D0F0-C259-02ADDCF44902}"/>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7427142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B673A-3BFF-2361-EC8C-33971445D9B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BAE3816-1085-45B3-59DF-1ED4CFB75F56}"/>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8B211770-4132-8565-AD75-72AA47A4F0EE}"/>
                  </a:ext>
                </a:extLst>
              </p:cNvPr>
              <p:cNvSpPr>
                <a:spLocks noGrp="1"/>
              </p:cNvSpPr>
              <p:nvPr>
                <p:ph idx="1"/>
              </p:nvPr>
            </p:nvSpPr>
            <p:spPr>
              <a:xfrm>
                <a:off x="838200" y="1781493"/>
                <a:ext cx="10515600" cy="4351338"/>
              </a:xfrm>
            </p:spPr>
            <p:txBody>
              <a:bodyPr>
                <a:noAutofit/>
              </a:bodyPr>
              <a:lstStyle/>
              <a:p>
                <a:pPr algn="just">
                  <a:lnSpc>
                    <a:spcPct val="120000"/>
                  </a:lnSpc>
                </a:pPr>
                <a:r>
                  <a:rPr lang="en-US" dirty="0">
                    <a:effectLst/>
                    <a:latin typeface="Arial" panose="020B0604020202020204" pitchFamily="34" charset="0"/>
                    <a:ea typeface="Aptos" panose="020B0004020202020204" pitchFamily="34" charset="0"/>
                  </a:rPr>
                  <a:t>Also, at extremely high frequencies, the physical leads (wires) of the capacitor add a tiny parasitic inductance. </a:t>
                </a:r>
                <a:endParaRPr lang="ru-RU" dirty="0">
                  <a:effectLst/>
                  <a:latin typeface="Arial" panose="020B0604020202020204" pitchFamily="34" charset="0"/>
                  <a:ea typeface="Aptos" panose="020B0004020202020204" pitchFamily="34" charset="0"/>
                </a:endParaRPr>
              </a:p>
              <a:p>
                <a:pPr algn="just">
                  <a:lnSpc>
                    <a:spcPct val="120000"/>
                  </a:lnSpc>
                </a:pPr>
                <a:r>
                  <a:rPr lang="en-US" dirty="0">
                    <a:effectLst/>
                    <a:latin typeface="Arial" panose="020B0604020202020204" pitchFamily="34" charset="0"/>
                    <a:ea typeface="Aptos" panose="020B0004020202020204" pitchFamily="34" charset="0"/>
                  </a:rPr>
                  <a:t>This shows that at high frequencies, components may behave differently than we expect.</a:t>
                </a:r>
                <a:endParaRPr lang="ru-RU" dirty="0">
                  <a:effectLst/>
                  <a:latin typeface="Arial" panose="020B0604020202020204" pitchFamily="34" charset="0"/>
                  <a:ea typeface="Aptos" panose="020B0004020202020204" pitchFamily="34" charset="0"/>
                </a:endParaRPr>
              </a:p>
              <a:p>
                <a:pPr algn="just">
                  <a:lnSpc>
                    <a:spcPct val="120000"/>
                  </a:lnSpc>
                </a:pPr>
                <a:r>
                  <a:rPr lang="en-US" dirty="0">
                    <a:effectLst/>
                    <a:latin typeface="Arial" panose="020B0604020202020204" pitchFamily="34" charset="0"/>
                    <a:ea typeface="Aptos" panose="020B0004020202020204" pitchFamily="34" charset="0"/>
                  </a:rPr>
                  <a:t>This introduces the concept of the Quality Factor, or </a:t>
                </a:r>
                <a14:m>
                  <m:oMath xmlns:m="http://schemas.openxmlformats.org/officeDocument/2006/math">
                    <m:r>
                      <a:rPr lang="en-US" i="1" dirty="0" smtClean="0">
                        <a:effectLst/>
                        <a:latin typeface="Cambria Math" panose="02040503050406030204" pitchFamily="18" charset="0"/>
                        <a:ea typeface="Aptos" panose="020B0004020202020204" pitchFamily="34" charset="0"/>
                      </a:rPr>
                      <m:t>𝑄</m:t>
                    </m:r>
                  </m:oMath>
                </a14:m>
                <a:r>
                  <a:rPr lang="en-US" dirty="0">
                    <a:effectLst/>
                    <a:latin typeface="Arial" panose="020B0604020202020204" pitchFamily="34" charset="0"/>
                    <a:ea typeface="Aptos" panose="020B0004020202020204" pitchFamily="34" charset="0"/>
                  </a:rPr>
                  <a:t>-factor. </a:t>
                </a:r>
                <a:endParaRPr lang="ru-RU" dirty="0">
                  <a:effectLst/>
                  <a:latin typeface="Arial" panose="020B0604020202020204" pitchFamily="34" charset="0"/>
                  <a:ea typeface="Aptos" panose="020B0004020202020204" pitchFamily="34" charset="0"/>
                </a:endParaRPr>
              </a:p>
            </p:txBody>
          </p:sp>
        </mc:Choice>
        <mc:Fallback xmlns="">
          <p:sp>
            <p:nvSpPr>
              <p:cNvPr id="3" name="Объект 2">
                <a:extLst>
                  <a:ext uri="{FF2B5EF4-FFF2-40B4-BE49-F238E27FC236}">
                    <a16:creationId xmlns:a16="http://schemas.microsoft.com/office/drawing/2014/main" id="{8B211770-4132-8565-AD75-72AA47A4F0EE}"/>
                  </a:ext>
                </a:extLst>
              </p:cNvPr>
              <p:cNvSpPr>
                <a:spLocks noGrp="1" noRot="1" noChangeAspect="1" noMove="1" noResize="1" noEditPoints="1" noAdjustHandles="1" noChangeArrowheads="1" noChangeShapeType="1" noTextEdit="1"/>
              </p:cNvSpPr>
              <p:nvPr>
                <p:ph idx="1"/>
              </p:nvPr>
            </p:nvSpPr>
            <p:spPr>
              <a:xfrm>
                <a:off x="838200" y="1781493"/>
                <a:ext cx="10515600" cy="4351338"/>
              </a:xfrm>
              <a:blipFill>
                <a:blip r:embed="rId2"/>
                <a:stretch>
                  <a:fillRect l="-1043" t="-560" r="-1159"/>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AE074E0B-93F8-7E9E-530B-12DA408DF3C1}"/>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75346491-B406-E965-F0B7-B08B2744D285}"/>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7A2933CE-D434-8692-801A-7E7F44EBD0EF}"/>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42446136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C02A5-06AB-4C02-818D-45EFECF45CE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B53EABC-9438-21B4-8ED3-A5B9006D9EEC}"/>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0997D0E1-2067-6DC3-4800-FD64741D5B87}"/>
                  </a:ext>
                </a:extLst>
              </p:cNvPr>
              <p:cNvSpPr>
                <a:spLocks noGrp="1"/>
              </p:cNvSpPr>
              <p:nvPr>
                <p:ph idx="1"/>
              </p:nvPr>
            </p:nvSpPr>
            <p:spPr>
              <a:xfrm>
                <a:off x="838200" y="1781493"/>
                <a:ext cx="10515600" cy="4351338"/>
              </a:xfrm>
            </p:spPr>
            <p:txBody>
              <a:bodyPr>
                <a:noAutofit/>
              </a:bodyPr>
              <a:lstStyle/>
              <a:p>
                <a:pPr algn="just">
                  <a:lnSpc>
                    <a:spcPct val="120000"/>
                  </a:lnSpc>
                </a:pPr>
                <a:r>
                  <a:rPr lang="en-US" b="1" dirty="0">
                    <a:effectLst/>
                    <a:ea typeface="Aptos" panose="020B0004020202020204" pitchFamily="34" charset="0"/>
                  </a:rPr>
                  <a:t>The </a:t>
                </a:r>
                <a14:m>
                  <m:oMath xmlns:m="http://schemas.openxmlformats.org/officeDocument/2006/math">
                    <m:r>
                      <a:rPr lang="en-US" b="1" i="1">
                        <a:effectLst/>
                        <a:latin typeface="Cambria Math" panose="02040503050406030204" pitchFamily="18" charset="0"/>
                        <a:ea typeface="Aptos" panose="020B0004020202020204" pitchFamily="34" charset="0"/>
                      </a:rPr>
                      <m:t>𝑸</m:t>
                    </m:r>
                  </m:oMath>
                </a14:m>
                <a:r>
                  <a:rPr lang="en-US" b="1" dirty="0">
                    <a:effectLst/>
                    <a:ea typeface="Aptos" panose="020B0004020202020204" pitchFamily="34" charset="0"/>
                  </a:rPr>
                  <a:t>-factor measures the «purity» of an energy storage element. </a:t>
                </a:r>
                <a:endParaRPr lang="ru-RU" b="1" dirty="0">
                  <a:effectLst/>
                  <a:ea typeface="Aptos" panose="020B0004020202020204" pitchFamily="34" charset="0"/>
                </a:endParaRPr>
              </a:p>
              <a:p>
                <a:pPr algn="just">
                  <a:lnSpc>
                    <a:spcPct val="120000"/>
                  </a:lnSpc>
                </a:pPr>
                <a:r>
                  <a:rPr lang="en-US" dirty="0">
                    <a:effectLst/>
                    <a:ea typeface="Aptos" panose="020B0004020202020204" pitchFamily="34" charset="0"/>
                  </a:rPr>
                  <a:t>It is the ratio of the Reactance power stored to the Resistance power lost. </a:t>
                </a:r>
                <a:endParaRPr lang="ru-RU" dirty="0">
                  <a:effectLst/>
                  <a:ea typeface="Aptos" panose="020B0004020202020204" pitchFamily="34" charset="0"/>
                </a:endParaRPr>
              </a:p>
              <a:p>
                <a:pPr algn="just">
                  <a:lnSpc>
                    <a:spcPct val="120000"/>
                  </a:lnSpc>
                </a:pPr>
                <a:r>
                  <a:rPr lang="en-US" b="1" dirty="0">
                    <a:effectLst/>
                    <a:ea typeface="Aptos" panose="020B0004020202020204" pitchFamily="34" charset="0"/>
                  </a:rPr>
                  <a:t>For an inductor, the quality factor is defined as:</a:t>
                </a:r>
                <a:endParaRPr lang="ru-RU" b="1" dirty="0">
                  <a:effectLst/>
                  <a:ea typeface="Aptos" panose="020B0004020202020204" pitchFamily="34" charset="0"/>
                </a:endParaRPr>
              </a:p>
              <a:p>
                <a:pPr marL="0" indent="0" algn="ctr">
                  <a:lnSpc>
                    <a:spcPct val="120000"/>
                  </a:lnSpc>
                  <a:buNone/>
                </a:pPr>
                <a14:m>
                  <m:oMathPara xmlns:m="http://schemas.openxmlformats.org/officeDocument/2006/math">
                    <m:oMathParaPr>
                      <m:jc m:val="centerGroup"/>
                    </m:oMathParaPr>
                    <m:oMath xmlns:m="http://schemas.openxmlformats.org/officeDocument/2006/math">
                      <m:r>
                        <a:rPr lang="en-US" b="1" i="1">
                          <a:effectLst/>
                          <a:latin typeface="Cambria Math" panose="02040503050406030204" pitchFamily="18" charset="0"/>
                          <a:ea typeface="Aptos" panose="020B0004020202020204" pitchFamily="34" charset="0"/>
                        </a:rPr>
                        <m:t>𝑸</m:t>
                      </m:r>
                      <m:r>
                        <a:rPr lang="en-US" b="1">
                          <a:effectLst/>
                          <a:latin typeface="Cambria Math" panose="02040503050406030204" pitchFamily="18" charset="0"/>
                          <a:ea typeface="Aptos" panose="020B0004020202020204" pitchFamily="34" charset="0"/>
                        </a:rPr>
                        <m:t>=</m:t>
                      </m:r>
                      <m:f>
                        <m:fPr>
                          <m:ctrlPr>
                            <a:rPr lang="ru-RU" b="1" i="1">
                              <a:effectLst/>
                              <a:latin typeface="Cambria Math" panose="02040503050406030204" pitchFamily="18" charset="0"/>
                              <a:ea typeface="Aptos" panose="020B0004020202020204" pitchFamily="34" charset="0"/>
                            </a:rPr>
                          </m:ctrlPr>
                        </m:fPr>
                        <m:num>
                          <m:sSub>
                            <m:sSubPr>
                              <m:ctrlPr>
                                <a:rPr lang="ru-RU" b="1" i="1">
                                  <a:effectLst/>
                                  <a:latin typeface="Cambria Math" panose="02040503050406030204" pitchFamily="18" charset="0"/>
                                  <a:ea typeface="Aptos" panose="020B0004020202020204" pitchFamily="34" charset="0"/>
                                </a:rPr>
                              </m:ctrlPr>
                            </m:sSubPr>
                            <m:e>
                              <m:r>
                                <a:rPr lang="en-US" b="1" i="1">
                                  <a:effectLst/>
                                  <a:latin typeface="Cambria Math" panose="02040503050406030204" pitchFamily="18" charset="0"/>
                                  <a:ea typeface="Aptos" panose="020B0004020202020204" pitchFamily="34" charset="0"/>
                                </a:rPr>
                                <m:t>𝑿</m:t>
                              </m:r>
                            </m:e>
                            <m:sub>
                              <m:r>
                                <a:rPr lang="en-US" b="1" i="1">
                                  <a:effectLst/>
                                  <a:latin typeface="Cambria Math" panose="02040503050406030204" pitchFamily="18" charset="0"/>
                                  <a:ea typeface="Aptos" panose="020B0004020202020204" pitchFamily="34" charset="0"/>
                                </a:rPr>
                                <m:t>𝑳</m:t>
                              </m:r>
                            </m:sub>
                          </m:sSub>
                        </m:num>
                        <m:den>
                          <m:sSub>
                            <m:sSubPr>
                              <m:ctrlPr>
                                <a:rPr lang="ru-RU" b="1" i="1">
                                  <a:effectLst/>
                                  <a:latin typeface="Cambria Math" panose="02040503050406030204" pitchFamily="18" charset="0"/>
                                  <a:ea typeface="Aptos" panose="020B0004020202020204" pitchFamily="34" charset="0"/>
                                </a:rPr>
                              </m:ctrlPr>
                            </m:sSubPr>
                            <m:e>
                              <m:r>
                                <a:rPr lang="en-US" b="1" i="1">
                                  <a:effectLst/>
                                  <a:latin typeface="Cambria Math" panose="02040503050406030204" pitchFamily="18" charset="0"/>
                                  <a:ea typeface="Aptos" panose="020B0004020202020204" pitchFamily="34" charset="0"/>
                                </a:rPr>
                                <m:t>𝑹</m:t>
                              </m:r>
                            </m:e>
                            <m:sub>
                              <m:r>
                                <a:rPr lang="en-US" b="1" i="1">
                                  <a:effectLst/>
                                  <a:latin typeface="Cambria Math" panose="02040503050406030204" pitchFamily="18" charset="0"/>
                                  <a:ea typeface="Aptos" panose="020B0004020202020204" pitchFamily="34" charset="0"/>
                                </a:rPr>
                                <m:t>𝒔𝒆𝒓𝒊𝒆𝒔</m:t>
                              </m:r>
                            </m:sub>
                          </m:sSub>
                        </m:den>
                      </m:f>
                      <m:r>
                        <a:rPr lang="en-US" b="1">
                          <a:effectLst/>
                          <a:latin typeface="Cambria Math" panose="02040503050406030204" pitchFamily="18" charset="0"/>
                          <a:ea typeface="Aptos" panose="020B0004020202020204" pitchFamily="34" charset="0"/>
                        </a:rPr>
                        <m:t>=</m:t>
                      </m:r>
                      <m:f>
                        <m:fPr>
                          <m:ctrlPr>
                            <a:rPr lang="ru-RU" b="1" i="1">
                              <a:effectLst/>
                              <a:latin typeface="Cambria Math" panose="02040503050406030204" pitchFamily="18" charset="0"/>
                              <a:ea typeface="Aptos" panose="020B0004020202020204" pitchFamily="34" charset="0"/>
                            </a:rPr>
                          </m:ctrlPr>
                        </m:fPr>
                        <m:num>
                          <m:r>
                            <a:rPr lang="en-US" b="1" i="1">
                              <a:effectLst/>
                              <a:latin typeface="Cambria Math" panose="02040503050406030204" pitchFamily="18" charset="0"/>
                              <a:ea typeface="Aptos" panose="020B0004020202020204" pitchFamily="34" charset="0"/>
                            </a:rPr>
                            <m:t>𝝎</m:t>
                          </m:r>
                          <m:r>
                            <a:rPr lang="en-US" b="1" i="1">
                              <a:effectLst/>
                              <a:latin typeface="Cambria Math" panose="02040503050406030204" pitchFamily="18" charset="0"/>
                              <a:ea typeface="Aptos" panose="020B0004020202020204" pitchFamily="34" charset="0"/>
                            </a:rPr>
                            <m:t>𝑳</m:t>
                          </m:r>
                        </m:num>
                        <m:den>
                          <m:sSub>
                            <m:sSubPr>
                              <m:ctrlPr>
                                <a:rPr lang="ru-RU" b="1" i="1">
                                  <a:effectLst/>
                                  <a:latin typeface="Cambria Math" panose="02040503050406030204" pitchFamily="18" charset="0"/>
                                  <a:ea typeface="Aptos" panose="020B0004020202020204" pitchFamily="34" charset="0"/>
                                </a:rPr>
                              </m:ctrlPr>
                            </m:sSubPr>
                            <m:e>
                              <m:r>
                                <a:rPr lang="en-US" b="1" i="1">
                                  <a:effectLst/>
                                  <a:latin typeface="Cambria Math" panose="02040503050406030204" pitchFamily="18" charset="0"/>
                                  <a:ea typeface="Aptos" panose="020B0004020202020204" pitchFamily="34" charset="0"/>
                                </a:rPr>
                                <m:t>𝑹</m:t>
                              </m:r>
                            </m:e>
                            <m:sub>
                              <m:r>
                                <a:rPr lang="en-US" b="1" i="1">
                                  <a:effectLst/>
                                  <a:latin typeface="Cambria Math" panose="02040503050406030204" pitchFamily="18" charset="0"/>
                                  <a:ea typeface="Aptos" panose="020B0004020202020204" pitchFamily="34" charset="0"/>
                                </a:rPr>
                                <m:t>𝒔𝒆𝒓𝒊𝒆𝒔</m:t>
                              </m:r>
                            </m:sub>
                          </m:sSub>
                        </m:den>
                      </m:f>
                      <m:r>
                        <a:rPr lang="en-US" b="1">
                          <a:effectLst/>
                          <a:latin typeface="Cambria Math" panose="02040503050406030204" pitchFamily="18" charset="0"/>
                          <a:ea typeface="Aptos" panose="020B0004020202020204" pitchFamily="34" charset="0"/>
                        </a:rPr>
                        <m:t>.</m:t>
                      </m:r>
                    </m:oMath>
                  </m:oMathPara>
                </a14:m>
                <a:endParaRPr lang="ru-RU" b="1" dirty="0">
                  <a:effectLst/>
                  <a:ea typeface="Aptos" panose="020B0004020202020204" pitchFamily="34" charset="0"/>
                </a:endParaRPr>
              </a:p>
            </p:txBody>
          </p:sp>
        </mc:Choice>
        <mc:Fallback xmlns="">
          <p:sp>
            <p:nvSpPr>
              <p:cNvPr id="3" name="Объект 2">
                <a:extLst>
                  <a:ext uri="{FF2B5EF4-FFF2-40B4-BE49-F238E27FC236}">
                    <a16:creationId xmlns:a16="http://schemas.microsoft.com/office/drawing/2014/main" id="{0997D0E1-2067-6DC3-4800-FD64741D5B87}"/>
                  </a:ext>
                </a:extLst>
              </p:cNvPr>
              <p:cNvSpPr>
                <a:spLocks noGrp="1" noRot="1" noChangeAspect="1" noMove="1" noResize="1" noEditPoints="1" noAdjustHandles="1" noChangeArrowheads="1" noChangeShapeType="1" noTextEdit="1"/>
              </p:cNvSpPr>
              <p:nvPr>
                <p:ph idx="1"/>
              </p:nvPr>
            </p:nvSpPr>
            <p:spPr>
              <a:xfrm>
                <a:off x="838200" y="1781493"/>
                <a:ext cx="10515600" cy="4351338"/>
              </a:xfrm>
              <a:blipFill>
                <a:blip r:embed="rId2"/>
                <a:stretch>
                  <a:fillRect l="-1043" t="-140" r="-1159"/>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5692B016-5299-EF62-8576-00C7466CE591}"/>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936BB0BD-D0A8-1BE8-6C9D-E0DFD89A9AD6}"/>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15305D1A-844B-B83C-72FE-51F27649EFD7}"/>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31937371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CF7C4-020D-E3DE-9B71-51065AE717B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A61F2E-2BE1-8EF8-3B0C-CD9962C93016}"/>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BF3BEAA7-EE38-35BA-9007-12BE660669F8}"/>
                  </a:ext>
                </a:extLst>
              </p:cNvPr>
              <p:cNvSpPr>
                <a:spLocks noGrp="1"/>
              </p:cNvSpPr>
              <p:nvPr>
                <p:ph idx="1"/>
              </p:nvPr>
            </p:nvSpPr>
            <p:spPr>
              <a:xfrm>
                <a:off x="838200" y="1781493"/>
                <a:ext cx="10515600" cy="4351338"/>
              </a:xfrm>
            </p:spPr>
            <p:txBody>
              <a:bodyPr>
                <a:noAutofit/>
              </a:bodyPr>
              <a:lstStyle/>
              <a:p>
                <a:pPr algn="just">
                  <a:lnSpc>
                    <a:spcPct val="120000"/>
                  </a:lnSpc>
                </a:pPr>
                <a:r>
                  <a:rPr lang="en-US" dirty="0">
                    <a:effectLst/>
                    <a:ea typeface="Aptos" panose="020B0004020202020204" pitchFamily="34" charset="0"/>
                  </a:rPr>
                  <a:t>A high Q means the inductor is very efficient and acts almost like an ideal component. A low Q means the inductor loses a lot of energy as heat. </a:t>
                </a:r>
                <a:endParaRPr lang="ru-RU" dirty="0">
                  <a:effectLst/>
                  <a:ea typeface="Aptos" panose="020B0004020202020204" pitchFamily="34" charset="0"/>
                </a:endParaRPr>
              </a:p>
              <a:p>
                <a:pPr algn="just">
                  <a:lnSpc>
                    <a:spcPct val="120000"/>
                  </a:lnSpc>
                </a:pPr>
                <a:r>
                  <a:rPr lang="en-US" b="1" dirty="0">
                    <a:effectLst/>
                    <a:ea typeface="Aptos" panose="020B0004020202020204" pitchFamily="34" charset="0"/>
                  </a:rPr>
                  <a:t>Radio tuning circuits require high-</a:t>
                </a:r>
                <a14:m>
                  <m:oMath xmlns:m="http://schemas.openxmlformats.org/officeDocument/2006/math">
                    <m:r>
                      <a:rPr lang="en-US" b="1" i="1">
                        <a:effectLst/>
                        <a:latin typeface="Cambria Math" panose="02040503050406030204" pitchFamily="18" charset="0"/>
                        <a:ea typeface="Aptos" panose="020B0004020202020204" pitchFamily="34" charset="0"/>
                      </a:rPr>
                      <m:t>𝑸</m:t>
                    </m:r>
                  </m:oMath>
                </a14:m>
                <a:r>
                  <a:rPr lang="en-US" b="1" dirty="0">
                    <a:effectLst/>
                    <a:ea typeface="Aptos" panose="020B0004020202020204" pitchFamily="34" charset="0"/>
                  </a:rPr>
                  <a:t> components to be selective.</a:t>
                </a:r>
                <a:endParaRPr lang="ru-RU" b="1" dirty="0">
                  <a:effectLst/>
                  <a:ea typeface="Aptos" panose="020B0004020202020204" pitchFamily="34" charset="0"/>
                </a:endParaRPr>
              </a:p>
            </p:txBody>
          </p:sp>
        </mc:Choice>
        <mc:Fallback xmlns="">
          <p:sp>
            <p:nvSpPr>
              <p:cNvPr id="3" name="Объект 2">
                <a:extLst>
                  <a:ext uri="{FF2B5EF4-FFF2-40B4-BE49-F238E27FC236}">
                    <a16:creationId xmlns:a16="http://schemas.microsoft.com/office/drawing/2014/main" id="{BF3BEAA7-EE38-35BA-9007-12BE660669F8}"/>
                  </a:ext>
                </a:extLst>
              </p:cNvPr>
              <p:cNvSpPr>
                <a:spLocks noGrp="1" noRot="1" noChangeAspect="1" noMove="1" noResize="1" noEditPoints="1" noAdjustHandles="1" noChangeArrowheads="1" noChangeShapeType="1" noTextEdit="1"/>
              </p:cNvSpPr>
              <p:nvPr>
                <p:ph idx="1"/>
              </p:nvPr>
            </p:nvSpPr>
            <p:spPr>
              <a:xfrm>
                <a:off x="838200" y="1781493"/>
                <a:ext cx="10515600" cy="4351338"/>
              </a:xfrm>
              <a:blipFill>
                <a:blip r:embed="rId2"/>
                <a:stretch>
                  <a:fillRect l="-1043" t="-140" r="-1159"/>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F28B5802-D5AA-41D4-8028-173A43815A3B}"/>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76113F32-FB1A-C66A-FA18-CDBA8A6BB5E6}"/>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46D1349C-C035-AF37-B650-36A1F6347926}"/>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30742662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7B304-AEBF-18E7-A7B1-89A43BFD9E2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CF78D05-6D89-0967-7FDF-91018953B530}"/>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73B87E26-119E-3685-71BE-02F5DE8BEEA2}"/>
                  </a:ext>
                </a:extLst>
              </p:cNvPr>
              <p:cNvSpPr>
                <a:spLocks noGrp="1"/>
              </p:cNvSpPr>
              <p:nvPr>
                <p:ph idx="1"/>
              </p:nvPr>
            </p:nvSpPr>
            <p:spPr>
              <a:xfrm>
                <a:off x="838200" y="1781493"/>
                <a:ext cx="10515600" cy="4351338"/>
              </a:xfrm>
            </p:spPr>
            <p:txBody>
              <a:bodyPr>
                <a:noAutofit/>
              </a:bodyPr>
              <a:lstStyle/>
              <a:p>
                <a:r>
                  <a:rPr lang="en-US" dirty="0"/>
                  <a:t>Let us detail the calculation of Admittance (Y) from Impedance (Z) when they are complex numbers. </a:t>
                </a:r>
                <a:endParaRPr lang="ru-RU" dirty="0"/>
              </a:p>
              <a:p>
                <a:r>
                  <a:rPr lang="en-US" b="1" dirty="0"/>
                  <a:t>If </a:t>
                </a:r>
                <a14:m>
                  <m:oMath xmlns:m="http://schemas.openxmlformats.org/officeDocument/2006/math">
                    <m:r>
                      <a:rPr lang="en-US" b="1" i="1">
                        <a:latin typeface="Cambria Math" panose="02040503050406030204" pitchFamily="18" charset="0"/>
                      </a:rPr>
                      <m:t>𝒁</m:t>
                    </m:r>
                    <m:r>
                      <a:rPr lang="en-US" b="1">
                        <a:latin typeface="Cambria Math" panose="02040503050406030204" pitchFamily="18" charset="0"/>
                      </a:rPr>
                      <m:t>=</m:t>
                    </m:r>
                    <m:r>
                      <a:rPr lang="en-US" b="1" i="1">
                        <a:latin typeface="Cambria Math" panose="02040503050406030204" pitchFamily="18" charset="0"/>
                      </a:rPr>
                      <m:t>𝑹</m:t>
                    </m:r>
                    <m:r>
                      <a:rPr lang="en-US" b="1">
                        <a:latin typeface="Cambria Math" panose="02040503050406030204" pitchFamily="18" charset="0"/>
                      </a:rPr>
                      <m:t>+</m:t>
                    </m:r>
                    <m:r>
                      <a:rPr lang="en-US" b="1" i="1">
                        <a:latin typeface="Cambria Math" panose="02040503050406030204" pitchFamily="18" charset="0"/>
                      </a:rPr>
                      <m:t>𝒋𝑿</m:t>
                    </m:r>
                    <m:r>
                      <a:rPr lang="en-US" b="1">
                        <a:latin typeface="Cambria Math" panose="02040503050406030204" pitchFamily="18" charset="0"/>
                      </a:rPr>
                      <m:t>,</m:t>
                    </m:r>
                  </m:oMath>
                </a14:m>
                <a:r>
                  <a:rPr lang="en-US" b="1" dirty="0"/>
                  <a:t> we know that </a:t>
                </a:r>
                <a14:m>
                  <m:oMath xmlns:m="http://schemas.openxmlformats.org/officeDocument/2006/math">
                    <m:r>
                      <a:rPr lang="en-US" b="1" i="1">
                        <a:latin typeface="Cambria Math" panose="02040503050406030204" pitchFamily="18" charset="0"/>
                      </a:rPr>
                      <m:t>𝒀</m:t>
                    </m:r>
                    <m:r>
                      <a:rPr lang="en-US" b="1">
                        <a:latin typeface="Cambria Math" panose="02040503050406030204" pitchFamily="18" charset="0"/>
                      </a:rPr>
                      <m:t>=</m:t>
                    </m:r>
                    <m:r>
                      <a:rPr lang="en-US" b="1" i="1">
                        <a:latin typeface="Cambria Math" panose="02040503050406030204" pitchFamily="18" charset="0"/>
                      </a:rPr>
                      <m:t>𝟏</m:t>
                    </m:r>
                    <m:r>
                      <a:rPr lang="en-US" b="1">
                        <a:latin typeface="Cambria Math" panose="02040503050406030204" pitchFamily="18" charset="0"/>
                      </a:rPr>
                      <m:t>/</m:t>
                    </m:r>
                    <m:r>
                      <a:rPr lang="en-US" b="1" i="1">
                        <a:latin typeface="Cambria Math" panose="02040503050406030204" pitchFamily="18" charset="0"/>
                      </a:rPr>
                      <m:t>𝒁</m:t>
                    </m:r>
                    <m:r>
                      <a:rPr lang="en-US" b="1">
                        <a:latin typeface="Cambria Math" panose="02040503050406030204" pitchFamily="18" charset="0"/>
                      </a:rPr>
                      <m:t>.</m:t>
                    </m:r>
                  </m:oMath>
                </a14:m>
                <a:r>
                  <a:rPr lang="en-US" b="1" dirty="0"/>
                  <a:t> </a:t>
                </a:r>
                <a:endParaRPr lang="ru-RU" b="1" dirty="0"/>
              </a:p>
              <a:p>
                <a:r>
                  <a:rPr lang="en-US" b="1" dirty="0"/>
                  <a:t>However, you cannot simply say Conductance </a:t>
                </a:r>
                <a14:m>
                  <m:oMath xmlns:m="http://schemas.openxmlformats.org/officeDocument/2006/math">
                    <m:r>
                      <a:rPr lang="en-US" b="1" i="1">
                        <a:latin typeface="Cambria Math" panose="02040503050406030204" pitchFamily="18" charset="0"/>
                      </a:rPr>
                      <m:t>𝑮</m:t>
                    </m:r>
                    <m:r>
                      <a:rPr lang="en-US" b="1">
                        <a:latin typeface="Cambria Math" panose="02040503050406030204" pitchFamily="18" charset="0"/>
                      </a:rPr>
                      <m:t>=</m:t>
                    </m:r>
                    <m:r>
                      <a:rPr lang="en-US" b="1" i="1">
                        <a:latin typeface="Cambria Math" panose="02040503050406030204" pitchFamily="18" charset="0"/>
                      </a:rPr>
                      <m:t>𝟏</m:t>
                    </m:r>
                    <m:r>
                      <a:rPr lang="en-US" b="1">
                        <a:latin typeface="Cambria Math" panose="02040503050406030204" pitchFamily="18" charset="0"/>
                      </a:rPr>
                      <m:t>/</m:t>
                    </m:r>
                    <m:r>
                      <a:rPr lang="en-US" b="1" i="1">
                        <a:latin typeface="Cambria Math" panose="02040503050406030204" pitchFamily="18" charset="0"/>
                      </a:rPr>
                      <m:t>𝑹</m:t>
                    </m:r>
                  </m:oMath>
                </a14:m>
                <a:r>
                  <a:rPr lang="en-US" b="1" dirty="0"/>
                  <a:t> and Susceptance </a:t>
                </a:r>
                <a14:m>
                  <m:oMath xmlns:m="http://schemas.openxmlformats.org/officeDocument/2006/math">
                    <m:r>
                      <a:rPr lang="en-US" b="1" i="1">
                        <a:latin typeface="Cambria Math" panose="02040503050406030204" pitchFamily="18" charset="0"/>
                      </a:rPr>
                      <m:t>𝑩</m:t>
                    </m:r>
                    <m:r>
                      <a:rPr lang="en-US" b="1">
                        <a:latin typeface="Cambria Math" panose="02040503050406030204" pitchFamily="18" charset="0"/>
                      </a:rPr>
                      <m:t>=</m:t>
                    </m:r>
                    <m:r>
                      <a:rPr lang="en-US" b="1" i="1">
                        <a:latin typeface="Cambria Math" panose="02040503050406030204" pitchFamily="18" charset="0"/>
                      </a:rPr>
                      <m:t>𝟏</m:t>
                    </m:r>
                    <m:r>
                      <a:rPr lang="en-US" b="1">
                        <a:latin typeface="Cambria Math" panose="02040503050406030204" pitchFamily="18" charset="0"/>
                      </a:rPr>
                      <m:t>/</m:t>
                    </m:r>
                    <m:r>
                      <a:rPr lang="en-US" b="1" i="1">
                        <a:latin typeface="Cambria Math" panose="02040503050406030204" pitchFamily="18" charset="0"/>
                      </a:rPr>
                      <m:t>𝑿</m:t>
                    </m:r>
                    <m:r>
                      <a:rPr lang="en-US" b="1">
                        <a:latin typeface="Cambria Math" panose="02040503050406030204" pitchFamily="18" charset="0"/>
                      </a:rPr>
                      <m:t>.</m:t>
                    </m:r>
                  </m:oMath>
                </a14:m>
                <a:r>
                  <a:rPr lang="en-US" b="1" dirty="0"/>
                  <a:t> </a:t>
                </a:r>
                <a:endParaRPr lang="ru-RU" b="1" dirty="0"/>
              </a:p>
              <a:p>
                <a:r>
                  <a:rPr lang="en-US" dirty="0"/>
                  <a:t>This is a common error. </a:t>
                </a:r>
                <a:endParaRPr lang="ru-RU" dirty="0"/>
              </a:p>
            </p:txBody>
          </p:sp>
        </mc:Choice>
        <mc:Fallback xmlns="">
          <p:sp>
            <p:nvSpPr>
              <p:cNvPr id="3" name="Объект 2">
                <a:extLst>
                  <a:ext uri="{FF2B5EF4-FFF2-40B4-BE49-F238E27FC236}">
                    <a16:creationId xmlns:a16="http://schemas.microsoft.com/office/drawing/2014/main" id="{73B87E26-119E-3685-71BE-02F5DE8BEEA2}"/>
                  </a:ext>
                </a:extLst>
              </p:cNvPr>
              <p:cNvSpPr>
                <a:spLocks noGrp="1" noRot="1" noChangeAspect="1" noMove="1" noResize="1" noEditPoints="1" noAdjustHandles="1" noChangeArrowheads="1" noChangeShapeType="1" noTextEdit="1"/>
              </p:cNvSpPr>
              <p:nvPr>
                <p:ph idx="1"/>
              </p:nvPr>
            </p:nvSpPr>
            <p:spPr>
              <a:xfrm>
                <a:off x="838200" y="1781493"/>
                <a:ext cx="10515600" cy="4351338"/>
              </a:xfrm>
              <a:blipFill>
                <a:blip r:embed="rId2"/>
                <a:stretch>
                  <a:fillRect l="-1043" t="-2381" r="-1043"/>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51CBDE46-3F7D-D54E-843E-90F1CC08A7EA}"/>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27F9A77E-A531-65CA-7233-F2EF25490A77}"/>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65878AFC-4BB6-A445-1D46-975A6060E3A4}"/>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25685958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3BB31-2F86-0F15-3097-8C0454F6E81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BBC1D3-C528-93D4-3346-7C885A47E2B5}"/>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1E7D7EF0-C245-0311-093E-2D29EC193460}"/>
                  </a:ext>
                </a:extLst>
              </p:cNvPr>
              <p:cNvSpPr>
                <a:spLocks noGrp="1"/>
              </p:cNvSpPr>
              <p:nvPr>
                <p:ph idx="1"/>
              </p:nvPr>
            </p:nvSpPr>
            <p:spPr>
              <a:xfrm>
                <a:off x="838200" y="1781493"/>
                <a:ext cx="10515600" cy="4351338"/>
              </a:xfrm>
            </p:spPr>
            <p:txBody>
              <a:bodyPr>
                <a:noAutofit/>
              </a:bodyPr>
              <a:lstStyle/>
              <a:p>
                <a:r>
                  <a:rPr lang="en-US" b="1" dirty="0"/>
                  <a:t>To find </a:t>
                </a:r>
                <a14:m>
                  <m:oMath xmlns:m="http://schemas.openxmlformats.org/officeDocument/2006/math">
                    <m:r>
                      <a:rPr lang="en-US" b="1" i="1">
                        <a:latin typeface="Cambria Math" panose="02040503050406030204" pitchFamily="18" charset="0"/>
                      </a:rPr>
                      <m:t>𝑮</m:t>
                    </m:r>
                  </m:oMath>
                </a14:m>
                <a:r>
                  <a:rPr lang="en-US" b="1" dirty="0"/>
                  <a:t> and </a:t>
                </a:r>
                <a14:m>
                  <m:oMath xmlns:m="http://schemas.openxmlformats.org/officeDocument/2006/math">
                    <m:r>
                      <a:rPr lang="en-US" b="1" i="1">
                        <a:latin typeface="Cambria Math" panose="02040503050406030204" pitchFamily="18" charset="0"/>
                      </a:rPr>
                      <m:t>𝑩</m:t>
                    </m:r>
                    <m:r>
                      <a:rPr lang="en-US" b="1">
                        <a:latin typeface="Cambria Math" panose="02040503050406030204" pitchFamily="18" charset="0"/>
                      </a:rPr>
                      <m:t>,</m:t>
                    </m:r>
                  </m:oMath>
                </a14:m>
                <a:r>
                  <a:rPr lang="en-US" b="1" dirty="0"/>
                  <a:t> we must rationalize the denominator:</a:t>
                </a:r>
                <a:endParaRPr lang="ru-RU" b="1" dirty="0"/>
              </a:p>
              <a:p>
                <a:pPr marL="0" indent="0">
                  <a:buNone/>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𝒀</m:t>
                      </m:r>
                      <m:r>
                        <a:rPr lang="en-US" b="1">
                          <a:latin typeface="Cambria Math" panose="02040503050406030204" pitchFamily="18" charset="0"/>
                        </a:rPr>
                        <m:t>=</m:t>
                      </m:r>
                      <m:f>
                        <m:fPr>
                          <m:ctrlPr>
                            <a:rPr lang="ru-RU" b="1" i="1">
                              <a:latin typeface="Cambria Math" panose="02040503050406030204" pitchFamily="18" charset="0"/>
                            </a:rPr>
                          </m:ctrlPr>
                        </m:fPr>
                        <m:num>
                          <m:r>
                            <a:rPr lang="en-US" b="1" i="1">
                              <a:latin typeface="Cambria Math" panose="02040503050406030204" pitchFamily="18" charset="0"/>
                            </a:rPr>
                            <m:t>𝟏</m:t>
                          </m:r>
                        </m:num>
                        <m:den>
                          <m:r>
                            <a:rPr lang="en-US" b="1" i="1">
                              <a:latin typeface="Cambria Math" panose="02040503050406030204" pitchFamily="18" charset="0"/>
                            </a:rPr>
                            <m:t>𝑹</m:t>
                          </m:r>
                          <m:r>
                            <a:rPr lang="en-US" b="1">
                              <a:latin typeface="Cambria Math" panose="02040503050406030204" pitchFamily="18" charset="0"/>
                            </a:rPr>
                            <m:t>+</m:t>
                          </m:r>
                          <m:r>
                            <a:rPr lang="en-US" b="1" i="1">
                              <a:latin typeface="Cambria Math" panose="02040503050406030204" pitchFamily="18" charset="0"/>
                            </a:rPr>
                            <m:t>𝒋𝑿</m:t>
                          </m:r>
                        </m:den>
                      </m:f>
                      <m:r>
                        <a:rPr lang="en-US" b="1">
                          <a:latin typeface="Cambria Math" panose="02040503050406030204" pitchFamily="18" charset="0"/>
                        </a:rPr>
                        <m:t>=</m:t>
                      </m:r>
                      <m:f>
                        <m:fPr>
                          <m:ctrlPr>
                            <a:rPr lang="ru-RU" b="1" i="1">
                              <a:latin typeface="Cambria Math" panose="02040503050406030204" pitchFamily="18" charset="0"/>
                            </a:rPr>
                          </m:ctrlPr>
                        </m:fPr>
                        <m:num>
                          <m:r>
                            <a:rPr lang="en-US" b="1" i="1">
                              <a:latin typeface="Cambria Math" panose="02040503050406030204" pitchFamily="18" charset="0"/>
                            </a:rPr>
                            <m:t>𝟏</m:t>
                          </m:r>
                          <m:r>
                            <a:rPr lang="en-US" b="1">
                              <a:latin typeface="Cambria Math" panose="02040503050406030204" pitchFamily="18" charset="0"/>
                            </a:rPr>
                            <m:t>(</m:t>
                          </m:r>
                          <m:r>
                            <a:rPr lang="en-US" b="1" i="1">
                              <a:latin typeface="Cambria Math" panose="02040503050406030204" pitchFamily="18" charset="0"/>
                            </a:rPr>
                            <m:t>𝑹</m:t>
                          </m:r>
                          <m:r>
                            <a:rPr lang="en-US" b="1" i="1">
                              <a:latin typeface="Cambria Math" panose="02040503050406030204" pitchFamily="18" charset="0"/>
                            </a:rPr>
                            <m:t>−</m:t>
                          </m:r>
                          <m:r>
                            <a:rPr lang="en-US" b="1" i="1">
                              <a:latin typeface="Cambria Math" panose="02040503050406030204" pitchFamily="18" charset="0"/>
                            </a:rPr>
                            <m:t>𝒋𝑿</m:t>
                          </m:r>
                          <m:r>
                            <a:rPr lang="en-US" b="1">
                              <a:latin typeface="Cambria Math" panose="02040503050406030204" pitchFamily="18" charset="0"/>
                            </a:rPr>
                            <m:t>)</m:t>
                          </m:r>
                        </m:num>
                        <m:den>
                          <m:r>
                            <a:rPr lang="en-US" b="1">
                              <a:latin typeface="Cambria Math" panose="02040503050406030204" pitchFamily="18" charset="0"/>
                            </a:rPr>
                            <m:t>(</m:t>
                          </m:r>
                          <m:r>
                            <a:rPr lang="en-US" b="1" i="1">
                              <a:latin typeface="Cambria Math" panose="02040503050406030204" pitchFamily="18" charset="0"/>
                            </a:rPr>
                            <m:t>𝑹</m:t>
                          </m:r>
                          <m:r>
                            <a:rPr lang="en-US" b="1">
                              <a:latin typeface="Cambria Math" panose="02040503050406030204" pitchFamily="18" charset="0"/>
                            </a:rPr>
                            <m:t>+</m:t>
                          </m:r>
                          <m:r>
                            <a:rPr lang="en-US" b="1" i="1">
                              <a:latin typeface="Cambria Math" panose="02040503050406030204" pitchFamily="18" charset="0"/>
                            </a:rPr>
                            <m:t>𝒋𝑿</m:t>
                          </m:r>
                          <m:r>
                            <a:rPr lang="en-US" b="1">
                              <a:latin typeface="Cambria Math" panose="02040503050406030204" pitchFamily="18" charset="0"/>
                            </a:rPr>
                            <m:t>)(</m:t>
                          </m:r>
                          <m:r>
                            <a:rPr lang="en-US" b="1" i="1">
                              <a:latin typeface="Cambria Math" panose="02040503050406030204" pitchFamily="18" charset="0"/>
                            </a:rPr>
                            <m:t>𝑹</m:t>
                          </m:r>
                          <m:r>
                            <a:rPr lang="en-US" b="1" i="1">
                              <a:latin typeface="Cambria Math" panose="02040503050406030204" pitchFamily="18" charset="0"/>
                            </a:rPr>
                            <m:t>−</m:t>
                          </m:r>
                          <m:r>
                            <a:rPr lang="en-US" b="1" i="1">
                              <a:latin typeface="Cambria Math" panose="02040503050406030204" pitchFamily="18" charset="0"/>
                            </a:rPr>
                            <m:t>𝒋𝑿</m:t>
                          </m:r>
                          <m:r>
                            <a:rPr lang="en-US" b="1">
                              <a:latin typeface="Cambria Math" panose="02040503050406030204" pitchFamily="18" charset="0"/>
                            </a:rPr>
                            <m:t>)</m:t>
                          </m:r>
                        </m:den>
                      </m:f>
                      <m:r>
                        <a:rPr lang="en-US" b="1">
                          <a:latin typeface="Cambria Math" panose="02040503050406030204" pitchFamily="18" charset="0"/>
                        </a:rPr>
                        <m:t>=</m:t>
                      </m:r>
                      <m:f>
                        <m:fPr>
                          <m:ctrlPr>
                            <a:rPr lang="ru-RU" b="1" i="1">
                              <a:latin typeface="Cambria Math" panose="02040503050406030204" pitchFamily="18" charset="0"/>
                            </a:rPr>
                          </m:ctrlPr>
                        </m:fPr>
                        <m:num>
                          <m:r>
                            <a:rPr lang="en-US" b="1" i="1">
                              <a:latin typeface="Cambria Math" panose="02040503050406030204" pitchFamily="18" charset="0"/>
                            </a:rPr>
                            <m:t>𝑹</m:t>
                          </m:r>
                          <m:r>
                            <a:rPr lang="en-US" b="1" i="1">
                              <a:latin typeface="Cambria Math" panose="02040503050406030204" pitchFamily="18" charset="0"/>
                            </a:rPr>
                            <m:t>−</m:t>
                          </m:r>
                          <m:r>
                            <a:rPr lang="en-US" b="1" i="1">
                              <a:latin typeface="Cambria Math" panose="02040503050406030204" pitchFamily="18" charset="0"/>
                            </a:rPr>
                            <m:t>𝒋𝑿</m:t>
                          </m:r>
                        </m:num>
                        <m:den>
                          <m:sSup>
                            <m:sSupPr>
                              <m:ctrlPr>
                                <a:rPr lang="ru-RU" b="1" i="1">
                                  <a:latin typeface="Cambria Math" panose="02040503050406030204" pitchFamily="18" charset="0"/>
                                </a:rPr>
                              </m:ctrlPr>
                            </m:sSupPr>
                            <m:e>
                              <m:r>
                                <a:rPr lang="en-US" b="1" i="1">
                                  <a:latin typeface="Cambria Math" panose="02040503050406030204" pitchFamily="18" charset="0"/>
                                </a:rPr>
                                <m:t>𝑹</m:t>
                              </m:r>
                            </m:e>
                            <m:sup>
                              <m:r>
                                <a:rPr lang="en-US" b="1" i="1">
                                  <a:latin typeface="Cambria Math" panose="02040503050406030204" pitchFamily="18" charset="0"/>
                                </a:rPr>
                                <m:t>𝟐</m:t>
                              </m:r>
                            </m:sup>
                          </m:sSup>
                          <m:r>
                            <a:rPr lang="en-US" b="1">
                              <a:latin typeface="Cambria Math" panose="02040503050406030204" pitchFamily="18" charset="0"/>
                            </a:rPr>
                            <m:t>+</m:t>
                          </m:r>
                          <m:sSup>
                            <m:sSupPr>
                              <m:ctrlPr>
                                <a:rPr lang="ru-RU" b="1" i="1">
                                  <a:latin typeface="Cambria Math" panose="02040503050406030204" pitchFamily="18" charset="0"/>
                                </a:rPr>
                              </m:ctrlPr>
                            </m:sSupPr>
                            <m:e>
                              <m:r>
                                <a:rPr lang="en-US" b="1" i="1">
                                  <a:latin typeface="Cambria Math" panose="02040503050406030204" pitchFamily="18" charset="0"/>
                                </a:rPr>
                                <m:t>𝑿</m:t>
                              </m:r>
                            </m:e>
                            <m:sup>
                              <m:r>
                                <a:rPr lang="en-US" b="1" i="1">
                                  <a:latin typeface="Cambria Math" panose="02040503050406030204" pitchFamily="18" charset="0"/>
                                </a:rPr>
                                <m:t>𝟐</m:t>
                              </m:r>
                            </m:sup>
                          </m:sSup>
                        </m:den>
                      </m:f>
                      <m:r>
                        <a:rPr lang="en-US" b="1">
                          <a:latin typeface="Cambria Math" panose="02040503050406030204" pitchFamily="18" charset="0"/>
                        </a:rPr>
                        <m:t>.</m:t>
                      </m:r>
                    </m:oMath>
                  </m:oMathPara>
                </a14:m>
                <a:endParaRPr lang="ru-RU" b="1" dirty="0"/>
              </a:p>
              <a:p>
                <a:r>
                  <a:rPr lang="en-US" b="1" dirty="0"/>
                  <a:t>Separating the real and imaginary parts gives:</a:t>
                </a:r>
                <a:endParaRPr lang="ru-RU" b="1" dirty="0"/>
              </a:p>
              <a:p>
                <a:pPr marL="0" indent="0">
                  <a:buNone/>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𝑮</m:t>
                      </m:r>
                      <m:r>
                        <a:rPr lang="en-US" b="1">
                          <a:latin typeface="Cambria Math" panose="02040503050406030204" pitchFamily="18" charset="0"/>
                        </a:rPr>
                        <m:t>=</m:t>
                      </m:r>
                      <m:f>
                        <m:fPr>
                          <m:ctrlPr>
                            <a:rPr lang="ru-RU" b="1" i="1">
                              <a:latin typeface="Cambria Math" panose="02040503050406030204" pitchFamily="18" charset="0"/>
                            </a:rPr>
                          </m:ctrlPr>
                        </m:fPr>
                        <m:num>
                          <m:r>
                            <a:rPr lang="en-US" b="1" i="1">
                              <a:latin typeface="Cambria Math" panose="02040503050406030204" pitchFamily="18" charset="0"/>
                            </a:rPr>
                            <m:t>𝑹</m:t>
                          </m:r>
                        </m:num>
                        <m:den>
                          <m:sSup>
                            <m:sSupPr>
                              <m:ctrlPr>
                                <a:rPr lang="ru-RU" b="1" i="1">
                                  <a:latin typeface="Cambria Math" panose="02040503050406030204" pitchFamily="18" charset="0"/>
                                </a:rPr>
                              </m:ctrlPr>
                            </m:sSupPr>
                            <m:e>
                              <m:r>
                                <a:rPr lang="en-US" b="1" i="1">
                                  <a:latin typeface="Cambria Math" panose="02040503050406030204" pitchFamily="18" charset="0"/>
                                </a:rPr>
                                <m:t>𝑹</m:t>
                              </m:r>
                            </m:e>
                            <m:sup>
                              <m:r>
                                <a:rPr lang="en-US" b="1" i="1">
                                  <a:latin typeface="Cambria Math" panose="02040503050406030204" pitchFamily="18" charset="0"/>
                                </a:rPr>
                                <m:t>𝟐</m:t>
                              </m:r>
                            </m:sup>
                          </m:sSup>
                          <m:r>
                            <a:rPr lang="en-US" b="1">
                              <a:latin typeface="Cambria Math" panose="02040503050406030204" pitchFamily="18" charset="0"/>
                            </a:rPr>
                            <m:t>+</m:t>
                          </m:r>
                          <m:sSup>
                            <m:sSupPr>
                              <m:ctrlPr>
                                <a:rPr lang="ru-RU" b="1" i="1">
                                  <a:latin typeface="Cambria Math" panose="02040503050406030204" pitchFamily="18" charset="0"/>
                                </a:rPr>
                              </m:ctrlPr>
                            </m:sSupPr>
                            <m:e>
                              <m:r>
                                <a:rPr lang="en-US" b="1" i="1">
                                  <a:latin typeface="Cambria Math" panose="02040503050406030204" pitchFamily="18" charset="0"/>
                                </a:rPr>
                                <m:t>𝑿</m:t>
                              </m:r>
                            </m:e>
                            <m:sup>
                              <m:r>
                                <a:rPr lang="en-US" b="1" i="1">
                                  <a:latin typeface="Cambria Math" panose="02040503050406030204" pitchFamily="18" charset="0"/>
                                </a:rPr>
                                <m:t>𝟐</m:t>
                              </m:r>
                            </m:sup>
                          </m:sSup>
                        </m:den>
                      </m:f>
                      <m:r>
                        <a:rPr lang="en-US" b="1">
                          <a:latin typeface="Cambria Math" panose="02040503050406030204" pitchFamily="18" charset="0"/>
                        </a:rPr>
                        <m:t>,</m:t>
                      </m:r>
                      <m:r>
                        <a:rPr lang="en-US" b="1" i="1">
                          <a:latin typeface="Cambria Math" panose="02040503050406030204" pitchFamily="18" charset="0"/>
                        </a:rPr>
                        <m:t> </m:t>
                      </m:r>
                      <m:r>
                        <a:rPr lang="en-US" b="1" i="1">
                          <a:latin typeface="Cambria Math" panose="02040503050406030204" pitchFamily="18" charset="0"/>
                        </a:rPr>
                        <m:t>𝑩</m:t>
                      </m:r>
                      <m:r>
                        <a:rPr lang="en-US" b="1">
                          <a:latin typeface="Cambria Math" panose="02040503050406030204" pitchFamily="18" charset="0"/>
                        </a:rPr>
                        <m:t>=</m:t>
                      </m:r>
                      <m:f>
                        <m:fPr>
                          <m:ctrlPr>
                            <a:rPr lang="ru-RU" b="1" i="1">
                              <a:latin typeface="Cambria Math" panose="02040503050406030204" pitchFamily="18" charset="0"/>
                            </a:rPr>
                          </m:ctrlPr>
                        </m:fPr>
                        <m:num>
                          <m:r>
                            <a:rPr lang="en-US" b="1" i="1">
                              <a:latin typeface="Cambria Math" panose="02040503050406030204" pitchFamily="18" charset="0"/>
                            </a:rPr>
                            <m:t>−</m:t>
                          </m:r>
                          <m:r>
                            <a:rPr lang="en-US" b="1" i="1">
                              <a:latin typeface="Cambria Math" panose="02040503050406030204" pitchFamily="18" charset="0"/>
                            </a:rPr>
                            <m:t>𝑿</m:t>
                          </m:r>
                        </m:num>
                        <m:den>
                          <m:sSup>
                            <m:sSupPr>
                              <m:ctrlPr>
                                <a:rPr lang="ru-RU" b="1" i="1">
                                  <a:latin typeface="Cambria Math" panose="02040503050406030204" pitchFamily="18" charset="0"/>
                                </a:rPr>
                              </m:ctrlPr>
                            </m:sSupPr>
                            <m:e>
                              <m:r>
                                <a:rPr lang="en-US" b="1" i="1">
                                  <a:latin typeface="Cambria Math" panose="02040503050406030204" pitchFamily="18" charset="0"/>
                                </a:rPr>
                                <m:t>𝑹</m:t>
                              </m:r>
                            </m:e>
                            <m:sup>
                              <m:r>
                                <a:rPr lang="en-US" b="1" i="1">
                                  <a:latin typeface="Cambria Math" panose="02040503050406030204" pitchFamily="18" charset="0"/>
                                </a:rPr>
                                <m:t>𝟐</m:t>
                              </m:r>
                            </m:sup>
                          </m:sSup>
                          <m:r>
                            <a:rPr lang="en-US" b="1">
                              <a:latin typeface="Cambria Math" panose="02040503050406030204" pitchFamily="18" charset="0"/>
                            </a:rPr>
                            <m:t>+</m:t>
                          </m:r>
                          <m:sSup>
                            <m:sSupPr>
                              <m:ctrlPr>
                                <a:rPr lang="ru-RU" b="1" i="1">
                                  <a:latin typeface="Cambria Math" panose="02040503050406030204" pitchFamily="18" charset="0"/>
                                </a:rPr>
                              </m:ctrlPr>
                            </m:sSupPr>
                            <m:e>
                              <m:r>
                                <a:rPr lang="en-US" b="1" i="1">
                                  <a:latin typeface="Cambria Math" panose="02040503050406030204" pitchFamily="18" charset="0"/>
                                </a:rPr>
                                <m:t>𝑿</m:t>
                              </m:r>
                            </m:e>
                            <m:sup>
                              <m:r>
                                <a:rPr lang="en-US" b="1" i="1">
                                  <a:latin typeface="Cambria Math" panose="02040503050406030204" pitchFamily="18" charset="0"/>
                                </a:rPr>
                                <m:t>𝟐</m:t>
                              </m:r>
                            </m:sup>
                          </m:sSup>
                        </m:den>
                      </m:f>
                      <m:r>
                        <a:rPr lang="en-US" b="1">
                          <a:latin typeface="Cambria Math" panose="02040503050406030204" pitchFamily="18" charset="0"/>
                        </a:rPr>
                        <m:t>.</m:t>
                      </m:r>
                    </m:oMath>
                  </m:oMathPara>
                </a14:m>
                <a:endParaRPr lang="ru-RU" b="1" dirty="0"/>
              </a:p>
              <a:p>
                <a:r>
                  <a:rPr lang="en-US" dirty="0"/>
                  <a:t>Notice that if X is positive (Inductive), the Susceptance B becomes negative.</a:t>
                </a:r>
                <a:endParaRPr lang="ru-RU" dirty="0"/>
              </a:p>
            </p:txBody>
          </p:sp>
        </mc:Choice>
        <mc:Fallback xmlns="">
          <p:sp>
            <p:nvSpPr>
              <p:cNvPr id="3" name="Объект 2">
                <a:extLst>
                  <a:ext uri="{FF2B5EF4-FFF2-40B4-BE49-F238E27FC236}">
                    <a16:creationId xmlns:a16="http://schemas.microsoft.com/office/drawing/2014/main" id="{1E7D7EF0-C245-0311-093E-2D29EC193460}"/>
                  </a:ext>
                </a:extLst>
              </p:cNvPr>
              <p:cNvSpPr>
                <a:spLocks noGrp="1" noRot="1" noChangeAspect="1" noMove="1" noResize="1" noEditPoints="1" noAdjustHandles="1" noChangeArrowheads="1" noChangeShapeType="1" noTextEdit="1"/>
              </p:cNvSpPr>
              <p:nvPr>
                <p:ph idx="1"/>
              </p:nvPr>
            </p:nvSpPr>
            <p:spPr>
              <a:xfrm>
                <a:off x="838200" y="1781493"/>
                <a:ext cx="10515600" cy="4351338"/>
              </a:xfrm>
              <a:blipFill>
                <a:blip r:embed="rId2"/>
                <a:stretch>
                  <a:fillRect l="-1043" t="-2381" r="-1797"/>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1952A993-B353-CEDC-5956-B6B9D7D3173C}"/>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A6C23542-1B53-0D53-6FF0-04E7E9DE1C21}"/>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B773710A-1058-CCE9-1A22-AB693ABB428C}"/>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1474126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E56E6-7762-50D1-B854-D5D463E2D71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79C2C45-0C78-A115-141D-BB6A484C3F46}"/>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DA443B9F-E746-982F-80B1-B5886766D50B}"/>
                  </a:ext>
                </a:extLst>
              </p:cNvPr>
              <p:cNvSpPr>
                <a:spLocks noGrp="1"/>
              </p:cNvSpPr>
              <p:nvPr>
                <p:ph idx="1"/>
              </p:nvPr>
            </p:nvSpPr>
            <p:spPr>
              <a:xfrm>
                <a:off x="838200" y="1781493"/>
                <a:ext cx="10515600" cy="4351338"/>
              </a:xfrm>
            </p:spPr>
            <p:txBody>
              <a:bodyPr>
                <a:noAutofit/>
              </a:bodyPr>
              <a:lstStyle/>
              <a:p>
                <a:r>
                  <a:rPr lang="en-US" dirty="0"/>
                  <a:t>Let's consider the frequency response of Reactance graphically. </a:t>
                </a:r>
                <a:endParaRPr lang="ru-RU" dirty="0"/>
              </a:p>
              <a:p>
                <a:r>
                  <a:rPr lang="en-US" dirty="0"/>
                  <a:t>If we plot Inductive Reactance (</a:t>
                </a:r>
                <a14:m>
                  <m:oMath xmlns:m="http://schemas.openxmlformats.org/officeDocument/2006/math">
                    <m:sSub>
                      <m:sSubPr>
                        <m:ctrlPr>
                          <a:rPr lang="ru-RU" i="1">
                            <a:latin typeface="Cambria Math" panose="02040503050406030204" pitchFamily="18" charset="0"/>
                          </a:rPr>
                        </m:ctrlPr>
                      </m:sSubPr>
                      <m:e>
                        <m:r>
                          <a:rPr lang="en-US" b="0" i="1">
                            <a:latin typeface="Cambria Math" panose="02040503050406030204" pitchFamily="18" charset="0"/>
                          </a:rPr>
                          <m:t>𝑋</m:t>
                        </m:r>
                      </m:e>
                      <m:sub>
                        <m:r>
                          <a:rPr lang="en-US" b="0" i="1">
                            <a:latin typeface="Cambria Math" panose="02040503050406030204" pitchFamily="18" charset="0"/>
                          </a:rPr>
                          <m:t>𝐿</m:t>
                        </m:r>
                      </m:sub>
                    </m:sSub>
                    <m:r>
                      <a:rPr lang="en-US" b="0">
                        <a:latin typeface="Cambria Math" panose="02040503050406030204" pitchFamily="18" charset="0"/>
                      </a:rPr>
                      <m:t>=</m:t>
                    </m:r>
                    <m:r>
                      <a:rPr lang="en-US" b="0" i="1">
                        <a:latin typeface="Cambria Math" panose="02040503050406030204" pitchFamily="18" charset="0"/>
                      </a:rPr>
                      <m:t>2</m:t>
                    </m:r>
                    <m:r>
                      <a:rPr lang="en-US" b="0" i="1">
                        <a:latin typeface="Cambria Math" panose="02040503050406030204" pitchFamily="18" charset="0"/>
                      </a:rPr>
                      <m:t>𝜋</m:t>
                    </m:r>
                    <m:r>
                      <a:rPr lang="en-US" b="0" i="1">
                        <a:latin typeface="Cambria Math" panose="02040503050406030204" pitchFamily="18" charset="0"/>
                      </a:rPr>
                      <m:t>𝑓𝐿</m:t>
                    </m:r>
                  </m:oMath>
                </a14:m>
                <a:r>
                  <a:rPr lang="en-US" dirty="0"/>
                  <a:t>) on the Y-axis versus Frequency (</a:t>
                </a:r>
                <a14:m>
                  <m:oMath xmlns:m="http://schemas.openxmlformats.org/officeDocument/2006/math">
                    <m:r>
                      <a:rPr lang="en-US" i="1">
                        <a:latin typeface="Cambria Math" panose="02040503050406030204" pitchFamily="18" charset="0"/>
                      </a:rPr>
                      <m:t>𝑓</m:t>
                    </m:r>
                  </m:oMath>
                </a14:m>
                <a:r>
                  <a:rPr lang="en-US" dirty="0"/>
                  <a:t>) on the X-axis, we get a straight line passing through zero. </a:t>
                </a:r>
                <a:endParaRPr lang="ru-RU" dirty="0"/>
              </a:p>
              <a:p>
                <a:r>
                  <a:rPr lang="en-US" dirty="0"/>
                  <a:t>The higher the frequency, the higher the opposition to current. </a:t>
                </a:r>
                <a:endParaRPr lang="ru-RU" dirty="0"/>
              </a:p>
              <a:p>
                <a:r>
                  <a:rPr lang="en-US" dirty="0">
                    <a:effectLst/>
                    <a:latin typeface="Aptos" panose="020B0004020202020204" pitchFamily="34" charset="0"/>
                    <a:ea typeface="Aptos" panose="020B0004020202020204" pitchFamily="34" charset="0"/>
                    <a:cs typeface="Times New Roman" panose="02020603050405020304" pitchFamily="18" charset="0"/>
                  </a:rPr>
                  <a:t>If we plot Capacitive Reactance (</a:t>
                </a:r>
                <a14:m>
                  <m:oMath xmlns:m="http://schemas.openxmlformats.org/officeDocument/2006/math">
                    <m:sSub>
                      <m:sSubPr>
                        <m:ctrlPr>
                          <a:rPr lang="ru-RU" i="1">
                            <a:effectLst/>
                            <a:latin typeface="Cambria Math" panose="02040503050406030204" pitchFamily="18" charset="0"/>
                          </a:rPr>
                        </m:ctrlPr>
                      </m:sSubPr>
                      <m:e>
                        <m:r>
                          <a:rPr lang="en-US" b="0" i="1">
                            <a:effectLst/>
                            <a:latin typeface="Cambria Math" panose="02040503050406030204" pitchFamily="18" charset="0"/>
                            <a:ea typeface="Aptos" panose="020B0004020202020204" pitchFamily="34" charset="0"/>
                            <a:cs typeface="Times New Roman" panose="02020603050405020304" pitchFamily="18" charset="0"/>
                          </a:rPr>
                          <m:t>𝑋</m:t>
                        </m:r>
                      </m:e>
                      <m:sub>
                        <m:r>
                          <a:rPr lang="en-US" b="0" i="1">
                            <a:effectLst/>
                            <a:latin typeface="Cambria Math" panose="02040503050406030204" pitchFamily="18" charset="0"/>
                            <a:ea typeface="Aptos" panose="020B0004020202020204" pitchFamily="34" charset="0"/>
                            <a:cs typeface="Times New Roman" panose="02020603050405020304" pitchFamily="18" charset="0"/>
                          </a:rPr>
                          <m:t>𝐶</m:t>
                        </m:r>
                      </m:sub>
                    </m:sSub>
                    <m:r>
                      <a:rPr lang="en-US" b="0">
                        <a:effectLst/>
                        <a:latin typeface="Cambria Math" panose="02040503050406030204" pitchFamily="18" charset="0"/>
                        <a:ea typeface="Aptos" panose="020B0004020202020204" pitchFamily="34" charset="0"/>
                        <a:cs typeface="Times New Roman" panose="02020603050405020304" pitchFamily="18" charset="0"/>
                      </a:rPr>
                      <m:t>=</m:t>
                    </m:r>
                    <m:f>
                      <m:fPr>
                        <m:ctrlPr>
                          <a:rPr lang="ru-RU" i="1">
                            <a:effectLst/>
                            <a:latin typeface="Cambria Math" panose="02040503050406030204" pitchFamily="18" charset="0"/>
                          </a:rPr>
                        </m:ctrlPr>
                      </m:fPr>
                      <m:num>
                        <m:r>
                          <a:rPr lang="en-US" b="0" i="1">
                            <a:effectLst/>
                            <a:latin typeface="Cambria Math" panose="02040503050406030204" pitchFamily="18" charset="0"/>
                            <a:ea typeface="Aptos" panose="020B0004020202020204" pitchFamily="34" charset="0"/>
                            <a:cs typeface="Times New Roman" panose="02020603050405020304" pitchFamily="18" charset="0"/>
                          </a:rPr>
                          <m:t>1</m:t>
                        </m:r>
                      </m:num>
                      <m:den>
                        <m:r>
                          <a:rPr lang="en-US" b="0" i="1">
                            <a:effectLst/>
                            <a:latin typeface="Cambria Math" panose="02040503050406030204" pitchFamily="18" charset="0"/>
                            <a:ea typeface="Aptos" panose="020B0004020202020204" pitchFamily="34" charset="0"/>
                            <a:cs typeface="Times New Roman" panose="02020603050405020304" pitchFamily="18" charset="0"/>
                          </a:rPr>
                          <m:t>2</m:t>
                        </m:r>
                        <m:r>
                          <a:rPr lang="en-US" b="0" i="1">
                            <a:effectLst/>
                            <a:latin typeface="Cambria Math" panose="02040503050406030204" pitchFamily="18" charset="0"/>
                            <a:ea typeface="Aptos" panose="020B0004020202020204" pitchFamily="34" charset="0"/>
                            <a:cs typeface="Times New Roman" panose="02020603050405020304" pitchFamily="18" charset="0"/>
                          </a:rPr>
                          <m:t>𝜋</m:t>
                        </m:r>
                        <m:r>
                          <a:rPr lang="en-US" b="0" i="1">
                            <a:effectLst/>
                            <a:latin typeface="Cambria Math" panose="02040503050406030204" pitchFamily="18" charset="0"/>
                            <a:ea typeface="Aptos" panose="020B0004020202020204" pitchFamily="34" charset="0"/>
                            <a:cs typeface="Times New Roman" panose="02020603050405020304" pitchFamily="18" charset="0"/>
                          </a:rPr>
                          <m:t>𝑓𝐶</m:t>
                        </m:r>
                      </m:den>
                    </m:f>
                  </m:oMath>
                </a14:m>
                <a:r>
                  <a:rPr lang="en-US" dirty="0">
                    <a:effectLst/>
                    <a:latin typeface="Aptos" panose="020B0004020202020204" pitchFamily="34" charset="0"/>
                    <a:ea typeface="Aptos" panose="020B0004020202020204" pitchFamily="34" charset="0"/>
                    <a:cs typeface="Times New Roman" panose="02020603050405020304" pitchFamily="18" charset="0"/>
                  </a:rPr>
                  <a:t>) versus Frequency, we get a hyperbola.</a:t>
                </a:r>
                <a:endParaRPr lang="ru-RU" dirty="0"/>
              </a:p>
            </p:txBody>
          </p:sp>
        </mc:Choice>
        <mc:Fallback xmlns="">
          <p:sp>
            <p:nvSpPr>
              <p:cNvPr id="3" name="Объект 2">
                <a:extLst>
                  <a:ext uri="{FF2B5EF4-FFF2-40B4-BE49-F238E27FC236}">
                    <a16:creationId xmlns:a16="http://schemas.microsoft.com/office/drawing/2014/main" id="{DA443B9F-E746-982F-80B1-B5886766D50B}"/>
                  </a:ext>
                </a:extLst>
              </p:cNvPr>
              <p:cNvSpPr>
                <a:spLocks noGrp="1" noRot="1" noChangeAspect="1" noMove="1" noResize="1" noEditPoints="1" noAdjustHandles="1" noChangeArrowheads="1" noChangeShapeType="1" noTextEdit="1"/>
              </p:cNvSpPr>
              <p:nvPr>
                <p:ph idx="1"/>
              </p:nvPr>
            </p:nvSpPr>
            <p:spPr>
              <a:xfrm>
                <a:off x="838200" y="1781493"/>
                <a:ext cx="10515600" cy="4351338"/>
              </a:xfrm>
              <a:blipFill>
                <a:blip r:embed="rId2"/>
                <a:stretch>
                  <a:fillRect l="-1043" t="-2381" r="-522"/>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85756C34-5CEF-F284-BDF9-8F87DC3A204E}"/>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64A115BE-0E8E-2CFA-215F-093710E01B0E}"/>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97C18A89-F89C-A1B3-049B-639BD23891A1}"/>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Tree>
    <p:extLst>
      <p:ext uri="{BB962C8B-B14F-4D97-AF65-F5344CB8AC3E}">
        <p14:creationId xmlns:p14="http://schemas.microsoft.com/office/powerpoint/2010/main" val="19371945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DF5EE-F631-A17C-1F38-F8D5247ACA0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7B03788-DDFA-ECD3-4FBB-A77C6A196581}"/>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6FB5BBB7-9FB1-CB0C-77EC-A29DFCD935AE}"/>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97F7C866-FEE7-6571-71D6-BAC1B860C8ED}"/>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4960FB1C-33CE-E04A-E62B-F110935EE132}"/>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sp>
        <p:nvSpPr>
          <p:cNvPr id="9" name="Объект 8">
            <a:extLst>
              <a:ext uri="{FF2B5EF4-FFF2-40B4-BE49-F238E27FC236}">
                <a16:creationId xmlns:a16="http://schemas.microsoft.com/office/drawing/2014/main" id="{79627B28-EADE-DD32-0D62-35742C0006DB}"/>
              </a:ext>
            </a:extLst>
          </p:cNvPr>
          <p:cNvSpPr>
            <a:spLocks noGrp="1"/>
          </p:cNvSpPr>
          <p:nvPr>
            <p:ph idx="1"/>
          </p:nvPr>
        </p:nvSpPr>
        <p:spPr/>
        <p:txBody>
          <a:bodyPr/>
          <a:lstStyle/>
          <a:p>
            <a:r>
              <a:rPr lang="en-US" dirty="0"/>
              <a:t>Here are these plots.</a:t>
            </a:r>
            <a:endParaRPr lang="ru-RU" dirty="0"/>
          </a:p>
        </p:txBody>
      </p:sp>
      <p:pic>
        <p:nvPicPr>
          <p:cNvPr id="10" name="Объект 6">
            <a:extLst>
              <a:ext uri="{FF2B5EF4-FFF2-40B4-BE49-F238E27FC236}">
                <a16:creationId xmlns:a16="http://schemas.microsoft.com/office/drawing/2014/main" id="{02A8590C-2688-FD20-1126-2A8BCAC55C9E}"/>
              </a:ext>
            </a:extLst>
          </p:cNvPr>
          <p:cNvPicPr>
            <a:picLocks noChangeAspect="1"/>
          </p:cNvPicPr>
          <p:nvPr/>
        </p:nvPicPr>
        <p:blipFill>
          <a:blip r:embed="rId2"/>
          <a:stretch>
            <a:fillRect/>
          </a:stretch>
        </p:blipFill>
        <p:spPr>
          <a:xfrm>
            <a:off x="838200" y="2529249"/>
            <a:ext cx="5151731" cy="4054431"/>
          </a:xfrm>
          <a:prstGeom prst="rect">
            <a:avLst/>
          </a:prstGeom>
        </p:spPr>
      </p:pic>
      <p:pic>
        <p:nvPicPr>
          <p:cNvPr id="11" name="Рисунок 10">
            <a:extLst>
              <a:ext uri="{FF2B5EF4-FFF2-40B4-BE49-F238E27FC236}">
                <a16:creationId xmlns:a16="http://schemas.microsoft.com/office/drawing/2014/main" id="{3C9823B3-CCCB-BC2B-0F37-C7DC5AD68468}"/>
              </a:ext>
            </a:extLst>
          </p:cNvPr>
          <p:cNvPicPr>
            <a:picLocks noChangeAspect="1"/>
          </p:cNvPicPr>
          <p:nvPr/>
        </p:nvPicPr>
        <p:blipFill>
          <a:blip r:embed="rId3"/>
          <a:stretch>
            <a:fillRect/>
          </a:stretch>
        </p:blipFill>
        <p:spPr>
          <a:xfrm>
            <a:off x="6608594" y="2676042"/>
            <a:ext cx="4745206" cy="3907638"/>
          </a:xfrm>
          <a:prstGeom prst="rect">
            <a:avLst/>
          </a:prstGeom>
        </p:spPr>
      </p:pic>
    </p:spTree>
    <p:extLst>
      <p:ext uri="{BB962C8B-B14F-4D97-AF65-F5344CB8AC3E}">
        <p14:creationId xmlns:p14="http://schemas.microsoft.com/office/powerpoint/2010/main" val="10902039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6F941-C833-44E8-64EC-3909E9699E3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0DDF3B8-15B8-9A62-2056-E965D2C75D91}"/>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29FF7DEB-4B90-FA95-9EDD-6180A6E6C93E}"/>
                  </a:ext>
                </a:extLst>
              </p:cNvPr>
              <p:cNvSpPr>
                <a:spLocks noGrp="1"/>
              </p:cNvSpPr>
              <p:nvPr>
                <p:ph idx="1"/>
              </p:nvPr>
            </p:nvSpPr>
            <p:spPr>
              <a:xfrm>
                <a:off x="838200" y="1781493"/>
                <a:ext cx="10515600" cy="4351338"/>
              </a:xfrm>
            </p:spPr>
            <p:txBody>
              <a:bodyPr>
                <a:noAutofit/>
              </a:bodyPr>
              <a:lstStyle/>
              <a:p>
                <a:pPr algn="just">
                  <a:lnSpc>
                    <a:spcPct val="120000"/>
                  </a:lnSpc>
                </a:pPr>
                <a:r>
                  <a:rPr lang="en-US" dirty="0">
                    <a:effectLst/>
                    <a:latin typeface="Arial" panose="020B0604020202020204" pitchFamily="34" charset="0"/>
                    <a:ea typeface="Aptos" panose="020B0004020202020204" pitchFamily="34" charset="0"/>
                  </a:rPr>
                  <a:t>At low frequency, </a:t>
                </a:r>
                <a14:m>
                  <m:oMath xmlns:m="http://schemas.openxmlformats.org/officeDocument/2006/math">
                    <m:sSub>
                      <m:sSubPr>
                        <m:ctrlPr>
                          <a:rPr lang="ru-RU" i="1">
                            <a:effectLst/>
                            <a:latin typeface="Cambria Math" panose="02040503050406030204" pitchFamily="18" charset="0"/>
                            <a:ea typeface="Aptos" panose="020B0004020202020204" pitchFamily="34" charset="0"/>
                          </a:rPr>
                        </m:ctrlPr>
                      </m:sSubPr>
                      <m:e>
                        <m:r>
                          <a:rPr lang="en-US" i="1">
                            <a:effectLst/>
                            <a:latin typeface="Cambria Math" panose="02040503050406030204" pitchFamily="18" charset="0"/>
                            <a:ea typeface="Aptos" panose="020B0004020202020204" pitchFamily="34" charset="0"/>
                          </a:rPr>
                          <m:t>𝑋</m:t>
                        </m:r>
                      </m:e>
                      <m:sub>
                        <m:r>
                          <a:rPr lang="en-US" i="1">
                            <a:effectLst/>
                            <a:latin typeface="Cambria Math" panose="02040503050406030204" pitchFamily="18" charset="0"/>
                            <a:ea typeface="Aptos" panose="020B0004020202020204" pitchFamily="34" charset="0"/>
                          </a:rPr>
                          <m:t>𝐶</m:t>
                        </m:r>
                      </m:sub>
                    </m:sSub>
                  </m:oMath>
                </a14:m>
                <a:r>
                  <a:rPr lang="en-US" dirty="0">
                    <a:effectLst/>
                    <a:latin typeface="Arial" panose="020B0604020202020204" pitchFamily="34" charset="0"/>
                    <a:ea typeface="Aptos" panose="020B0004020202020204" pitchFamily="34" charset="0"/>
                  </a:rPr>
                  <a:t> is high. </a:t>
                </a:r>
                <a:endParaRPr lang="ru-RU" dirty="0">
                  <a:effectLst/>
                  <a:latin typeface="Arial" panose="020B0604020202020204" pitchFamily="34" charset="0"/>
                  <a:ea typeface="Aptos" panose="020B0004020202020204" pitchFamily="34" charset="0"/>
                </a:endParaRPr>
              </a:p>
              <a:p>
                <a:pPr algn="just">
                  <a:lnSpc>
                    <a:spcPct val="120000"/>
                  </a:lnSpc>
                </a:pPr>
                <a:r>
                  <a:rPr lang="en-US" dirty="0">
                    <a:effectLst/>
                    <a:latin typeface="Arial" panose="020B0604020202020204" pitchFamily="34" charset="0"/>
                    <a:ea typeface="Aptos" panose="020B0004020202020204" pitchFamily="34" charset="0"/>
                  </a:rPr>
                  <a:t>At high frequency, </a:t>
                </a:r>
                <a14:m>
                  <m:oMath xmlns:m="http://schemas.openxmlformats.org/officeDocument/2006/math">
                    <m:sSub>
                      <m:sSubPr>
                        <m:ctrlPr>
                          <a:rPr lang="ru-RU" i="1">
                            <a:effectLst/>
                            <a:latin typeface="Cambria Math" panose="02040503050406030204" pitchFamily="18" charset="0"/>
                            <a:ea typeface="Aptos" panose="020B0004020202020204" pitchFamily="34" charset="0"/>
                          </a:rPr>
                        </m:ctrlPr>
                      </m:sSubPr>
                      <m:e>
                        <m:r>
                          <a:rPr lang="en-US" i="1">
                            <a:effectLst/>
                            <a:latin typeface="Cambria Math" panose="02040503050406030204" pitchFamily="18" charset="0"/>
                            <a:ea typeface="Aptos" panose="020B0004020202020204" pitchFamily="34" charset="0"/>
                          </a:rPr>
                          <m:t>𝑋</m:t>
                        </m:r>
                      </m:e>
                      <m:sub>
                        <m:r>
                          <a:rPr lang="en-US" i="1">
                            <a:effectLst/>
                            <a:latin typeface="Cambria Math" panose="02040503050406030204" pitchFamily="18" charset="0"/>
                            <a:ea typeface="Aptos" panose="020B0004020202020204" pitchFamily="34" charset="0"/>
                          </a:rPr>
                          <m:t>𝐶</m:t>
                        </m:r>
                      </m:sub>
                    </m:sSub>
                  </m:oMath>
                </a14:m>
                <a:r>
                  <a:rPr lang="en-US" dirty="0">
                    <a:effectLst/>
                    <a:latin typeface="Arial" panose="020B0604020202020204" pitchFamily="34" charset="0"/>
                    <a:ea typeface="Aptos" panose="020B0004020202020204" pitchFamily="34" charset="0"/>
                  </a:rPr>
                  <a:t> approaches zero. </a:t>
                </a:r>
                <a:endParaRPr lang="ru-RU" dirty="0">
                  <a:effectLst/>
                  <a:latin typeface="Arial" panose="020B0604020202020204" pitchFamily="34" charset="0"/>
                  <a:ea typeface="Aptos" panose="020B0004020202020204" pitchFamily="34" charset="0"/>
                </a:endParaRPr>
              </a:p>
            </p:txBody>
          </p:sp>
        </mc:Choice>
        <mc:Fallback xmlns="">
          <p:sp>
            <p:nvSpPr>
              <p:cNvPr id="3" name="Объект 2">
                <a:extLst>
                  <a:ext uri="{FF2B5EF4-FFF2-40B4-BE49-F238E27FC236}">
                    <a16:creationId xmlns:a16="http://schemas.microsoft.com/office/drawing/2014/main" id="{29FF7DEB-4B90-FA95-9EDD-6180A6E6C93E}"/>
                  </a:ext>
                </a:extLst>
              </p:cNvPr>
              <p:cNvSpPr>
                <a:spLocks noGrp="1" noRot="1" noChangeAspect="1" noMove="1" noResize="1" noEditPoints="1" noAdjustHandles="1" noChangeArrowheads="1" noChangeShapeType="1" noTextEdit="1"/>
              </p:cNvSpPr>
              <p:nvPr>
                <p:ph idx="1"/>
              </p:nvPr>
            </p:nvSpPr>
            <p:spPr>
              <a:xfrm>
                <a:off x="838200" y="1781493"/>
                <a:ext cx="10515600" cy="4351338"/>
              </a:xfrm>
              <a:blipFill>
                <a:blip r:embed="rId2"/>
                <a:stretch>
                  <a:fillRect l="-1043" t="-560"/>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709646D9-BEAF-C2D0-EBC8-C2AE65925ED0}"/>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C54E59B9-B3A3-7AA1-D623-B32F71B8E54A}"/>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A23CB5A0-CF6E-B95C-574E-FAB441EDE0C0}"/>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pic>
        <p:nvPicPr>
          <p:cNvPr id="9" name="Рисунок 8">
            <a:extLst>
              <a:ext uri="{FF2B5EF4-FFF2-40B4-BE49-F238E27FC236}">
                <a16:creationId xmlns:a16="http://schemas.microsoft.com/office/drawing/2014/main" id="{704B8C9B-167C-F637-3838-84DFCEEB335C}"/>
              </a:ext>
            </a:extLst>
          </p:cNvPr>
          <p:cNvPicPr>
            <a:picLocks noChangeAspect="1"/>
          </p:cNvPicPr>
          <p:nvPr/>
        </p:nvPicPr>
        <p:blipFill>
          <a:blip r:embed="rId3"/>
          <a:stretch>
            <a:fillRect/>
          </a:stretch>
        </p:blipFill>
        <p:spPr>
          <a:xfrm>
            <a:off x="3723397" y="2950362"/>
            <a:ext cx="4745206" cy="3907638"/>
          </a:xfrm>
          <a:prstGeom prst="rect">
            <a:avLst/>
          </a:prstGeom>
        </p:spPr>
      </p:pic>
    </p:spTree>
    <p:extLst>
      <p:ext uri="{BB962C8B-B14F-4D97-AF65-F5344CB8AC3E}">
        <p14:creationId xmlns:p14="http://schemas.microsoft.com/office/powerpoint/2010/main" val="24252039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6ADA4-EB13-C401-95EA-167C17C1D9C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4083385-CC42-6F3A-FD53-25933BDBD05C}"/>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A7EC7B44-B4AB-8EF0-D0D1-5D77FF13C484}"/>
                  </a:ext>
                </a:extLst>
              </p:cNvPr>
              <p:cNvSpPr>
                <a:spLocks noGrp="1"/>
              </p:cNvSpPr>
              <p:nvPr>
                <p:ph idx="1"/>
              </p:nvPr>
            </p:nvSpPr>
            <p:spPr>
              <a:xfrm>
                <a:off x="838200" y="1781493"/>
                <a:ext cx="10515600" cy="4351338"/>
              </a:xfrm>
            </p:spPr>
            <p:txBody>
              <a:bodyPr>
                <a:noAutofit/>
              </a:bodyPr>
              <a:lstStyle/>
              <a:p>
                <a:pPr algn="just">
                  <a:lnSpc>
                    <a:spcPct val="120000"/>
                  </a:lnSpc>
                </a:pPr>
                <a:r>
                  <a:rPr lang="en-US" b="1" dirty="0">
                    <a:effectLst/>
                    <a:latin typeface="Arial" panose="020B0604020202020204" pitchFamily="34" charset="0"/>
                    <a:ea typeface="Aptos" panose="020B0004020202020204" pitchFamily="34" charset="0"/>
                  </a:rPr>
                  <a:t>There is a specific frequency where </a:t>
                </a:r>
                <a14:m>
                  <m:oMath xmlns:m="http://schemas.openxmlformats.org/officeDocument/2006/math">
                    <m:sSub>
                      <m:sSubPr>
                        <m:ctrlPr>
                          <a:rPr lang="ru-RU" b="1" i="1">
                            <a:effectLst/>
                            <a:latin typeface="Cambria Math" panose="02040503050406030204" pitchFamily="18" charset="0"/>
                            <a:ea typeface="Aptos" panose="020B0004020202020204" pitchFamily="34" charset="0"/>
                          </a:rPr>
                        </m:ctrlPr>
                      </m:sSubPr>
                      <m:e>
                        <m:r>
                          <a:rPr lang="en-US" b="1" i="1">
                            <a:effectLst/>
                            <a:latin typeface="Cambria Math" panose="02040503050406030204" pitchFamily="18" charset="0"/>
                            <a:ea typeface="Aptos" panose="020B0004020202020204" pitchFamily="34" charset="0"/>
                          </a:rPr>
                          <m:t>𝑿</m:t>
                        </m:r>
                      </m:e>
                      <m:sub>
                        <m:r>
                          <a:rPr lang="en-US" b="1" i="1">
                            <a:effectLst/>
                            <a:latin typeface="Cambria Math" panose="02040503050406030204" pitchFamily="18" charset="0"/>
                            <a:ea typeface="Aptos" panose="020B0004020202020204" pitchFamily="34" charset="0"/>
                          </a:rPr>
                          <m:t>𝑳</m:t>
                        </m:r>
                      </m:sub>
                    </m:sSub>
                    <m:r>
                      <a:rPr lang="en-US" b="1">
                        <a:effectLst/>
                        <a:latin typeface="Cambria Math" panose="02040503050406030204" pitchFamily="18" charset="0"/>
                        <a:ea typeface="Aptos" panose="020B0004020202020204" pitchFamily="34" charset="0"/>
                      </a:rPr>
                      <m:t>=</m:t>
                    </m:r>
                    <m:sSub>
                      <m:sSubPr>
                        <m:ctrlPr>
                          <a:rPr lang="ru-RU" b="1" i="1">
                            <a:effectLst/>
                            <a:latin typeface="Cambria Math" panose="02040503050406030204" pitchFamily="18" charset="0"/>
                            <a:ea typeface="Aptos" panose="020B0004020202020204" pitchFamily="34" charset="0"/>
                          </a:rPr>
                        </m:ctrlPr>
                      </m:sSubPr>
                      <m:e>
                        <m:r>
                          <a:rPr lang="en-US" b="1" i="1">
                            <a:effectLst/>
                            <a:latin typeface="Cambria Math" panose="02040503050406030204" pitchFamily="18" charset="0"/>
                            <a:ea typeface="Aptos" panose="020B0004020202020204" pitchFamily="34" charset="0"/>
                          </a:rPr>
                          <m:t>𝑿</m:t>
                        </m:r>
                      </m:e>
                      <m:sub>
                        <m:r>
                          <a:rPr lang="en-US" b="1" i="1">
                            <a:effectLst/>
                            <a:latin typeface="Cambria Math" panose="02040503050406030204" pitchFamily="18" charset="0"/>
                            <a:ea typeface="Aptos" panose="020B0004020202020204" pitchFamily="34" charset="0"/>
                          </a:rPr>
                          <m:t>𝑪</m:t>
                        </m:r>
                      </m:sub>
                    </m:sSub>
                    <m:r>
                      <a:rPr lang="en-US" b="1">
                        <a:effectLst/>
                        <a:latin typeface="Cambria Math" panose="02040503050406030204" pitchFamily="18" charset="0"/>
                        <a:ea typeface="Aptos" panose="020B0004020202020204" pitchFamily="34" charset="0"/>
                      </a:rPr>
                      <m:t>.</m:t>
                    </m:r>
                  </m:oMath>
                </a14:m>
                <a:r>
                  <a:rPr lang="en-US" b="1" dirty="0">
                    <a:effectLst/>
                    <a:latin typeface="Arial" panose="020B0604020202020204" pitchFamily="34" charset="0"/>
                    <a:ea typeface="Aptos" panose="020B0004020202020204" pitchFamily="34" charset="0"/>
                  </a:rPr>
                  <a:t> </a:t>
                </a:r>
                <a:endParaRPr lang="ru-RU" b="1" dirty="0">
                  <a:effectLst/>
                  <a:latin typeface="Arial" panose="020B0604020202020204" pitchFamily="34" charset="0"/>
                  <a:ea typeface="Aptos" panose="020B0004020202020204" pitchFamily="34" charset="0"/>
                </a:endParaRPr>
              </a:p>
              <a:p>
                <a:pPr algn="just">
                  <a:lnSpc>
                    <a:spcPct val="120000"/>
                  </a:lnSpc>
                </a:pPr>
                <a:r>
                  <a:rPr lang="en-US" b="1" dirty="0">
                    <a:effectLst/>
                    <a:latin typeface="Arial" panose="020B0604020202020204" pitchFamily="34" charset="0"/>
                    <a:ea typeface="Aptos" panose="020B0004020202020204" pitchFamily="34" charset="0"/>
                  </a:rPr>
                  <a:t>This point is called «Resonance», where the effects of the inductor and capacitor cancel each other out completely.</a:t>
                </a:r>
                <a:endParaRPr lang="ru-RU" b="1" dirty="0">
                  <a:effectLst/>
                  <a:latin typeface="Arial" panose="020B0604020202020204" pitchFamily="34" charset="0"/>
                  <a:ea typeface="Aptos" panose="020B0004020202020204" pitchFamily="34" charset="0"/>
                </a:endParaRPr>
              </a:p>
            </p:txBody>
          </p:sp>
        </mc:Choice>
        <mc:Fallback xmlns="">
          <p:sp>
            <p:nvSpPr>
              <p:cNvPr id="3" name="Объект 2">
                <a:extLst>
                  <a:ext uri="{FF2B5EF4-FFF2-40B4-BE49-F238E27FC236}">
                    <a16:creationId xmlns:a16="http://schemas.microsoft.com/office/drawing/2014/main" id="{A7EC7B44-B4AB-8EF0-D0D1-5D77FF13C484}"/>
                  </a:ext>
                </a:extLst>
              </p:cNvPr>
              <p:cNvSpPr>
                <a:spLocks noGrp="1" noRot="1" noChangeAspect="1" noMove="1" noResize="1" noEditPoints="1" noAdjustHandles="1" noChangeArrowheads="1" noChangeShapeType="1" noTextEdit="1"/>
              </p:cNvSpPr>
              <p:nvPr>
                <p:ph idx="1"/>
              </p:nvPr>
            </p:nvSpPr>
            <p:spPr>
              <a:xfrm>
                <a:off x="838200" y="1781493"/>
                <a:ext cx="10515600" cy="4351338"/>
              </a:xfrm>
              <a:blipFill>
                <a:blip r:embed="rId2"/>
                <a:stretch>
                  <a:fillRect l="-1043" t="-560" r="-1159"/>
                </a:stretch>
              </a:blipFill>
            </p:spPr>
            <p:txBody>
              <a:bodyPr/>
              <a:lstStyle/>
              <a:p>
                <a:r>
                  <a:rPr lang="ru-RU">
                    <a:noFill/>
                  </a:rPr>
                  <a:t> </a:t>
                </a:r>
              </a:p>
            </p:txBody>
          </p:sp>
        </mc:Fallback>
      </mc:AlternateContent>
      <p:grpSp>
        <p:nvGrpSpPr>
          <p:cNvPr id="4" name="Группа 3">
            <a:extLst>
              <a:ext uri="{FF2B5EF4-FFF2-40B4-BE49-F238E27FC236}">
                <a16:creationId xmlns:a16="http://schemas.microsoft.com/office/drawing/2014/main" id="{1756CD6E-9AF8-EE79-4743-7B0D9C22D94C}"/>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7686FC70-8C14-A6D1-FC8D-675E94CA791C}"/>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97385522-D849-444E-72AF-15CC446DD1AA}"/>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grpSp>
        <p:nvGrpSpPr>
          <p:cNvPr id="33" name="Группа 32">
            <a:extLst>
              <a:ext uri="{FF2B5EF4-FFF2-40B4-BE49-F238E27FC236}">
                <a16:creationId xmlns:a16="http://schemas.microsoft.com/office/drawing/2014/main" id="{9EABCFFC-6AEA-4B30-AAF6-D0FD3D4EB519}"/>
              </a:ext>
            </a:extLst>
          </p:cNvPr>
          <p:cNvGrpSpPr/>
          <p:nvPr/>
        </p:nvGrpSpPr>
        <p:grpSpPr>
          <a:xfrm>
            <a:off x="3897539" y="1781493"/>
            <a:ext cx="5554883" cy="4802187"/>
            <a:chOff x="3897539" y="1781493"/>
            <a:chExt cx="5554883" cy="4802187"/>
          </a:xfrm>
        </p:grpSpPr>
        <p:sp>
          <p:nvSpPr>
            <p:cNvPr id="23" name="Овал 22">
              <a:extLst>
                <a:ext uri="{FF2B5EF4-FFF2-40B4-BE49-F238E27FC236}">
                  <a16:creationId xmlns:a16="http://schemas.microsoft.com/office/drawing/2014/main" id="{BA15760E-1433-A6B7-AFA8-1815C1A7DD45}"/>
                </a:ext>
              </a:extLst>
            </p:cNvPr>
            <p:cNvSpPr/>
            <p:nvPr/>
          </p:nvSpPr>
          <p:spPr>
            <a:xfrm>
              <a:off x="5004619" y="5309419"/>
              <a:ext cx="255639" cy="245807"/>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25" name="Прямая соединительная линия 24">
              <a:extLst>
                <a:ext uri="{FF2B5EF4-FFF2-40B4-BE49-F238E27FC236}">
                  <a16:creationId xmlns:a16="http://schemas.microsoft.com/office/drawing/2014/main" id="{B5EF89D4-7F08-32A6-5AF7-64EE5B6B047B}"/>
                </a:ext>
              </a:extLst>
            </p:cNvPr>
            <p:cNvCxnSpPr>
              <a:cxnSpLocks/>
              <a:stCxn id="23" idx="4"/>
            </p:cNvCxnSpPr>
            <p:nvPr/>
          </p:nvCxnSpPr>
          <p:spPr>
            <a:xfrm>
              <a:off x="5132439" y="5555226"/>
              <a:ext cx="0" cy="552534"/>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grpSp>
          <p:nvGrpSpPr>
            <p:cNvPr id="32" name="Группа 31">
              <a:extLst>
                <a:ext uri="{FF2B5EF4-FFF2-40B4-BE49-F238E27FC236}">
                  <a16:creationId xmlns:a16="http://schemas.microsoft.com/office/drawing/2014/main" id="{02BAF953-CB77-0D4A-9C07-FC3445285526}"/>
                </a:ext>
              </a:extLst>
            </p:cNvPr>
            <p:cNvGrpSpPr/>
            <p:nvPr/>
          </p:nvGrpSpPr>
          <p:grpSpPr>
            <a:xfrm>
              <a:off x="3897539" y="1781493"/>
              <a:ext cx="5554883" cy="4802187"/>
              <a:chOff x="3897539" y="1781493"/>
              <a:chExt cx="5554883" cy="4802187"/>
            </a:xfrm>
          </p:grpSpPr>
          <p:grpSp>
            <p:nvGrpSpPr>
              <p:cNvPr id="22" name="Группа 21">
                <a:extLst>
                  <a:ext uri="{FF2B5EF4-FFF2-40B4-BE49-F238E27FC236}">
                    <a16:creationId xmlns:a16="http://schemas.microsoft.com/office/drawing/2014/main" id="{E4230212-D36B-A2AF-91E1-01D1CB43198B}"/>
                  </a:ext>
                </a:extLst>
              </p:cNvPr>
              <p:cNvGrpSpPr/>
              <p:nvPr/>
            </p:nvGrpSpPr>
            <p:grpSpPr>
              <a:xfrm>
                <a:off x="4313516" y="1781493"/>
                <a:ext cx="5138906" cy="4326267"/>
                <a:chOff x="4313516" y="1781493"/>
                <a:chExt cx="5138906" cy="4326267"/>
              </a:xfrm>
            </p:grpSpPr>
            <p:sp>
              <p:nvSpPr>
                <p:cNvPr id="9" name="Дуга 8">
                  <a:extLst>
                    <a:ext uri="{FF2B5EF4-FFF2-40B4-BE49-F238E27FC236}">
                      <a16:creationId xmlns:a16="http://schemas.microsoft.com/office/drawing/2014/main" id="{1C51A229-22F0-831B-85F1-D2C04A1E2C59}"/>
                    </a:ext>
                  </a:extLst>
                </p:cNvPr>
                <p:cNvSpPr/>
                <p:nvPr/>
              </p:nvSpPr>
              <p:spPr>
                <a:xfrm rot="10800000">
                  <a:off x="4405175" y="1781493"/>
                  <a:ext cx="5047247" cy="4282318"/>
                </a:xfrm>
                <a:prstGeom prst="arc">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ru-RU"/>
                </a:p>
              </p:txBody>
            </p:sp>
            <p:cxnSp>
              <p:nvCxnSpPr>
                <p:cNvPr id="11" name="Прямая соединительная линия 10">
                  <a:extLst>
                    <a:ext uri="{FF2B5EF4-FFF2-40B4-BE49-F238E27FC236}">
                      <a16:creationId xmlns:a16="http://schemas.microsoft.com/office/drawing/2014/main" id="{2F6527EA-F775-ECFF-99AE-16CAE6A8966D}"/>
                    </a:ext>
                  </a:extLst>
                </p:cNvPr>
                <p:cNvCxnSpPr>
                  <a:cxnSpLocks/>
                </p:cNvCxnSpPr>
                <p:nvPr/>
              </p:nvCxnSpPr>
              <p:spPr>
                <a:xfrm flipV="1">
                  <a:off x="4313516" y="4010422"/>
                  <a:ext cx="2605019" cy="2097338"/>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Прямая со стрелкой 14">
                  <a:extLst>
                    <a:ext uri="{FF2B5EF4-FFF2-40B4-BE49-F238E27FC236}">
                      <a16:creationId xmlns:a16="http://schemas.microsoft.com/office/drawing/2014/main" id="{09E668C3-DB6B-264A-869A-EE2EC3248A77}"/>
                    </a:ext>
                  </a:extLst>
                </p:cNvPr>
                <p:cNvCxnSpPr>
                  <a:cxnSpLocks/>
                </p:cNvCxnSpPr>
                <p:nvPr/>
              </p:nvCxnSpPr>
              <p:spPr>
                <a:xfrm>
                  <a:off x="4313516" y="6107760"/>
                  <a:ext cx="3213854"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6" name="Прямая со стрелкой 15">
                  <a:extLst>
                    <a:ext uri="{FF2B5EF4-FFF2-40B4-BE49-F238E27FC236}">
                      <a16:creationId xmlns:a16="http://schemas.microsoft.com/office/drawing/2014/main" id="{BF1A87C0-47DE-AC36-F21F-E635A17DF142}"/>
                    </a:ext>
                  </a:extLst>
                </p:cNvPr>
                <p:cNvCxnSpPr>
                  <a:cxnSpLocks/>
                </p:cNvCxnSpPr>
                <p:nvPr/>
              </p:nvCxnSpPr>
              <p:spPr>
                <a:xfrm flipV="1">
                  <a:off x="4313516" y="3572665"/>
                  <a:ext cx="0" cy="2535095"/>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7DF13F68-63E5-DBEF-CF1E-E0DE7F1C5A8A}"/>
                      </a:ext>
                    </a:extLst>
                  </p:cNvPr>
                  <p:cNvSpPr txBox="1"/>
                  <p:nvPr/>
                </p:nvSpPr>
                <p:spPr>
                  <a:xfrm>
                    <a:off x="4833511" y="6158689"/>
                    <a:ext cx="121962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𝑓</m:t>
                              </m:r>
                            </m:e>
                            <m:sub>
                              <m:r>
                                <a:rPr lang="en-US" b="0" i="1" dirty="0" smtClean="0">
                                  <a:latin typeface="Cambria Math" panose="02040503050406030204" pitchFamily="18" charset="0"/>
                                </a:rPr>
                                <m:t>𝑅𝑒𝑠𝑜𝑛𝑎𝑛𝑐𝑒</m:t>
                              </m:r>
                            </m:sub>
                          </m:sSub>
                        </m:oMath>
                      </m:oMathPara>
                    </a14:m>
                    <a:endParaRPr lang="ru-RU" dirty="0"/>
                  </a:p>
                </p:txBody>
              </p:sp>
            </mc:Choice>
            <mc:Fallback xmlns="">
              <p:sp>
                <p:nvSpPr>
                  <p:cNvPr id="27" name="TextBox 26">
                    <a:extLst>
                      <a:ext uri="{FF2B5EF4-FFF2-40B4-BE49-F238E27FC236}">
                        <a16:creationId xmlns:a16="http://schemas.microsoft.com/office/drawing/2014/main" id="{7DF13F68-63E5-DBEF-CF1E-E0DE7F1C5A8A}"/>
                      </a:ext>
                    </a:extLst>
                  </p:cNvPr>
                  <p:cNvSpPr txBox="1">
                    <a:spLocks noRot="1" noChangeAspect="1" noMove="1" noResize="1" noEditPoints="1" noAdjustHandles="1" noChangeArrowheads="1" noChangeShapeType="1" noTextEdit="1"/>
                  </p:cNvSpPr>
                  <p:nvPr/>
                </p:nvSpPr>
                <p:spPr>
                  <a:xfrm>
                    <a:off x="4833511" y="6158689"/>
                    <a:ext cx="1219628" cy="369332"/>
                  </a:xfrm>
                  <a:prstGeom prst="rect">
                    <a:avLst/>
                  </a:prstGeom>
                  <a:blipFill>
                    <a:blip r:embed="rId3"/>
                    <a:stretch>
                      <a:fillRect b="-13115"/>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2320AD14-0470-A3E7-55CE-44537C47D81A}"/>
                      </a:ext>
                    </a:extLst>
                  </p:cNvPr>
                  <p:cNvSpPr txBox="1"/>
                  <p:nvPr/>
                </p:nvSpPr>
                <p:spPr>
                  <a:xfrm>
                    <a:off x="6800954" y="6214348"/>
                    <a:ext cx="171066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𝐹𝑟𝑒𝑞𝑢𝑒𝑛𝑐𝑦</m:t>
                          </m:r>
                          <m:r>
                            <a:rPr lang="en-US" b="0" i="1" dirty="0" smtClean="0">
                              <a:latin typeface="Cambria Math" panose="02040503050406030204" pitchFamily="18" charset="0"/>
                            </a:rPr>
                            <m:t>, </m:t>
                          </m:r>
                          <m:r>
                            <a:rPr lang="en-US" b="0" i="1" dirty="0" smtClean="0">
                              <a:latin typeface="Cambria Math" panose="02040503050406030204" pitchFamily="18" charset="0"/>
                            </a:rPr>
                            <m:t>𝐻𝑧</m:t>
                          </m:r>
                        </m:oMath>
                      </m:oMathPara>
                    </a14:m>
                    <a:endParaRPr lang="ru-RU" dirty="0"/>
                  </a:p>
                </p:txBody>
              </p:sp>
            </mc:Choice>
            <mc:Fallback xmlns="">
              <p:sp>
                <p:nvSpPr>
                  <p:cNvPr id="28" name="TextBox 27">
                    <a:extLst>
                      <a:ext uri="{FF2B5EF4-FFF2-40B4-BE49-F238E27FC236}">
                        <a16:creationId xmlns:a16="http://schemas.microsoft.com/office/drawing/2014/main" id="{2320AD14-0470-A3E7-55CE-44537C47D81A}"/>
                      </a:ext>
                    </a:extLst>
                  </p:cNvPr>
                  <p:cNvSpPr txBox="1">
                    <a:spLocks noRot="1" noChangeAspect="1" noMove="1" noResize="1" noEditPoints="1" noAdjustHandles="1" noChangeArrowheads="1" noChangeShapeType="1" noTextEdit="1"/>
                  </p:cNvSpPr>
                  <p:nvPr/>
                </p:nvSpPr>
                <p:spPr>
                  <a:xfrm>
                    <a:off x="6800954" y="6214348"/>
                    <a:ext cx="1710660" cy="369332"/>
                  </a:xfrm>
                  <a:prstGeom prst="rect">
                    <a:avLst/>
                  </a:prstGeom>
                  <a:blipFill>
                    <a:blip r:embed="rId4"/>
                    <a:stretch>
                      <a:fillRect b="-11475"/>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E6AC9E37-F060-4FD8-4BEA-DBFFCA035DCA}"/>
                      </a:ext>
                    </a:extLst>
                  </p:cNvPr>
                  <p:cNvSpPr txBox="1"/>
                  <p:nvPr/>
                </p:nvSpPr>
                <p:spPr>
                  <a:xfrm rot="16200000">
                    <a:off x="3146179" y="4655545"/>
                    <a:ext cx="187205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𝑅𝑒𝑎𝑐𝑡𝑎𝑛𝑐𝑒</m:t>
                          </m:r>
                          <m:r>
                            <a:rPr lang="en-US" b="0" i="1" dirty="0" smtClean="0">
                              <a:latin typeface="Cambria Math" panose="02040503050406030204" pitchFamily="18" charset="0"/>
                            </a:rPr>
                            <m:t>, </m:t>
                          </m:r>
                          <m:r>
                            <a:rPr lang="en-US" b="0" i="1" dirty="0" smtClean="0">
                              <a:latin typeface="Cambria Math" panose="02040503050406030204" pitchFamily="18" charset="0"/>
                            </a:rPr>
                            <m:t>𝑂h𝑚</m:t>
                          </m:r>
                        </m:oMath>
                      </m:oMathPara>
                    </a14:m>
                    <a:endParaRPr lang="ru-RU" dirty="0"/>
                  </a:p>
                </p:txBody>
              </p:sp>
            </mc:Choice>
            <mc:Fallback xmlns="">
              <p:sp>
                <p:nvSpPr>
                  <p:cNvPr id="29" name="TextBox 28">
                    <a:extLst>
                      <a:ext uri="{FF2B5EF4-FFF2-40B4-BE49-F238E27FC236}">
                        <a16:creationId xmlns:a16="http://schemas.microsoft.com/office/drawing/2014/main" id="{E6AC9E37-F060-4FD8-4BEA-DBFFCA035DCA}"/>
                      </a:ext>
                    </a:extLst>
                  </p:cNvPr>
                  <p:cNvSpPr txBox="1">
                    <a:spLocks noRot="1" noChangeAspect="1" noMove="1" noResize="1" noEditPoints="1" noAdjustHandles="1" noChangeArrowheads="1" noChangeShapeType="1" noTextEdit="1"/>
                  </p:cNvSpPr>
                  <p:nvPr/>
                </p:nvSpPr>
                <p:spPr>
                  <a:xfrm rot="16200000">
                    <a:off x="3146179" y="4655545"/>
                    <a:ext cx="1872051" cy="369332"/>
                  </a:xfrm>
                  <a:prstGeom prst="rect">
                    <a:avLst/>
                  </a:prstGeom>
                  <a:blipFill>
                    <a:blip r:embed="rId5"/>
                    <a:stretch>
                      <a:fillRect/>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6226BF44-B0E6-939A-DB66-44DA6740CE8E}"/>
                      </a:ext>
                    </a:extLst>
                  </p:cNvPr>
                  <p:cNvSpPr txBox="1"/>
                  <p:nvPr/>
                </p:nvSpPr>
                <p:spPr>
                  <a:xfrm rot="612376">
                    <a:off x="5539802" y="5459521"/>
                    <a:ext cx="134229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𝐶𝑎𝑝𝑎𝑐𝑖𝑡𝑖𝑣𝑒</m:t>
                          </m:r>
                        </m:oMath>
                      </m:oMathPara>
                    </a14:m>
                    <a:endParaRPr lang="ru-RU" dirty="0"/>
                  </a:p>
                </p:txBody>
              </p:sp>
            </mc:Choice>
            <mc:Fallback xmlns="">
              <p:sp>
                <p:nvSpPr>
                  <p:cNvPr id="30" name="TextBox 29">
                    <a:extLst>
                      <a:ext uri="{FF2B5EF4-FFF2-40B4-BE49-F238E27FC236}">
                        <a16:creationId xmlns:a16="http://schemas.microsoft.com/office/drawing/2014/main" id="{6226BF44-B0E6-939A-DB66-44DA6740CE8E}"/>
                      </a:ext>
                    </a:extLst>
                  </p:cNvPr>
                  <p:cNvSpPr txBox="1">
                    <a:spLocks noRot="1" noChangeAspect="1" noMove="1" noResize="1" noEditPoints="1" noAdjustHandles="1" noChangeArrowheads="1" noChangeShapeType="1" noTextEdit="1"/>
                  </p:cNvSpPr>
                  <p:nvPr/>
                </p:nvSpPr>
                <p:spPr>
                  <a:xfrm rot="612376">
                    <a:off x="5539802" y="5459521"/>
                    <a:ext cx="1342291" cy="369332"/>
                  </a:xfrm>
                  <a:prstGeom prst="rect">
                    <a:avLst/>
                  </a:prstGeom>
                  <a:blipFill>
                    <a:blip r:embed="rId6"/>
                    <a:stretch>
                      <a:fillRect b="-7000"/>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10C4E317-E3DD-3DCB-F55F-9D92B6D13D82}"/>
                      </a:ext>
                    </a:extLst>
                  </p:cNvPr>
                  <p:cNvSpPr txBox="1"/>
                  <p:nvPr/>
                </p:nvSpPr>
                <p:spPr>
                  <a:xfrm rot="19222506">
                    <a:off x="5412428" y="4279913"/>
                    <a:ext cx="123328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𝐼𝑛𝑑𝑢𝑐𝑡𝑖𝑣𝑒</m:t>
                          </m:r>
                        </m:oMath>
                      </m:oMathPara>
                    </a14:m>
                    <a:endParaRPr lang="ru-RU" dirty="0"/>
                  </a:p>
                </p:txBody>
              </p:sp>
            </mc:Choice>
            <mc:Fallback xmlns="">
              <p:sp>
                <p:nvSpPr>
                  <p:cNvPr id="31" name="TextBox 30">
                    <a:extLst>
                      <a:ext uri="{FF2B5EF4-FFF2-40B4-BE49-F238E27FC236}">
                        <a16:creationId xmlns:a16="http://schemas.microsoft.com/office/drawing/2014/main" id="{10C4E317-E3DD-3DCB-F55F-9D92B6D13D82}"/>
                      </a:ext>
                    </a:extLst>
                  </p:cNvPr>
                  <p:cNvSpPr txBox="1">
                    <a:spLocks noRot="1" noChangeAspect="1" noMove="1" noResize="1" noEditPoints="1" noAdjustHandles="1" noChangeArrowheads="1" noChangeShapeType="1" noTextEdit="1"/>
                  </p:cNvSpPr>
                  <p:nvPr/>
                </p:nvSpPr>
                <p:spPr>
                  <a:xfrm rot="19222506">
                    <a:off x="5412428" y="4279913"/>
                    <a:ext cx="1233286" cy="369332"/>
                  </a:xfrm>
                  <a:prstGeom prst="rect">
                    <a:avLst/>
                  </a:prstGeom>
                  <a:blipFill>
                    <a:blip r:embed="rId7"/>
                    <a:stretch>
                      <a:fillRect/>
                    </a:stretch>
                  </a:blipFill>
                </p:spPr>
                <p:txBody>
                  <a:bodyPr/>
                  <a:lstStyle/>
                  <a:p>
                    <a:r>
                      <a:rPr lang="ru-RU">
                        <a:noFill/>
                      </a:rPr>
                      <a:t> </a:t>
                    </a:r>
                  </a:p>
                </p:txBody>
              </p:sp>
            </mc:Fallback>
          </mc:AlternateContent>
        </p:grpSp>
      </p:grpSp>
    </p:spTree>
    <p:extLst>
      <p:ext uri="{BB962C8B-B14F-4D97-AF65-F5344CB8AC3E}">
        <p14:creationId xmlns:p14="http://schemas.microsoft.com/office/powerpoint/2010/main" val="37775041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9913C-A59D-71BD-468A-5C0BEE6D94F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DAF2E84-B851-76ED-8E71-9F81BCA457F5}"/>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Systematic Analysis Methods</a:t>
            </a:r>
            <a:endParaRPr lang="ru-RU" dirty="0">
              <a:latin typeface="Arial" panose="020B0604020202020204" pitchFamily="34" charset="0"/>
              <a:cs typeface="Arial" panose="020B0604020202020204" pitchFamily="34" charset="0"/>
            </a:endParaRPr>
          </a:p>
        </p:txBody>
      </p:sp>
      <p:grpSp>
        <p:nvGrpSpPr>
          <p:cNvPr id="4" name="Группа 3">
            <a:extLst>
              <a:ext uri="{FF2B5EF4-FFF2-40B4-BE49-F238E27FC236}">
                <a16:creationId xmlns:a16="http://schemas.microsoft.com/office/drawing/2014/main" id="{8FD521D8-09DC-8E06-FDD6-5F36B02455C4}"/>
              </a:ext>
            </a:extLst>
          </p:cNvPr>
          <p:cNvGrpSpPr/>
          <p:nvPr/>
        </p:nvGrpSpPr>
        <p:grpSpPr>
          <a:xfrm>
            <a:off x="0" y="0"/>
            <a:ext cx="12192000" cy="1690688"/>
            <a:chOff x="0" y="0"/>
            <a:chExt cx="12192000" cy="1690688"/>
          </a:xfrm>
        </p:grpSpPr>
        <p:sp>
          <p:nvSpPr>
            <p:cNvPr id="5" name="Прямоугольник 4">
              <a:extLst>
                <a:ext uri="{FF2B5EF4-FFF2-40B4-BE49-F238E27FC236}">
                  <a16:creationId xmlns:a16="http://schemas.microsoft.com/office/drawing/2014/main" id="{AE325143-A609-3031-4C59-180B089BCD7C}"/>
                </a:ext>
              </a:extLst>
            </p:cNvPr>
            <p:cNvSpPr/>
            <p:nvPr/>
          </p:nvSpPr>
          <p:spPr>
            <a:xfrm>
              <a:off x="0" y="0"/>
              <a:ext cx="12192000" cy="1690688"/>
            </a:xfrm>
            <a:prstGeom prst="rect">
              <a:avLst/>
            </a:prstGeom>
            <a:solidFill>
              <a:srgbClr val="3899E8"/>
            </a:solidFill>
            <a:ln>
              <a:solidFill>
                <a:srgbClr val="3798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скругленные углы 5">
              <a:extLst>
                <a:ext uri="{FF2B5EF4-FFF2-40B4-BE49-F238E27FC236}">
                  <a16:creationId xmlns:a16="http://schemas.microsoft.com/office/drawing/2014/main" id="{29E8E376-5F98-6A38-72FB-7EB246620F56}"/>
                </a:ext>
              </a:extLst>
            </p:cNvPr>
            <p:cNvSpPr/>
            <p:nvPr/>
          </p:nvSpPr>
          <p:spPr>
            <a:xfrm>
              <a:off x="111252" y="274320"/>
              <a:ext cx="11969496" cy="1416368"/>
            </a:xfrm>
            <a:prstGeom prst="roundRect">
              <a:avLst/>
            </a:prstGeom>
            <a:solidFill>
              <a:srgbClr val="2A70AE"/>
            </a:solidFill>
            <a:ln>
              <a:solidFill>
                <a:srgbClr val="2970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cap="all" dirty="0">
                  <a:solidFill>
                    <a:schemeClr val="bg1"/>
                  </a:solidFill>
                  <a:latin typeface="Arial" panose="020B0604020202020204" pitchFamily="34" charset="0"/>
                  <a:cs typeface="Arial" panose="020B0604020202020204" pitchFamily="34" charset="0"/>
                </a:rPr>
                <a:t>Component Characteristics in AC</a:t>
              </a:r>
              <a:endParaRPr lang="ru-RU" sz="4000" dirty="0"/>
            </a:p>
          </p:txBody>
        </p:sp>
      </p:grpSp>
      <p:pic>
        <p:nvPicPr>
          <p:cNvPr id="9" name="Picture 2">
            <a:extLst>
              <a:ext uri="{FF2B5EF4-FFF2-40B4-BE49-F238E27FC236}">
                <a16:creationId xmlns:a16="http://schemas.microsoft.com/office/drawing/2014/main" id="{8ACB1A45-2106-EF60-69E3-FB477ED4B476}"/>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6974323" y="2070119"/>
            <a:ext cx="4220156" cy="4220156"/>
          </a:xfrm>
          <a:prstGeom prst="rect">
            <a:avLst/>
          </a:prstGeom>
          <a:noFill/>
          <a:extLst>
            <a:ext uri="{909E8E84-426E-40DD-AFC4-6F175D3DCCD1}">
              <a14:hiddenFill xmlns:a14="http://schemas.microsoft.com/office/drawing/2010/main">
                <a:solidFill>
                  <a:srgbClr val="FFFFFF"/>
                </a:solidFill>
              </a14:hiddenFill>
            </a:ext>
          </a:extLst>
        </p:spPr>
      </p:pic>
      <p:sp>
        <p:nvSpPr>
          <p:cNvPr id="10" name="Объект 2">
            <a:extLst>
              <a:ext uri="{FF2B5EF4-FFF2-40B4-BE49-F238E27FC236}">
                <a16:creationId xmlns:a16="http://schemas.microsoft.com/office/drawing/2014/main" id="{347CB528-4B07-AC2B-3E0D-ACE40BA74D8D}"/>
              </a:ext>
            </a:extLst>
          </p:cNvPr>
          <p:cNvSpPr txBox="1">
            <a:spLocks/>
          </p:cNvSpPr>
          <p:nvPr/>
        </p:nvSpPr>
        <p:spPr>
          <a:xfrm>
            <a:off x="838200" y="1825625"/>
            <a:ext cx="6034548"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Today we learned a lot of new things about reactance and impedance.</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Thank you for your attention!</a:t>
            </a:r>
          </a:p>
          <a:p>
            <a:pPr algn="just"/>
            <a:r>
              <a:rPr lang="en-US" dirty="0">
                <a:latin typeface="Arial" panose="020B0604020202020204" pitchFamily="34" charset="0"/>
                <a:cs typeface="Arial" panose="020B0604020202020204" pitchFamily="34" charset="0"/>
              </a:rPr>
              <a:t>Do you have any questions?</a:t>
            </a:r>
            <a:endParaRPr lang="ru-R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65049748"/>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TotalTime>
  <Words>3077</Words>
  <Application>Microsoft Office PowerPoint</Application>
  <PresentationFormat>Широкоэкранный</PresentationFormat>
  <Paragraphs>287</Paragraphs>
  <Slides>53</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53</vt:i4>
      </vt:variant>
    </vt:vector>
  </HeadingPairs>
  <TitlesOfParts>
    <vt:vector size="58" baseType="lpstr">
      <vt:lpstr>Aptos</vt:lpstr>
      <vt:lpstr>Aptos Display</vt:lpstr>
      <vt:lpstr>Arial</vt:lpstr>
      <vt:lpstr>Cambria Math</vt:lpstr>
      <vt:lpstr>Тема Office</vt:lpstr>
      <vt:lpstr>Lecture 8. Component Characteristics in AC</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lpstr>Systematic Analysis Methods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7</cp:revision>
  <dcterms:created xsi:type="dcterms:W3CDTF">2026-04-05T08:35:32Z</dcterms:created>
  <dcterms:modified xsi:type="dcterms:W3CDTF">2026-04-09T04:46:49Z</dcterms:modified>
</cp:coreProperties>
</file>