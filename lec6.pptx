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8" r:id="rId2"/>
    <p:sldId id="439" r:id="rId3"/>
    <p:sldId id="466" r:id="rId4"/>
    <p:sldId id="467" r:id="rId5"/>
    <p:sldId id="468" r:id="rId6"/>
    <p:sldId id="465" r:id="rId7"/>
    <p:sldId id="469" r:id="rId8"/>
    <p:sldId id="470" r:id="rId9"/>
    <p:sldId id="440" r:id="rId10"/>
    <p:sldId id="471" r:id="rId11"/>
    <p:sldId id="492" r:id="rId12"/>
    <p:sldId id="473" r:id="rId13"/>
    <p:sldId id="491" r:id="rId14"/>
    <p:sldId id="489" r:id="rId15"/>
    <p:sldId id="490" r:id="rId16"/>
    <p:sldId id="474" r:id="rId17"/>
    <p:sldId id="476" r:id="rId18"/>
    <p:sldId id="475" r:id="rId19"/>
    <p:sldId id="442" r:id="rId20"/>
    <p:sldId id="443" r:id="rId21"/>
    <p:sldId id="444" r:id="rId22"/>
    <p:sldId id="477" r:id="rId23"/>
    <p:sldId id="445" r:id="rId24"/>
    <p:sldId id="478" r:id="rId25"/>
    <p:sldId id="446" r:id="rId26"/>
    <p:sldId id="464" r:id="rId27"/>
    <p:sldId id="479" r:id="rId28"/>
    <p:sldId id="447" r:id="rId29"/>
    <p:sldId id="448" r:id="rId30"/>
    <p:sldId id="449" r:id="rId31"/>
    <p:sldId id="480" r:id="rId32"/>
    <p:sldId id="450" r:id="rId33"/>
    <p:sldId id="481" r:id="rId34"/>
    <p:sldId id="482" r:id="rId35"/>
    <p:sldId id="451" r:id="rId36"/>
    <p:sldId id="483" r:id="rId37"/>
    <p:sldId id="452" r:id="rId38"/>
    <p:sldId id="484" r:id="rId39"/>
    <p:sldId id="453" r:id="rId40"/>
    <p:sldId id="485" r:id="rId41"/>
    <p:sldId id="454" r:id="rId42"/>
    <p:sldId id="455" r:id="rId43"/>
    <p:sldId id="486" r:id="rId44"/>
    <p:sldId id="460" r:id="rId45"/>
    <p:sldId id="461" r:id="rId46"/>
    <p:sldId id="462" r:id="rId47"/>
    <p:sldId id="487" r:id="rId48"/>
    <p:sldId id="463" r:id="rId4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6" id="{8C53B2B2-0F64-489D-918E-1BB4595C4769}">
          <p14:sldIdLst>
            <p14:sldId id="438"/>
            <p14:sldId id="439"/>
            <p14:sldId id="466"/>
            <p14:sldId id="467"/>
            <p14:sldId id="468"/>
            <p14:sldId id="465"/>
            <p14:sldId id="469"/>
            <p14:sldId id="470"/>
            <p14:sldId id="440"/>
            <p14:sldId id="471"/>
            <p14:sldId id="492"/>
            <p14:sldId id="473"/>
            <p14:sldId id="491"/>
            <p14:sldId id="489"/>
            <p14:sldId id="490"/>
            <p14:sldId id="474"/>
            <p14:sldId id="476"/>
            <p14:sldId id="475"/>
            <p14:sldId id="442"/>
            <p14:sldId id="443"/>
            <p14:sldId id="444"/>
            <p14:sldId id="477"/>
            <p14:sldId id="445"/>
            <p14:sldId id="478"/>
            <p14:sldId id="446"/>
            <p14:sldId id="464"/>
            <p14:sldId id="479"/>
            <p14:sldId id="447"/>
            <p14:sldId id="448"/>
            <p14:sldId id="449"/>
            <p14:sldId id="480"/>
            <p14:sldId id="450"/>
            <p14:sldId id="481"/>
            <p14:sldId id="482"/>
            <p14:sldId id="451"/>
            <p14:sldId id="483"/>
            <p14:sldId id="452"/>
            <p14:sldId id="484"/>
            <p14:sldId id="453"/>
            <p14:sldId id="485"/>
            <p14:sldId id="454"/>
            <p14:sldId id="455"/>
            <p14:sldId id="486"/>
            <p14:sldId id="460"/>
            <p14:sldId id="461"/>
            <p14:sldId id="462"/>
            <p14:sldId id="487"/>
            <p14:sldId id="4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F7BC7-9B79-7D1E-6516-00F4A692D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8C8B86-F3BC-F436-4442-1305258DD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9655EE-BCE0-EFFF-ECF7-D938B499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7353BD-B5C1-2E2B-41AA-83A1C16E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3B37A6-7EC0-B44A-BC28-026D5AFB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845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527E8-9249-71C1-B1F0-537029ED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857628-B8BB-7B34-AA2F-E910A6389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E133FF-D153-B2FA-4155-A5198391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89F5EC-0E2C-ADD9-45C5-6A4D1B25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9B3738-5E2F-EA00-C995-8402F529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68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B418A-4FE2-3BAC-DE7A-F63E55EA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EE0059-3790-15AD-8118-DE9B48D6E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64CADB-DD67-96EB-5A5F-53CE6C1A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860FEF-EF50-A846-82E3-3EF6C20C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A81292-6A4C-27B4-5144-16D53459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00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508D0-013C-A0C4-40F9-D626A2B48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F6A0A8-DF5D-5A30-9330-A45D95D25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1718E3-71CA-CBF3-BCA9-2477F932A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DA4051-58CA-DFBF-45F6-423A2E4C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0CCFF6-EFAF-A778-8691-C36BA6C5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C70DB7-2B43-440C-C41F-51D4ED5C1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91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3F6E4-E071-B91C-49D0-6E3A24D1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3EDB84-D4CA-C70A-129D-3543A2C98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93F9DC-4BC8-197C-13A2-820438162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7D7DC1-478A-7691-D005-80C1EAFD1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31D247-DF09-2227-173F-2B91BF07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1BFEEBC-3414-AF59-D930-7816F035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321C9E9-9F67-C547-8C0A-A0BCD23D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C83836D-9783-E4D3-7CD2-F228BDBC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320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82A302-24E5-DEBD-8364-E665C0C3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DC6621-D88D-EE48-B1F7-347B0725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6369E27-97EA-275A-C2FB-BDA871DF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E9CAF6-2705-EC51-37DF-AA79EF36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89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A693FA-392B-0EC7-C3ED-F0F14D3B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07CD90-AD8F-02DF-2010-757C29E8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C6413F-994A-6949-993F-18D2960A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9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7EEC5-5080-E2F7-5707-A1407252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28105F-8800-35A3-D8C4-2148C8A85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7AB0EB-2B53-2FA2-86E9-ADA005CC5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0295D8-B047-A888-FE05-8E91E0559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2CEE9A-3775-23A8-0862-6F72BE6D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5E76EA-5D3F-06B0-1DA5-9AEED027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5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A9F93-80F6-630D-26CC-1BE871F3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63982F8-E09A-7ADA-52E3-854F6D012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9C83E4-6B1B-E29B-4BCF-4D7E88BBC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724F07-1FD1-BB94-2B9F-3EE3C93F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8C29CE-50B2-7C7F-9F1F-ED53EFF9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AC74B8-11D2-5726-2423-47681F8A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35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F653F-BAA8-BE16-FC6E-277F5835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F76678-52D7-E133-C30C-9103568F4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306123-148E-7E41-3F4F-9C01882F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45BA54-34AF-9478-BABC-17D369D21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93457C-2CA1-1AB7-A522-F015EA0E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56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38D878-5AFC-67D7-DF23-434406384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E3873D-9C15-84BB-F833-48557097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A90BF5-984F-DAF2-FE20-A75D80E0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053A57-7FAE-47E3-E2C1-BB104834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9CC7E3-4F24-F663-52B8-382B64A5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42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423F6-6C46-F935-1087-7E09D098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B9D9D0-005E-D61A-4A45-77CE42156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6B02DF-A91A-ABF2-0830-8E7342E72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76D08-AAB7-46E1-9307-799FF8E187C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1111FE-D6B7-018C-575F-9087E9816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081A14-6C9A-DB70-3318-60FCDCB8A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007AE-A595-4B22-8F7D-3A07A113A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02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2B95F-8F92-4BDA-C0D6-BDFAEE429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19" y="1122363"/>
            <a:ext cx="10217888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6. Fundamental Circuit Theorems (II)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C7CEDD-F2C9-E4A3-2059-EA99B38A1A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(2). Analysis of Resistive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266A148B-A530-7C5A-303C-8BA5B896B1C8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546C5A8C-8A4D-41FD-AD7F-E71222062180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78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Welcome back to the course on The Principle of Circuit. In our previous lecture, we began our exploration of fundamental circuit theorems.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discussed the property of linearity, the Superposition Theorem, and the extremely powerful Thevenin’s Theorem.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learned that any complex linear one-port network can be replaced by a single voltage source in series with a resistor. </a:t>
            </a:r>
            <a:endParaRPr lang="en-US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218CB2-EAFC-E4D5-46C7-ED66F24E1A9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F3DD370-F8A2-FBE7-F1D3-CF21D2EEDE0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F08EBBC-BFAF-6365-6252-0AF52D558B9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8021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A5D8-5831-9549-2105-5B91A5E47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4311B-CB8E-C528-6B71-356B650D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41D080-9881-F63B-B44B-A72D74A39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Today, we will complete our study of DC circuit theorems by introducing the «dual» of Thevenin’s theorem, known as Norton’s Theorem.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Furthermore, we will answer a critical engineering question: How do we choose a load to extract the maximum possible energy from a source?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6CA09D7-7973-60CB-4974-29BC9B8941C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8184AFB-E583-EA1B-B09E-0984CAA1FBD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C087673-6C97-3797-4BFE-84C9C6615A5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8998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F5E05-A5F0-CF12-B00F-D7BDFA5E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4132B-C137-DEA5-7789-802FC60C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865445-C327-30A4-6C95-D9585982D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brings us to the Maximum Power Transfer Theorem.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These concepts are essential for understanding power matching in audio systems, radio transmitters, and signal processing.</a:t>
            </a:r>
            <a:endParaRPr lang="en-US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70C2065-2BB0-7F93-B5E5-72ED440783C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85A255A-3B54-54E1-238D-A06FA6B020C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D6F5D1B-99A5-A676-F083-C35BD119066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667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C11A1-1C2C-20F9-CA2C-B7BE33AA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F553D-0B42-C4F0-B334-1B1100EB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F2D752-3BC2-5BEE-B2D4-39B77C22F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Let us begin with Norton's Theorem.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Just as Thevenin’s theorem reduces a complex circuit to a voltage source and a series resistor, Norton’s theorem reduces it to a current source and a parallel resistor.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Edward Lawry Norton, an engineer at Bell Labs, proposed this method independently, shortly after Helmholtz and Thevenin. </a:t>
            </a:r>
            <a:endParaRPr lang="en-US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E5C69BB-3C6A-0869-950D-082B4ABD5EF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EC2F6A6-513D-575D-E97E-9AAA69ADB9A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C6C6A62-1AB1-5240-1D0F-13FEF29066F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1675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06D6D-72F0-E1FC-51C7-F7CE8B51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9A0845-26C4-0016-5210-D9E67D11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FA29D31-8C48-9C92-A9B9-0D1CB43951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Norton’s Theorem states that any linear two-terminal circuit can be replaced by an equivalent circuit consisting of a current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in parallel with a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The value of the current source, </a:t>
                </a:r>
                <a14:m>
                  <m:oMath xmlns:m="http://schemas.openxmlformats.org/officeDocument/2006/math">
                    <m:r>
                      <a:rPr lang="en-US" b="1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is the short-circuit current flowing through the terminals.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The value of the resistance, </a:t>
                </a:r>
                <a14:m>
                  <m:oMath xmlns:m="http://schemas.openxmlformats.org/officeDocument/2006/math">
                    <m:r>
                      <a:rPr lang="en-US" b="1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is the equivalent input resistance looking into the terminals when all independent sources are turned off.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FA29D31-8C48-9C92-A9B9-0D1CB4395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49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0910AA7-58CC-4458-FA4D-87F03F877B9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48EBB1C-E660-FE25-F453-7141C555552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E078FD0-9918-21BF-4BAE-4332ADB3ECF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024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AF72-A2FC-A050-6B80-F795E7EC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5098D-DA83-1E9B-5658-63C3EAF1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0F058-71B6-5AFA-EFD3-83BFBB6E7D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You will notice immediately that the definition of the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is identical to the definition of Thevenin’s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Why do we need two theorems that seem so similar?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Thevenin’s theorem is generally more useful when we are analyzing series circuits or when we are concerned with voltage levels.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Norton’s theorem is often preferred when analyzing parallel circuits or when we are focusing on current distribution. </a:t>
                </a:r>
              </a:p>
              <a:p>
                <a:pPr algn="just">
                  <a:lnSpc>
                    <a:spcPct val="120000"/>
                  </a:lnSpc>
                </a:pPr>
                <a:endParaRPr lang="en-US" b="1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0F058-71B6-5AFA-EFD3-83BFBB6E7D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669E44C-E4F4-0717-EFFD-73E59534A0F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12B80CD-0FA9-8230-0BE1-68C6A9C438D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5C46A85-450F-1107-7371-541A2C197B7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00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E4B99-6CC9-B2B3-DABA-F984E1D9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6BD18-0234-C0B3-80B7-7A5D594C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10AC8-35D4-A96B-AA83-A787FD47C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 many cases, the choice is simply a matter of personal preference or computational convenience.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However, conceptualizing a circuit as a current source is vital for understanding devices like transistors (BJTs) and certain sensors, which naturally behave more like Norton sources than Thevenin sources.</a:t>
            </a:r>
            <a:endParaRPr lang="en-US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AD55EA5-C4EF-8F24-74CE-8410D006BFA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DA3C9AF-5252-8423-2408-A9018E58A4D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729C3AA-5C52-6326-B3BA-EEFC1ED4D5C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6119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Norton equivalent circuit acts as a practical model for a non-ideal current source.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Now, let us establish the systematic algorithm for applying this theorem.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determine the Norton Equivalent Circuit of a network, we follow these specific steps:</a:t>
            </a:r>
            <a:endParaRPr lang="en-US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E62394C-6224-9144-D187-0CCABB25507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FCA2C10-9891-C6A2-A05F-E684CB5CD91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05A9F71-4D91-B7C5-CBD0-79647C76141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82903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CA66E-6980-7E2D-31D9-685CD44C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316D9-64A1-B7F1-EFDF-899AE695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2C1C0-DAA2-BB6A-1B15-C77502E4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 algn="just">
              <a:lnSpc>
                <a:spcPct val="120000"/>
              </a:lnSpc>
              <a:buFont typeface="Symbol" panose="05050102010706020507" pitchFamily="18" charset="2"/>
              <a:buChar char=""/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remove the load resistor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or the component of interest, </a:t>
            </a: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leaving two open terminals (let's call them a and b)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;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033E4C6-9A18-CD0F-D531-842BD1944F6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C379057-BB9A-DFC2-9A7F-B80ECDE34C2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9E9AE93-16DE-1DAC-DE81-BA40DBC643D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762F66-B93A-C264-0CE6-B5BE32459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2943118"/>
            <a:ext cx="8249801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97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A3D1-1A80-3897-0445-83874175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3BADE-797D-B58F-148E-678331158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05D0CA-B2CE-6C92-F7EC-9DD00B7BF4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calculate the Norton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This step is exactly the same as 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Turn off all independent sources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(voltage sources become short circuits; current sources become open circuits) 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and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calculate the equivalent resistance between terminals a and b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</a:rPr>
                  <a:t>For used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will be equal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from the past lecture,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=55,897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Aptos" panose="020B0004020202020204" pitchFamily="34" charset="0"/>
                        <a:sym typeface="Symbol" panose="05050102010706020507" pitchFamily="18" charset="2"/>
                      </a:rPr>
                      <m:t></m:t>
                    </m:r>
                  </m:oMath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05D0CA-B2CE-6C92-F7EC-9DD00B7BF4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70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440E8DE-D8C5-A45E-B084-8B81D7B394B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024A3A5-AE82-0877-548C-BA39E82B1FF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8287748-2C04-3791-E85A-AD05DC5B724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00625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DEEFC-6BD9-3EA7-E48F-019BE91F2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22C65-E197-D1FD-F719-73009815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D18EE6A-8E25-9322-E635-9CE766D904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calculate the Norton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This is the distinct step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Place a short circuit (a direct wire connection) between terminals a and b.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Then, calculate the current flowing through this short wire. This current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ru-RU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D18EE6A-8E25-9322-E635-9CE766D904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70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B5A8F80-7314-1C62-F702-770CA6C8EE0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5BD321B-CE1D-3265-FE52-841A3855F11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483FA37-B3DC-3CB4-6C78-86DA70D6EBD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50D94C-4314-35F8-70B3-103E58D2F1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5603" y="4001294"/>
            <a:ext cx="6840794" cy="281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75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1ED9-D4E9-B943-029A-854FAFDD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FF192-F674-C865-874F-9203208F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FD813D1-E768-7FAD-6821-3E5C102064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draw the equivalent circuit.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Connect the current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in parallel with the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re-connect your load to the terminals.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FD813D1-E768-7FAD-6821-3E5C102064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70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74349AD-C372-171C-F2FA-80DCF075D7A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E8FB612-0C37-7DF8-2677-6E3E276F1FB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FD744F9-E366-097B-0997-1886CB60C17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448B3E-B4E6-1AB6-8F35-34D66D91E8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9621" y="3429000"/>
            <a:ext cx="4672758" cy="326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07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66EF-AF6E-6F65-BA37-00FAE4CC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E19844-AD2C-EF8F-13AF-4B0A1913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3D103C-ACB9-D188-96D4-11A517372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</a:rPr>
              <a:t> 	Result of these steps will be very similar to the result of Thevenin’s theorem.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BC5C1DF-7738-F43A-8966-6644EF7BB1C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A9AC3EF-9EA7-D97E-D7EC-DF88AB5A91B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03CA770-B1ED-01FE-AB6E-1128C42AE5D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5AC224-A5D7-CA24-4AD4-AF8DE067F0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1202" y="2888264"/>
            <a:ext cx="11069595" cy="383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49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5F7E4-E2E5-482A-D9D0-DD0115DDA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5559A-6021-99AC-2C66-004BACEE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4ADCE2E-8F6F-4B85-44D7-8625FCC332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</a:rPr>
                  <a:t>But a and b terminals are placed at the both sides of equivalent resistance, thus load in Norton’s circuit connected in parallel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in Thevenin’s circuit it connected in series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4ADCE2E-8F6F-4B85-44D7-8625FCC332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7566385-3B4C-F91F-ABE7-E18C6EA584B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5E48EC-6D3D-13F4-99E0-3361FE2A5DD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55CC1EC-AFCC-A03E-8654-0B448523F71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6D6E65-BB94-8360-B6AB-593F1ABEA2E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690" y="3429000"/>
            <a:ext cx="11736619" cy="339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3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1BC2-A2B0-846F-E005-CE9E75A8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E54EA-FFF8-A781-172A-52813A96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103E3A-2EB9-5B4A-4D41-8133CEA50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Let us look closer at Step 3, because this is where students often make mistakes.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 we found Thevenin’s voltage, we left the terminals </a:t>
            </a:r>
            <a:r>
              <a:rPr lang="en-US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</a:t>
            </a: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calculated the voltage across them.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Norton’s current, we must short-circuit the output terminals.</a:t>
            </a: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connecting a wire with zero resistance between the terminals, we force the voltage difference to be zero.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788376F-C456-4075-02E0-C1F59363AF3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C0C4710-BD9F-14D2-21D9-9296DC007CD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ECB30A0-BEF9-049D-7618-50EA06AB47D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89102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86E9-9161-27B2-0997-32470F8B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2EEC2-3B8F-4769-F754-96BE53BFF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BB4C82-B340-BEF2-C51D-0DEBB322D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All the current from the circuit will rush toward this short circuit because it represents the path of least resistance.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You can use any method we have learned previously – Mesh Analysis, Nodal Analysis, or Source Transformation – to find this short-circuit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𝑠𝑐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Therefore, the Norton Current is simply the short-circuit current: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𝒔𝒄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BB4C82-B340-BEF2-C51D-0DEBB322D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DD74953-7A35-FE67-9A23-F22DAC21AB9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C5DB166-F7CA-3A81-736F-CE217807351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841EFF7-FBB7-D1D2-50FD-1909BFAD7BC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68473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6925-2B29-0ACF-06A5-242F926B2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0F5FC-D61E-D064-D372-8DC7CADB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9BB8DD2-E713-01E0-9911-AF4FF7327E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There is a fundamental relationship between Thevenin’s and Norton’s theorems that links back to our study of Source Transformations in Lecture 2.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Norton equivalent circuit is simply the Source Transformation of the Thevenin equivalent circuit.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you have already calculated the Thevenin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), you do not need to start over to find the Norton parameters.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9BB8DD2-E713-01E0-9911-AF4FF7327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49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80815DF-9A30-81B5-BB1A-89A5C4E56F7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97541E4-2305-F088-BA1B-BA3D6F4D1E0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51C98D5-EDA0-BF45-9A13-3756EAC144B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93394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We can convert between them using Ohm’s Law: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(The resistance is the same in both models).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𝒕𝒉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𝒕𝒉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Conversely, if you have the Norton parameters: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𝒕𝒉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confirms that a voltage source with a series resistor is externally equivalent to a current source with a parallel resistor.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26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5B080E0-93B2-C9F7-5497-D3FE9195D07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886CA1D-7775-2C53-4B9C-2750318C68D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377B74B-667C-1678-3578-D5F964F4BA8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65994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7564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Let us solve a practical example to verify this method. Imagine a circuit with a 20V voltage source </a:t>
                </a: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 series with the source is a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resistor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combination is connected in parallel to a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resistor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We want to find the Norton equivalent at the terminals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  <a:endParaRPr lang="en-US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756400" cy="4351338"/>
              </a:xfrm>
              <a:blipFill>
                <a:blip r:embed="rId2"/>
                <a:stretch>
                  <a:fillRect l="-1625" t="-560" r="-1805" b="-49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 descr="Изображение выглядит как диаграмма, линия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ECCFE0C1-243E-6031-12CC-0014CC9D5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2001" y="1965008"/>
            <a:ext cx="3790950" cy="4752975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1321C64-CD02-662E-4DD5-9440C217F8B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C1FA88F-DD09-3463-1431-30BE44CDF63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7581DDD-E5F6-CC03-6C44-5D1D9911D1B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41106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First,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We turn off the 20V source </a:t>
                </a: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(replace it with a short wire). Looking into the terminals, we see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are in parallel: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𝑁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||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</m:t>
                        </m:r>
                        <m:r>
                          <a:rPr lang="en-US" b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×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20</m:t>
                        </m:r>
                      </m:num>
                      <m:den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</m:t>
                        </m:r>
                        <m:r>
                          <a:rPr lang="en-US" b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20</m:t>
                        </m:r>
                      </m:den>
                    </m:f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100</m:t>
                        </m:r>
                      </m:num>
                      <m:den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25</m:t>
                        </m:r>
                      </m:den>
                    </m:f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𝛺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 descr="Изображение выглядит как диаграмма, Шрифт, текст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B2953391-67D6-561C-80AC-52BB8DFD96C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4626" y="3660961"/>
            <a:ext cx="6197193" cy="3197039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10F69-7FF7-7F82-9BA5-83B7B817DB5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1BEA7BE-423B-DC8C-7F07-59EAC4CDC54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B4E3DF6-6FC5-545E-D451-CFF78955A38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4478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EFE6-085C-86A9-29B5-4FA1DC94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7EF7B-9E32-C70B-F1AD-36B62380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7CAACF-9786-F195-B348-1C57DD0FEE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Next,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We short-circuit the terminals a and b. Be careful here.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7CAACF-9786-F195-B348-1C57DD0FEE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 descr="Изображение выглядит как диаграмма, линия, текст, План&#10;&#10;Автоматически созданное описание">
            <a:extLst>
              <a:ext uri="{FF2B5EF4-FFF2-40B4-BE49-F238E27FC236}">
                <a16:creationId xmlns:a16="http://schemas.microsoft.com/office/drawing/2014/main" id="{CA253C1A-A98B-2AFB-9259-B62B8F813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4450" y="3905250"/>
            <a:ext cx="10039350" cy="295275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0063537-6703-EDE4-CDFB-0B332CBDC03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2521E22-019C-BEDF-FC5F-7D2ABE338C0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3158F27-0841-4B69-F2FB-DE8F8BF7484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61812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we place a short circuit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current will bypass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entirely. </a:t>
                </a: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current prefers the zero-resistance wire over the 20Ω resistor. Therefore, the total resistance seen by the source is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(5Ω).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 descr="Изображение выглядит как диаграмма, линия, текст, План&#10;&#10;Автоматически созданное описание">
            <a:extLst>
              <a:ext uri="{FF2B5EF4-FFF2-40B4-BE49-F238E27FC236}">
                <a16:creationId xmlns:a16="http://schemas.microsoft.com/office/drawing/2014/main" id="{DB56336C-1BCF-60DD-F0D9-A275B0CB05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2244" y="4002850"/>
            <a:ext cx="9707511" cy="285515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A433740-9145-3559-960D-D9E04E5F7C8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2A95417-D3E0-946E-3CC3-2DFFC740562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3F7CB9-D23D-18AE-6228-783CD4FA0B1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46321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94D5-2A1A-A9F2-5D5C-1400FECA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7A59F-90AB-434F-C53F-E960E681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378784C-9663-B247-712B-106612B178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𝛺</m:t>
                          </m:r>
                        </m:den>
                      </m:f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So, our Norton equivalent is a 4A source in parallel with a 4Ω resistor.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378784C-9663-B247-712B-106612B178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DD6B895-8030-64E8-6013-4D62144B539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E48764-6F53-F4A2-60B9-BA3D684C1B0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2235575-083E-D69E-D9BF-4A486F84CF9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E813E20-8B75-055F-79E3-EEA8FD1C9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3561" y="3552524"/>
            <a:ext cx="11044878" cy="3246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0011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DC70789-B0EB-49F0-9B23-847277CABD1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F7A42D5-06BB-E789-0CB4-687690AB5E1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4530422-CF21-C81F-5592-190AB599F46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9FA9A680-24B4-30C9-1C9A-730ED98EE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5B8F854D-C8B0-E987-CFD2-55C613E98EE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03574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en-US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Do you have you any questions at the moment?</a:t>
            </a:r>
            <a:endParaRPr lang="ru-RU" dirty="0"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8E41E62-BBE1-1AD5-0D62-D42B662F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429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300DF-B11F-5C0B-5271-2BDCEDAF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E390B-418C-BF69-2FA0-14ABB256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72827B-421B-4291-1A62-5078FFCF2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now transition to the second major theme of this lecture: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Power Optimization.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Lecture 1, we defined the primary objective of circuit analysis as solving for voltage, current, and power.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Often in engineering, we are not just analyzing a circuit; we are designing it to perform a task.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of the most common tasks is to deliver energy from a source (like an antenna, a microphone, or a battery) to a load (like a radio receiver, a speaker, or a motor).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336F3FD-F78B-9D0F-D27D-83925EB86C9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B01A570-4BAF-1959-3491-EB0A3C8A21E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CEEA8FD-A19A-E1C2-A21A-19575F6BE6A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5241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4921-44B0-41AE-983C-BED17C60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D03DD-77CD-64C0-8E1B-CD01D4D1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858AA96-28B5-60DC-3416-B76F566BFB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Maximum Power Transfer Theorem allows us to determine the specific value of load resistance that will accept the most energy from a given source.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Let us model our real-world source using the Thevenin equivalent circuit we mastered in Lecture 5. </a:t>
                </a:r>
              </a:p>
              <a:p>
                <a:pPr algn="just"/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We have a practical source consisting of an ideal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an internal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/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We connect a variable load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 this source.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858AA96-28B5-60DC-3416-B76F566BFB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50EA009-981E-53D3-6291-B99E87D0C6D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924579D-A456-4AAE-5D5C-4352E26A416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3CC4C8E-8480-68C3-F6CA-49D7A662D0A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42105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current flowing through the circuit is determined by Ohm's Law: 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𝒊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𝒕𝒉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𝒕𝒉</m:t>
                              </m:r>
                            </m:sub>
                          </m:sSub>
                          <m:r>
                            <a:rPr lang="en-US" b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power absorbed by the load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is calculated as: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𝒊</m:t>
                          </m:r>
                        </m:e>
                        <m:sup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𝟐</m:t>
                          </m:r>
                        </m:sup>
                      </m:sSup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b="1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  <m:t>𝒕𝒉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b="1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  <m:t>𝒕𝒉</m:t>
                                      </m:r>
                                    </m:sub>
                                  </m:sSub>
                                  <m:r>
                                    <a:rPr lang="en-US" b="1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ru-RU" b="1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</a:rPr>
                                        <m:t>𝑳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𝟐</m:t>
                          </m:r>
                        </m:sup>
                      </m:sSup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FEF080B-86A8-1DDF-0C1C-DFD4433B0DF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8B56A5B-43E8-2BC9-C0D2-1BF5B0B26AA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08B1EAE-FB5B-9723-8BCF-74F36112AD7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42145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very small (close to 0), the current is high, but the voltage across the load is nearly zero, so power is low.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very large (close to infinity), the voltage is high, but the current is nearly zero, so power is low.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Maximum power must occur somewhere between zero and infinity.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1732D66-78B9-940D-EB0A-49C78B9F788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61A0889-41DC-DAFF-D785-BE9D812D53C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DA81F27-CF6A-A537-8AA4-5A2D2FDF6C8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66926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To find the peak power, we can use calculus (taking the derivative of power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setting it to zero), or we can look at the physical symmetry.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Maximum Power Transfer Theorem states that a resistive load will receive maximum power from a linear bilateral DC network when the load resistance is equal to the Thevenin equivalent resistance of the network.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DD6DCFC-FD64-D42D-F12F-FCAC136396B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F1DA5B0-3B3E-7843-9941-E102E1F9E08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8F9F1C8-35DC-E186-0BA2-BA6E3ADC654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71195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B8938-0F8E-5ECE-696B-1415FE2A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E3893-5267-EC2F-E3BE-A5F0758E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1D05D07-CA1A-BEAC-0F2A-1720F238C0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Mathematically, maximum power occurs when: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𝒕𝒉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condition is often called «impedance matching» in AC circuits, or «resistance matching» in DC circuits.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When this condition is met, the load matches the source.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What is the value of this maximum power? If we substitute </a:t>
                </a:r>
                <a:b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 dirty="0" err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err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back into our power equation, we get a simplified formula.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1D05D07-CA1A-BEAC-0F2A-1720F238C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8661D38-48AB-DB09-9B30-E74FEC47549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20BA506-73F4-193E-5689-26F381F58A5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BD90F5A-3A10-E632-659C-494CFB5A7FF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1630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Current at max power: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ru-RU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  <m:r>
                            <a:rPr lang="ru-RU" b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</m:den>
                      </m:f>
                      <m:r>
                        <a:rPr lang="ru-RU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</m:num>
                        <m:den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</m:den>
                      </m:f>
                      <m:r>
                        <a:rPr lang="ru-RU" b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Thus: 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8A8C7B9-7B38-56EE-33FC-F58EEE1F4E1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DB52380-B04E-6878-3E84-6A366D3C26C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9CC3BE2-B0C8-BF5D-B84E-CE3AF98D447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0899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BBBF-1EBA-43BB-3D05-0B298FFD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E5A63-DC3B-B7E0-1DC0-F990C5F0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C83A1D3-B08A-1C0E-3927-8EBA61EA59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maximum power available from the source is: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𝒕𝒉</m:t>
                              </m:r>
                            </m:sub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𝒕𝒉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This is the theoretical limit. 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No matter what load you connect, you cannot extract more power than this value from the source.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C83A1D3-B08A-1C0E-3927-8EBA61EA59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56EB4FD-B1CA-6A98-C667-4445BC8435A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725A9CA-89DA-2C75-9C5A-650B0DA991C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40E2981-B859-A8C0-9B45-EBFB9A6DE25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26556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CBB7-7E60-9BC5-B77B-16E46052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3590B-FA99-14D4-5133-49B3B1E1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357D5F4-D1C8-1D75-1F96-D22827E308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It is important to distinguish between Maximum Power Transfer and Maximum Efficiency.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Efficiency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𝜼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is the ratio of output power to total generated power.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𝜼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𝒍𝒐𝒂𝒅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𝒕𝒐𝒕𝒂𝒍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𝟏𝟎𝟎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%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357D5F4-D1C8-1D75-1F96-D22827E308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2A96226-03CF-8836-6046-544B74B7031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8F760B8-94A9-1A5D-E33B-B99298CDBE2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6CD76BB-964A-2436-3079-568345DFAD1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477271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When we match the load to the source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 i="1" spc="-30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 spc="-30" dirty="0" err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 dirty="0" err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spc="-30" dirty="0" err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), the total resistance is </a:t>
                </a:r>
                <a14:m>
                  <m:oMath xmlns:m="http://schemas.openxmlformats.org/officeDocument/2006/math">
                    <m:r>
                      <a:rPr lang="en-US" i="1" spc="-30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2</m:t>
                    </m:r>
                    <m:sSub>
                      <m:sSubPr>
                        <m:ctrlP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  <a:endParaRPr lang="ru-RU" spc="-30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source internal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consumes exactly the same amount of power as the load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spc="-30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</a:t>
                </a:r>
                <a:endParaRPr lang="ru-RU" spc="-30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Therefore, at maximum power transfer, the efficiency is only 50%</a:t>
                </a:r>
                <a:r>
                  <a:rPr lang="ru-RU" b="1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n-US" b="1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pc="-3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half of the energy is wasted as heat inside the source.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For this reason, we do not use maximum power matching in electrical power grids.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6486EE8-31F6-28AE-16B5-7B76F5AA5C5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9EFBFCA-AAB6-9D9F-8E85-C9373EC1A61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93F7B27-B97E-3B0D-3933-C0FACAD8B0F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328770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86D3-7B6F-A43E-23E0-1C5A2551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7BFC2-2C3F-3F97-37AD-1F09CB446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1497FB6-B2ED-A7EE-B9FD-879AE472D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pc="-3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If a power plant tried to match the resistance of the city to the internal resistance of the generator, the generator would melt, and half the valuable fuel would be wasted. </a:t>
                </a:r>
                <a:endParaRPr lang="ru-RU" spc="-3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spc="-3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In power transmission, we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pc="-30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spc="-30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𝑙𝑜𝑎𝑑</m:t>
                        </m:r>
                      </m:sub>
                    </m:sSub>
                    <m:r>
                      <a:rPr lang="en-US" i="1" spc="-30" dirty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pc="-3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to be much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pc="-30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spc="-30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𝑠𝑜𝑢𝑟𝑐𝑒</m:t>
                        </m:r>
                      </m:sub>
                    </m:sSub>
                  </m:oMath>
                </a14:m>
                <a:r>
                  <a:rPr lang="en-US" spc="-3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for high efficiency.</a:t>
                </a:r>
                <a:endParaRPr lang="ru-RU" spc="-3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So, where do we use this theorem?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1497FB6-B2ED-A7EE-B9FD-879AE472D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E5D8139-84FB-6E79-3127-D69A3DFCD3D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9836997-69DA-384E-DA51-FA9FEC3237A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29CD4B4-D280-649B-476D-36CAC3E38C8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59682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use Maximum Power Transfer in telecommunications and signal processing, where the signal is weak, and we need to capture every bit of energy.</a:t>
            </a:r>
            <a:endParaRPr lang="ru-RU" b="1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Consider a radio antenna picking up a signal from a satellite. </a:t>
            </a:r>
            <a:endParaRPr lang="ru-RU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power is usually picowatts (trillionths of a watt). </a:t>
            </a:r>
            <a:endParaRPr lang="ru-RU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do not care about efficiency; we do not care if we «waste» 50% of a picowatt.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F237A80-DCCE-1A94-66C7-B349FBC3EA1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61AB11C-A97E-2663-57F2-C600BEF0357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78ADFC3-12A1-9343-89C1-01E276C0101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7121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496A3-142F-40CD-FBAC-09166879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C7F9D-6D67-462F-5495-1BC53320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2417E2-A7F0-1F21-7AF0-40229A83C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care about hearing the signal.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get the loudest signal, the receiver circuit's input resistance must match the antenna's resistance.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If the resistances are mismatched, the signal reflects back, and we lose information.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1BDCDA9-BBD6-5AA8-6630-0563E013289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4E83F56-E2B7-612E-6F05-8A7CF28E003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819F2AD-049F-42F8-85E5-DB2F6B84BA4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45593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Let us summarize the approach for solving problems involving maximum power transfer.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1. Remove the variable load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from the circuit.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2. Find the Thevenin Equivalent Circuit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looking into the open terminals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was connected.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B525A9E-BC71-D21D-C9B3-D3D7280CA44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04BE4B4-7E00-DCAA-8806-DCA4BD961AC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248D3B3-DF9D-B02F-BA31-5D9F1B066FF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14992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8375-91B3-0487-11F8-51B012B95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5B6F7-CBDB-69E7-3B16-742D55242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7E2FDE7-D5BA-985A-72CF-448FEEECB4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3. Set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to be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4. Calculate the maximum power: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𝑡h</m:t>
                              </m:r>
                            </m:sub>
                            <m:sup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𝑡h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protocol allows us to solve complex design problems where we need to select a component value for a specific system.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7E2FDE7-D5BA-985A-72CF-448FEEECB4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857987E-2939-74AB-731F-4C67E471869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D581D57-A8F8-1307-F64E-E351459EB4F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69C47CE-79B6-666A-6C3F-34C1430306D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08457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Let's look at a numerical example. We have a circuit with a Voltage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=12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and an internal resistance of 50Ω. We want to connect a speaker.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57039C-2D6D-42EC-119A-8394F7482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70901" y="3424501"/>
            <a:ext cx="6440247" cy="33507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A6EB596-64FD-2CE9-7941-025D6253A94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F51411F-A035-A8FF-2801-4E7851FD946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5FC240C0-01AB-B6DD-C963-E54C3719EC1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20357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What resistance should the speaker have for the loudest sound?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According to the theorem, the speaker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should equal the internal resistance.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𝑊𝑎𝑡𝑡𝑠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0185EE7-DEBA-D67B-9E3D-43D65CF0069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3640C6E-149C-6098-463C-D71586D37AC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1CA85DF-2701-07B3-D219-6910E761861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22486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34A0-C2D0-3BEA-38FA-DDAEB11B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AE38B-C321-299D-38E4-F20B3DB2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A3ED6F-5DA3-3F6C-DAB9-6A0A888D2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we used a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speaker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(typical for modern non-audiophile home stereos), the mismatch would result in less power. , current would be: 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0.207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would be: 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207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𝑊𝑎𝑡𝑡𝑠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By blindly connecting an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speaker to a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source, we lost more than half the available power.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A3ED6F-5DA3-3F6C-DAB9-6A0A888D2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DA43BBF-D431-2051-F923-E5275DB9AB9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8DD3EA3-6CFF-352B-541B-569A57C7473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B9F2043-9415-9C50-79DB-315C8D6F5F5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1699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We must address a common misconception regarding Maximum Power Transfer: The Variable Source Case. </a:t>
                </a:r>
                <a:endParaRPr lang="ru-RU" b="1" dirty="0"/>
              </a:p>
              <a:p>
                <a:r>
                  <a:rPr lang="en-US" b="1" dirty="0"/>
                  <a:t>The standard theorem states that if the Source is fixed and the Load varies,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/>
                  <a:t>. </a:t>
                </a:r>
                <a:endParaRPr lang="ru-RU" b="1" dirty="0"/>
              </a:p>
              <a:p>
                <a:r>
                  <a:rPr lang="en-US" b="1" dirty="0"/>
                  <a:t>However, consider the opposite scenario: The Load is fixed (e.g., a specific 8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𝜴</m:t>
                    </m:r>
                  </m:oMath>
                </a14:m>
                <a:r>
                  <a:rPr lang="en-US" b="1" dirty="0"/>
                  <a:t> speaker), and we can design the Source (e.g., the internal resistance of the amplifier). </a:t>
                </a:r>
                <a:endParaRPr lang="ru-RU" b="1" dirty="0"/>
              </a:p>
              <a:p>
                <a:r>
                  <a:rPr lang="en-US" dirty="0"/>
                  <a:t>Should we design the source to be 8 Ω to match the load? No. </a:t>
                </a:r>
                <a:endParaRPr lang="ru-RU" dirty="0"/>
              </a:p>
              <a:p>
                <a:r>
                  <a:rPr lang="en-US" b="1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/>
                  <a:t> is fixed, the power formula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𝒕𝒉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𝒕𝒉</m:t>
                            </m:r>
                          </m:sub>
                        </m:sSub>
                        <m:r>
                          <a:rPr lang="en-US" b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/>
                  <a:t> </a:t>
                </a:r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0185EE7-DEBA-D67B-9E3D-43D65CF0069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3640C6E-149C-6098-463C-D71586D37AC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1CA85DF-2701-07B3-D219-6910E761861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66312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To maximize this, we need to maximize the current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 To maximize current, we must minimize the denominator. </a:t>
                </a:r>
                <a:endParaRPr lang="ru-RU" dirty="0"/>
              </a:p>
              <a:p>
                <a:r>
                  <a:rPr lang="en-US" dirty="0"/>
                  <a:t>Therefore, we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/>
                  <a:t> to be zero. </a:t>
                </a:r>
                <a:endParaRPr lang="ru-RU" dirty="0"/>
              </a:p>
              <a:p>
                <a:r>
                  <a:rPr lang="en-US" b="1" dirty="0"/>
                  <a:t>Rule: if the Load is fixed, the optimal Source resistance is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𝜴</m:t>
                    </m:r>
                  </m:oMath>
                </a14:m>
                <a:r>
                  <a:rPr lang="en-US" b="1" dirty="0"/>
                  <a:t> (for voltage sources). </a:t>
                </a:r>
                <a:endParaRPr lang="ru-RU" b="1" dirty="0"/>
              </a:p>
              <a:p>
                <a:r>
                  <a:rPr lang="en-US" dirty="0"/>
                  <a:t>Ideally, we want an ideal voltage source to deliver maximum power to a fixed load. Do not confuse these two scenarios.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0185EE7-DEBA-D67B-9E3D-43D65CF0069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3640C6E-149C-6098-463C-D71586D37AC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1CA85DF-2701-07B3-D219-6910E761861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55499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Sometimes, we encounter a situation where the source and load are both fixed and mismatched, but we cannot change either of them. </a:t>
            </a:r>
            <a:endParaRPr lang="ru-RU" dirty="0"/>
          </a:p>
          <a:p>
            <a:r>
              <a:rPr lang="en-US" dirty="0"/>
              <a:t>For example, connecting a 50Ω cable to a 75Ω antenna. </a:t>
            </a:r>
          </a:p>
          <a:p>
            <a:r>
              <a:rPr lang="en-US" dirty="0"/>
              <a:t>In this case, we use a Resistive Matching Network (often called an L-Pad or Attenuator). </a:t>
            </a:r>
          </a:p>
          <a:p>
            <a:endParaRPr lang="en-US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0185EE7-DEBA-D67B-9E3D-43D65CF0069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3640C6E-149C-6098-463C-D71586D37AC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1CA85DF-2701-07B3-D219-6910E761861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59522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1E6B1-256C-5D83-31B3-29073745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9AF86-76AF-B1B5-1CFF-8EFA1034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E1F6CC2-5549-4C5A-BF4F-155CDBE18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We insert a network of resistors between the source and the load. </a:t>
                </a:r>
                <a:endParaRPr lang="ru-RU" dirty="0"/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These resistors are calculated so that the Source «sees»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50</m:t>
                    </m:r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Ω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looking into the network, and the Load «sees»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75</m:t>
                    </m:r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Ω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looking back.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eliminates signal reflections (which we will study in transmission line theory). </a:t>
                </a:r>
                <a:endParaRPr lang="en-US" dirty="0"/>
              </a:p>
              <a:p>
                <a:r>
                  <a:rPr lang="en-US" dirty="0"/>
                  <a:t>However, the trade-off is power loss. </a:t>
                </a:r>
                <a:endParaRPr lang="ru-RU" dirty="0"/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matching resistors dissipate energy. We sacrifice efficiency to gain a clean signal transmission. </a:t>
                </a:r>
                <a:endParaRPr lang="en-US" dirty="0"/>
              </a:p>
              <a:p>
                <a:r>
                  <a:rPr lang="en-US" dirty="0"/>
                  <a:t>This is a standard trade-off in Radio Frequency (RF) engineering.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E1F6CC2-5549-4C5A-BF4F-155CDBE18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928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47F83B9-806B-E963-31E4-1278B8C611C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14FF9A9-8BBA-2A72-A667-3FDE4C1CA4D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BC06CF8-86F0-18BE-9ABF-780C1EC6F36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200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4548" cy="4351338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concludes Part 2 of our course on Resistive Circuit Analysis.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75409C0-2500-8DDF-201F-33C87656CC4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FC58E0B-13BF-9910-F752-04DAFCC3896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F980061-B019-C154-8107-FF74B024154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F5017FE7-10E3-0ADF-499A-79BBB65ED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9769005-7E74-93CB-92CD-C67AD7B0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9947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2900</Words>
  <Application>Microsoft Office PowerPoint</Application>
  <PresentationFormat>Широкоэкранный</PresentationFormat>
  <Paragraphs>238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4" baseType="lpstr">
      <vt:lpstr>Aptos</vt:lpstr>
      <vt:lpstr>Aptos Display</vt:lpstr>
      <vt:lpstr>Arial</vt:lpstr>
      <vt:lpstr>Cambria Math</vt:lpstr>
      <vt:lpstr>Symbol</vt:lpstr>
      <vt:lpstr>Тема Office</vt:lpstr>
      <vt:lpstr>Lecture 6. Fundamental Circuit Theorems (II)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10</cp:revision>
  <dcterms:created xsi:type="dcterms:W3CDTF">2026-04-05T04:46:15Z</dcterms:created>
  <dcterms:modified xsi:type="dcterms:W3CDTF">2026-04-09T04:45:37Z</dcterms:modified>
</cp:coreProperties>
</file>