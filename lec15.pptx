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662" r:id="rId2"/>
    <p:sldId id="663" r:id="rId3"/>
    <p:sldId id="689" r:id="rId4"/>
    <p:sldId id="690" r:id="rId5"/>
    <p:sldId id="688" r:id="rId6"/>
    <p:sldId id="691" r:id="rId7"/>
    <p:sldId id="664" r:id="rId8"/>
    <p:sldId id="665" r:id="rId9"/>
    <p:sldId id="692" r:id="rId10"/>
    <p:sldId id="666" r:id="rId11"/>
    <p:sldId id="693" r:id="rId12"/>
    <p:sldId id="667" r:id="rId13"/>
    <p:sldId id="668" r:id="rId14"/>
    <p:sldId id="695" r:id="rId15"/>
    <p:sldId id="694" r:id="rId16"/>
    <p:sldId id="696" r:id="rId17"/>
    <p:sldId id="670" r:id="rId18"/>
    <p:sldId id="671" r:id="rId19"/>
    <p:sldId id="697" r:id="rId20"/>
    <p:sldId id="672" r:id="rId21"/>
    <p:sldId id="698" r:id="rId22"/>
    <p:sldId id="699" r:id="rId23"/>
    <p:sldId id="674" r:id="rId24"/>
    <p:sldId id="687" r:id="rId25"/>
    <p:sldId id="675" r:id="rId26"/>
    <p:sldId id="676" r:id="rId27"/>
    <p:sldId id="700" r:id="rId28"/>
    <p:sldId id="685" r:id="rId29"/>
    <p:sldId id="677" r:id="rId30"/>
    <p:sldId id="701" r:id="rId31"/>
    <p:sldId id="702" r:id="rId32"/>
    <p:sldId id="678" r:id="rId33"/>
    <p:sldId id="703" r:id="rId34"/>
    <p:sldId id="679" r:id="rId35"/>
    <p:sldId id="680" r:id="rId36"/>
    <p:sldId id="704" r:id="rId37"/>
    <p:sldId id="705" r:id="rId38"/>
    <p:sldId id="681" r:id="rId39"/>
    <p:sldId id="682" r:id="rId40"/>
    <p:sldId id="683" r:id="rId41"/>
    <p:sldId id="686" r:id="rId4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art (7) - Lecture 15" id="{09C96027-36A5-4ADB-B581-DE8CF4249C1C}">
          <p14:sldIdLst>
            <p14:sldId id="662"/>
            <p14:sldId id="663"/>
            <p14:sldId id="689"/>
            <p14:sldId id="690"/>
            <p14:sldId id="688"/>
            <p14:sldId id="691"/>
            <p14:sldId id="664"/>
            <p14:sldId id="665"/>
            <p14:sldId id="692"/>
            <p14:sldId id="666"/>
            <p14:sldId id="693"/>
            <p14:sldId id="667"/>
            <p14:sldId id="668"/>
            <p14:sldId id="695"/>
            <p14:sldId id="694"/>
            <p14:sldId id="696"/>
            <p14:sldId id="670"/>
            <p14:sldId id="671"/>
            <p14:sldId id="697"/>
            <p14:sldId id="672"/>
            <p14:sldId id="698"/>
            <p14:sldId id="699"/>
            <p14:sldId id="674"/>
            <p14:sldId id="687"/>
            <p14:sldId id="675"/>
            <p14:sldId id="676"/>
            <p14:sldId id="700"/>
            <p14:sldId id="685"/>
            <p14:sldId id="677"/>
            <p14:sldId id="701"/>
            <p14:sldId id="702"/>
            <p14:sldId id="678"/>
            <p14:sldId id="703"/>
            <p14:sldId id="679"/>
            <p14:sldId id="680"/>
            <p14:sldId id="704"/>
            <p14:sldId id="705"/>
            <p14:sldId id="681"/>
            <p14:sldId id="682"/>
            <p14:sldId id="683"/>
            <p14:sldId id="6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975C5B-955C-6B18-2443-E8D2381BAA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67EA38B-00C2-EB61-82F4-6822AC56EF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369DAC-4F40-1F79-B2AB-2BA7DCBD0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86632-E390-4BA6-92C4-F965CADE0B71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6F093A-EDAB-F976-03C1-C3F86BE88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F7A40E-E789-4D55-7C5D-8F7146800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0376C-EDF3-4BC2-B63C-E3C96FE271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5593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D6F896-2D32-2503-5B39-8EF483AC6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AB131D-68AF-9BEB-88B5-D2A726400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2DFC679-764C-40D3-FE81-872DDCB55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86632-E390-4BA6-92C4-F965CADE0B71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090969D-8715-6111-7E14-EBA85D073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B240FEF-2827-F573-C85C-DFA59B9F7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0376C-EDF3-4BC2-B63C-E3C96FE271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4572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06F2EF-A3C0-46C8-E55B-C3AED147E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D3968EB-8A2E-F9FB-9058-FDC05E4B5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DEF4FA6-B932-A4DB-D051-80624594C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86632-E390-4BA6-92C4-F965CADE0B71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28215A5-F807-FEFA-B0F8-34941844C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2765663-E2FB-D070-5243-A0E554F57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0376C-EDF3-4BC2-B63C-E3C96FE271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4620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43EF7F-4F14-CC04-C850-D1380EAE0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332107-3526-4930-A15E-3F94E93915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824612D-CADC-991E-7652-82A08DE4CF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23EAE1B-399C-F3F6-0021-5B8DDF8A1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86632-E390-4BA6-92C4-F965CADE0B71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A403464-DBEA-ABAC-D75D-40EA37123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27C4AEF-F643-5D5E-EEE5-DFD4ED3AF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0376C-EDF3-4BC2-B63C-E3C96FE271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4420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A6826D-36B9-890E-3E46-91F55B44C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DDF1BFA-840A-7E80-0E27-FF971F9373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1285EB0-CE82-18A1-683C-F95B1B6229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55FACAF-9FFD-CFD6-928D-A80CD68337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0BEA8FB-0A90-5CC0-64B3-157B117C2F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5C358ED-007A-B345-8E72-5ED679BB6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86632-E390-4BA6-92C4-F965CADE0B71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3A270B6-D49D-F400-D0E6-77332157C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2C95A6D-CBCC-1CC1-9907-5E67C0252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0376C-EDF3-4BC2-B63C-E3C96FE271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3882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FE48A8-77C2-82A9-70B5-59F9052BC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2AD61FE-115F-7048-1393-ABB894BFA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86632-E390-4BA6-92C4-F965CADE0B71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5E01A30-C867-EE4A-90C3-927FFC162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68E85A9-8E5F-C375-1B54-8DB0DE8A6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0376C-EDF3-4BC2-B63C-E3C96FE271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8448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251DC42-AA35-EE7F-0844-50AB14208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86632-E390-4BA6-92C4-F965CADE0B71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2466A29-0B01-5952-EDE7-56A392941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B4BDB96-44FB-0ADE-1ED5-89EEBD77B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0376C-EDF3-4BC2-B63C-E3C96FE271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8808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A96E50-92AB-187B-8546-C490EEFF0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FFD5EF4-A39B-4D71-FF17-55828E78E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CE2DC36-35B5-A735-177E-7EA0741F50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E3A4827-4B6F-AE3B-B8E0-9E016C7EC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86632-E390-4BA6-92C4-F965CADE0B71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D88C2BC-F00E-939B-4DDF-E4CCF0739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EBE8696-E8EB-BD0C-EEA5-C6555506A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0376C-EDF3-4BC2-B63C-E3C96FE271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6683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90A81C-947C-FED6-AAF4-6E3D39CFC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54A2384-F020-D54E-D7B9-032B434A44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7D12915-BE6D-7F01-B48E-4FC4E0AA57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47544DA-D3F7-B9D8-5BD4-42AA0D056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86632-E390-4BA6-92C4-F965CADE0B71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2356699-FDC8-1141-4870-9A8F42A25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EB4978C-E0F6-466D-E9F9-797F2520F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0376C-EDF3-4BC2-B63C-E3C96FE271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4737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A0591B-5955-E2F7-221A-ED5952B92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C7805F0-2452-C948-F404-4096B098A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694227-5BF9-D162-0820-1E4FE39CD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86632-E390-4BA6-92C4-F965CADE0B71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12B160A-34C3-E249-DC85-59EFCBB5D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14EA6DF-285B-480C-7BDB-D2F319AB2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0376C-EDF3-4BC2-B63C-E3C96FE271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4703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6677B9D-164F-32FE-3176-DA2170E49B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3B62261-DC8F-67FF-56DC-44BBC0E15D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DEFED5A-6D1C-3B8E-8831-6DF47E179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86632-E390-4BA6-92C4-F965CADE0B71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79CE50-BCC2-A433-EC73-37B4F5C33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CD0814-295B-4663-1A13-E6A8CA129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0376C-EDF3-4BC2-B63C-E3C96FE271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4587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03F0FF-64F7-1ED0-A51C-38264D1DF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426D4E1-D227-7263-2560-B4B0F08FEB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D901587-F238-CF6A-34FF-92350710C4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086632-E390-4BA6-92C4-F965CADE0B71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166ABC5-585B-974B-2728-75FBAFCF91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ACB52AE-DCA0-A515-878F-1417B26781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30376C-EDF3-4BC2-B63C-E3C96FE271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0211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1678C-D017-AD50-73ED-1C8B25AB0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A73718-17D5-3177-9FCF-04246E271C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6419" y="1122363"/>
            <a:ext cx="10217888" cy="23876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Lecture 15. The Laplace Transform and Operational Calculus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F482DCF-C6BD-8408-3FF5-DBB46D32B7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Part (7). Complex Frequency Domain Analysis of Dynamic Circuits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Прямоугольный треугольник 3">
            <a:extLst>
              <a:ext uri="{FF2B5EF4-FFF2-40B4-BE49-F238E27FC236}">
                <a16:creationId xmlns:a16="http://schemas.microsoft.com/office/drawing/2014/main" id="{BD6B7830-9FDF-AD6D-B2FB-F42E8964AEA0}"/>
              </a:ext>
            </a:extLst>
          </p:cNvPr>
          <p:cNvSpPr/>
          <p:nvPr/>
        </p:nvSpPr>
        <p:spPr>
          <a:xfrm>
            <a:off x="0" y="3428999"/>
            <a:ext cx="3184275" cy="3419477"/>
          </a:xfrm>
          <a:prstGeom prst="rtTriangle">
            <a:avLst/>
          </a:prstGeom>
          <a:solidFill>
            <a:srgbClr val="2A70AE"/>
          </a:solidFill>
          <a:ln>
            <a:solidFill>
              <a:srgbClr val="2970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ый треугольник 4">
            <a:extLst>
              <a:ext uri="{FF2B5EF4-FFF2-40B4-BE49-F238E27FC236}">
                <a16:creationId xmlns:a16="http://schemas.microsoft.com/office/drawing/2014/main" id="{D6E03457-858C-D30C-562F-2FDA20E4D14D}"/>
              </a:ext>
            </a:extLst>
          </p:cNvPr>
          <p:cNvSpPr/>
          <p:nvPr/>
        </p:nvSpPr>
        <p:spPr>
          <a:xfrm rot="10800000">
            <a:off x="9007724" y="9522"/>
            <a:ext cx="3184275" cy="3419477"/>
          </a:xfrm>
          <a:prstGeom prst="rtTriangle">
            <a:avLst/>
          </a:prstGeom>
          <a:solidFill>
            <a:srgbClr val="2A70AE"/>
          </a:solidFill>
          <a:ln>
            <a:solidFill>
              <a:srgbClr val="2970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677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AD3C0-4204-8600-1084-C44E73CED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B100B4-8102-6029-EE5C-DC03B3898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4F9CD6-D970-869B-8DDD-4E3848EE1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28376" cy="4351338"/>
          </a:xfrm>
        </p:spPr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effectLst/>
                <a:ea typeface="Aptos" panose="020B0004020202020204" pitchFamily="34" charset="0"/>
              </a:rPr>
              <a:t>Welcome to the fifteenth lecture of «The Principle of Circuit».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ea typeface="Aptos" panose="020B0004020202020204" pitchFamily="34" charset="0"/>
              </a:rPr>
              <a:t>In our previous lectures on dynamic circuits, we worked exclusively in the time domain.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ea typeface="Aptos" panose="020B0004020202020204" pitchFamily="34" charset="0"/>
              </a:rPr>
              <a:t>We solved differential equations directly or used the «Three-Element Method» for simple first-order circuits.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ea typeface="Aptos" panose="020B0004020202020204" pitchFamily="34" charset="0"/>
              </a:rPr>
              <a:t>However, what happens when we face a second-order circuit (with both an inductor and a capacitor) or a complex network with multiple loops and nodes? </a:t>
            </a:r>
            <a:endParaRPr lang="ru-RU" dirty="0">
              <a:effectLst/>
              <a:ea typeface="Aptos" panose="020B00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C76C952D-AB87-41D3-6BDD-BDC394E1D31B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E35B5DFA-3D15-114A-F0F4-C43FC7D7CC67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CA887081-374C-B989-D4C0-A66B7CB8F03D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Laplace Transform and Operational Calculus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484426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E59D1-34B8-BCE8-78BE-C343F9A06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12480B-804C-032A-B8E9-025D51A49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0E0F18-BF40-9B3A-1E81-7162452591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28376" cy="4351338"/>
          </a:xfrm>
        </p:spPr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effectLst/>
                <a:ea typeface="Aptos" panose="020B0004020202020204" pitchFamily="34" charset="0"/>
              </a:rPr>
              <a:t>Solving high-order differential equations becomes extremely difficult and prone to algebraic errors.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ea typeface="Aptos" panose="020B0004020202020204" pitchFamily="34" charset="0"/>
              </a:rPr>
              <a:t>Today, we introduce a powerful mathematical tool that simplifies these problems: The Laplace Transform. </a:t>
            </a:r>
            <a:endParaRPr lang="ru-RU" dirty="0">
              <a:effectLst/>
              <a:ea typeface="Aptos" panose="020B00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24871C9A-F906-461A-52A5-DE9234FEAD01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E0A1F4FF-FE45-F7CE-2323-4D7BE926483C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DC70AB1B-8441-941E-2C09-29B5EA1F1D9B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Laplace Transform and Operational Calculus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993043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CAE1A-E84E-A32B-5B06-1CCBB883B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7F1EA7-3D23-D5B8-5ED8-5242DB53A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B0E37C-8968-513C-2199-F0E460D69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28376" cy="4351338"/>
          </a:xfrm>
        </p:spPr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effectLst/>
                <a:ea typeface="Aptos" panose="020B0004020202020204" pitchFamily="34" charset="0"/>
              </a:rPr>
              <a:t>This lecture marks the transition from time-domain analysis to the «S-Domain» or «Complex Frequency Domain».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ea typeface="Aptos" panose="020B0004020202020204" pitchFamily="34" charset="0"/>
              </a:rPr>
              <a:t>Just as logarithms allow us to turn multiplication into addition, the Laplace Transform allows us to turn calculus (differentiation and integration) into simple algebra (multiplication and division).</a:t>
            </a:r>
            <a:endParaRPr lang="ru-RU" dirty="0">
              <a:effectLst/>
              <a:ea typeface="Aptos" panose="020B00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4075E7D4-6D25-837E-47F0-1D42727120EE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03D62A26-1265-6D01-CB7F-8B39368F4F70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8869C526-8AC0-6562-BB9C-0DC5486D8E5B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Laplace Transform and Operational Calculus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586999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E9997-77E5-F182-C613-4290AC9E8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BDEFAF-10CD-5D3D-0D6A-FE9AC5D06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E5DAEFC-8AF5-76B5-5E2F-A1862885C0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628376" cy="4351338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</a:rPr>
                  <a:t>Let us define the core concept.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ea typeface="Aptos" panose="020B0004020202020204" pitchFamily="34" charset="0"/>
                  </a:rPr>
                  <a:t>The Laplace Transform is an integral transformation that converts a function of time,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𝒇</m:t>
                    </m:r>
                    <m:r>
                      <a:rPr lang="en-US" b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𝒕</m:t>
                    </m:r>
                    <m:r>
                      <a:rPr lang="en-US" b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</m:t>
                    </m:r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, into a function of a complex variable,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𝑭</m:t>
                    </m:r>
                    <m:r>
                      <a:rPr lang="en-US" b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𝒔</m:t>
                    </m:r>
                    <m:r>
                      <a:rPr lang="en-US" b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</m:t>
                    </m:r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. </a:t>
                </a:r>
                <a:endParaRPr lang="ru-RU" b="1" dirty="0">
                  <a:effectLst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ea typeface="Aptos" panose="020B0004020202020204" pitchFamily="34" charset="0"/>
                  </a:rPr>
                  <a:t>We denote the operation as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𝓛</m:t>
                    </m:r>
                    <m:r>
                      <a:rPr lang="en-US" b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[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𝒇</m:t>
                    </m:r>
                    <m:r>
                      <a:rPr lang="en-US" b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𝒕</m:t>
                    </m:r>
                    <m:r>
                      <a:rPr lang="en-US" b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)]=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𝑭</m:t>
                    </m:r>
                    <m:r>
                      <a:rPr lang="en-US" b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𝒔</m:t>
                    </m:r>
                    <m:r>
                      <a:rPr lang="en-US" b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</m:t>
                    </m:r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. </a:t>
                </a:r>
                <a:endParaRPr lang="ru-RU" b="1" dirty="0">
                  <a:effectLst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E5DAEFC-8AF5-76B5-5E2F-A1862885C0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628376" cy="4351338"/>
              </a:xfrm>
              <a:blipFill>
                <a:blip r:embed="rId2"/>
                <a:stretch>
                  <a:fillRect l="-1033" t="-140" r="-11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717E10A-0F52-46A2-FAA0-BD208E0AFB42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99BB4CBF-C015-1FFA-0013-1E66BC1A9CB1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216D25CA-EF1D-A9D9-09D9-4C5B2B40D8ED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Laplace Transform and Operational Calculus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742478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30F3A-FC08-D7A0-B25C-434ED3B74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57F209-3FF2-F11E-7313-58B1B0664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671DC0E-6266-7971-572C-0D74ED8DA3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628376" cy="4351338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ea typeface="Aptos" panose="020B0004020202020204" pitchFamily="34" charset="0"/>
                  </a:rPr>
                  <a:t>The definition integral is:</a:t>
                </a:r>
                <a:endParaRPr lang="ru-RU" b="1" dirty="0">
                  <a:effectLst/>
                  <a:ea typeface="Aptos" panose="020B0004020202020204" pitchFamily="34" charset="0"/>
                </a:endParaRP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𝑭</m:t>
                      </m:r>
                      <m:d>
                        <m:d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𝒔</m:t>
                          </m:r>
                        </m:e>
                      </m:d>
                      <m:r>
                        <a:rPr lang="en-US" b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b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𝒇</m:t>
                          </m:r>
                        </m:e>
                      </m:nary>
                      <m:d>
                        <m:d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𝒕</m:t>
                          </m:r>
                        </m:e>
                      </m:d>
                      <m:sSup>
                        <m:sSup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𝒔𝒕</m:t>
                          </m:r>
                        </m:sup>
                      </m:sSup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𝒅𝒕</m:t>
                      </m:r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ru-RU" b="1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ea typeface="Aptos" panose="020B0004020202020204" pitchFamily="34" charset="0"/>
                  </a:rPr>
                  <a:t>The variable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𝒔</m:t>
                    </m:r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 is a complex frequency, defined as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𝒔</m:t>
                    </m:r>
                    <m:r>
                      <a:rPr lang="en-US" b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𝝈</m:t>
                    </m:r>
                    <m:r>
                      <a:rPr lang="en-US" b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+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𝒋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𝝎</m:t>
                    </m:r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.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</a:rPr>
                  <a:t>Here, σ (sigma) represents a real growth or decay factor, and ω (omega) represents the angular frequency of oscillation.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</a:rPr>
                  <a:t>Why do we do this?  </a:t>
                </a:r>
                <a:endParaRPr lang="ru-RU" dirty="0">
                  <a:effectLst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671DC0E-6266-7971-572C-0D74ED8DA3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628376" cy="4351338"/>
              </a:xfrm>
              <a:blipFill>
                <a:blip r:embed="rId2"/>
                <a:stretch>
                  <a:fillRect l="-1033" t="-140" r="-11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BCB93B4F-A68D-B55F-CB14-C5E97B22C848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AB1ACA78-F241-20CB-3E93-E927670A2FBF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8B8BFD6D-805B-3BC5-8BBE-51308376C493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Laplace Transform and Operational Calculus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4269614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6A168-B563-44D9-5516-90810D819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CF4053-2F5F-8A67-EE6C-E1D349D1D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AB8DAE-3947-E0B3-972B-9FE771D6D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28376" cy="4351338"/>
          </a:xfrm>
        </p:spPr>
        <p:txBody>
          <a:bodyPr>
            <a:noAutofit/>
          </a:bodyPr>
          <a:lstStyle/>
          <a:p>
            <a:r>
              <a:rPr lang="en-US" b="1" dirty="0"/>
              <a:t>In the time domain, circuits are described by differential equations. </a:t>
            </a:r>
            <a:endParaRPr lang="ru-RU" b="1" dirty="0"/>
          </a:p>
          <a:p>
            <a:r>
              <a:rPr lang="en-US" b="1" dirty="0"/>
              <a:t>In the s-domain, these same circuits are described by algebraic polynomial equations.</a:t>
            </a:r>
            <a:endParaRPr lang="ru-RU" b="1" dirty="0"/>
          </a:p>
          <a:p>
            <a:r>
              <a:rPr lang="en-US" b="1" dirty="0"/>
              <a:t>Solving a polynomial is much easier than solving a differential equation. </a:t>
            </a:r>
            <a:endParaRPr lang="ru-RU" b="1" dirty="0"/>
          </a:p>
          <a:p>
            <a:r>
              <a:rPr lang="en-US" b="1" dirty="0"/>
              <a:t>Once we solve the algebra in the s-domain, we use the Inverse Laplace Transform to convert the answer back to the time domain.</a:t>
            </a:r>
            <a:endParaRPr lang="ru-RU" b="1" dirty="0"/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18360850-A017-7C92-E4DF-0B5968F35A18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357536D9-F42B-734A-72C4-517E414FD43C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9216F287-8C04-6987-83F5-FEE18435AF51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Laplace Transform and Operational Calculus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292397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4B713-6DC0-CEA9-9B1D-561B701CA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6CE422-C0DE-2D63-ADBA-A88D4C3F4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43D02DB-3B06-FEB7-C339-040C68B909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628376" cy="4351338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We do not need to calculate the integral every time.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Instead, we memorize the transforms of the most common signals used in engineering.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Here are the fundamental Transform Pairs: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marL="342900" lvl="0" indent="-342900" algn="just">
                  <a:lnSpc>
                    <a:spcPct val="120000"/>
                  </a:lnSpc>
                  <a:buFont typeface="Symbol" panose="05050102010706020507" pitchFamily="18" charset="2"/>
                  <a:buChar char=""/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the Unit Step Function: If </a:t>
                </a:r>
                <a14:m>
                  <m:oMath xmlns:m="http://schemas.openxmlformats.org/officeDocument/2006/math"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𝑓</m:t>
                    </m:r>
                    <m:r>
                      <a:rPr lang="en-US" b="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𝑡</m:t>
                    </m:r>
                    <m:r>
                      <a:rPr lang="en-US" b="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)=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𝑢</m:t>
                    </m:r>
                    <m:r>
                      <a:rPr lang="en-US" b="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𝑡</m:t>
                    </m:r>
                    <m:r>
                      <a:rPr lang="en-US" b="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(a constant 1 starting at </a:t>
                </a:r>
                <a14:m>
                  <m:oMath xmlns:m="http://schemas.openxmlformats.org/officeDocument/2006/math"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𝑡</m:t>
                    </m:r>
                    <m:r>
                      <a:rPr lang="en-US" b="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0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), </a:t>
                </a:r>
                <a14:m>
                  <m:oMath xmlns:m="http://schemas.openxmlformats.org/officeDocument/2006/math"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𝐹</m:t>
                    </m:r>
                    <m:r>
                      <a:rPr lang="en-US" b="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𝑠</m:t>
                    </m:r>
                    <m:r>
                      <a:rPr lang="en-US" b="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)=</m:t>
                    </m:r>
                    <m:f>
                      <m:f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;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marL="342900" lvl="0" indent="-342900" algn="just">
                  <a:lnSpc>
                    <a:spcPct val="120000"/>
                  </a:lnSpc>
                  <a:buFont typeface="Symbol" panose="05050102010706020507" pitchFamily="18" charset="2"/>
                  <a:buChar char=""/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the Unit Impulse Function: If </a:t>
                </a:r>
                <a14:m>
                  <m:oMath xmlns:m="http://schemas.openxmlformats.org/officeDocument/2006/math"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𝑓</m:t>
                    </m:r>
                    <m:r>
                      <a:rPr lang="en-US" b="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𝑡</m:t>
                    </m:r>
                    <m:r>
                      <a:rPr lang="en-US" b="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)=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𝛿</m:t>
                    </m:r>
                    <m:r>
                      <a:rPr lang="en-US" b="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𝑡</m:t>
                    </m:r>
                    <m:r>
                      <a:rPr lang="en-US" b="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𝐹</m:t>
                    </m:r>
                    <m:r>
                      <a:rPr lang="en-US" b="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𝑠</m:t>
                    </m:r>
                    <m:r>
                      <a:rPr lang="en-US" b="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)=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1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;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43D02DB-3B06-FEB7-C339-040C68B909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628376" cy="4351338"/>
              </a:xfrm>
              <a:blipFill>
                <a:blip r:embed="rId2"/>
                <a:stretch>
                  <a:fillRect l="-1205" t="-560" r="-1147" b="-39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20D12289-9B45-4D64-19A9-927FDD9C7E97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E073E458-7A20-307B-86C0-4F87DA676444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0482684C-F67A-144A-BC94-3B0DAB1BFD59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Laplace Transform and Operational Calculus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726082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AAA93-B967-B2C8-DB25-EEFDEC2A8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B096B7-3EE6-8F2A-7AE4-CF9A07D4A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B98233E-9D19-A3EA-2F1A-CA4E47C657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628376" cy="4351338"/>
              </a:xfrm>
            </p:spPr>
            <p:txBody>
              <a:bodyPr>
                <a:noAutofit/>
              </a:bodyPr>
              <a:lstStyle/>
              <a:p>
                <a:pPr marL="342900" lvl="0" indent="-342900" algn="just">
                  <a:lnSpc>
                    <a:spcPct val="120000"/>
                  </a:lnSpc>
                  <a:buFont typeface="Symbol" panose="05050102010706020507" pitchFamily="18" charset="2"/>
                  <a:buChar char=""/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the Exponential Function: If </a:t>
                </a:r>
                <a14:m>
                  <m:oMath xmlns:m="http://schemas.openxmlformats.org/officeDocument/2006/math"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𝑓</m:t>
                    </m:r>
                    <m:r>
                      <a:rPr lang="en-US" b="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𝑡</m:t>
                    </m:r>
                    <m:r>
                      <a:rPr lang="en-US" b="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)=</m:t>
                    </m:r>
                    <m:sSup>
                      <m:sSup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−</m:t>
                        </m:r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𝑎𝑡</m:t>
                        </m:r>
                      </m:sup>
                    </m:sSup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𝑢</m:t>
                    </m:r>
                    <m:r>
                      <a:rPr lang="en-US" b="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𝑡</m:t>
                    </m:r>
                    <m:r>
                      <a:rPr lang="en-US" b="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𝐹</m:t>
                    </m:r>
                    <m:r>
                      <a:rPr lang="en-US" b="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𝑠</m:t>
                    </m:r>
                    <m:r>
                      <a:rPr lang="en-US" b="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)=</m:t>
                    </m:r>
                    <m:f>
                      <m:f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𝑠</m:t>
                        </m:r>
                        <m:r>
                          <a:rPr lang="en-US" b="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+</m:t>
                        </m:r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; (this is the most common form in circuit analysis);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marL="342900" lvl="0" indent="-342900" algn="just">
                  <a:lnSpc>
                    <a:spcPct val="120000"/>
                  </a:lnSpc>
                  <a:buFont typeface="Symbol" panose="05050102010706020507" pitchFamily="18" charset="2"/>
                  <a:buChar char=""/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the Ramp Function: If </a:t>
                </a:r>
                <a14:m>
                  <m:oMath xmlns:m="http://schemas.openxmlformats.org/officeDocument/2006/math"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𝑓</m:t>
                    </m:r>
                    <m:r>
                      <a:rPr lang="en-US" b="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𝑡</m:t>
                    </m:r>
                    <m:r>
                      <a:rPr lang="en-US" b="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)=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𝑡𝑢</m:t>
                    </m:r>
                    <m:r>
                      <a:rPr lang="en-US" b="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𝑡</m:t>
                    </m:r>
                    <m:r>
                      <a:rPr lang="en-US" b="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𝐹</m:t>
                    </m:r>
                    <m:r>
                      <a:rPr lang="en-US" b="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𝑠</m:t>
                    </m:r>
                    <m:r>
                      <a:rPr lang="en-US" b="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)=</m:t>
                    </m:r>
                    <m:f>
                      <m:f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ru-RU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b="0" i="1" smtClean="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.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B98233E-9D19-A3EA-2F1A-CA4E47C657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628376" cy="4351338"/>
              </a:xfrm>
              <a:blipFill>
                <a:blip r:embed="rId2"/>
                <a:stretch>
                  <a:fillRect l="-1205" r="-11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26ED8580-1CB9-8EA6-3AAD-6A9D4D900A97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579D42E8-B031-B622-C910-F3E6EAD433C1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DE10A88E-D1E6-6456-EC1A-67A9F2AD4733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Laplace Transform and Operational Calculus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998941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0E69B-E862-8693-CEA8-1027B5CAC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58656C-E68F-2C3A-743D-9F55FCB9C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A2FDBEF-4C65-953F-BD8A-3E0C5602D1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628376" cy="4351338"/>
              </a:xfrm>
            </p:spPr>
            <p:txBody>
              <a:bodyPr>
                <a:noAutofit/>
              </a:bodyPr>
              <a:lstStyle/>
              <a:p>
                <a:r>
                  <a:rPr lang="en-US" dirty="0"/>
                  <a:t>Now we look at the properties that make this method useful for solving circuits. </a:t>
                </a:r>
              </a:p>
              <a:p>
                <a:r>
                  <a:rPr lang="en-US" dirty="0"/>
                  <a:t>The most important property is the Differentiation Property. </a:t>
                </a:r>
              </a:p>
              <a:p>
                <a:r>
                  <a:rPr lang="en-US" b="1" dirty="0"/>
                  <a:t>Differentiation in time corresponds to multiplication by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en-US" b="1" dirty="0"/>
                  <a:t> in the s-domain.</a:t>
                </a:r>
                <a:endParaRPr lang="ru-RU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𝓛</m:t>
                      </m:r>
                      <m:d>
                        <m:dPr>
                          <m:begChr m:val="["/>
                          <m:endChr m:val="]"/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ru-RU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𝒅𝒇</m:t>
                              </m:r>
                              <m:r>
                                <a:rPr lang="en-US" b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US" b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𝒅𝒕</m:t>
                              </m:r>
                            </m:den>
                          </m:f>
                        </m:e>
                      </m:d>
                      <m:r>
                        <a:rPr lang="en-US" b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𝒔𝑭</m:t>
                      </m:r>
                      <m:d>
                        <m:d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ru-RU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p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b="1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A2FDBEF-4C65-953F-BD8A-3E0C5602D1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628376" cy="4351338"/>
              </a:xfrm>
              <a:blipFill>
                <a:blip r:embed="rId2"/>
                <a:stretch>
                  <a:fillRect l="-1033" t="-2381" r="-80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D25FE268-ED9E-A6EF-C041-CC8CA1FB13CE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35DD57CF-FDFC-4AB7-3BDD-8CD180ED69BE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BC1AEC6B-5C02-D69F-720B-9EE4A59DACAA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Laplace Transform and Operational Calculus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42677071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0050F-C61B-C701-B56C-111597DCC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F359A3-8A98-87F6-FCCD-5AE52AB24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96FEAAD-CE30-DCD2-4AEE-2EB328F642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628376" cy="4351338"/>
              </a:xfrm>
            </p:spPr>
            <p:txBody>
              <a:bodyPr>
                <a:noAutofit/>
              </a:bodyPr>
              <a:lstStyle/>
              <a:p>
                <a:r>
                  <a:rPr lang="en-US" b="1" dirty="0"/>
                  <a:t>Notice the term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a:rPr lang="en-US" b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. This represents the initial condition. </a:t>
                </a:r>
              </a:p>
              <a:p>
                <a:r>
                  <a:rPr lang="en-US" dirty="0"/>
                  <a:t>This is why the Laplace Transform is superior to phasor analysis for transient problems. </a:t>
                </a:r>
                <a:endParaRPr lang="ru-RU" dirty="0"/>
              </a:p>
              <a:p>
                <a:r>
                  <a:rPr lang="en-US" b="1" dirty="0"/>
                  <a:t>Laplace Transform automatically includes the initial conditions (stored energy) in the equation itself.</a:t>
                </a:r>
                <a:endParaRPr lang="ru-RU" b="1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96FEAAD-CE30-DCD2-4AEE-2EB328F642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628376" cy="4351338"/>
              </a:xfrm>
              <a:blipFill>
                <a:blip r:embed="rId2"/>
                <a:stretch>
                  <a:fillRect l="-1033" t="-2381" r="-15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8443BE87-BB34-326B-4ED0-ABE607702A43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D450537D-D1F0-A67F-9825-FAB864772273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2D35AF87-13B5-91AF-5FE6-0094F8D3EB5B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Laplace Transform and Operational Calculus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1751188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BE1C5-6544-85B9-E630-BA2062E8D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EC423B-9032-F37D-17C6-6CEBBBEDB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57E75AB-552A-09ED-9F21-676197966D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628376" cy="4351338"/>
              </a:xfrm>
            </p:spPr>
            <p:txBody>
              <a:bodyPr>
                <a:noAutofit/>
              </a:bodyPr>
              <a:lstStyle/>
              <a:p>
                <a:r>
                  <a:rPr lang="en-US" b="1" dirty="0"/>
                  <a:t>If the initial condition is zero (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a:rPr lang="en-US" b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b="1" dirty="0"/>
                  <a:t>), the formula simplifies to:</a:t>
                </a:r>
                <a:endParaRPr lang="ru-RU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𝓛</m:t>
                      </m:r>
                      <m:d>
                        <m:dPr>
                          <m:begChr m:val="["/>
                          <m:endChr m:val="]"/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ru-RU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𝒅𝒇</m:t>
                              </m:r>
                              <m:r>
                                <a:rPr lang="en-US" b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US" b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𝒅𝒕</m:t>
                              </m:r>
                            </m:den>
                          </m:f>
                        </m:e>
                      </m:d>
                      <m:r>
                        <a:rPr lang="en-US" b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𝒔𝑭</m:t>
                      </m:r>
                      <m:r>
                        <a:rPr lang="en-US" b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b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b="1" dirty="0"/>
              </a:p>
              <a:p>
                <a:r>
                  <a:rPr lang="en-US" b="1" dirty="0"/>
                  <a:t>Similarly, Integration in time corresponds to division by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en-US" b="1" dirty="0"/>
                  <a:t>.</a:t>
                </a:r>
                <a:endParaRPr lang="ru-RU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𝓛</m:t>
                      </m:r>
                      <m:d>
                        <m:dPr>
                          <m:begChr m:val="["/>
                          <m:endChr m:val="]"/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limLoc m:val="subSup"/>
                              <m:ctrlPr>
                                <a:rPr lang="ru-RU" b="1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p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</m:nary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𝝉</m:t>
                          </m:r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𝒅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𝝉</m:t>
                          </m:r>
                        </m:e>
                      </m:d>
                      <m:r>
                        <a:rPr lang="en-US" b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𝑭</m:t>
                          </m:r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𝒔</m:t>
                          </m:r>
                        </m:den>
                      </m:f>
                      <m:r>
                        <a:rPr lang="en-US" b="1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b="1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57E75AB-552A-09ED-9F21-676197966D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628376" cy="4351338"/>
              </a:xfrm>
              <a:blipFill>
                <a:blip r:embed="rId2"/>
                <a:stretch>
                  <a:fillRect l="-1033" t="-2381" r="-126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84854ED5-0278-4644-636D-D8B30FC7D2F0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BBDB8EEE-BDE1-4FB8-262B-C9A3B9D5F5B1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83EC896D-96CD-94B0-863B-2540E8349332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Laplace Transform and Operational Calculus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6839297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38067-B43B-DD6D-90D1-CC2EC8629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B66CE6-DDCC-3F3A-CCD6-900C4FA23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845E10-68CA-FD6F-66E1-FF934A98A3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28376" cy="4351338"/>
          </a:xfrm>
        </p:spPr>
        <p:txBody>
          <a:bodyPr>
            <a:noAutofit/>
          </a:bodyPr>
          <a:lstStyle/>
          <a:p>
            <a:r>
              <a:rPr lang="en-US" dirty="0"/>
              <a:t>We can now apply these properties to our circuit elements: Resistors, Inductors, and Capacitors. </a:t>
            </a:r>
          </a:p>
          <a:p>
            <a:r>
              <a:rPr lang="en-US" dirty="0"/>
              <a:t> We will create «S-Domain Models» for each component. </a:t>
            </a:r>
            <a:endParaRPr lang="ru-RU" dirty="0"/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7187D6BF-BB80-BA02-C896-9C9BDE212E4C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7E8D64D1-399C-7627-38C5-BD59FF4C5FBF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2C9BD5DB-052E-B84D-91D3-852D4E10DD05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Laplace Transform and Operational Calculus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441416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0C1EC-A430-03B8-076A-CB7AE4617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4FB2E9-A31B-AE63-48D4-54003D2BE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CD2E145-EBDB-7B27-67C1-E863EBCE01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628376" cy="4351338"/>
              </a:xfrm>
            </p:spPr>
            <p:txBody>
              <a:bodyPr>
                <a:noAutofit/>
              </a:bodyPr>
              <a:lstStyle/>
              <a:p>
                <a:r>
                  <a:rPr lang="en-US" b="1" dirty="0"/>
                  <a:t>1. The Resistor in the S-Domain</a:t>
                </a:r>
                <a:r>
                  <a:rPr lang="en-US" dirty="0"/>
                  <a:t>. Ohm's Law in time is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𝑅𝑖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). </m:t>
                    </m:r>
                  </m:oMath>
                </a14:m>
                <a:r>
                  <a:rPr lang="en-US" dirty="0"/>
                  <a:t>Since R is a constant, the transform is simply: </a:t>
                </a:r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𝑅𝐼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dirty="0"/>
              </a:p>
              <a:p>
                <a:r>
                  <a:rPr lang="en-US" b="1" dirty="0"/>
                  <a:t>The resistance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en-US" b="1" dirty="0"/>
                  <a:t> remains unchanged in the s-domain. </a:t>
                </a:r>
                <a:endParaRPr lang="ru-RU" b="1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CD2E145-EBDB-7B27-67C1-E863EBCE01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628376" cy="4351338"/>
              </a:xfrm>
              <a:blipFill>
                <a:blip r:embed="rId2"/>
                <a:stretch>
                  <a:fillRect l="-1033" t="-23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0043D46B-E8B0-EFDD-42D9-33E047333863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AF518E10-871B-CD54-D866-B15D154BA009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6FD982FA-32B6-ABB6-D230-1DEC04380494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Laplace Transform and Operational Calculus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9110908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866D1-5FFA-723F-9E89-05740372C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0CBE34-D534-1E45-A46D-9DDFEE1DB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302B128-5100-9C6B-BE28-2CA0BC4024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9097" y="1825625"/>
                <a:ext cx="11061289" cy="4351338"/>
              </a:xfrm>
            </p:spPr>
            <p:txBody>
              <a:bodyPr>
                <a:noAutofit/>
              </a:bodyPr>
              <a:lstStyle/>
              <a:p>
                <a:r>
                  <a:rPr lang="en-US" b="1" dirty="0"/>
                  <a:t>2. The Inductor in the S-Domain</a:t>
                </a:r>
                <a:r>
                  <a:rPr lang="en-US" dirty="0"/>
                  <a:t>. </a:t>
                </a:r>
              </a:p>
              <a:p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The time domain equation is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𝑣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𝑡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)=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𝐿</m:t>
                    </m:r>
                    <m:f>
                      <m:f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fPr>
                      <m:num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𝑑𝑖</m:t>
                        </m:r>
                        <m:r>
                          <a:rPr lang="en-US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(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𝑡</m:t>
                        </m:r>
                        <m:r>
                          <a:rPr lang="en-US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. </a:t>
                </a:r>
              </a:p>
              <a:p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Using the differentiation property:</a:t>
                </a:r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begChr m:val="["/>
                          <m:endChr m:val="]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𝑠𝐼</m:t>
                          </m:r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105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𝑽</m:t>
                      </m:r>
                      <m:d>
                        <m:d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</m:d>
                      <m:r>
                        <a:rPr lang="en-US" b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𝒔𝑳𝑰</m:t>
                      </m:r>
                      <m:d>
                        <m:d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𝑳𝒊</m:t>
                      </m:r>
                      <m:d>
                        <m:d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ru-RU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sup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p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b="1" dirty="0"/>
              </a:p>
              <a:p>
                <a:r>
                  <a:rPr lang="en-US" dirty="0"/>
                  <a:t>This looks like Ohm's Law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𝑍𝐼</m:t>
                    </m:r>
                  </m:oMath>
                </a14:m>
                <a:r>
                  <a:rPr lang="en-US" dirty="0"/>
                  <a:t>) with an extra voltage source. </a:t>
                </a:r>
                <a:endParaRPr lang="ru-RU" dirty="0"/>
              </a:p>
              <a:p>
                <a:r>
                  <a:rPr lang="en-US" b="1" dirty="0"/>
                  <a:t>The term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𝒔𝑳</m:t>
                    </m:r>
                  </m:oMath>
                </a14:m>
                <a:r>
                  <a:rPr lang="en-US" b="1" dirty="0"/>
                  <a:t> is the «Impedance» of the inductor in the s-domain. </a:t>
                </a:r>
                <a:endParaRPr lang="ru-RU" b="1" dirty="0"/>
              </a:p>
              <a:p>
                <a:r>
                  <a:rPr lang="en-US" b="1" dirty="0"/>
                  <a:t>The term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𝑳𝒊</m:t>
                    </m:r>
                    <m:r>
                      <a:rPr lang="en-US" b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a:rPr lang="en-US" b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 is modeled as an independent voltage source in series with the inductor, representing the initial magnetic energy.</a:t>
                </a:r>
                <a:endParaRPr lang="ru-RU" b="1" dirty="0"/>
              </a:p>
              <a:p>
                <a:pPr marL="0" indent="0">
                  <a:buNone/>
                </a:pPr>
                <a:endParaRPr lang="ru-RU" b="1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302B128-5100-9C6B-BE28-2CA0BC4024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9097" y="1825625"/>
                <a:ext cx="11061289" cy="4351338"/>
              </a:xfrm>
              <a:blipFill>
                <a:blip r:embed="rId2"/>
                <a:stretch>
                  <a:fillRect l="-992" t="-2381" b="-103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3B7D332B-D258-978C-6345-0DDBA14ABFC9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7633B92A-254A-48DB-30ED-2A6BA2F24238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6FBEC67E-E942-056D-B1F5-E5DBE6F2CE80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Laplace Transform and Operational Calculus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8755325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95F8E-7084-AAF4-31B0-AB9D9CE21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36BE48-EA9F-D69B-AE9F-999D85555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DD7C533D-A010-2CCB-AA67-E448014192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628376" cy="4351338"/>
              </a:xfrm>
            </p:spPr>
            <p:txBody>
              <a:bodyPr>
                <a:noAutofit/>
              </a:bodyPr>
              <a:lstStyle/>
              <a:p>
                <a:r>
                  <a:rPr lang="en-US" b="1" dirty="0"/>
                  <a:t>3. The Capacitor in the S-Domain. </a:t>
                </a: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The time domain equation is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𝑖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𝑡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)=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𝐶</m:t>
                    </m:r>
                    <m:f>
                      <m:f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fPr>
                      <m:num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𝑑𝑣</m:t>
                        </m:r>
                        <m:r>
                          <a:rPr lang="en-US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(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𝑡</m:t>
                        </m:r>
                        <m:r>
                          <a:rPr lang="en-US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. Transforming this:</a:t>
                </a:r>
                <a:endParaRPr lang="ru-RU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begChr m:val="["/>
                          <m:endChr m:val="]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𝑠𝑉</m:t>
                          </m:r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r>
                        <a:rPr lang="en-US" b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ru-RU" b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𝑠𝐶𝑉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𝐶𝑣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p>
                        </m:e>
                      </m:d>
                      <m:r>
                        <a:rPr lang="en-US" b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dirty="0"/>
              </a:p>
              <a:p>
                <a:r>
                  <a:rPr lang="en-US" dirty="0"/>
                  <a:t>Rearranging to find voltage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 </a:t>
                </a:r>
                <a:endParaRPr lang="en-US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𝑽</m:t>
                      </m:r>
                      <m:d>
                        <m:d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</m:d>
                      <m:r>
                        <a:rPr lang="en-US" b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𝒔𝑪</m:t>
                          </m:r>
                        </m:den>
                      </m:f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𝑰</m:t>
                      </m:r>
                      <m:d>
                        <m:d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</m:d>
                      <m:r>
                        <a:rPr lang="en-US" b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  <m:d>
                            <m:dPr>
                              <m:ctrlPr>
                                <a:rPr lang="ru-RU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ru-RU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  <m:sup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den>
                      </m:f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b="1" dirty="0"/>
              </a:p>
              <a:p>
                <a:r>
                  <a:rPr lang="en-US" b="1" dirty="0"/>
                  <a:t>The term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𝒔𝑪</m:t>
                        </m:r>
                      </m:den>
                    </m:f>
                  </m:oMath>
                </a14:m>
                <a:r>
                  <a:rPr lang="en-US" b="1" dirty="0"/>
                  <a:t> is the «Impedance» of the capacitor in the s-domain. </a:t>
                </a:r>
                <a:endParaRPr lang="ru-RU" b="1" dirty="0"/>
              </a:p>
              <a:p>
                <a:r>
                  <a:rPr lang="en-US" b="1" dirty="0"/>
                  <a:t>The term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  <m:r>
                          <a:rPr lang="en-US" b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ru-RU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  <m:sup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  <m:r>
                          <a:rPr lang="en-US" b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𝒔</m:t>
                        </m:r>
                      </m:den>
                    </m:f>
                  </m:oMath>
                </a14:m>
                <a:r>
                  <a:rPr lang="en-US" b="1" dirty="0"/>
                  <a:t> is modeled as an independent voltage source in series with the capacitor. </a:t>
                </a:r>
                <a:endParaRPr lang="ru-RU" b="1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DD7C533D-A010-2CCB-AA67-E448014192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628376" cy="4351338"/>
              </a:xfrm>
              <a:blipFill>
                <a:blip r:embed="rId2"/>
                <a:stretch>
                  <a:fillRect l="-1033" t="-2801" b="-1456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6510D657-F2C9-AA7D-540A-60E0078A7236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6B3D7ECC-23A3-4D5C-2936-87F6FE983480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E11E3DFA-AB97-833A-2F31-FB0B97F504AB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Laplace Transform and Operational Calculus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5019650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FF2B1-FA1F-181C-5240-6DB434458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959DF9-04D5-5AEC-2E8A-259118ADC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3B6DD8-019B-8502-58F3-2ED6EFB57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28376" cy="4351338"/>
          </a:xfrm>
        </p:spPr>
        <p:txBody>
          <a:bodyPr>
            <a:noAutofit/>
          </a:bodyPr>
          <a:lstStyle/>
          <a:p>
            <a:r>
              <a:rPr lang="en-US" dirty="0"/>
              <a:t>Important Note: The polarity of these initial condition sources must be drawn carefully. </a:t>
            </a:r>
          </a:p>
          <a:p>
            <a:r>
              <a:rPr lang="en-US" dirty="0"/>
              <a:t>The source opposes the discharge of current.</a:t>
            </a:r>
          </a:p>
          <a:p>
            <a:endParaRPr lang="en-US" dirty="0"/>
          </a:p>
          <a:p>
            <a:r>
              <a:rPr lang="en-US" dirty="0"/>
              <a:t>Now we have a complete method for solving any linear circuit, called Operational Calculus. </a:t>
            </a:r>
            <a:endParaRPr lang="ru-RU" dirty="0"/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1F99EF82-7B1A-2772-9491-388C5212F495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3448ED98-3B9C-2606-96BD-CC9C2CF957F9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5DE7C4E8-0335-FFBB-9E84-B5B7C1B9197A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Laplace Transform and Operational Calculus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607401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BD690-7AF5-BE1F-0111-ECE041B1A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203096-900E-ED58-D2E0-00F4607E5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83F85D0-A418-C870-1439-CD5A3D3A03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628376" cy="4351338"/>
              </a:xfrm>
            </p:spPr>
            <p:txBody>
              <a:bodyPr>
                <a:noAutofit/>
              </a:bodyPr>
              <a:lstStyle/>
              <a:p>
                <a:r>
                  <a:rPr lang="en-US" b="1" dirty="0"/>
                  <a:t>The Algorithm of Operational Calculus for Circuit Analysis in the S-Domain:</a:t>
                </a:r>
                <a:endParaRPr lang="ru-RU" b="1" dirty="0"/>
              </a:p>
              <a:p>
                <a:r>
                  <a:rPr lang="en-US" b="1" dirty="0"/>
                  <a:t>1. Determine the initial conditions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𝑳</m:t>
                        </m:r>
                      </m:sub>
                    </m:sSub>
                    <m:r>
                      <a:rPr lang="en-US" b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a:rPr lang="en-US" b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sub>
                    </m:sSub>
                    <m:r>
                      <a:rPr lang="en-US" b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a:rPr lang="en-US" b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 from the time-domain circuit at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b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b="1" dirty="0"/>
                  <a:t>. </a:t>
                </a:r>
                <a:endParaRPr lang="ru-RU" b="1" dirty="0"/>
              </a:p>
              <a:p>
                <a:r>
                  <a:rPr lang="en-US" b="1" dirty="0"/>
                  <a:t>2. Draw the S-Domain Equivalent Circuit.</a:t>
                </a:r>
              </a:p>
              <a:p>
                <a:pPr marL="342900" lvl="0" indent="-342900" algn="just">
                  <a:lnSpc>
                    <a:spcPct val="120000"/>
                  </a:lnSpc>
                  <a:buFont typeface="Symbol" panose="05050102010706020507" pitchFamily="18" charset="2"/>
                  <a:buChar char=""/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replace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𝐿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with impedance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𝑠𝐿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and a series source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𝐿𝑖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sSup>
                      <m:sSup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0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−</m:t>
                        </m:r>
                      </m:sup>
                    </m:sSup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;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marL="342900" lvl="0" indent="-342900" algn="just">
                  <a:lnSpc>
                    <a:spcPct val="120000"/>
                  </a:lnSpc>
                  <a:buFont typeface="Symbol" panose="05050102010706020507" pitchFamily="18" charset="2"/>
                  <a:buChar char=""/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replace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𝐶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with impedance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fPr>
                      <m:num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𝑠𝐶</m:t>
                        </m:r>
                      </m:den>
                    </m:f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and a series source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fPr>
                      <m:num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𝑣</m:t>
                        </m:r>
                        <m:r>
                          <a:rPr lang="en-US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(</m:t>
                        </m:r>
                        <m:sSup>
                          <m:sSupPr>
                            <m:ctrlPr>
                              <a:rPr lang="ru-RU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  <m:t>−</m:t>
                            </m:r>
                          </m:sup>
                        </m:sSup>
                        <m:r>
                          <a:rPr lang="en-US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;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83F85D0-A418-C870-1439-CD5A3D3A03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628376" cy="4351338"/>
              </a:xfrm>
              <a:blipFill>
                <a:blip r:embed="rId2"/>
                <a:stretch>
                  <a:fillRect l="-1205" t="-23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778330BB-2002-C8F6-6C4A-2ECCA7B8EE11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BF5ECB14-25E9-6467-AFB0-96A192587C3E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1E17234B-78A4-CC15-3DF6-60C3DFB0E644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Laplace Transform and Operational Calculus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0161193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70391-9460-D24F-3E25-E177C1B8A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99D6A9-9515-1327-8DB9-6D2585DA0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8EEA3B5-8DDF-8833-94A2-536577B98A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628376" cy="4351338"/>
              </a:xfrm>
            </p:spPr>
            <p:txBody>
              <a:bodyPr>
                <a:noAutofit/>
              </a:bodyPr>
              <a:lstStyle/>
              <a:p>
                <a:pPr>
                  <a:buFont typeface="Symbol" panose="05050102010706020507" pitchFamily="18" charset="2"/>
                  <a:buChar char=""/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replace independent sources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𝑣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𝑡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𝑖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𝑡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with their transforms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𝑉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𝑠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𝐼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𝑠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(e.g.,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10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𝑉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→</m:t>
                    </m:r>
                    <m:f>
                      <m:f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fPr>
                      <m:num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10</m:t>
                        </m:r>
                      </m:num>
                      <m:den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). </a:t>
                </a:r>
                <a:endParaRPr lang="en-US" b="1" dirty="0"/>
              </a:p>
              <a:p>
                <a:r>
                  <a:rPr lang="en-US" b="1" dirty="0"/>
                  <a:t>3. Solve the circuit using standard DC techniques. </a:t>
                </a:r>
                <a:endParaRPr lang="ru-RU" b="1" dirty="0"/>
              </a:p>
              <a:p>
                <a:r>
                  <a:rPr lang="en-US" b="1" dirty="0"/>
                  <a:t>You can use Nodal Analysis, Mesh Analysis, Superposition, or Source Transformation. </a:t>
                </a:r>
              </a:p>
              <a:p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Treat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𝑠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as just a number or variable in your algebra. </a:t>
                </a:r>
              </a:p>
              <a:p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The result will be an equation for the unknown variable, say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𝑜𝑢𝑡</m:t>
                        </m:r>
                      </m:sub>
                    </m:sSub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𝑠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.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8EEA3B5-8DDF-8833-94A2-536577B98A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628376" cy="4351338"/>
              </a:xfrm>
              <a:blipFill>
                <a:blip r:embed="rId2"/>
                <a:stretch>
                  <a:fillRect l="-1205" t="-25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6A2A4744-B74C-0578-9A12-871FEE092002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A86C3BA5-D840-1C88-7C73-634BA19DBCB0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124711AC-7191-15E7-F776-8E08BACA4E53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Laplace Transform and Operational Calculus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7004609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A90AD-C9E5-23F8-7E13-4407271F4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95E4D1-4072-B970-9E0D-9F16BC78F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1578EEC-CABA-9B0B-335F-DB6521F416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628376" cy="4351338"/>
              </a:xfrm>
            </p:spPr>
            <p:txBody>
              <a:bodyPr>
                <a:noAutofit/>
              </a:bodyPr>
              <a:lstStyle/>
              <a:p>
                <a:r>
                  <a:rPr lang="en-US" dirty="0"/>
                  <a:t>Let's try a conceptual example. </a:t>
                </a:r>
              </a:p>
              <a:p>
                <a:r>
                  <a:rPr lang="en-US" dirty="0"/>
                  <a:t>Consider a series R-L circuit connected to a DC voltage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𝑑𝑐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br>
                  <a:rPr lang="en-US" dirty="0"/>
                </a:br>
                <a:r>
                  <a:rPr lang="en-US" dirty="0"/>
                  <a:t>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. </a:t>
                </a:r>
              </a:p>
              <a:p>
                <a:r>
                  <a:rPr lang="en-US" dirty="0"/>
                  <a:t>Initial current is zero. </a:t>
                </a: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1578EEC-CABA-9B0B-335F-DB6521F416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628376" cy="4351338"/>
              </a:xfrm>
              <a:blipFill>
                <a:blip r:embed="rId2"/>
                <a:stretch>
                  <a:fillRect l="-1033" t="-23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4A4DEE57-315D-3F64-9D36-9F8BF4482585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301EE647-5757-5B60-9905-57517454B65C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38F840FB-515B-63C6-C095-4FFFBD02741D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Laplace Transform and Operational Calculus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493291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BA7C1-8C6D-5CA8-2606-BB6B845F3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0FCCCE-E0F8-2D7F-D95A-35995CF65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D659A5E1-0AC9-0E90-ECC2-E691A08A4B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628376" cy="4351338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</a:rPr>
                  <a:t>Step 1: Initial current </a:t>
                </a:r>
                <a14:m>
                  <m:oMath xmlns:m="http://schemas.openxmlformats.org/officeDocument/2006/math"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𝑖</m:t>
                    </m:r>
                    <m:r>
                      <a:rPr lang="en-US" b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0</m:t>
                    </m:r>
                    <m:r>
                      <a:rPr lang="en-US" b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)=</m:t>
                    </m:r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0</m:t>
                    </m:r>
                  </m:oMath>
                </a14:m>
                <a:r>
                  <a:rPr lang="en-US" dirty="0">
                    <a:effectLst/>
                    <a:ea typeface="Aptos" panose="020B0004020202020204" pitchFamily="34" charset="0"/>
                  </a:rPr>
                  <a:t>. </a:t>
                </a:r>
                <a:endParaRPr lang="ru-RU" dirty="0">
                  <a:effectLst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</a:rPr>
                  <a:t>Step 2: Transform to S-domain.</a:t>
                </a:r>
              </a:p>
              <a:p>
                <a:pPr marL="342900" lvl="0" indent="-342900" algn="just">
                  <a:lnSpc>
                    <a:spcPct val="120000"/>
                  </a:lnSpc>
                  <a:buFont typeface="Symbol" panose="05050102010706020507" pitchFamily="18" charset="2"/>
                  <a:buChar char=""/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Source becomes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  <m:t>𝑑𝑐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.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marL="342900" lvl="0" indent="-342900" algn="just">
                  <a:lnSpc>
                    <a:spcPct val="120000"/>
                  </a:lnSpc>
                  <a:buFont typeface="Symbol" panose="05050102010706020507" pitchFamily="18" charset="2"/>
                  <a:buChar char=""/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Resistor is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𝑅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.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marL="342900" lvl="0" indent="-342900" algn="just">
                  <a:lnSpc>
                    <a:spcPct val="120000"/>
                  </a:lnSpc>
                  <a:buFont typeface="Symbol" panose="05050102010706020507" pitchFamily="18" charset="2"/>
                  <a:buChar char=""/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Inductor is impedance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𝑠𝐿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(no series source because initial current is 0). </a:t>
                </a:r>
                <a:endParaRPr lang="ru-RU" dirty="0">
                  <a:effectLst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D659A5E1-0AC9-0E90-ECC2-E691A08A4B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628376" cy="4351338"/>
              </a:xfrm>
              <a:blipFill>
                <a:blip r:embed="rId2"/>
                <a:stretch>
                  <a:fillRect l="-1205" t="-140" r="-11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6F3081E0-C98A-1145-2042-681427900E40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5742D05A-AF71-6EF2-4088-AF1945DBB6CB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019FF592-333F-529C-9FD2-CD064D993CCF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Laplace Transform and Operational Calculus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2476180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E1258-2231-A2F8-EC88-B526ED773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C90AC9-70D4-BF72-5B55-FEF0DE12A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D337DF36-24B2-BC87-6329-7DF4799E0E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628376" cy="4351338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</a:rPr>
                  <a:t>Step 3: Apply KVL (Mesh Analysis), total Voltage = Current </a:t>
                </a:r>
                <a14:m>
                  <m:oMath xmlns:m="http://schemas.openxmlformats.org/officeDocument/2006/math">
                    <m:r>
                      <a:rPr lang="en-US" b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×</m:t>
                    </m:r>
                  </m:oMath>
                </a14:m>
                <a:r>
                  <a:rPr lang="en-US" dirty="0">
                    <a:effectLst/>
                    <a:ea typeface="Aptos" panose="020B0004020202020204" pitchFamily="34" charset="0"/>
                  </a:rPr>
                  <a:t> Total Impedance:</a:t>
                </a:r>
                <a:endParaRPr lang="ru-RU" dirty="0">
                  <a:effectLst/>
                  <a:ea typeface="Aptos" panose="020B0004020202020204" pitchFamily="34" charset="0"/>
                </a:endParaRPr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𝑑𝑐</m:t>
                              </m:r>
                            </m:sub>
                          </m:sSub>
                        </m:num>
                        <m:den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𝑠</m:t>
                          </m:r>
                        </m:den>
                      </m:f>
                      <m:r>
                        <a:rPr lang="en-US" b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r>
                        <a:rPr lang="en-US" b="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𝐼</m:t>
                      </m:r>
                      <m:d>
                        <m:d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𝑠</m:t>
                          </m:r>
                        </m:e>
                      </m:d>
                      <m:r>
                        <a:rPr lang="en-US" b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×</m:t>
                      </m:r>
                      <m:d>
                        <m:d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𝑅</m:t>
                          </m:r>
                          <m:r>
                            <a:rPr lang="en-US" b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+</m:t>
                          </m:r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𝑠𝐿</m:t>
                          </m:r>
                        </m:e>
                      </m:d>
                      <m:r>
                        <a:rPr lang="en-US" b="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dirty="0">
                  <a:effectLst/>
                  <a:ea typeface="Aptos" panose="020B0004020202020204" pitchFamily="34" charset="0"/>
                </a:endParaRPr>
              </a:p>
              <a:p>
                <a:r>
                  <a:rPr lang="en-US" dirty="0"/>
                  <a:t>Solve for Current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</a:t>
                </a:r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𝑑𝑐</m:t>
                              </m:r>
                            </m:sub>
                          </m:sSub>
                        </m:num>
                        <m:den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𝑠</m:t>
                          </m:r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b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𝑠𝐿</m:t>
                              </m:r>
                            </m:e>
                          </m:d>
                        </m:den>
                      </m:f>
                      <m:r>
                        <a:rPr lang="en-US" b="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dirty="0"/>
              </a:p>
              <a:p>
                <a:r>
                  <a:rPr lang="en-US" dirty="0"/>
                  <a:t>We now have the answer in the S-domain. </a:t>
                </a:r>
              </a:p>
              <a:p>
                <a:r>
                  <a:rPr lang="en-US" dirty="0"/>
                  <a:t>The physics is done; now we only have a math problem to return to the time domain.</a:t>
                </a:r>
                <a:endParaRPr lang="ru-RU" dirty="0"/>
              </a:p>
              <a:p>
                <a:pPr marL="0" indent="0" algn="ctr">
                  <a:lnSpc>
                    <a:spcPct val="120000"/>
                  </a:lnSpc>
                  <a:buNone/>
                </a:pPr>
                <a:endParaRPr lang="ru-RU" dirty="0">
                  <a:effectLst/>
                  <a:ea typeface="Aptos" panose="020B0004020202020204" pitchFamily="34" charset="0"/>
                </a:endParaRPr>
              </a:p>
              <a:p>
                <a:pPr marL="0" indent="0" algn="just">
                  <a:lnSpc>
                    <a:spcPct val="120000"/>
                  </a:lnSpc>
                  <a:buNone/>
                </a:pPr>
                <a:endParaRPr lang="ru-RU" dirty="0">
                  <a:effectLst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D337DF36-24B2-BC87-6329-7DF4799E0E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628376" cy="4351338"/>
              </a:xfrm>
              <a:blipFill>
                <a:blip r:embed="rId2"/>
                <a:stretch>
                  <a:fillRect l="-1033" t="-140" r="-1147" b="-1344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862AB47C-D9B8-1B7A-BEB5-33BEE43D1139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A4677681-D7B5-5F00-7ACF-2CB11F3763E4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6C24B729-BDBF-6BD8-615F-8D1FA77DDC37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Laplace Transform and Operational Calculus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1684517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49003-E382-7C26-0EF3-6340401A8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BA4169-1D87-0217-3B45-4B6AC90F8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5C6B1AE-184D-04C0-D59E-CA96579C6A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628376" cy="4351338"/>
              </a:xfrm>
            </p:spPr>
            <p:txBody>
              <a:bodyPr>
                <a:noAutofit/>
              </a:bodyPr>
              <a:lstStyle/>
              <a:p>
                <a:r>
                  <a:rPr lang="en-US" dirty="0"/>
                  <a:t>To return to the time domain, we use the Inverse Laplace Transform. </a:t>
                </a:r>
                <a:endParaRPr lang="ru-RU" dirty="0"/>
              </a:p>
              <a:p>
                <a:r>
                  <a:rPr lang="en-US" dirty="0"/>
                  <a:t>Usually, our result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a ratio of polynomials, like:</a:t>
                </a:r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r>
                        <a:rPr lang="en-US" b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dirty="0"/>
              </a:p>
              <a:p>
                <a:r>
                  <a:rPr lang="en-US" dirty="0"/>
                  <a:t>To solve this, we use Partial Fraction Expansion. We break the complex fraction into simpler terms:</a:t>
                </a:r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US" b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5C6B1AE-184D-04C0-D59E-CA96579C6A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628376" cy="4351338"/>
              </a:xfrm>
              <a:blipFill>
                <a:blip r:embed="rId2"/>
                <a:stretch>
                  <a:fillRect l="-1033" t="-23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16CF1249-2041-E0F3-2DFF-CE5D295F322A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D1C5A2A0-C8F7-9A2C-36DA-BCA7D192EB82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9F6D8E02-1374-9F83-7046-33DE37FA06B0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Laplace Transform and Operational Calculus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5035571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D41CD-1E09-4959-F3EB-D9E8FD4BF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C1D9E1-4039-8991-63C2-92A3A1009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4395113-54A1-51B4-5CF0-5A486D51B0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28376" cy="4351338"/>
          </a:xfrm>
        </p:spPr>
        <p:txBody>
          <a:bodyPr>
            <a:noAutofit/>
          </a:bodyPr>
          <a:lstStyle/>
          <a:p>
            <a:endParaRPr lang="ru-RU" dirty="0"/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C4B8BFF5-84E2-EF89-EF69-E3208EA39730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F61DB015-0DB9-1427-0D00-7DDB332A928C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22B75108-D36E-737C-6179-906DD19ECEED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Laplace Transform and Operational Calculus</a:t>
              </a:r>
              <a:endParaRPr lang="ru-RU" sz="4000" dirty="0"/>
            </a:p>
          </p:txBody>
        </p:sp>
      </p:grpSp>
      <p:pic>
        <p:nvPicPr>
          <p:cNvPr id="7" name="Picture 2">
            <a:extLst>
              <a:ext uri="{FF2B5EF4-FFF2-40B4-BE49-F238E27FC236}">
                <a16:creationId xmlns:a16="http://schemas.microsoft.com/office/drawing/2014/main" id="{A1C735C0-31A1-8FA0-0756-74CF23F69E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74323" y="2070119"/>
            <a:ext cx="4220156" cy="4220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Объект 2">
            <a:extLst>
              <a:ext uri="{FF2B5EF4-FFF2-40B4-BE49-F238E27FC236}">
                <a16:creationId xmlns:a16="http://schemas.microsoft.com/office/drawing/2014/main" id="{E85CB7A6-42AD-8F07-0A75-72AAC0676565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6034548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 you have any questions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at the moment?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12565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49003-E382-7C26-0EF3-6340401A8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BA4169-1D87-0217-3B45-4B6AC90F8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5C6B1AE-184D-04C0-D59E-CA96579C6A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628376" cy="4351338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10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  <a:cs typeface="Arial" panose="020B0604020202020204" pitchFamily="34" charset="0"/>
                  </a:rPr>
                  <a:t>We must calculate the constants A and B (Residues).</a:t>
                </a:r>
                <a:endParaRPr lang="ru-RU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0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  <a:cs typeface="Arial" panose="020B0604020202020204" pitchFamily="34" charset="0"/>
                  </a:rPr>
                  <a:t>Once found, we can write the time domain solution immediately:</a:t>
                </a:r>
                <a:endParaRPr lang="ru-RU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𝑓</m:t>
                      </m:r>
                      <m:d>
                        <m:d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𝑡</m:t>
                          </m:r>
                        </m:e>
                      </m:d>
                      <m:r>
                        <a:rPr lang="en-US" b="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𝐴</m:t>
                      </m:r>
                      <m:sSup>
                        <m:sSup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−1</m:t>
                          </m:r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𝑡</m:t>
                          </m:r>
                        </m:sup>
                      </m:sSup>
                      <m:r>
                        <a:rPr lang="en-US" b="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+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𝐵</m:t>
                      </m:r>
                      <m:sSup>
                        <m:sSup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−2</m:t>
                          </m:r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𝑡</m:t>
                          </m:r>
                        </m:sup>
                      </m:sSup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.</m:t>
                      </m:r>
                    </m:oMath>
                  </m:oMathPara>
                </a14:m>
                <a:endParaRPr lang="ru-RU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0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  <a:cs typeface="Arial" panose="020B0604020202020204" pitchFamily="34" charset="0"/>
                  </a:rPr>
                  <a:t>The roots of the denominator </a:t>
                </a:r>
                <a14:m>
                  <m:oMath xmlns:m="http://schemas.openxmlformats.org/officeDocument/2006/math"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𝐷</m:t>
                    </m:r>
                    <m:r>
                      <a:rPr lang="en-US" b="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𝑠</m:t>
                    </m:r>
                    <m:r>
                      <a:rPr lang="en-US" b="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</m:t>
                    </m:r>
                  </m:oMath>
                </a14:m>
                <a:r>
                  <a:rPr lang="en-US" dirty="0">
                    <a:effectLst/>
                    <a:ea typeface="Aptos" panose="020B0004020202020204" pitchFamily="34" charset="0"/>
                    <a:cs typeface="Arial" panose="020B0604020202020204" pitchFamily="34" charset="0"/>
                  </a:rPr>
                  <a:t> are called the «Poles» of the system. </a:t>
                </a:r>
              </a:p>
              <a:p>
                <a:pPr algn="just">
                  <a:lnSpc>
                    <a:spcPct val="10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  <a:cs typeface="Arial" panose="020B0604020202020204" pitchFamily="34" charset="0"/>
                  </a:rPr>
                  <a:t>The Poles determine the time constants and stability. </a:t>
                </a:r>
              </a:p>
              <a:p>
                <a:pPr algn="just">
                  <a:lnSpc>
                    <a:spcPct val="10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If a pole is at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𝑠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−2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, the time decay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−2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. </a:t>
                </a:r>
              </a:p>
              <a:p>
                <a:pPr algn="just">
                  <a:lnSpc>
                    <a:spcPct val="10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The location of these poles tells us everything about the speed of the circuit.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just">
                  <a:lnSpc>
                    <a:spcPct val="100000"/>
                  </a:lnSpc>
                </a:pPr>
                <a:endParaRPr lang="ru-RU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5C6B1AE-184D-04C0-D59E-CA96579C6A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628376" cy="4351338"/>
              </a:xfrm>
              <a:blipFill>
                <a:blip r:embed="rId2"/>
                <a:stretch>
                  <a:fillRect l="-1033" t="-1401" r="-1147" b="-882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16CF1249-2041-E0F3-2DFF-CE5D295F322A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D1C5A2A0-C8F7-9A2C-36DA-BCA7D192EB82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9F6D8E02-1374-9F83-7046-33DE37FA06B0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Laplace Transform and Operational Calculus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4001692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49003-E382-7C26-0EF3-6340401A8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BA4169-1D87-0217-3B45-4B6AC90F8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5C6B1AE-184D-04C0-D59E-CA96579C6A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628376" cy="4351338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  <a:cs typeface="Arial" panose="020B0604020202020204" pitchFamily="34" charset="0"/>
                  </a:rPr>
                  <a:t>Let us finish the R-L example used before. We had:</a:t>
                </a:r>
                <a:endParaRPr lang="ru-RU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𝑑𝑐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𝑠</m:t>
                          </m:r>
                          <m:d>
                            <m:dPr>
                              <m:ctrlPr>
                                <a:rPr lang="ru-RU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  <m:r>
                                <a:rPr lang="en-US" b="0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𝑠𝐿</m:t>
                              </m:r>
                            </m:e>
                          </m:d>
                        </m:den>
                      </m:f>
                      <m:r>
                        <a:rPr lang="en-US" b="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𝑑𝑐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den>
                      </m:f>
                      <m:r>
                        <a:rPr lang="en-US" b="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×</m:t>
                      </m:r>
                      <m:f>
                        <m:f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𝑠</m:t>
                          </m:r>
                          <m:d>
                            <m:dPr>
                              <m:ctrlPr>
                                <a:rPr lang="ru-RU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  <m:r>
                                <a:rPr lang="en-US" b="0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ru-RU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d>
                        </m:den>
                      </m:f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,</m:t>
                      </m:r>
                    </m:oMath>
                  </m:oMathPara>
                </a14:m>
                <a:endParaRPr lang="ru-RU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  <a:cs typeface="Arial" panose="020B0604020202020204" pitchFamily="34" charset="0"/>
                  </a:rPr>
                  <a:t>We perform Partial Fraction Expansion:</a:t>
                </a:r>
                <a:endParaRPr lang="ru-RU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𝑠</m:t>
                          </m:r>
                          <m:r>
                            <a:rPr lang="en-US" b="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𝑠</m:t>
                          </m:r>
                          <m:r>
                            <a:rPr lang="en-US" b="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ru-RU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num>
                            <m:den>
                              <m: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den>
                          </m:f>
                          <m:r>
                            <a:rPr lang="en-US" b="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b="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den>
                      </m:f>
                      <m:r>
                        <a:rPr lang="en-US" b="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num>
                        <m:den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𝑠</m:t>
                          </m:r>
                          <m:r>
                            <a:rPr lang="en-US" b="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ru-RU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num>
                            <m:den>
                              <m: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den>
                          </m:f>
                        </m:den>
                      </m:f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ru-RU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5C6B1AE-184D-04C0-D59E-CA96579C6A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628376" cy="4351338"/>
              </a:xfrm>
              <a:blipFill>
                <a:blip r:embed="rId2"/>
                <a:stretch>
                  <a:fillRect l="-1033" t="-14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16CF1249-2041-E0F3-2DFF-CE5D295F322A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D1C5A2A0-C8F7-9A2C-36DA-BCA7D192EB82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9F6D8E02-1374-9F83-7046-33DE37FA06B0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Laplace Transform and Operational Calculus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8612735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8DBE4-FDA8-227A-F055-C14C4B783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F1E5EA-2ADD-F012-9BE1-AD4C23164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F1EF8CE-F014-6492-B324-26A8BB9D19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628376" cy="4351338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10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  <a:cs typeface="Arial" panose="020B0604020202020204" pitchFamily="34" charset="0"/>
                  </a:rPr>
                  <a:t>Solving for A and B, we find </a:t>
                </a:r>
                <a14:m>
                  <m:oMath xmlns:m="http://schemas.openxmlformats.org/officeDocument/2006/math"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𝐴</m:t>
                    </m:r>
                    <m:r>
                      <a:rPr lang="en-US" b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f>
                      <m:f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fPr>
                      <m:num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𝐿</m:t>
                        </m:r>
                      </m:num>
                      <m:den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lang="en-US" dirty="0">
                    <a:effectLst/>
                    <a:ea typeface="Aptos" panose="020B00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𝐵</m:t>
                    </m:r>
                    <m:r>
                      <a:rPr lang="en-US" b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−</m:t>
                    </m:r>
                    <m:f>
                      <m:f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fPr>
                      <m:num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𝐿</m:t>
                        </m:r>
                      </m:num>
                      <m:den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lang="en-US" dirty="0">
                    <a:effectLst/>
                    <a:ea typeface="Aptos" panose="020B0004020202020204" pitchFamily="34" charset="0"/>
                    <a:cs typeface="Arial" panose="020B0604020202020204" pitchFamily="34" charset="0"/>
                  </a:rPr>
                  <a:t>. So:</a:t>
                </a:r>
                <a:endParaRPr lang="ru-RU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00000"/>
                  </a:lnSpc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𝐼</m:t>
                    </m:r>
                    <m:d>
                      <m:d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</m:d>
                    <m:r>
                      <a:rPr lang="en-US" b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𝑑𝑐</m:t>
                            </m:r>
                          </m:sub>
                        </m:sSub>
                      </m:num>
                      <m:den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den>
                    </m:f>
                    <m:d>
                      <m:d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u-RU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b="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den>
                        </m:f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ru-RU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b="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  <m:r>
                              <a:rPr lang="en-US" b="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ru-RU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𝑅</m:t>
                                </m:r>
                              </m:num>
                              <m:den>
                                <m:r>
                                  <a:rPr lang="en-US" b="0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den>
                            </m:f>
                          </m:den>
                        </m:f>
                      </m:e>
                    </m:d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ru-RU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0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  <a:cs typeface="Arial" panose="020B0604020202020204" pitchFamily="34" charset="0"/>
                  </a:rPr>
                  <a:t>Now, apply the Inverse Transform:</a:t>
                </a:r>
                <a:endParaRPr lang="ru-RU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fPr>
                        <m:num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𝑠</m:t>
                          </m:r>
                        </m:den>
                      </m:f>
                      <m:r>
                        <a:rPr lang="en-US" b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→</m:t>
                      </m:r>
                      <m:r>
                        <a:rPr lang="en-US" b="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1 </m:t>
                      </m:r>
                      <m:d>
                        <m:d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𝑆𝑡𝑒𝑝</m:t>
                          </m:r>
                        </m:e>
                      </m:d>
                      <m:r>
                        <a:rPr lang="en-US" b="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,</m:t>
                      </m:r>
                    </m:oMath>
                  </m:oMathPara>
                </a14:m>
                <a:endParaRPr lang="ru-RU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fPr>
                        <m:num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𝑠</m:t>
                          </m:r>
                          <m:r>
                            <a:rPr lang="en-US" b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+</m:t>
                          </m:r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𝑎</m:t>
                          </m:r>
                        </m:den>
                      </m:f>
                      <m:r>
                        <a:rPr lang="en-US" b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→</m:t>
                      </m:r>
                      <m:sSup>
                        <m:sSup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pPr>
                        <m:e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−</m:t>
                          </m:r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𝑎𝑡</m:t>
                          </m:r>
                        </m:sup>
                      </m:sSup>
                      <m:r>
                        <a:rPr lang="en-US" b="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.    </m:t>
                      </m:r>
                      <m:r>
                        <a:rPr lang="en-US" b="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𝑅𝑒𝑠𝑢𝑙𝑡</m:t>
                      </m:r>
                      <m:r>
                        <a:rPr lang="en-US" b="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:   </m:t>
                      </m:r>
                      <m:r>
                        <a:rPr lang="en-US" b="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𝑖</m:t>
                      </m:r>
                      <m:d>
                        <m:d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𝑡</m:t>
                          </m:r>
                        </m:e>
                      </m:d>
                      <m:r>
                        <a:rPr lang="en-US" b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𝑑𝑐</m:t>
                              </m:r>
                            </m:sub>
                          </m:sSub>
                        </m:num>
                        <m:den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𝑅</m:t>
                          </m:r>
                        </m:den>
                      </m:f>
                      <m:d>
                        <m:d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ru-RU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b="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ru-RU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</a:rPr>
                                    <m:t>𝑅</m:t>
                                  </m:r>
                                </m:num>
                                <m:den>
                                  <m:r>
                                    <a:rPr lang="en-US" b="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en-US" b="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𝑡</m:t>
                              </m:r>
                            </m:sup>
                          </m:sSup>
                        </m:e>
                      </m:d>
                      <m:r>
                        <a:rPr lang="en-US" b="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.</m:t>
                      </m:r>
                    </m:oMath>
                  </m:oMathPara>
                </a14:m>
                <a:endParaRPr lang="ru-RU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F1EF8CE-F014-6492-B324-26A8BB9D19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628376" cy="4351338"/>
              </a:xfrm>
              <a:blipFill>
                <a:blip r:embed="rId2"/>
                <a:stretch>
                  <a:fillRect l="-10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E66AFFCD-F092-2C6B-1907-D42B4B2AA9CD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E7E3E6C9-93E4-BE50-1556-42AD1FDD919C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366BD0CF-8B49-D39C-8525-167D8263336A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Laplace Transform and Operational Calculus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7495459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49003-E382-7C26-0EF3-6340401A8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BA4169-1D87-0217-3B45-4B6AC90F8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C6B1AE-184D-04C0-D59E-CA96579C6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28376" cy="4351338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This matches exactly the result we derived in Lecture 13 using differential equations. </a:t>
            </a:r>
          </a:p>
          <a:p>
            <a:pPr algn="just">
              <a:lnSpc>
                <a:spcPct val="100000"/>
              </a:lnSpc>
            </a:pPr>
            <a:r>
              <a:rPr lang="en-US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The Laplace method confirms our previous work but is robust enough to handle much harder problems.</a:t>
            </a:r>
          </a:p>
          <a:p>
            <a:pPr algn="just">
              <a:lnSpc>
                <a:spcPct val="100000"/>
              </a:lnSpc>
            </a:pPr>
            <a:r>
              <a:rPr lang="en-US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Why is the Laplace Transform so important for engineers? </a:t>
            </a:r>
          </a:p>
          <a:p>
            <a:pPr algn="just">
              <a:lnSpc>
                <a:spcPct val="100000"/>
              </a:lnSpc>
            </a:pPr>
            <a:r>
              <a:rPr lang="en-US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It is not just for solving circuits. </a:t>
            </a:r>
          </a:p>
          <a:p>
            <a:pPr algn="just">
              <a:lnSpc>
                <a:spcPct val="100000"/>
              </a:lnSpc>
            </a:pPr>
            <a:r>
              <a:rPr lang="en-US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It is the language of Control Theory and Signal Processing. </a:t>
            </a:r>
          </a:p>
          <a:p>
            <a:pPr algn="just">
              <a:lnSpc>
                <a:spcPct val="100000"/>
              </a:lnSpc>
            </a:pPr>
            <a:endParaRPr lang="en-US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16CF1249-2041-E0F3-2DFF-CE5D295F322A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D1C5A2A0-C8F7-9A2C-36DA-BCA7D192EB82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9F6D8E02-1374-9F83-7046-33DE37FA06B0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Laplace Transform and Operational Calculus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8548994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49003-E382-7C26-0EF3-6340401A8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BA4169-1D87-0217-3B45-4B6AC90F8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C6B1AE-184D-04C0-D59E-CA96579C6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28376" cy="4351338"/>
          </a:xfrm>
        </p:spPr>
        <p:txBody>
          <a:bodyPr>
            <a:noAutofit/>
          </a:bodyPr>
          <a:lstStyle/>
          <a:p>
            <a:r>
              <a:rPr lang="en-US" b="1" dirty="0"/>
              <a:t>Positives of the Laplace Transform:</a:t>
            </a:r>
            <a:endParaRPr lang="ru-RU" b="1" dirty="0"/>
          </a:p>
          <a:p>
            <a:r>
              <a:rPr lang="en-US" b="1" dirty="0"/>
              <a:t>1. It handles any input. </a:t>
            </a:r>
          </a:p>
          <a:p>
            <a:r>
              <a:rPr lang="en-US" dirty="0"/>
              <a:t>Whether the source is a sine wave, a step, an impulse, or an exponential, the method is exactly the same. </a:t>
            </a:r>
          </a:p>
          <a:p>
            <a:r>
              <a:rPr lang="en-US" b="1" dirty="0"/>
              <a:t>2. It handles initial conditions automatically.</a:t>
            </a:r>
          </a:p>
          <a:p>
            <a:r>
              <a:rPr lang="en-US" dirty="0"/>
              <a:t>You do not need to separate the «homogeneous» and «particular» solutions manually.  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16CF1249-2041-E0F3-2DFF-CE5D295F322A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D1C5A2A0-C8F7-9A2C-36DA-BCA7D192EB82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9F6D8E02-1374-9F83-7046-33DE37FA06B0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Laplace Transform and Operational Calculus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6313671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4981D-5E13-F113-9D9D-926757BE6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A733D8-9E84-45EB-5A6E-EEFFD23EE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25832F6-72F6-CC7D-8307-4900A4163F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628376" cy="4351338"/>
              </a:xfrm>
            </p:spPr>
            <p:txBody>
              <a:bodyPr>
                <a:noAutofit/>
              </a:bodyPr>
              <a:lstStyle/>
              <a:p>
                <a:r>
                  <a:rPr lang="en-US" b="1" dirty="0"/>
                  <a:t>3. It gives us the Transfer Function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b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b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. </a:t>
                </a:r>
              </a:p>
              <a:p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The Transfer Function is the ratio of Output to Input: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𝐻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𝑠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)=</m:t>
                    </m:r>
                    <m:f>
                      <m:f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fPr>
                      <m:num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𝑌</m:t>
                        </m:r>
                        <m:r>
                          <a:rPr lang="en-US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(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𝑠</m:t>
                        </m:r>
                        <m:r>
                          <a:rPr lang="en-US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𝑋</m:t>
                        </m:r>
                        <m:r>
                          <a:rPr lang="en-US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(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𝑠</m:t>
                        </m:r>
                        <m:r>
                          <a:rPr lang="en-US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. </a:t>
                </a:r>
                <a:endParaRPr lang="ru-RU" dirty="0"/>
              </a:p>
              <a:p>
                <a:r>
                  <a:rPr lang="en-US" b="1" dirty="0"/>
                  <a:t>This function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b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b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 characterizes the circuit completely, independent of what signal is sent into it.</a:t>
                </a:r>
              </a:p>
              <a:p>
                <a:r>
                  <a:rPr lang="en-US" dirty="0"/>
                  <a:t>If you know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you know the «DNA» of the circuit.</a:t>
                </a: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25832F6-72F6-CC7D-8307-4900A4163F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628376" cy="4351338"/>
              </a:xfrm>
              <a:blipFill>
                <a:blip r:embed="rId2"/>
                <a:stretch>
                  <a:fillRect l="-1033" t="-2381" r="-9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56AC7F1B-9548-7F62-6746-3A809A0E80B7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3A315768-52F0-0656-C3DC-A8E37CD55397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19191D58-310A-425E-C47D-7A574F1D887A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Laplace Transform and Operational Calculus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0310963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F7F76-4C71-5220-3A03-9FE46D4CE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9BC8FE-BBDE-2DBE-1F02-37DC26C47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41ABBC5-350C-0F28-B58D-6388E079E7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628376" cy="4351338"/>
              </a:xfrm>
            </p:spPr>
            <p:txBody>
              <a:bodyPr>
                <a:noAutofit/>
              </a:bodyPr>
              <a:lstStyle/>
              <a:p>
                <a:r>
                  <a:rPr lang="en-US" dirty="0"/>
                  <a:t>A major advantage of working in the s-domain is the ability to check the behavior of the circuit at the limits of time without performing the inverse transform. </a:t>
                </a:r>
              </a:p>
              <a:p>
                <a:r>
                  <a:rPr lang="en-US" dirty="0"/>
                  <a:t>We use the Initial Value Theorem (IVT) to find the value 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. </a:t>
                </a: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41ABBC5-350C-0F28-B58D-6388E079E7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628376" cy="4351338"/>
              </a:xfrm>
              <a:blipFill>
                <a:blip r:embed="rId2"/>
                <a:stretch>
                  <a:fillRect l="-1033" t="-23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9638FDDA-49E1-77B9-F51D-451C68B82931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BD6A8C7C-BB10-057E-7486-BD670D493B58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77D81524-44B7-5D79-981E-ABE2C63BF4E3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Laplace Transform and Operational Calculus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42641849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49003-E382-7C26-0EF3-6340401A8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BA4169-1D87-0217-3B45-4B6AC90F8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5C6B1AE-184D-04C0-D59E-CA96579C6A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628376" cy="4351338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The Initial Value Theorem allows us to find the value of a time function at zero directly from its s-domain equation. 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Mathematically,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𝒍𝒊𝒎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𝒕</m:t>
                        </m:r>
                        <m:r>
                          <a:rPr lang="en-US" b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→</m:t>
                        </m:r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𝟎</m:t>
                        </m:r>
                      </m:sub>
                    </m:sSub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𝒇</m:t>
                    </m:r>
                    <m:r>
                      <a:rPr lang="en-US" b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𝒕</m:t>
                    </m:r>
                    <m:r>
                      <a:rPr lang="en-US" b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)=</m:t>
                    </m:r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𝒍𝒊𝒎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𝒔</m:t>
                        </m:r>
                        <m:r>
                          <a:rPr lang="en-US" b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→∞</m:t>
                        </m:r>
                      </m:sub>
                    </m:sSub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𝒔𝑭</m:t>
                    </m:r>
                    <m:r>
                      <a:rPr lang="en-US" b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𝒔</m:t>
                    </m:r>
                    <m:r>
                      <a:rPr lang="en-US" b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</m:t>
                    </m:r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5C6B1AE-184D-04C0-D59E-CA96579C6A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628376" cy="4351338"/>
              </a:xfrm>
              <a:blipFill>
                <a:blip r:embed="rId2"/>
                <a:stretch>
                  <a:fillRect l="-1033" t="-560" r="-11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16CF1249-2041-E0F3-2DFF-CE5D295F322A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D1C5A2A0-C8F7-9A2C-36DA-BCA7D192EB82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9F6D8E02-1374-9F83-7046-33DE37FA06B0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Laplace Transform and Operational Calculus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5781751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373FF-10CD-630B-5E99-BCD6A0B16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7EDE80-2D04-5228-4C6A-AAC3B714C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D3B73603-7688-9379-8ADF-1B82CE01F3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628376" cy="4351338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We also use the Final Value Theorem (FVT) to find the steady state at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𝑡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=∞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The Final Value Theorem enables the calculation of the steady-state value by taking the limit as s approaches zero. 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Mathematically,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𝒍𝒊𝒎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𝒕</m:t>
                        </m:r>
                        <m:r>
                          <a:rPr lang="en-US" b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→∞</m:t>
                        </m:r>
                      </m:sub>
                    </m:sSub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𝒇</m:t>
                    </m:r>
                    <m:r>
                      <a:rPr lang="en-US" b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𝒕</m:t>
                    </m:r>
                    <m:r>
                      <a:rPr lang="en-US" b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)=</m:t>
                    </m:r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𝒍𝒊𝒎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𝒔</m:t>
                        </m:r>
                        <m:r>
                          <a:rPr lang="en-US" b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→</m:t>
                        </m:r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𝟎</m:t>
                        </m:r>
                      </m:sub>
                    </m:sSub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𝒔𝑭</m:t>
                    </m:r>
                    <m:r>
                      <a:rPr lang="en-US" b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𝒔</m:t>
                    </m:r>
                    <m:r>
                      <a:rPr lang="en-US" b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</m:t>
                    </m:r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These theorems allow for rapid verification of your algebraic derivation.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D3B73603-7688-9379-8ADF-1B82CE01F3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628376" cy="4351338"/>
              </a:xfrm>
              <a:blipFill>
                <a:blip r:embed="rId2"/>
                <a:stretch>
                  <a:fillRect l="-1033" t="-560" r="-11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3906858C-2ABB-E8D4-79A8-A45C9C7FB71F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3055D785-1D72-C7B5-6129-7E42210B6BC4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D68B9BF5-B0DC-86C2-0229-3BB280F5C728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Laplace Transform and Operational Calculus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2983833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49003-E382-7C26-0EF3-6340401A8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BA4169-1D87-0217-3B45-4B6AC90F8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5C6B1AE-184D-04C0-D59E-CA96579C6A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628376" cy="4351338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When we analyze the Transfer Function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𝐻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𝑠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)=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𝑁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𝑠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)/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𝐷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𝑠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, the roots of the polynomials provide deep insight into the system. 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Poles represent the natural frequencies of the circuit. For example, a pole at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𝑠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−2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corresponds to a decay term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−2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. </a:t>
                </a:r>
                <a:endParaRPr lang="en-US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The location of the poles in the complex plane determines whether the circuit response is stable or unstable.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Engineers plot these on a «Pole-Zero Plot» to visualize the system dynamics.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endParaRPr lang="en-US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5C6B1AE-184D-04C0-D59E-CA96579C6A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628376" cy="4351338"/>
              </a:xfrm>
              <a:blipFill>
                <a:blip r:embed="rId2"/>
                <a:stretch>
                  <a:fillRect l="-1033" t="-560" r="-1147" b="-78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16CF1249-2041-E0F3-2DFF-CE5D295F322A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D1C5A2A0-C8F7-9A2C-36DA-BCA7D192EB82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9F6D8E02-1374-9F83-7046-33DE37FA06B0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Laplace Transform and Operational Calculus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4937543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49003-E382-7C26-0EF3-6340401A8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BA4169-1D87-0217-3B45-4B6AC90F8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C6B1AE-184D-04C0-D59E-CA96579C6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28376" cy="4351338"/>
          </a:xfrm>
        </p:spPr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Stability is the most critical property of any dynamic system.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A stable system is one where the natural response eventually dies out to zero.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In the s-domain, this relates to the real part of the complex frequency σ. 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16CF1249-2041-E0F3-2DFF-CE5D295F322A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D1C5A2A0-C8F7-9A2C-36DA-BCA7D192EB82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9F6D8E02-1374-9F83-7046-33DE37FA06B0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Laplace Transform and Operational Calculus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746836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F62F2-A888-69C2-0929-E092C7B65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98EA6D-9A9E-13F0-9318-09842C69B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F5519F-69CB-664E-9F00-B1C91A8C6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28376" cy="4351338"/>
          </a:xfrm>
        </p:spPr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b="1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For a circuit to be stable, all poles of its transfer function must lie in the left half of the complex s-plane.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This means the real part of every pole must be negative (σ&lt;0). </a:t>
            </a:r>
          </a:p>
          <a:p>
            <a:pPr algn="just">
              <a:lnSpc>
                <a:spcPct val="120000"/>
              </a:lnSpc>
            </a:pPr>
            <a:r>
              <a:rPr lang="en-US" b="1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If any pole has a positive real part, the time response will grow exponentially and the system is unstable.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An unstable circuit, such as an improperly designed amplifier, will oscillate uncontrollably or saturate.</a:t>
            </a:r>
          </a:p>
          <a:p>
            <a:pPr algn="just">
              <a:lnSpc>
                <a:spcPct val="120000"/>
              </a:lnSpc>
            </a:pPr>
            <a:endParaRPr lang="ru-RU" b="1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C96B0EB9-E9D0-4FED-3F92-F1AE6DAEE9A2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CB55D520-FB4E-FC66-B24F-6F0BDFCCD6BB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95C4E7A8-C373-31E2-7376-70D49652C8CF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Laplace Transform and Operational Calculus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3651450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CAC17-EAD2-A785-63AF-603CD4FAC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F38C9D-5B72-AD4E-3318-5D32DA8FE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A0EB206-C6A6-B2E4-A9C0-2698BF8F99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628376" cy="4351338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</a:rPr>
                  <a:t>We can classify s-domain functions into two categories: Driving-Point functions and Transfer functions.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ea typeface="Aptos" panose="020B0004020202020204" pitchFamily="34" charset="0"/>
                  </a:rPr>
                  <a:t>A Driving-Point function relates variables at the same pair of terminals, like the input impedance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𝒁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𝒊𝒏</m:t>
                        </m:r>
                      </m:sub>
                    </m:sSub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𝒔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)=</m:t>
                    </m:r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𝑽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𝒊𝒏</m:t>
                        </m:r>
                      </m:sub>
                    </m:sSub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𝒔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)/</m:t>
                    </m:r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𝑰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𝒊𝒏</m:t>
                        </m:r>
                      </m:sub>
                    </m:sSub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𝒔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</m:t>
                    </m:r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. </a:t>
                </a:r>
                <a:endParaRPr lang="ru-RU" b="1" dirty="0">
                  <a:effectLst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ea typeface="Aptos" panose="020B0004020202020204" pitchFamily="34" charset="0"/>
                  </a:rPr>
                  <a:t>A driving-point impedance relates the voltage and current at the same pair of terminals. </a:t>
                </a:r>
                <a:endParaRPr lang="ru-RU" b="1" dirty="0">
                  <a:effectLst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A0EB206-C6A6-B2E4-A9C0-2698BF8F99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628376" cy="4351338"/>
              </a:xfrm>
              <a:blipFill>
                <a:blip r:embed="rId2"/>
                <a:stretch>
                  <a:fillRect l="-1033" t="-140" r="-11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1167713C-B5FD-45FC-7451-175A0D5E8C35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15FE9937-6D5F-A323-8ABC-B482997C85A5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A736E2ED-6B12-FACF-17A4-4CBCB2583F7D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Laplace Transform and Operational Calculus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7460744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49003-E382-7C26-0EF3-6340401A8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BA4169-1D87-0217-3B45-4B6AC90F8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5C6B1AE-184D-04C0-D59E-CA96579C6A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628376" cy="4351338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ea typeface="Aptos" panose="020B0004020202020204" pitchFamily="34" charset="0"/>
                  </a:rPr>
                  <a:t>A Transfer Function relates variables at different ports, like the voltage gain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𝑮</m:t>
                    </m:r>
                    <m:r>
                      <a:rPr lang="en-US" b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𝒔</m:t>
                    </m:r>
                    <m:r>
                      <a:rPr lang="en-US" b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)=</m:t>
                    </m:r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𝑽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𝒐𝒖𝒕</m:t>
                        </m:r>
                      </m:sub>
                    </m:sSub>
                    <m:r>
                      <a:rPr lang="en-US" b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𝒔</m:t>
                    </m:r>
                    <m:r>
                      <a:rPr lang="en-US" b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)/</m:t>
                    </m:r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𝑽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𝒊𝒏</m:t>
                        </m:r>
                      </m:sub>
                    </m:sSub>
                    <m:r>
                      <a:rPr lang="en-US" b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𝒔</m:t>
                    </m:r>
                    <m:r>
                      <a:rPr lang="en-US" b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</m:t>
                    </m:r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. </a:t>
                </a:r>
                <a:endParaRPr lang="ru-RU" b="1" dirty="0">
                  <a:effectLst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ea typeface="Aptos" panose="020B0004020202020204" pitchFamily="34" charset="0"/>
                  </a:rPr>
                  <a:t>A transfer function relates an output variable at one port to an input variable at a different port.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</a:rPr>
                  <a:t>Both functions are ratios of polynomials, but only Driving-Point functions must have positive real parts for all passive circuits.</a:t>
                </a:r>
                <a:endParaRPr lang="ru-RU" dirty="0">
                  <a:effectLst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5C6B1AE-184D-04C0-D59E-CA96579C6A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628376" cy="4351338"/>
              </a:xfrm>
              <a:blipFill>
                <a:blip r:embed="rId2"/>
                <a:stretch>
                  <a:fillRect l="-1033" t="-140" r="-11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16CF1249-2041-E0F3-2DFF-CE5D295F322A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D1C5A2A0-C8F7-9A2C-36DA-BCA7D192EB82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9F6D8E02-1374-9F83-7046-33DE37FA06B0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Laplace Transform and Operational Calculus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9559606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49003-E382-7C26-0EF3-6340401A8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BA4169-1D87-0217-3B45-4B6AC90F8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5C6B1AE-184D-04C0-D59E-CA96579C6A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8594" y="1825625"/>
                <a:ext cx="11287432" cy="4351338"/>
              </a:xfrm>
            </p:spPr>
            <p:txBody>
              <a:bodyPr>
                <a:noAutofit/>
              </a:bodyPr>
              <a:lstStyle/>
              <a:p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Finally, let us explicitly link the Impulse Response to the Transfer Function. </a:t>
                </a:r>
              </a:p>
              <a:p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Recall that the Laplace transform of a unit impulse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𝛿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𝑡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is simply 1. </a:t>
                </a:r>
              </a:p>
              <a:p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If the input to a system is an impulse (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𝑋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𝑠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)=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1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), then the output is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𝑌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𝑠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)=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𝐻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𝑠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)×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1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. </a:t>
                </a:r>
                <a:endParaRPr lang="en-US" dirty="0"/>
              </a:p>
              <a:p>
                <a:r>
                  <a:rPr lang="en-US" b="1" dirty="0"/>
                  <a:t>The transfer function of a circuit is mathematically identical to the Laplace transform of its impulse response. </a:t>
                </a:r>
              </a:p>
              <a:p>
                <a:r>
                  <a:rPr lang="en-US" b="1" dirty="0"/>
                  <a:t>Calculating the inverse Laplace transform of the transfer function yields the impulse response in the time domain. </a:t>
                </a:r>
              </a:p>
              <a:p>
                <a:r>
                  <a:rPr lang="en-US" dirty="0"/>
                  <a:t>This is a fundamental concept in testing filters and control systems.</a:t>
                </a: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5C6B1AE-184D-04C0-D59E-CA96579C6A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8594" y="1825625"/>
                <a:ext cx="11287432" cy="4351338"/>
              </a:xfrm>
              <a:blipFill>
                <a:blip r:embed="rId2"/>
                <a:stretch>
                  <a:fillRect l="-972" t="-2381" b="-882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16CF1249-2041-E0F3-2DFF-CE5D295F322A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D1C5A2A0-C8F7-9A2C-36DA-BCA7D192EB82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9F6D8E02-1374-9F83-7046-33DE37FA06B0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Laplace Transform and Operational Calculus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5222835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49003-E382-7C26-0EF3-6340401A8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BA4169-1D87-0217-3B45-4B6AC90F8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16CF1249-2041-E0F3-2DFF-CE5D295F322A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D1C5A2A0-C8F7-9A2C-36DA-BCA7D192EB82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9F6D8E02-1374-9F83-7046-33DE37FA06B0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Laplace Transform and Operational Calculus</a:t>
              </a:r>
              <a:endParaRPr lang="ru-RU" sz="4000" dirty="0"/>
            </a:p>
          </p:txBody>
        </p:sp>
      </p:grpSp>
      <p:sp>
        <p:nvSpPr>
          <p:cNvPr id="10" name="Объект 9">
            <a:extLst>
              <a:ext uri="{FF2B5EF4-FFF2-40B4-BE49-F238E27FC236}">
                <a16:creationId xmlns:a16="http://schemas.microsoft.com/office/drawing/2014/main" id="{806FA03B-69C7-DFED-C072-1FD836B82B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010D3E27-CEB8-37CC-34B3-D9712AAD21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74323" y="2070119"/>
            <a:ext cx="4220156" cy="4220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Объект 2">
            <a:extLst>
              <a:ext uri="{FF2B5EF4-FFF2-40B4-BE49-F238E27FC236}">
                <a16:creationId xmlns:a16="http://schemas.microsoft.com/office/drawing/2014/main" id="{F09E7F83-2769-957F-DC06-2C2C4359644B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6034548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 you have any questions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at the moment?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32653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C0754-1B8C-E2FC-0020-7E99D7ABC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56F358-456E-073F-0DFE-823613F21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6FB1FE-20D8-EE82-F838-4DD3690B6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28376" cy="4351338"/>
          </a:xfrm>
        </p:spPr>
        <p:txBody>
          <a:bodyPr>
            <a:no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Thank you for your attention! This concludes our course. It was a pleasure to teaching you.</a:t>
            </a:r>
            <a:endParaRPr lang="ru-RU" dirty="0"/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43ADBD02-949E-2026-8B11-BC156B0BCB30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E615B692-CD3E-AA26-0827-ADC53B04FA56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E4E6EABB-7617-B6F5-6E46-8FF0D17A9683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Laplace Transform and Operational Calculus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9042211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2607</Words>
  <Application>Microsoft Office PowerPoint</Application>
  <PresentationFormat>Широкоэкранный</PresentationFormat>
  <Paragraphs>246</Paragraphs>
  <Slides>41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41</vt:i4>
      </vt:variant>
    </vt:vector>
  </HeadingPairs>
  <TitlesOfParts>
    <vt:vector size="47" baseType="lpstr">
      <vt:lpstr>Aptos</vt:lpstr>
      <vt:lpstr>Aptos Display</vt:lpstr>
      <vt:lpstr>Arial</vt:lpstr>
      <vt:lpstr>Cambria Math</vt:lpstr>
      <vt:lpstr>Symbol</vt:lpstr>
      <vt:lpstr>Тема Office</vt:lpstr>
      <vt:lpstr>Lecture 15. The Laplace Transform and Operational Calculus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6</cp:revision>
  <dcterms:created xsi:type="dcterms:W3CDTF">2026-04-05T14:30:30Z</dcterms:created>
  <dcterms:modified xsi:type="dcterms:W3CDTF">2026-04-09T04:49:53Z</dcterms:modified>
</cp:coreProperties>
</file>