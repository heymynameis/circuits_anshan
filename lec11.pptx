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71" r:id="rId2"/>
    <p:sldId id="572" r:id="rId3"/>
    <p:sldId id="600" r:id="rId4"/>
    <p:sldId id="599" r:id="rId5"/>
    <p:sldId id="598" r:id="rId6"/>
    <p:sldId id="573" r:id="rId7"/>
    <p:sldId id="574" r:id="rId8"/>
    <p:sldId id="601" r:id="rId9"/>
    <p:sldId id="575" r:id="rId10"/>
    <p:sldId id="602" r:id="rId11"/>
    <p:sldId id="576" r:id="rId12"/>
    <p:sldId id="577" r:id="rId13"/>
    <p:sldId id="603" r:id="rId14"/>
    <p:sldId id="578" r:id="rId15"/>
    <p:sldId id="579" r:id="rId16"/>
    <p:sldId id="604" r:id="rId17"/>
    <p:sldId id="605" r:id="rId18"/>
    <p:sldId id="580" r:id="rId19"/>
    <p:sldId id="606" r:id="rId20"/>
    <p:sldId id="581" r:id="rId21"/>
    <p:sldId id="607" r:id="rId22"/>
    <p:sldId id="582" r:id="rId23"/>
    <p:sldId id="608" r:id="rId24"/>
    <p:sldId id="583" r:id="rId25"/>
    <p:sldId id="621" r:id="rId26"/>
    <p:sldId id="609" r:id="rId27"/>
    <p:sldId id="584" r:id="rId28"/>
    <p:sldId id="585" r:id="rId29"/>
    <p:sldId id="586" r:id="rId30"/>
    <p:sldId id="610" r:id="rId31"/>
    <p:sldId id="587" r:id="rId32"/>
    <p:sldId id="611" r:id="rId33"/>
    <p:sldId id="588" r:id="rId34"/>
    <p:sldId id="612" r:id="rId35"/>
    <p:sldId id="589" r:id="rId36"/>
    <p:sldId id="590" r:id="rId37"/>
    <p:sldId id="591" r:id="rId38"/>
    <p:sldId id="613" r:id="rId39"/>
    <p:sldId id="592" r:id="rId40"/>
    <p:sldId id="614" r:id="rId41"/>
    <p:sldId id="615" r:id="rId42"/>
    <p:sldId id="593" r:id="rId43"/>
    <p:sldId id="616" r:id="rId44"/>
    <p:sldId id="617" r:id="rId45"/>
    <p:sldId id="618" r:id="rId46"/>
    <p:sldId id="595" r:id="rId47"/>
    <p:sldId id="619" r:id="rId48"/>
    <p:sldId id="596" r:id="rId49"/>
    <p:sldId id="620" r:id="rId50"/>
    <p:sldId id="597" r:id="rId5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(4) - Lecture 11" id="{74095A94-BE0A-4976-9D50-39D56F38B10F}">
          <p14:sldIdLst>
            <p14:sldId id="571"/>
            <p14:sldId id="572"/>
            <p14:sldId id="600"/>
            <p14:sldId id="599"/>
            <p14:sldId id="598"/>
            <p14:sldId id="573"/>
            <p14:sldId id="574"/>
            <p14:sldId id="601"/>
            <p14:sldId id="575"/>
            <p14:sldId id="602"/>
            <p14:sldId id="576"/>
            <p14:sldId id="577"/>
            <p14:sldId id="603"/>
            <p14:sldId id="578"/>
            <p14:sldId id="579"/>
            <p14:sldId id="604"/>
            <p14:sldId id="605"/>
            <p14:sldId id="580"/>
            <p14:sldId id="606"/>
            <p14:sldId id="581"/>
            <p14:sldId id="607"/>
            <p14:sldId id="582"/>
            <p14:sldId id="608"/>
            <p14:sldId id="583"/>
            <p14:sldId id="621"/>
            <p14:sldId id="609"/>
            <p14:sldId id="584"/>
            <p14:sldId id="585"/>
            <p14:sldId id="586"/>
            <p14:sldId id="610"/>
            <p14:sldId id="587"/>
            <p14:sldId id="611"/>
            <p14:sldId id="588"/>
            <p14:sldId id="612"/>
            <p14:sldId id="589"/>
            <p14:sldId id="590"/>
            <p14:sldId id="591"/>
            <p14:sldId id="613"/>
            <p14:sldId id="592"/>
            <p14:sldId id="614"/>
            <p14:sldId id="615"/>
            <p14:sldId id="593"/>
            <p14:sldId id="616"/>
            <p14:sldId id="617"/>
            <p14:sldId id="618"/>
            <p14:sldId id="595"/>
            <p14:sldId id="619"/>
            <p14:sldId id="596"/>
            <p14:sldId id="620"/>
            <p14:sldId id="5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66" autoAdjust="0"/>
    <p:restoredTop sz="94660"/>
  </p:normalViewPr>
  <p:slideViewPr>
    <p:cSldViewPr snapToGrid="0">
      <p:cViewPr varScale="1">
        <p:scale>
          <a:sx n="78" d="100"/>
          <a:sy n="78" d="100"/>
        </p:scale>
        <p:origin x="35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A2B52-E079-B5AD-CCDB-6972E36B7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B590A3-6967-2E7D-D3DE-11F9C5E35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46CDBE-0F55-0B80-432B-5C8AA8C10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C50-7B27-4F3B-B6FA-7B3676FDC63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502EC9-055F-280F-284E-CC1B3E68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DA52FD-010C-E3F5-7CC5-EA80AEF9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84A2-14FE-4DDB-A9D5-D771BDF87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58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24A5C-1828-F847-6CCD-1E54F15F2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F27632-753B-854E-1409-83BD2DFD0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26AC10-D553-0A71-9499-7B695FA94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C50-7B27-4F3B-B6FA-7B3676FDC63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79544B-5817-868F-BBA3-5E8B4BF5B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BDBEA1-221F-296E-9A17-977EDE5B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84A2-14FE-4DDB-A9D5-D771BDF87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4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156C7-7AAB-67EA-BF8B-C15C77673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DFD3B3-532A-C8EC-70FB-F895D5A0D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6B4467-ED47-2EE1-E694-696D32C6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C50-7B27-4F3B-B6FA-7B3676FDC63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508F1F-9CAE-3298-AE17-7CEABD12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687222-D69E-B674-3B42-B3CD5BCE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84A2-14FE-4DDB-A9D5-D771BDF87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615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16895-A2F1-2D3C-A02D-11A0BC8E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0D20F1-3DF9-FC10-119C-2A75200A2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8ADC3C-7B2D-DF25-EBB9-5B6B639E6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EE8B43-14BE-FFF1-8B0B-AF94E84C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C50-7B27-4F3B-B6FA-7B3676FDC63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16D324-EC9B-0A03-DCB1-9B6DC7EA9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13454C-31EA-0379-C16A-81F5630A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84A2-14FE-4DDB-A9D5-D771BDF87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350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D4969-6A65-5BE4-E6F6-73D735B03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787B2A-BA26-9A6A-85FC-A387ECF04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068F60-4E4C-EF95-579B-0E8F9957D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8FEA1FF-D18F-3ABD-A2B9-61204A3C3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EDB218F-C205-A086-A3D2-0AB966A55E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CC2FFFD-0CA9-300F-DD57-07038E701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C50-7B27-4F3B-B6FA-7B3676FDC63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467E996-57E2-0522-D891-4EAC4DB9A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70E86A5-94EA-6608-6A79-DCFF98D2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84A2-14FE-4DDB-A9D5-D771BDF87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454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1774DF-DBBD-1D64-B642-C3297AF1E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C20DC8A-D742-C46C-CC9E-0B07A5197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C50-7B27-4F3B-B6FA-7B3676FDC63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5BE3E3-F098-5EBA-417F-DB5E5425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DF1D78-14D9-449D-4D93-A5ACB192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84A2-14FE-4DDB-A9D5-D771BDF87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09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0AECC8-C4EC-095A-E316-EB805CAED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C50-7B27-4F3B-B6FA-7B3676FDC63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02FB69-5A87-8103-35A0-A8D426624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95640D-3F3E-992D-C69D-BD66528F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84A2-14FE-4DDB-A9D5-D771BDF87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30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CA2392-336B-5B6E-C6EB-B2342FEF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0BE76B-3360-B574-56E2-A9C2B4A4B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97159E-7F52-9DDA-23AC-BEDA916CD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5A8C6E-D14C-EA01-B0C2-A6A5A8956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C50-7B27-4F3B-B6FA-7B3676FDC63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CF5158-BBD0-9024-F571-814545B7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C82F71-1E0D-5E60-3F36-3E9A39C4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84A2-14FE-4DDB-A9D5-D771BDF87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982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49A919-1DF7-3877-9916-CFB9DF50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490F19A-4D58-EC45-4A49-D6A8FEDAF5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F7DCD0-7D1C-3852-EBA1-91CC240DB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880217-E44F-02D3-D359-81D41365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C50-7B27-4F3B-B6FA-7B3676FDC63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6BD71E-846D-FDAE-7A3B-74A4551E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237977-2092-302E-12A1-4F6B0631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84A2-14FE-4DDB-A9D5-D771BDF87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736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C1B6E-3A4E-AAEC-9EC2-E4338B1B2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32E9B5-412F-3098-8A60-4CE57E576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EDB69F-D962-B265-B6F0-E63645C3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C50-7B27-4F3B-B6FA-7B3676FDC63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DD95D1-2EC3-242C-FCBD-A7B6BF5A3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6CE3B7-925F-3C61-5003-3CB0B97BC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84A2-14FE-4DDB-A9D5-D771BDF87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637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997780D-F351-6BFE-452B-2D60A7630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882F30-BD4E-2F1D-5194-DC205D540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E5EF34-7E15-EE6D-1135-9F768DB46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C50-7B27-4F3B-B6FA-7B3676FDC63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4F7043-A3DA-FF10-FB18-86DD99ABB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86CE4C-26CB-446A-4622-2B992E6C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84A2-14FE-4DDB-A9D5-D771BDF87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59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D9E40-4860-0DAB-7CD6-52F09866D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676828-42D4-F5CE-309F-42AF24A6A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4B66E5-151A-6B7E-9AB2-D6B3CE527A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C7C50-7B27-4F3B-B6FA-7B3676FDC63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0B2F98-D882-5756-E122-5C20D7543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D7962A-9172-8A63-4EA4-BEE14F55C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884A2-14FE-4DDB-A9D5-D771BDF87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35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0DB8-527A-9F2D-8A78-0DFA907F2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409492-3B49-0AD8-0B27-04C838DBB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419" y="1122363"/>
            <a:ext cx="10217888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11. Three-Phase Systems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40B515-4D4E-BE7C-D80E-B9AADC7F21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 (4). Three-Phase Alternating Current Circuit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1456CA08-CA70-B60D-20D1-8A2963F5DC3D}"/>
              </a:ext>
            </a:extLst>
          </p:cNvPr>
          <p:cNvSpPr/>
          <p:nvPr/>
        </p:nvSpPr>
        <p:spPr>
          <a:xfrm>
            <a:off x="0" y="3428999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636B93BE-066B-0BF9-E75B-6ABCA12D60EA}"/>
              </a:ext>
            </a:extLst>
          </p:cNvPr>
          <p:cNvSpPr/>
          <p:nvPr/>
        </p:nvSpPr>
        <p:spPr>
          <a:xfrm rot="10800000">
            <a:off x="9007724" y="9522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5864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EC417-4B58-BEB7-19F7-E42411C5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65220B-48F3-D5CA-7AE4-7D3A73638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79216D-1CD4-54D4-9F22-590564DA8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Welcome to Part 4 of our course, «The Principle of Circuit».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In our previous lectures, we studied Single-Phase AC circuits, which are commonly found in household appliances like toasters and lamps.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However, when we look at the broader picture of electrical engineering – specifically power generation, transmission, and heavy industry – we rarely use single-phase systems for the main delivery of energy.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E1BD8F0-77CF-430A-555E-2631B572BC5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0DEDAB1-6A27-649A-6AE4-815B9396620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80250DF-E416-9D38-7236-33D25D6E66E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11166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8695-9C90-0EB5-FAC8-B1D58582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D2650-A5A9-2003-7CD6-0D3BC1FCB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D29648-3EDE-9143-9B71-49E3C28D1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Today, we begin our study of Three-Phase Systems.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Almost all the electricity generated in the world is produced and distributed as three-phase power.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lecture will explain how three-phase power is generated, how sources and loads are connected in «Wye» and «Delta» configurations, and why this system is more efficient than single-phase systems.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75F3EBF-874C-D30A-7D8B-D5D7C9C5A67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EBA6160-8659-9118-4628-AC1CD589095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1B17627-B9D5-1BF4-7B25-B675F628ACF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604430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33237-02BD-6EE7-0EA9-52A93FF5E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05A32-A7CE-2141-C9BE-464A5DAB1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C4D793-9E42-3C20-19CF-F989A8A4F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Mastering these concepts is essential for anyone interested in power systems, electric machines, or industrial automation.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What exactly is a Three-Phase System?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Imagine we have three separate single-phase voltage sources.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D921651-FB5D-5602-8698-13278BB4FED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9343A33-77D2-024D-3D7F-FCE81B47403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BF7CFB7-09FF-B427-C0C5-15FD9754E84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3758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5F9AD-E183-A367-20A7-961EFFFCF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E19E72-387A-6C06-8AB2-A128B602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DE8415-479C-22C5-B3BD-3EA6F8C03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 balanced three-phase system consists of three sinusoidal voltages that have the same amplitude and the same frequency but are out of phase with each other by exactly 120 degrees.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01C5129-4F2C-10CA-CD2D-5E098993FD4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9E90C79-2141-B7FB-9882-B112D46DA94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F3EDD47-C297-13CB-8AF3-32952821DF6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19611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F1172-88D3-70D9-3AE9-1C662829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4E5EF-FDE0-6FA6-67F0-CC1D19647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1E6FB5C-4DA0-16B7-F7F0-ACA0F03E24D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379FC61-8040-DA37-8E41-723DFE464D8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3AD0410-DED1-C84F-6B27-D903C358434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51B3FB70-6F1D-FFA7-6A74-D2D0A5D98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plot these voltages versus time, we see three distinct waves. When one wave is at its peak, the others are not.</a:t>
            </a:r>
            <a:endParaRPr lang="ru-RU" dirty="0"/>
          </a:p>
        </p:txBody>
      </p:sp>
      <p:pic>
        <p:nvPicPr>
          <p:cNvPr id="9" name="Объект 6">
            <a:extLst>
              <a:ext uri="{FF2B5EF4-FFF2-40B4-BE49-F238E27FC236}">
                <a16:creationId xmlns:a16="http://schemas.microsoft.com/office/drawing/2014/main" id="{8FB95C1B-5CBF-B9C2-0FE7-5EE97C197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7627" y="2677276"/>
            <a:ext cx="10511534" cy="4180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0495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803CE-4A13-BD35-A354-174D6C72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B779D-FF7D-F1E8-0FA1-14606316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B319803-AFA3-A717-9AA1-F4D1F238FF9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818F6C0-6776-E042-FED5-2DDA595CB12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B6CEE3E-70B6-3528-A512-7C7ABA4C8AC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2C34FB2-5B79-4A0B-97A1-56D0F47BEF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If we choose Phase A as our reference, the three voltages are defined as: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𝑨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𝒎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∠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𝑩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𝒎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∠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𝟏𝟐𝟎</m:t>
                        </m:r>
                      </m:e>
                      <m:sup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𝑪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𝒎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∠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𝟐𝟒𝟎</m:t>
                        </m:r>
                      </m:e>
                      <m:sup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(which is the same as </a:t>
                </a:r>
                <a14:m>
                  <m:oMath xmlns:m="http://schemas.openxmlformats.org/officeDocument/2006/math"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𝟏𝟐𝟎</m:t>
                        </m:r>
                      </m:e>
                      <m:sup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We call this specific ordering the «Positive Sequence» or «ABC Sequence».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2C34FB2-5B79-4A0B-97A1-56D0F47BEF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6081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18F66-8442-60A8-0DC6-A372F6C3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E3BC69-50F3-C1AE-80BC-4FFEE043C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E62B1DC-94DF-2927-4DC5-1AFD106533E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31B3D8C-D67D-722C-E44A-39EE6956BD6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9DA94D3-5949-49F3-5B75-5DF3B285DEB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FAA8120B-209C-E12B-A066-4EE079D00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sequence is very important because it determines the direction of rotation for three-phase electric motors which are used in many industrial and other devices.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If you swap any two phases, the motor will spin in the reverse direction.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9204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12B1B-64D1-8C84-D113-F09788868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A57FFA-5A0C-0BDE-89E2-D420BABD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E6E85E6-23FD-D89B-5C6B-43CCB30D93B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11ABB1B-BB93-C2D4-771B-D0E7038EABE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C8AFD4B-2DCA-64C7-16EE-01889858806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8AE6A739-3EB8-C6EC-489B-66AFF8253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Why do we go through the trouble of using three phases instead of just one? There are two major engineering reasons: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20000"/>
              </a:lnSpc>
              <a:buFont typeface="Symbol" panose="05050102010706020507" pitchFamily="18" charset="2"/>
              <a:buChar char=""/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Constant Power Transfer: in a balanced three-phase system, the total instantaneous power delivered to the load is constant.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In a single-phase circuit, the power pulsates at double the frequency (it goes to zero every time the voltage crosses zero).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834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A1C8-3407-0A6A-C4DA-CEBEC365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6FC49-8455-9E7B-52FD-896938860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77D1F46-1BDA-9D5C-DB8C-7EA5FF20117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072B1D7-729D-8D53-C181-BFE80D1E58F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B83EDC2-8AD1-4ECC-9E93-DE55AFFE59F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2177D23E-C152-134B-1E4E-7F2D29E05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causes vibrations in motors.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Three-phase motors run smoothly with no vibration torque.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20000"/>
              </a:lnSpc>
              <a:buFont typeface="Symbol" panose="05050102010706020507" pitchFamily="18" charset="2"/>
              <a:buChar char=""/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Efficiency: three-phase systems can transmit the same amount of power using less wire material than equivalent single-phase systems.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saves enormous amounts of copper and money over long transmission lines.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690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80DC-8E38-B3D7-2653-2497344A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4908D-F964-1A49-443B-7FDA452D6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16EE532-3A85-7381-1C94-3011E2BBDF9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7ADA33C-271D-BABD-3BBA-295518A18D0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D04FD58-A587-B7D0-656C-F17FEE17E82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AB689D5-A454-1876-CC70-F75A1CEC3B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263" y="1825625"/>
                <a:ext cx="11309683" cy="4667250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Now, let us look at how we connect these sources. We do not run six wires (two for each source).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We interconnect them to save wire.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first method for three-phase connection is the Wye Connection (also called the Star Connection), represented by the symbol Y.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In this configuration, the negative terminals of all three sources are connected to a single common point called the «Neutral» point (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𝒏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AB689D5-A454-1876-CC70-F75A1CEC3B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263" y="1825625"/>
                <a:ext cx="11309683" cy="4667250"/>
              </a:xfrm>
              <a:blipFill>
                <a:blip r:embed="rId2"/>
                <a:stretch>
                  <a:fillRect l="-970" t="-1175" r="-1078" b="-33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4226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46CB-825F-E5DF-7FAD-64A1B63C0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3F5FE-6739-76C2-3585-4EEFDA7E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A17C20B-5461-A510-063D-0AD3D35C5DE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F285A62-BB49-0F97-94AD-A11EF573E87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31B6C54-9ED7-D01F-BD38-37B78CE3191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C6216604-DBA5-81C9-0A9A-A444A17F1C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From this connection, we send out three wires called «Line Conductors» (Line a, Line b, Line c).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Optionally, a fourth wire, the Neutral Wire, can be connected to the center point.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voltage between any Line wire and the Neutral point is called the «Phase Voltage»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voltage between any two Line wires (e.g., between a and b) is called the «Line Voltage»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C6216604-DBA5-81C9-0A9A-A444A17F1C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522" r="-1159" b="-14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864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3ED3D-7930-5D46-E16A-BAA9F8E58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45DF4-DDE5-D6D4-B070-409B42AEE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3FE9EBE-41C3-A1F1-267F-D6E078D72F8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1920461-C777-FB12-6FEF-8259E9AF062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FFB7504-F2D5-64A9-96F9-C3F80E1D03C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FB0A904-F1C5-BD60-3597-62BC3BBB52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In the Wye (Y) connection, the relationship between Phase Voltage and Line Voltage is the most important formula you will learn today.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Let us analyze the voltage between Line A and Line B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FB0A904-F1C5-BD60-3597-62BC3BBB52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522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205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79290-E800-1324-EBE2-DBA00F377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C7753-8E6C-30D8-2D9A-67234379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90CB6A7-85AD-77DE-137F-8DB9BDE9C96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263D042-65BE-3A84-9C28-1E6EAF6FED8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A71D782-CF08-1FD3-A0FE-79D982AB3FE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89FB3E3-187B-DA69-521A-010BBF160A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By Kirchhoff's Voltage Law,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𝑨𝑩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𝑨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If we subtract these phasors (which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𝟏𝟐𝟎</m:t>
                        </m:r>
                      </m:e>
                      <m:sup>
                        <m:r>
                          <a:rPr lang="en-US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apart), the geometry of the vector triangle results in a magnitude change.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magnitude of the Line Voltage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𝟑</m:t>
                        </m:r>
                      </m:e>
                    </m:rad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times the magnitude of the Phase Voltage.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𝟑</m:t>
                          </m:r>
                        </m:e>
                      </m:rad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𝒑</m:t>
                          </m:r>
                        </m:sub>
                      </m:sSub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89FB3E3-187B-DA69-521A-010BBF160A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793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BAF5C-481D-86D1-8529-0186BE41E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45D07-829E-8C21-24F2-9BABB6C6C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9329888-3B7B-F400-0438-7608C642CA0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6EB99FF-E9DD-11DF-BE66-61BB97847F1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3A38FDB-1848-8ABD-E180-93A354FE64C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FD6B397-0D3A-447B-FF5B-929C14CA7B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Additionally, there is a phase shift. </a:t>
                </a:r>
                <a:endParaRPr lang="ru-RU" dirty="0"/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The Line Voltage leads the corresponding Phase Voltage by 30 degrees.</a:t>
                </a:r>
                <a:endParaRPr lang="ru-RU" b="1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𝑨𝑩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∠</m:t>
                      </m:r>
                      <m:sSup>
                        <m:sSup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  <m:sup>
                          <m:r>
                            <a:rPr lang="en-US" b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FD6B397-0D3A-447B-FF5B-929C14CA7B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5332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06B95-319F-BF33-185C-3E01FF4C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51112-415F-9656-A41A-1B6846A30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8712E84-2D27-780A-D75D-93659418764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6280C26-E89A-1A0D-BF5B-FB1ED98F01B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DBD4543-9EA3-0CEE-4118-E4246F8CB7F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6DA07544-91F8-293F-8E24-10CEA69A0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For example, in many countries, the wall outlet voltage is 230 V (Phase Voltage). 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en-US" dirty="0"/>
              <a:t>The voltage between the main transmission lines is 230×1.732≈400 V. 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en-US" dirty="0"/>
              <a:t>This is why you often see equipment rated for «230/400 V».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232413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56BCC-4043-6B47-BA5C-060574336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26275-4711-91EB-515A-D74474B1A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1A6E76E-C42A-6CB6-609B-35BD855FC87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41FF9D4-6E0A-203A-EFD1-0C51935E827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301BE72-4915-AFE8-1D99-79508143638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840363FA-A70D-CCE6-F912-3ABE21DA4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Regarding current in a Wye connection, the logic is simpler. 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en-US" dirty="0"/>
              <a:t>The current flows out of the source, through the line wire, and into the load. 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en-US" dirty="0"/>
              <a:t>There are no splitting paths at the source terminal.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900182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94A8B-672A-26AC-8119-46EF57DAD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E6E603-FA9A-676A-BE45-CBAE87401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90B42E4-3ED6-77ED-5DBB-956E878C782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962A96C-8809-3BA2-C9EA-62FEE169774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87C20E4-8701-39E3-0A8B-D1B1156B0AD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0208FEE-5C87-8EA4-593B-00EA172FAF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Therefore, in a Wye (Y) connection, the Line Current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 is equal to the Phase Current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𝒑</m:t>
                          </m:r>
                        </m:sub>
                      </m:sSub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It is important to note the Neutral Current.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If the system is perfectly balanced (all loads are identical), the currents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I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𝐴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I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𝐵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I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sum to exactly zero.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0208FEE-5C87-8EA4-593B-00EA172FA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4387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AD75A-ABB7-882E-F193-16E8FC2E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2A59B-EBAA-3D43-E6A2-192400AC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9AC89EE-0308-6224-9E0F-E01D7CC62E0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A1811C4-995F-3156-FD58-2747C83A2FF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1298F41-136B-047C-60D9-5A77221BB53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52F0BB0D-B8C4-CF32-8813-690616B87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ea typeface="Aptos" panose="020B0004020202020204" pitchFamily="34" charset="0"/>
              </a:rPr>
              <a:t>In a balanced system, zero current flows through the neutral wire. </a:t>
            </a:r>
            <a:endParaRPr lang="ru-RU" b="1" dirty="0">
              <a:effectLst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This is why the neutral wire can sometimes be thinner or even omitted in high-voltage transmission towers.</a:t>
            </a:r>
            <a:endParaRPr lang="ru-RU" dirty="0">
              <a:effectLst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351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B8210-B498-C1D6-6C67-1E7CBE0DF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9DA0A3-8DFE-EB71-239B-1CE0C4E0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297836F-272E-7F37-0987-8D045CB6907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6E98609-E31B-725F-B2E8-6F63BA3D440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F709F73-0A24-0EA7-3755-CABE6C9C32F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F4611B1-7E81-4961-2163-F9D96E3157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The second method of connecting sources or loads is the Delta Connection, represented by the Greek letter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𝜟</m:t>
                    </m:r>
                  </m:oMath>
                </a14:m>
                <a:r>
                  <a:rPr lang="en-US" b="1" dirty="0"/>
                  <a:t> (or a triangle). </a:t>
                </a:r>
                <a:endParaRPr lang="ru-RU" b="1" dirty="0"/>
              </a:p>
              <a:p>
                <a:r>
                  <a:rPr lang="en-US" b="1" dirty="0"/>
                  <a:t>In this configuration, the sources are connected in a continuous loop: the end of the first source is connected to the start of the second, and so on. </a:t>
                </a:r>
                <a:endParaRPr lang="ru-RU" b="1" dirty="0"/>
              </a:p>
              <a:p>
                <a:r>
                  <a:rPr lang="en-US" dirty="0"/>
                  <a:t>There is no Neutral point in a Delta connection. </a:t>
                </a:r>
                <a:endParaRPr lang="ru-RU" dirty="0"/>
              </a:p>
              <a:p>
                <a:r>
                  <a:rPr lang="en-US" dirty="0"/>
                  <a:t>We only have three wires (Lines a, b, and c).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F4611B1-7E81-4961-2163-F9D96E3157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703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2122-2BD4-E5D6-22DC-F0648E25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90944-4424-A288-6318-BAE428B2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7D62CC6-9F9B-0991-866F-9B08405D95A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A223771-721A-BF7A-3770-3B59D4435F3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755389B-4427-55D5-5294-82CF7E5CD44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F332D32-EA76-BD9E-0492-DD08FE1829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Because the Line wire is connected directly to the terminals of the phase source, in a Delta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𝜟</m:t>
                    </m:r>
                  </m:oMath>
                </a14:m>
                <a:r>
                  <a:rPr lang="en-US" b="1" dirty="0"/>
                  <a:t>) connection, the Line Voltage is equal to the Phase Voltage.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F332D32-EA76-BD9E-0492-DD08FE182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264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D6B93-BB52-6CD0-7811-33EB99A9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C16BBD-A8EE-B77C-D3D7-D54417FB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F08B3FB-31A0-93B7-B57F-256F79CA95F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625AC0D-0CA0-8E11-3690-A435784D047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385B2F1-2045-F6C7-80F2-6047E018485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20EB370B-2DC1-A3E2-E179-41A07AED6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9" y="1825625"/>
            <a:ext cx="11165305" cy="4351338"/>
          </a:xfrm>
        </p:spPr>
        <p:txBody>
          <a:bodyPr/>
          <a:lstStyle/>
          <a:p>
            <a:r>
              <a:rPr lang="en-US" dirty="0"/>
              <a:t>If you have a 400 V generator connected in Delta, the lines coming out of it are at 400 V. You can see an example of delta connection here.</a:t>
            </a:r>
            <a:endParaRPr lang="ru-RU" dirty="0"/>
          </a:p>
        </p:txBody>
      </p:sp>
      <p:pic>
        <p:nvPicPr>
          <p:cNvPr id="9" name="Объект 2">
            <a:extLst>
              <a:ext uri="{FF2B5EF4-FFF2-40B4-BE49-F238E27FC236}">
                <a16:creationId xmlns:a16="http://schemas.microsoft.com/office/drawing/2014/main" id="{D0E0E2BA-7F8A-6D96-1636-5967D37C8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54023" y="2701434"/>
            <a:ext cx="8283953" cy="41473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294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0B513-30F9-57EA-3A64-744F2B996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C1712-4CA3-D8D1-5BC9-45A96119F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AA49B05-B9C0-02AF-5996-F08FE620426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61FCD8B-7E6A-0BCA-2147-C927553DC83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657C26D-E187-CCC0-0CF4-DADD325FBEA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FF8C8B3D-4DE7-CC72-10B0-77D80D1E3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9" y="1825625"/>
            <a:ext cx="11165305" cy="4351338"/>
          </a:xfrm>
        </p:spPr>
        <p:txBody>
          <a:bodyPr/>
          <a:lstStyle/>
          <a:p>
            <a:r>
              <a:rPr lang="en-US" dirty="0"/>
              <a:t>However, the currents in a Delta connection behave differently. </a:t>
            </a:r>
          </a:p>
          <a:p>
            <a:r>
              <a:rPr lang="en-US" dirty="0"/>
              <a:t>At every corner (node) of the triangle, a Line wire connects to two Phase branches. </a:t>
            </a:r>
          </a:p>
          <a:p>
            <a:r>
              <a:rPr lang="en-US" dirty="0"/>
              <a:t>By applying KCL at a corner node, we find that the Line current is the difference between two Phase currents. </a:t>
            </a:r>
          </a:p>
          <a:p>
            <a:r>
              <a:rPr lang="en-US" dirty="0"/>
              <a:t>Just like with the voltages in the Wye connection, this vector subtraction introduces a factor of √3.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787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06FD4-7F86-197D-D745-2054B7D1A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0C94A5-021A-8E61-3A8F-E812518BD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CF7569E-56D1-ADE1-290C-56AFD913181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258CFF3-F402-F410-EAA8-80DCF40F2D3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844BA4C-5E62-3336-8562-E298E952DEE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4067134-88A8-065F-1B37-2BBE7A6CB0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5717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In a Delta (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𝜟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 connection, the magnitude of the Line Current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𝟑</m:t>
                        </m:r>
                      </m:e>
                    </m:rad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times the Phase Current.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e>
                      </m:rad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ru-RU" b="1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Also, the Line Current lags the Phase Current by 30 degrees.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This means that for a Delta load, the current inside the winding is smaller than the current in the supply wire.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4067134-88A8-065F-1B37-2BBE7A6CB0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57170" cy="4351338"/>
              </a:xfrm>
              <a:blipFill>
                <a:blip r:embed="rId2"/>
                <a:stretch>
                  <a:fillRect l="-1020" t="-140" r="-11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243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5AC8-9A21-FEBC-B016-B9934396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341843-CA99-1C2A-C28E-C7362D8F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EB465B1-FB61-0126-1B20-5969880AA86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3ABAF3E-D9C9-EDE5-3ACC-B52E7128423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335A2B3-6948-D95A-5331-011840C2135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9076E4E7-92AC-A966-BE7A-3908E4B0E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7170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endParaRPr lang="ru-RU" dirty="0">
              <a:effectLst/>
              <a:ea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DAFA84-01D4-6491-FD3B-9E6FD7495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C701BD00-A397-1C6F-7C9F-CD94EDC377D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345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the moment?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576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1095-F28B-E843-A897-4B78FBBA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72B3F9-2C77-3C91-7B4F-F794C952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2BBE4B8-6AF9-095C-D2BB-413B94E96D3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D519D58-B5DF-9FC2-52EB-272DA3F2C3B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E1D268F-8326-9CDB-35A8-6E4B9687496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2882682-E7C5-06BE-EA3A-C49D6A5B0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5717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To solve any three-phase circuit problem, your first step is always to identify if the Source is Y or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𝜟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and if the Load is Y or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𝜟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Most practical power systems use a Y-connected source (generator) to allow for a neutral wire, while loads (like motors) can be either Y or Δ depending on the voltage rating.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2882682-E7C5-06BE-EA3A-C49D6A5B0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57170" cy="4351338"/>
              </a:xfrm>
              <a:blipFill>
                <a:blip r:embed="rId2"/>
                <a:stretch>
                  <a:fillRect l="-1020" t="-140" r="-11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101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9C061-5FB6-F130-54F8-4EEA8150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D0893D-B804-2ECA-E88B-D5BD0BAC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187F042-2AF5-C906-128D-D0BCE571CA6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F4211A2-335D-2759-FD7B-83383A62F2D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1F2DA9A-49AB-D10A-7441-5AB0E695DDB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21270127-6237-6959-18C5-A17D4199A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Now we move to Three-Phase Circuit Analysis. </a:t>
            </a:r>
          </a:p>
          <a:p>
            <a:r>
              <a:rPr lang="en-US" b="1" dirty="0"/>
              <a:t>If the system is balanced (the source is balanced and the load consists of three identical impedances), we do not need to solve the full complex circuit with three loops.</a:t>
            </a:r>
            <a:endParaRPr lang="ru-RU" b="1" dirty="0"/>
          </a:p>
          <a:p>
            <a:r>
              <a:rPr lang="en-US" b="1" dirty="0"/>
              <a:t>We can use the «Single-Phase Equivalent» technique.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205591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1A4F-8E01-0FCC-4BF3-398719387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59F90-A423-2DC8-4C9F-F8031CF05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EBC3462-889E-D9BE-F7D4-F38A922732C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0BC2E0C-FA2B-A0ED-710A-1572FCA6C15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B9FD508-0E3B-8A1F-2A51-6F438FAE75E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55A35BA-58C3-059B-1DCD-6C38EADAD3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Since all three phases are identical except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𝟏𝟐𝟎</m:t>
                        </m:r>
                      </m:e>
                      <m:sup>
                        <m:r>
                          <a:rPr lang="en-US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time shift, we can analyze just one phase (Phase A) as if it were a simple single-phase circuit: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convert all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𝜟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loads to equivalent Y loads (using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𝒀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𝜟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/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𝟑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);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connect the neutral of the source to the neutral of the load (conceptually);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55A35BA-58C3-059B-1DCD-6C38EADAD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1273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F2A40-8F49-45BC-D327-89F956A00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84EAC-5E35-476E-1623-C55EF3A4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1C73B8E-E8A0-F2A0-624A-067CDA95387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0049BED-7916-82DB-6B4F-A3003528877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DD3B9D5-5760-F812-2E4E-86B1DB37AAB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53A2F6E-5B04-7BA2-AC6F-7C879A4490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lvl="0"/>
                <a:r>
                  <a:rPr lang="en-US" b="1" dirty="0"/>
                  <a:t>calculate the current for Phase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𝒑𝒉𝒂𝒔𝒆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𝒑𝒉𝒂𝒔𝒆</m:t>
                        </m:r>
                      </m:sub>
                    </m:sSub>
                  </m:oMath>
                </a14:m>
                <a:r>
                  <a:rPr lang="en-US" b="1" dirty="0"/>
                  <a:t>;</a:t>
                </a:r>
                <a:endParaRPr lang="ru-RU" b="1" dirty="0"/>
              </a:p>
              <a:p>
                <a:pPr lvl="0"/>
                <a:r>
                  <a:rPr lang="en-US" b="1" dirty="0"/>
                  <a:t>the currents for Phase B and C will have the same magnitude but shifted angles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𝟏𝟐𝟎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/>
                  <a:t> and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𝟏𝟐𝟎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/>
                  <a:t>).</a:t>
                </a:r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53A2F6E-5B04-7BA2-AC6F-7C879A4490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545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AC12C-AF6F-1FD7-0487-1B0CFC9B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4577A-B733-1A08-95D5-CD744798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8CF4EA9-C2A1-52BF-F25B-926A6D9074A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E02EF54-D272-B75E-D5DF-44D833144BD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44A0D3F-D2E5-3E4D-DF99-AFE1800335D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DAF51C5-2637-D0B8-16E0-5A44838E96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Let us discuss Power in three-phase systems. </a:t>
                </a:r>
              </a:p>
              <a:p>
                <a:r>
                  <a:rPr lang="en-US" dirty="0"/>
                  <a:t>This is the «money» slide–engineers are paid to deliver power efficiently. </a:t>
                </a:r>
              </a:p>
              <a:p>
                <a:r>
                  <a:rPr lang="en-US" dirty="0"/>
                  <a:t>The instantaneous power of a single phase pulsates. </a:t>
                </a:r>
              </a:p>
              <a:p>
                <a:r>
                  <a:rPr lang="en-US" dirty="0"/>
                  <a:t>However, if you add the instantaneous powers of phases A, B, and C together: </a:t>
                </a: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result is a constant value, not a function of time. 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DAF51C5-2637-D0B8-16E0-5A44838E96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9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931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2401C-F259-F920-434D-4C1A11AE2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C2446-72A2-9296-5B50-E2AFCBAA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89DB77A-8ED1-D243-43F5-B9FFBABC824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AF159D9-5736-DB07-0F6A-76AC2C715D3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EDBC1F9-9B83-5679-C6BB-07A5EEC7E6B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2FB813B2-9096-8768-9E26-C7118BF0AA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b="1" dirty="0"/>
                  <a:t>The total active power in a balanced three-phase system is simply 3 times the power of one phase.</a:t>
                </a:r>
                <a:endParaRPr lang="ru-RU" b="1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Here, ϕ is the angle of the impedance (the difference between phase voltage and phase current angles).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2FB813B2-9096-8768-9E26-C7118BF0AA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1427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BB1E-7CD8-B615-6DED-FD3B7820D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AE486-88FF-94D7-0C7D-BAEECF68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9A31866-59B8-F5AB-151C-97E41286718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40423ED-6046-9E20-E4D5-EFBAA9E0694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8D1CE04-2B63-8E88-6D29-45CA0931586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76817B7-B863-D443-B6C7-2510EA71B2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While the phase-based formula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3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is correct, in the industry, we usually measure Line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and Line Current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because the internal phase windings are often inaccessible.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We can rewrite the power formula using Line quantities.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introduce factors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substituting them into the equation yields the most widely used formula in power engineering.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76817B7-B863-D443-B6C7-2510EA71B2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849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1584B-686A-4DA2-2CD3-58D0C1ED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166F5-8423-5389-B5BA-FACF795B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F4B136A-7621-2088-DB8B-A977DC6A71D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B28D4A2-C341-D385-6693-2A85E0AA400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9826AB5-1EB5-DD91-45BB-119A867142B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851058DB-06DE-9269-DFEC-C8023F0DAA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Total Active Power using Line quantities is: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𝑷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𝟑</m:t>
                          </m:r>
                        </m:e>
                      </m:rad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𝒄𝒐𝒔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𝜽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Total Apparent Power (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𝑺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is: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𝑺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𝟑</m:t>
                          </m:r>
                        </m:e>
                      </m:rad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Total Reactive Power (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𝑸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is: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𝑸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𝟑</m:t>
                          </m:r>
                        </m:e>
                      </m:rad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𝒔𝒊𝒏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𝜽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851058DB-06DE-9269-DFEC-C8023F0DA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5052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5F89-0EFD-C23C-AB13-A32B62BF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52486D-E175-9968-9E11-6A716D06A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65ACBF9-1F4D-EB3D-C6DB-C3EFDB21910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6289165-4B17-7D89-3432-81E0885035D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AF228DC-98FA-9F88-CA07-FDAC397D472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EA33D264-09E2-8A7D-4112-0444023B2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Note that θ here is still the angle of the load impedance (the phase angle), not the angle of the line quantities.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549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40C5C-066F-C967-AB0F-A3B097B00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E4000-4C26-F1AA-FE5C-534EDFD7F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2821BD7-B5CC-BE4D-13E2-15DF7D15F86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7F98A51-E444-E38F-B497-82451A54A91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35293C1-676F-E4E9-161F-8D45D1BC5B2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D9771C46-954C-6C76-8493-09251B59FE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Let us examine a practical example. Imagine a factory has a 3-phase motor connected in Wye (Y) to a 400 V line.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The 3-phase motor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400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) draws 10 Amps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10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). The power factor (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𝑐𝑜𝑠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𝜃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) is 0.8. How much power does it consume?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Using our formula: 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𝑃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3</m:t>
                        </m:r>
                      </m:e>
                    </m:rad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400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10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0.8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1.732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4000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0.8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≈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5542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 Watts or 5.5 kW.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D9771C46-954C-6C76-8493-09251B59FE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0959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E1E29-FC89-E39F-B0B0-8C439DB0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A2806-C180-7DC0-1682-A588576D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443F489-BDA0-BE0C-2BBE-C20C9A29AD1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855C736-B1B4-E71B-A095-392909906DA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E58D93E-B05D-6496-AE85-662D0847690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B016242-4F56-1E13-AF7C-D2FC730AEE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If we tried to calculate this using phase voltage: since it is Wye connected, 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400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r>
                        <a:rPr lang="en-US" b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230 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10,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230</m:t>
                      </m:r>
                      <m:r>
                        <a:rPr lang="en-US" b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b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US" b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5520 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r>
                  <a:rPr lang="en-US" dirty="0"/>
                  <a:t>The Line Formula is usually faster because you do not need to convert voltages first.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B016242-4F56-1E13-AF7C-D2FC730AE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74111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D835-6A50-668F-DCBD-241032383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A5D58-4258-9422-958D-576ADC39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AC576BC-B3CA-34EC-5A1A-61F282F0B18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7E8A583-B42A-849A-918B-BEACB09D0EE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F391F16-762F-1FE1-0CB6-7C7F44E8C83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C16F9600-F30B-7EBB-0EEE-5E48EAAE4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 brief note on Unbalanced Loads.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If the impedances on phases A, B, and C are not equal (e.g., a large heater on Phase A and no load on B and C), the system is unbalanced.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In an unbalanced Wye circuit, the neutral current is not zero.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474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7DB1A-1224-F520-46A2-550671139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2B5B0-A204-1067-14AC-F409CD859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E779448-C8A0-31D0-7297-4E80FDFCDDB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2697F53-CA64-A977-117A-0842C7FAA5D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C35C8A3-AB18-A333-8829-1287C72B239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DFCFD584-3B5C-5356-C277-93FA38EEE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433" y="1825625"/>
            <a:ext cx="11149262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 current will flow through the neutral wire to balance the system.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If the neutral wire is broken (cut) in an unbalanced system, the «Floating Neutral» problem occurs.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neutral point shifts voltage, potentially causing high voltage on one phase (destroying appliances) and low voltage on another.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is why the integrity of the Neutral connection is very important in building wiring.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614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82EAB-1DDD-2925-BE18-07995976B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6350C6-253B-F143-062D-396E63DD2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A9389CA-9993-7584-3052-B3D121882E5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4F6A35B-5D15-467F-2EFA-D9E89EFBF9F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EE35C04-DB53-BE52-7C62-9A56CD21372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5201346C-4BA8-3AAE-68B7-2DE3E3A70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An essential concept in three-phase motors and generators is the Phase Sequence.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standard rotation we studied (A, then B, then C) is called the Positive Sequence.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2754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92F51-AC2E-4194-A585-98620E71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F85FA-2DFB-99B0-3A7C-A8D3E3F37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1E5F94B-1121-D5B8-647A-385B8A8D88F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DF0496B-B360-91EA-F574-26A2D15E933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2F4902B-B251-3698-7E69-135E0D40918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F0DD4BEF-0550-A1F0-F1B1-38994B871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However, if we swap any two wires, the order becomes A, then C, then B.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phase sequence is the chronological order in which the voltages of each phase reach their maximum positive value.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5418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B668-F917-6611-B0A6-80C5475B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AE3F9-BC56-0CFE-B7B6-7EB4AC02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70EDBA8-A7F5-DC0C-7312-5ED8A5CD592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380EC43-A269-0A10-773A-1D521F0C7DD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522F577-8457-C4DB-B024-613309B330B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84D671C9-09F6-4F5F-8FDC-21CF3CE75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In a «Negative Sequence» (ACB), the voltage in Phase C peaks 120 degrees before Phase B.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Engineers use a device called a phase sequence indicator to ensure that motors rotate in the correct direction before connecting them to the main power grid.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7373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18E49-7820-9534-24F4-7CA0F55EF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4DC16-6D36-7DAA-3F14-6965D832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4A2FC5-98CA-78D3-B086-4E2D2C8FC68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BC97D5B-F221-D09A-86E5-4760DC4B5BF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8B2E394-0D96-A6B6-CEC9-87DDB7F4110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BBF50A1E-10D4-4336-9CFB-8ADCEDC5A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must also address how to measure power in three-phase systems practically.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While we can use three separate </a:t>
            </a:r>
            <a:r>
              <a:rPr lang="en-US" dirty="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wattmeters</a:t>
            </a: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(one for each phase), it is expensive and requires a neutral wire.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For three-wire systems (Delta or Wye without neutral), we use the Two-Wattmeter Method.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9458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5F8B-3388-A814-C245-D101EAAF4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27016-1B95-B920-42A8-97916546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EA546EE-ADB3-203A-BCA6-F2CEB0FF81F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A8CFE67-7855-F9A5-21E1-24197C3766D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2D24404-D716-4C2F-D2CD-BA3BF08BD7A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DBE39DF-0D61-192A-5B0B-26CB6E8E8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We connect the current coils of two </a:t>
                </a:r>
                <a:r>
                  <a:rPr lang="en-US" dirty="0" err="1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wattmeters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in Line A and Line C, and their voltage coils to Line B.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two-wattmeter method can measure the total active power in a three-phase three-wire system regardless of whether the load is balanced.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algebraic sum of the two meter readings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equals the total three-phase power.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DBE39DF-0D61-192A-5B0B-26CB6E8E8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9510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4098-AE93-21C1-71DE-408149AF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E8FCD9-4EE5-58E9-9AC6-7551AD0A1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C2BA6E5-5F06-1EC1-46FE-0F38FB42FDE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6FB75B5-2D6F-41D3-1182-C3996060375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650C19E-90D3-8417-DDF7-F6701028450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F58B9BE9-9CEB-A9B9-785C-75C617883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Interestingly, if the power factor is 0.5, one meter will read zero; if it is below 0.5, one meter will actually read a negative value.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Sometimes we need to perform calculations on a mixed system where a Wye source feeds a Delta load.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 use the single-phase equivalent method, we must mathematically transform the load.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recall the impedance transformation from Lecture 10, but for balanced three-phase loads, it is very simple.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0188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F05EB-0BD9-7D02-CE2D-1FA3C547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DCA6BA-9973-F367-247A-4228FEF2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EF568B0-B966-5C95-BC86-72368941314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CAF0E17-757B-CA86-2508-5CDAF60E925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DD9256A-8713-388D-4C2A-8F35C84062E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3C770ED-533B-B109-73F2-27280B908A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For a balanced system, the impedance of a Wye-connected load is one-third the impedance of an equivalent Delta-connected load.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Mathematically,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𝒁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𝒀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𝜟</m:t>
                              </m:r>
                            </m:sub>
                          </m:sSub>
                        </m:num>
                        <m:den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𝟑</m:t>
                          </m:r>
                        </m:den>
                      </m:f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allows us to replace the Delta load with a virtual Wye load and solve the circuit using simple line-to-neutral currents.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3C770ED-533B-B109-73F2-27280B908A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33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48422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63B10-7CE1-07D9-AF49-D3E61259C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62F123-A1D5-3F38-3CB2-2A0C0243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40156EB-1F41-09A6-7D7C-64942FA9EE9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494CAB3-871B-4ACF-5148-51DFF569549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DAFAE81-3423-E581-8FBD-174F87DAE18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3D28E1DD-E973-038C-668F-1E89BD206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Let us discuss a failure mode.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Single Phasing: this occurs when one line of the three-phase supply breaks or a fuse blows while a motor is running.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motor continues to run on the remaining two phases, but it becomes a single-phase machine with an auxiliary winding.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9307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5E922-3806-7907-DED1-3DC29724D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4A63A-3B8A-A59C-9F63-821288FE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431BC7B-F02F-5C9C-A25C-B39896F3C93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AB201D3-13DE-D585-6605-AD0322BF055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BD69272-1EF7-2957-A4B7-DC5AC140829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92B1E8D-7208-556A-A4C6-EA30A1F567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To maintain the same torque, the current in the remaining windings increases drastically, often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𝟑</m:t>
                        </m:r>
                      </m:e>
                    </m:rad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or more.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Single phasing occurs when one line of a three-phase supply is disconnected, potentially causing motors to overheat.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Protective relays are installed in industrial systems specifically to detect this imbalance and shut down the machine immediately.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92B1E8D-7208-556A-A4C6-EA30A1F567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60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762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9055-CC77-3A96-9543-EB405C967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E4894-0601-8EA1-88FC-CF82FA18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989FC1F-8BB0-8811-E489-FC4E8BA1EE1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291E52C-C5E4-464F-7874-D3AEE1F54C5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078EA79-877E-3E71-2A67-D3589D3F0B4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27BAB1B7-32C8-9896-94C1-FA74E4832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Finally, consider the advantage of the 4-wire Wye system over the 3-wire Delta system in building distribution.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 4-wire system provides two distinct voltage levels: the Line Voltage (e.g., 400V) for heavy machinery and the Phase Voltage (e.g., 230V) for lighting and computers.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flexibility allows one service entrance to supply both industrial and residential needs.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0794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D385B-5257-D876-9C59-80F38A0E0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A122B2-83D9-FDD2-634E-858642EDE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95E6045-097B-3CD5-B616-E02EC9700C7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3587F52-6FD5-06F7-CFDA-549B5080454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91257FB-FA18-D262-DC06-C98BE1587F3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DECCD77C-0F25-E533-4A29-C57B0483A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four-wire Wye system allows the simultaneous connection of single-phase loads and three-phase loads to the same power supply.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 maintain safety and efficiency, we try to distribute the single-phase loads evenly across A, B, and C to keep the neutral current near zero.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1411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05E92-6E56-AC84-5C8E-EE7AE589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3468F-DC14-D6D5-3EFA-48E37F4BB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D1CA9B4-A951-5C3E-338B-D285E6C6A6A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4746C33-22D1-1BC7-4D31-AF93028E7D5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7D1B765-1182-794A-9E79-778F127350C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Three-Phase Systems</a:t>
              </a:r>
              <a:endParaRPr lang="ru-RU" sz="4000" dirty="0"/>
            </a:p>
          </p:txBody>
        </p:sp>
      </p:grpSp>
      <p:sp>
        <p:nvSpPr>
          <p:cNvPr id="7" name="Объект 6">
            <a:extLst>
              <a:ext uri="{FF2B5EF4-FFF2-40B4-BE49-F238E27FC236}">
                <a16:creationId xmlns:a16="http://schemas.microsoft.com/office/drawing/2014/main" id="{220F609A-2AD0-FD13-5389-8BBF56F3B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DB1084A-A2FE-CB9F-2980-3E54AECA7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4D7E9C3F-4058-C775-F126-E4EB9E6CB1D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345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 for your attention!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5647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2825</Words>
  <Application>Microsoft Office PowerPoint</Application>
  <PresentationFormat>Широкоэкранный</PresentationFormat>
  <Paragraphs>252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6" baseType="lpstr">
      <vt:lpstr>Aptos</vt:lpstr>
      <vt:lpstr>Aptos Display</vt:lpstr>
      <vt:lpstr>Arial</vt:lpstr>
      <vt:lpstr>Cambria Math</vt:lpstr>
      <vt:lpstr>Symbol</vt:lpstr>
      <vt:lpstr>Тема Office</vt:lpstr>
      <vt:lpstr>Lecture 11. Three-Phase Systems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2026-04-05T12:14:06Z</dcterms:created>
  <dcterms:modified xsi:type="dcterms:W3CDTF">2026-04-09T04:48:10Z</dcterms:modified>
</cp:coreProperties>
</file>