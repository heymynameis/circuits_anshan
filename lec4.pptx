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7"/>
  </p:notesMasterIdLst>
  <p:sldIdLst>
    <p:sldId id="383" r:id="rId2"/>
    <p:sldId id="384" r:id="rId3"/>
    <p:sldId id="441" r:id="rId4"/>
    <p:sldId id="443" r:id="rId5"/>
    <p:sldId id="442" r:id="rId6"/>
    <p:sldId id="444" r:id="rId7"/>
    <p:sldId id="445" r:id="rId8"/>
    <p:sldId id="446" r:id="rId9"/>
    <p:sldId id="447" r:id="rId10"/>
    <p:sldId id="448" r:id="rId11"/>
    <p:sldId id="449" r:id="rId12"/>
    <p:sldId id="414" r:id="rId13"/>
    <p:sldId id="415" r:id="rId14"/>
    <p:sldId id="416" r:id="rId15"/>
    <p:sldId id="413" r:id="rId16"/>
    <p:sldId id="418" r:id="rId17"/>
    <p:sldId id="419" r:id="rId18"/>
    <p:sldId id="385" r:id="rId19"/>
    <p:sldId id="386" r:id="rId20"/>
    <p:sldId id="421" r:id="rId21"/>
    <p:sldId id="420" r:id="rId22"/>
    <p:sldId id="422" r:id="rId23"/>
    <p:sldId id="387" r:id="rId24"/>
    <p:sldId id="423" r:id="rId25"/>
    <p:sldId id="388" r:id="rId26"/>
    <p:sldId id="389" r:id="rId27"/>
    <p:sldId id="390" r:id="rId28"/>
    <p:sldId id="391" r:id="rId29"/>
    <p:sldId id="392" r:id="rId30"/>
    <p:sldId id="393" r:id="rId31"/>
    <p:sldId id="394" r:id="rId32"/>
    <p:sldId id="395" r:id="rId33"/>
    <p:sldId id="417" r:id="rId34"/>
    <p:sldId id="396" r:id="rId35"/>
    <p:sldId id="424" r:id="rId36"/>
    <p:sldId id="397" r:id="rId37"/>
    <p:sldId id="425" r:id="rId38"/>
    <p:sldId id="398" r:id="rId39"/>
    <p:sldId id="426" r:id="rId40"/>
    <p:sldId id="400" r:id="rId41"/>
    <p:sldId id="399" r:id="rId42"/>
    <p:sldId id="427" r:id="rId43"/>
    <p:sldId id="401" r:id="rId44"/>
    <p:sldId id="429" r:id="rId45"/>
    <p:sldId id="430" r:id="rId46"/>
    <p:sldId id="402" r:id="rId47"/>
    <p:sldId id="431" r:id="rId48"/>
    <p:sldId id="432" r:id="rId49"/>
    <p:sldId id="403" r:id="rId50"/>
    <p:sldId id="405" r:id="rId51"/>
    <p:sldId id="433" r:id="rId52"/>
    <p:sldId id="406" r:id="rId53"/>
    <p:sldId id="434" r:id="rId54"/>
    <p:sldId id="407" r:id="rId55"/>
    <p:sldId id="435" r:id="rId56"/>
    <p:sldId id="409" r:id="rId57"/>
    <p:sldId id="408" r:id="rId58"/>
    <p:sldId id="410" r:id="rId59"/>
    <p:sldId id="436" r:id="rId60"/>
    <p:sldId id="411" r:id="rId61"/>
    <p:sldId id="438" r:id="rId62"/>
    <p:sldId id="437" r:id="rId63"/>
    <p:sldId id="439" r:id="rId64"/>
    <p:sldId id="440" r:id="rId65"/>
    <p:sldId id="412" r:id="rId66"/>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 (2) - Lecture 4" id="{492556ED-F05A-4DF8-886A-7F33AC9CD0DC}">
          <p14:sldIdLst>
            <p14:sldId id="383"/>
            <p14:sldId id="384"/>
            <p14:sldId id="441"/>
            <p14:sldId id="443"/>
            <p14:sldId id="442"/>
            <p14:sldId id="444"/>
            <p14:sldId id="445"/>
            <p14:sldId id="446"/>
            <p14:sldId id="447"/>
            <p14:sldId id="448"/>
            <p14:sldId id="449"/>
            <p14:sldId id="414"/>
            <p14:sldId id="415"/>
            <p14:sldId id="416"/>
            <p14:sldId id="413"/>
            <p14:sldId id="418"/>
            <p14:sldId id="419"/>
            <p14:sldId id="385"/>
            <p14:sldId id="386"/>
            <p14:sldId id="421"/>
            <p14:sldId id="420"/>
            <p14:sldId id="422"/>
            <p14:sldId id="387"/>
            <p14:sldId id="423"/>
            <p14:sldId id="388"/>
            <p14:sldId id="389"/>
            <p14:sldId id="390"/>
            <p14:sldId id="391"/>
            <p14:sldId id="392"/>
            <p14:sldId id="393"/>
            <p14:sldId id="394"/>
            <p14:sldId id="395"/>
            <p14:sldId id="417"/>
            <p14:sldId id="396"/>
            <p14:sldId id="424"/>
            <p14:sldId id="397"/>
            <p14:sldId id="425"/>
            <p14:sldId id="398"/>
            <p14:sldId id="426"/>
            <p14:sldId id="400"/>
            <p14:sldId id="399"/>
            <p14:sldId id="427"/>
            <p14:sldId id="401"/>
            <p14:sldId id="429"/>
            <p14:sldId id="430"/>
            <p14:sldId id="402"/>
            <p14:sldId id="431"/>
            <p14:sldId id="432"/>
            <p14:sldId id="403"/>
            <p14:sldId id="405"/>
            <p14:sldId id="433"/>
            <p14:sldId id="406"/>
            <p14:sldId id="434"/>
            <p14:sldId id="407"/>
            <p14:sldId id="435"/>
            <p14:sldId id="409"/>
            <p14:sldId id="408"/>
            <p14:sldId id="410"/>
            <p14:sldId id="436"/>
            <p14:sldId id="411"/>
            <p14:sldId id="438"/>
            <p14:sldId id="437"/>
            <p14:sldId id="439"/>
            <p14:sldId id="440"/>
            <p14:sldId id="41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ru-RU" dirty="0"/>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A15F6F23-B58F-407D-A0BC-6A17C34BB50B}" type="datetimeFigureOut">
              <a:rPr lang="ru-RU" smtClean="0"/>
              <a:pPr/>
              <a:t>09.04.2026</a:t>
            </a:fld>
            <a:endParaRPr lang="ru-RU" dirty="0"/>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dirty="0"/>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ru-RU" dirty="0"/>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8CCDD2D4-D45F-44CE-BEBE-A7F935C36BB1}" type="slidenum">
              <a:rPr lang="ru-RU" smtClean="0"/>
              <a:pPr/>
              <a:t>‹#›</a:t>
            </a:fld>
            <a:endParaRPr lang="ru-RU" dirty="0"/>
          </a:p>
        </p:txBody>
      </p:sp>
    </p:spTree>
    <p:extLst>
      <p:ext uri="{BB962C8B-B14F-4D97-AF65-F5344CB8AC3E}">
        <p14:creationId xmlns:p14="http://schemas.microsoft.com/office/powerpoint/2010/main" val="3003802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14616E-F420-0B23-1AD9-B31D78FB461D}"/>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D97325B8-23D3-EEAC-8F82-C1F0D04712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CE098E5A-48A3-C301-09CE-3279B51D2388}"/>
              </a:ext>
            </a:extLst>
          </p:cNvPr>
          <p:cNvSpPr>
            <a:spLocks noGrp="1"/>
          </p:cNvSpPr>
          <p:nvPr>
            <p:ph type="dt" sz="half" idx="10"/>
          </p:nvPr>
        </p:nvSpPr>
        <p:spPr/>
        <p:txBody>
          <a:bodyPr/>
          <a:lstStyle/>
          <a:p>
            <a:fld id="{5ADF9FA8-F8F3-4413-BC8B-84959D63920E}" type="datetime1">
              <a:rPr lang="ru-RU" smtClean="0"/>
              <a:t>09.04.2026</a:t>
            </a:fld>
            <a:endParaRPr lang="ru-RU"/>
          </a:p>
        </p:txBody>
      </p:sp>
      <p:sp>
        <p:nvSpPr>
          <p:cNvPr id="5" name="Нижний колонтитул 4">
            <a:extLst>
              <a:ext uri="{FF2B5EF4-FFF2-40B4-BE49-F238E27FC236}">
                <a16:creationId xmlns:a16="http://schemas.microsoft.com/office/drawing/2014/main" id="{C0952A6A-B9B7-023B-628D-26524A96DD4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1B2824E2-A969-9185-A607-16DDA1FA22DE}"/>
              </a:ext>
            </a:extLst>
          </p:cNvPr>
          <p:cNvSpPr>
            <a:spLocks noGrp="1"/>
          </p:cNvSpPr>
          <p:nvPr>
            <p:ph type="sldNum" sz="quarter" idx="12"/>
          </p:nvPr>
        </p:nvSpPr>
        <p:spPr/>
        <p:txBody>
          <a:bodyPr/>
          <a:lstStyle/>
          <a:p>
            <a:fld id="{D8214FA6-4742-421D-8B19-2C99196BD091}" type="slidenum">
              <a:rPr lang="ru-RU" smtClean="0"/>
              <a:t>‹#›</a:t>
            </a:fld>
            <a:endParaRPr lang="ru-RU"/>
          </a:p>
        </p:txBody>
      </p:sp>
    </p:spTree>
    <p:extLst>
      <p:ext uri="{BB962C8B-B14F-4D97-AF65-F5344CB8AC3E}">
        <p14:creationId xmlns:p14="http://schemas.microsoft.com/office/powerpoint/2010/main" val="1975935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8107E9-8C5B-295A-B2C9-93AC612A14E9}"/>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65CF7410-DB2C-C64B-33E2-965E034A8D34}"/>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74B0D88A-621F-B136-73CA-693D66511FA9}"/>
              </a:ext>
            </a:extLst>
          </p:cNvPr>
          <p:cNvSpPr>
            <a:spLocks noGrp="1"/>
          </p:cNvSpPr>
          <p:nvPr>
            <p:ph type="dt" sz="half" idx="10"/>
          </p:nvPr>
        </p:nvSpPr>
        <p:spPr/>
        <p:txBody>
          <a:bodyPr/>
          <a:lstStyle/>
          <a:p>
            <a:fld id="{5DC40FED-C96C-44C6-B1AA-8873E1744305}" type="datetime1">
              <a:rPr lang="ru-RU" smtClean="0"/>
              <a:t>09.04.2026</a:t>
            </a:fld>
            <a:endParaRPr lang="ru-RU"/>
          </a:p>
        </p:txBody>
      </p:sp>
      <p:sp>
        <p:nvSpPr>
          <p:cNvPr id="5" name="Нижний колонтитул 4">
            <a:extLst>
              <a:ext uri="{FF2B5EF4-FFF2-40B4-BE49-F238E27FC236}">
                <a16:creationId xmlns:a16="http://schemas.microsoft.com/office/drawing/2014/main" id="{B70B01B8-EF5E-6DBD-4DEF-2EF82BCD149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78041274-4A77-20AB-E98E-6A41512E1FAE}"/>
              </a:ext>
            </a:extLst>
          </p:cNvPr>
          <p:cNvSpPr>
            <a:spLocks noGrp="1"/>
          </p:cNvSpPr>
          <p:nvPr>
            <p:ph type="sldNum" sz="quarter" idx="12"/>
          </p:nvPr>
        </p:nvSpPr>
        <p:spPr/>
        <p:txBody>
          <a:bodyPr/>
          <a:lstStyle/>
          <a:p>
            <a:fld id="{D8214FA6-4742-421D-8B19-2C99196BD091}" type="slidenum">
              <a:rPr lang="ru-RU" smtClean="0"/>
              <a:t>‹#›</a:t>
            </a:fld>
            <a:endParaRPr lang="ru-RU"/>
          </a:p>
        </p:txBody>
      </p:sp>
    </p:spTree>
    <p:extLst>
      <p:ext uri="{BB962C8B-B14F-4D97-AF65-F5344CB8AC3E}">
        <p14:creationId xmlns:p14="http://schemas.microsoft.com/office/powerpoint/2010/main" val="726037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06EC36-7634-02BC-202B-3649CB91C79E}"/>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74223A15-306C-94FB-18BE-3EA97CE9635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2C13DFB0-9D1F-DDC9-92DA-8E44A5D948D0}"/>
              </a:ext>
            </a:extLst>
          </p:cNvPr>
          <p:cNvSpPr>
            <a:spLocks noGrp="1"/>
          </p:cNvSpPr>
          <p:nvPr>
            <p:ph type="dt" sz="half" idx="10"/>
          </p:nvPr>
        </p:nvSpPr>
        <p:spPr/>
        <p:txBody>
          <a:bodyPr/>
          <a:lstStyle/>
          <a:p>
            <a:fld id="{F52063FF-CC5C-42B1-899E-1967942F3363}" type="datetime1">
              <a:rPr lang="ru-RU" smtClean="0"/>
              <a:t>09.04.2026</a:t>
            </a:fld>
            <a:endParaRPr lang="ru-RU"/>
          </a:p>
        </p:txBody>
      </p:sp>
      <p:sp>
        <p:nvSpPr>
          <p:cNvPr id="5" name="Нижний колонтитул 4">
            <a:extLst>
              <a:ext uri="{FF2B5EF4-FFF2-40B4-BE49-F238E27FC236}">
                <a16:creationId xmlns:a16="http://schemas.microsoft.com/office/drawing/2014/main" id="{C49FDABB-5E58-EF4C-840C-D33FF03F7EE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3C33F731-8E08-9CE0-9809-7831C8CA5A98}"/>
              </a:ext>
            </a:extLst>
          </p:cNvPr>
          <p:cNvSpPr>
            <a:spLocks noGrp="1"/>
          </p:cNvSpPr>
          <p:nvPr>
            <p:ph type="sldNum" sz="quarter" idx="12"/>
          </p:nvPr>
        </p:nvSpPr>
        <p:spPr/>
        <p:txBody>
          <a:bodyPr/>
          <a:lstStyle/>
          <a:p>
            <a:fld id="{D8214FA6-4742-421D-8B19-2C99196BD091}" type="slidenum">
              <a:rPr lang="ru-RU" smtClean="0"/>
              <a:t>‹#›</a:t>
            </a:fld>
            <a:endParaRPr lang="ru-RU"/>
          </a:p>
        </p:txBody>
      </p:sp>
    </p:spTree>
    <p:extLst>
      <p:ext uri="{BB962C8B-B14F-4D97-AF65-F5344CB8AC3E}">
        <p14:creationId xmlns:p14="http://schemas.microsoft.com/office/powerpoint/2010/main" val="119117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5389CE-E027-A6B5-F513-A33D99C9AB6A}"/>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CC0D84F1-BBC6-8D93-2E6A-842C1EC831DE}"/>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98C346BB-55DB-8E5E-7614-92E05FECCD95}"/>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752992CF-A9E9-89FE-BE29-A82210EBF8A7}"/>
              </a:ext>
            </a:extLst>
          </p:cNvPr>
          <p:cNvSpPr>
            <a:spLocks noGrp="1"/>
          </p:cNvSpPr>
          <p:nvPr>
            <p:ph type="dt" sz="half" idx="10"/>
          </p:nvPr>
        </p:nvSpPr>
        <p:spPr/>
        <p:txBody>
          <a:bodyPr/>
          <a:lstStyle/>
          <a:p>
            <a:fld id="{A90BDCBF-6318-484E-A808-372BA190227C}" type="datetime1">
              <a:rPr lang="ru-RU" smtClean="0"/>
              <a:t>09.04.2026</a:t>
            </a:fld>
            <a:endParaRPr lang="ru-RU"/>
          </a:p>
        </p:txBody>
      </p:sp>
      <p:sp>
        <p:nvSpPr>
          <p:cNvPr id="6" name="Нижний колонтитул 5">
            <a:extLst>
              <a:ext uri="{FF2B5EF4-FFF2-40B4-BE49-F238E27FC236}">
                <a16:creationId xmlns:a16="http://schemas.microsoft.com/office/drawing/2014/main" id="{E6C3DB51-95FF-61F3-A82C-CA9CA75C0087}"/>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191F2709-410C-53D8-BC81-95AB900D9BB3}"/>
              </a:ext>
            </a:extLst>
          </p:cNvPr>
          <p:cNvSpPr>
            <a:spLocks noGrp="1"/>
          </p:cNvSpPr>
          <p:nvPr>
            <p:ph type="sldNum" sz="quarter" idx="12"/>
          </p:nvPr>
        </p:nvSpPr>
        <p:spPr/>
        <p:txBody>
          <a:bodyPr/>
          <a:lstStyle/>
          <a:p>
            <a:fld id="{D8214FA6-4742-421D-8B19-2C99196BD091}" type="slidenum">
              <a:rPr lang="ru-RU" smtClean="0"/>
              <a:t>‹#›</a:t>
            </a:fld>
            <a:endParaRPr lang="ru-RU"/>
          </a:p>
        </p:txBody>
      </p:sp>
    </p:spTree>
    <p:extLst>
      <p:ext uri="{BB962C8B-B14F-4D97-AF65-F5344CB8AC3E}">
        <p14:creationId xmlns:p14="http://schemas.microsoft.com/office/powerpoint/2010/main" val="1472351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8B87DA9-CFDD-F92B-36EF-AEFBC71755A6}"/>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D3B288FF-D83C-A446-A10B-19BA0229B2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B0E2A48E-29FE-910C-5A9D-928F8875407E}"/>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6C8E3F58-A1C8-76A6-CB5F-F13F63DD9D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3989FDBD-2B21-5D87-90F6-C449A3E3A73D}"/>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14DA34DC-F6AE-DC25-C482-C15D36D0FAC6}"/>
              </a:ext>
            </a:extLst>
          </p:cNvPr>
          <p:cNvSpPr>
            <a:spLocks noGrp="1"/>
          </p:cNvSpPr>
          <p:nvPr>
            <p:ph type="dt" sz="half" idx="10"/>
          </p:nvPr>
        </p:nvSpPr>
        <p:spPr/>
        <p:txBody>
          <a:bodyPr/>
          <a:lstStyle/>
          <a:p>
            <a:fld id="{37D0D57C-ECE1-4466-9DE7-49B008A229AD}" type="datetime1">
              <a:rPr lang="ru-RU" smtClean="0"/>
              <a:t>09.04.2026</a:t>
            </a:fld>
            <a:endParaRPr lang="ru-RU"/>
          </a:p>
        </p:txBody>
      </p:sp>
      <p:sp>
        <p:nvSpPr>
          <p:cNvPr id="8" name="Нижний колонтитул 7">
            <a:extLst>
              <a:ext uri="{FF2B5EF4-FFF2-40B4-BE49-F238E27FC236}">
                <a16:creationId xmlns:a16="http://schemas.microsoft.com/office/drawing/2014/main" id="{5DA2E579-B2A2-0AE1-348C-BCBD6225252A}"/>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0F3A5653-BF55-4FFF-0DFB-9E7FCD823FD0}"/>
              </a:ext>
            </a:extLst>
          </p:cNvPr>
          <p:cNvSpPr>
            <a:spLocks noGrp="1"/>
          </p:cNvSpPr>
          <p:nvPr>
            <p:ph type="sldNum" sz="quarter" idx="12"/>
          </p:nvPr>
        </p:nvSpPr>
        <p:spPr/>
        <p:txBody>
          <a:bodyPr/>
          <a:lstStyle/>
          <a:p>
            <a:fld id="{D8214FA6-4742-421D-8B19-2C99196BD091}" type="slidenum">
              <a:rPr lang="ru-RU" smtClean="0"/>
              <a:t>‹#›</a:t>
            </a:fld>
            <a:endParaRPr lang="ru-RU"/>
          </a:p>
        </p:txBody>
      </p:sp>
    </p:spTree>
    <p:extLst>
      <p:ext uri="{BB962C8B-B14F-4D97-AF65-F5344CB8AC3E}">
        <p14:creationId xmlns:p14="http://schemas.microsoft.com/office/powerpoint/2010/main" val="1691446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DE6335-2405-C6EC-5636-A030EC1FA7D9}"/>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A3079F05-B180-B326-15BE-84F280C3C812}"/>
              </a:ext>
            </a:extLst>
          </p:cNvPr>
          <p:cNvSpPr>
            <a:spLocks noGrp="1"/>
          </p:cNvSpPr>
          <p:nvPr>
            <p:ph type="dt" sz="half" idx="10"/>
          </p:nvPr>
        </p:nvSpPr>
        <p:spPr/>
        <p:txBody>
          <a:bodyPr/>
          <a:lstStyle/>
          <a:p>
            <a:fld id="{1879CBD1-CB49-434F-B6AF-E43ACE9FB9E9}" type="datetime1">
              <a:rPr lang="ru-RU" smtClean="0"/>
              <a:t>09.04.2026</a:t>
            </a:fld>
            <a:endParaRPr lang="ru-RU"/>
          </a:p>
        </p:txBody>
      </p:sp>
      <p:sp>
        <p:nvSpPr>
          <p:cNvPr id="4" name="Нижний колонтитул 3">
            <a:extLst>
              <a:ext uri="{FF2B5EF4-FFF2-40B4-BE49-F238E27FC236}">
                <a16:creationId xmlns:a16="http://schemas.microsoft.com/office/drawing/2014/main" id="{B36C4672-3546-6789-ED28-D84EAA14B72C}"/>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5403382C-EC5B-4277-CACC-1F296BF2CD74}"/>
              </a:ext>
            </a:extLst>
          </p:cNvPr>
          <p:cNvSpPr>
            <a:spLocks noGrp="1"/>
          </p:cNvSpPr>
          <p:nvPr>
            <p:ph type="sldNum" sz="quarter" idx="12"/>
          </p:nvPr>
        </p:nvSpPr>
        <p:spPr/>
        <p:txBody>
          <a:bodyPr/>
          <a:lstStyle/>
          <a:p>
            <a:fld id="{D8214FA6-4742-421D-8B19-2C99196BD091}" type="slidenum">
              <a:rPr lang="ru-RU" smtClean="0"/>
              <a:t>‹#›</a:t>
            </a:fld>
            <a:endParaRPr lang="ru-RU"/>
          </a:p>
        </p:txBody>
      </p:sp>
    </p:spTree>
    <p:extLst>
      <p:ext uri="{BB962C8B-B14F-4D97-AF65-F5344CB8AC3E}">
        <p14:creationId xmlns:p14="http://schemas.microsoft.com/office/powerpoint/2010/main" val="3731170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E05BC468-278A-3153-3CC3-EC17C6425F31}"/>
              </a:ext>
            </a:extLst>
          </p:cNvPr>
          <p:cNvSpPr>
            <a:spLocks noGrp="1"/>
          </p:cNvSpPr>
          <p:nvPr>
            <p:ph type="dt" sz="half" idx="10"/>
          </p:nvPr>
        </p:nvSpPr>
        <p:spPr/>
        <p:txBody>
          <a:bodyPr/>
          <a:lstStyle/>
          <a:p>
            <a:fld id="{E532C29D-F290-4192-92E9-D6D9CB28EDCB}" type="datetime1">
              <a:rPr lang="ru-RU" smtClean="0"/>
              <a:t>09.04.2026</a:t>
            </a:fld>
            <a:endParaRPr lang="ru-RU"/>
          </a:p>
        </p:txBody>
      </p:sp>
      <p:sp>
        <p:nvSpPr>
          <p:cNvPr id="3" name="Нижний колонтитул 2">
            <a:extLst>
              <a:ext uri="{FF2B5EF4-FFF2-40B4-BE49-F238E27FC236}">
                <a16:creationId xmlns:a16="http://schemas.microsoft.com/office/drawing/2014/main" id="{35E79586-0FE4-D121-32AB-3BF90E52E773}"/>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027A7BD0-C757-E471-27BB-3C0D0523904E}"/>
              </a:ext>
            </a:extLst>
          </p:cNvPr>
          <p:cNvSpPr>
            <a:spLocks noGrp="1"/>
          </p:cNvSpPr>
          <p:nvPr>
            <p:ph type="sldNum" sz="quarter" idx="12"/>
          </p:nvPr>
        </p:nvSpPr>
        <p:spPr/>
        <p:txBody>
          <a:bodyPr/>
          <a:lstStyle/>
          <a:p>
            <a:fld id="{D8214FA6-4742-421D-8B19-2C99196BD091}" type="slidenum">
              <a:rPr lang="ru-RU" smtClean="0"/>
              <a:t>‹#›</a:t>
            </a:fld>
            <a:endParaRPr lang="ru-RU"/>
          </a:p>
        </p:txBody>
      </p:sp>
    </p:spTree>
    <p:extLst>
      <p:ext uri="{BB962C8B-B14F-4D97-AF65-F5344CB8AC3E}">
        <p14:creationId xmlns:p14="http://schemas.microsoft.com/office/powerpoint/2010/main" val="14778840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E2DC03-B064-BF2B-12AE-502F533FAD8C}"/>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B07BA855-1B84-0513-9236-9CBE17F714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1CBA7BED-40B6-E3DE-9981-42C8C3E86F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08421EC-C45A-41E6-0B82-F2B07D24B40C}"/>
              </a:ext>
            </a:extLst>
          </p:cNvPr>
          <p:cNvSpPr>
            <a:spLocks noGrp="1"/>
          </p:cNvSpPr>
          <p:nvPr>
            <p:ph type="dt" sz="half" idx="10"/>
          </p:nvPr>
        </p:nvSpPr>
        <p:spPr/>
        <p:txBody>
          <a:bodyPr/>
          <a:lstStyle/>
          <a:p>
            <a:fld id="{7D6F01BF-B163-4CBD-A417-65F6C46A4F92}" type="datetime1">
              <a:rPr lang="ru-RU" smtClean="0"/>
              <a:t>09.04.2026</a:t>
            </a:fld>
            <a:endParaRPr lang="ru-RU"/>
          </a:p>
        </p:txBody>
      </p:sp>
      <p:sp>
        <p:nvSpPr>
          <p:cNvPr id="6" name="Нижний колонтитул 5">
            <a:extLst>
              <a:ext uri="{FF2B5EF4-FFF2-40B4-BE49-F238E27FC236}">
                <a16:creationId xmlns:a16="http://schemas.microsoft.com/office/drawing/2014/main" id="{2D3D79FA-FB7D-5B64-87F9-D166058A249F}"/>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86AAD398-59DD-8DEF-1A96-B891B4646C70}"/>
              </a:ext>
            </a:extLst>
          </p:cNvPr>
          <p:cNvSpPr>
            <a:spLocks noGrp="1"/>
          </p:cNvSpPr>
          <p:nvPr>
            <p:ph type="sldNum" sz="quarter" idx="12"/>
          </p:nvPr>
        </p:nvSpPr>
        <p:spPr/>
        <p:txBody>
          <a:bodyPr/>
          <a:lstStyle/>
          <a:p>
            <a:fld id="{D8214FA6-4742-421D-8B19-2C99196BD091}" type="slidenum">
              <a:rPr lang="ru-RU" smtClean="0"/>
              <a:t>‹#›</a:t>
            </a:fld>
            <a:endParaRPr lang="ru-RU"/>
          </a:p>
        </p:txBody>
      </p:sp>
    </p:spTree>
    <p:extLst>
      <p:ext uri="{BB962C8B-B14F-4D97-AF65-F5344CB8AC3E}">
        <p14:creationId xmlns:p14="http://schemas.microsoft.com/office/powerpoint/2010/main" val="3859589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ECA700-C389-77AA-74FA-81FA969F2670}"/>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DECDA606-EB5B-7FCB-44F0-CA2536E68F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BF747B15-64B6-8203-1A8D-F1D877F99C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ED676EC0-29F2-863D-8A1B-43C103317607}"/>
              </a:ext>
            </a:extLst>
          </p:cNvPr>
          <p:cNvSpPr>
            <a:spLocks noGrp="1"/>
          </p:cNvSpPr>
          <p:nvPr>
            <p:ph type="dt" sz="half" idx="10"/>
          </p:nvPr>
        </p:nvSpPr>
        <p:spPr/>
        <p:txBody>
          <a:bodyPr/>
          <a:lstStyle/>
          <a:p>
            <a:fld id="{5EBFACF5-456D-444D-B15F-067D41C1EBA0}" type="datetime1">
              <a:rPr lang="ru-RU" smtClean="0"/>
              <a:t>09.04.2026</a:t>
            </a:fld>
            <a:endParaRPr lang="ru-RU"/>
          </a:p>
        </p:txBody>
      </p:sp>
      <p:sp>
        <p:nvSpPr>
          <p:cNvPr id="6" name="Нижний колонтитул 5">
            <a:extLst>
              <a:ext uri="{FF2B5EF4-FFF2-40B4-BE49-F238E27FC236}">
                <a16:creationId xmlns:a16="http://schemas.microsoft.com/office/drawing/2014/main" id="{B5507C46-890D-1223-91EC-DE00C50A0829}"/>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65DAE6EC-0B98-F52E-C0B6-C23DAEA936C9}"/>
              </a:ext>
            </a:extLst>
          </p:cNvPr>
          <p:cNvSpPr>
            <a:spLocks noGrp="1"/>
          </p:cNvSpPr>
          <p:nvPr>
            <p:ph type="sldNum" sz="quarter" idx="12"/>
          </p:nvPr>
        </p:nvSpPr>
        <p:spPr/>
        <p:txBody>
          <a:bodyPr/>
          <a:lstStyle/>
          <a:p>
            <a:fld id="{D8214FA6-4742-421D-8B19-2C99196BD091}" type="slidenum">
              <a:rPr lang="ru-RU" smtClean="0"/>
              <a:t>‹#›</a:t>
            </a:fld>
            <a:endParaRPr lang="ru-RU"/>
          </a:p>
        </p:txBody>
      </p:sp>
    </p:spTree>
    <p:extLst>
      <p:ext uri="{BB962C8B-B14F-4D97-AF65-F5344CB8AC3E}">
        <p14:creationId xmlns:p14="http://schemas.microsoft.com/office/powerpoint/2010/main" val="3150344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2C1AF7E-7FD7-F8CE-F0BB-2D54A79F008E}"/>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4F839A51-0A8C-15E4-6E47-7C5622F10E46}"/>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C980392-FF3E-2AF4-3004-8AE2EBC24D87}"/>
              </a:ext>
            </a:extLst>
          </p:cNvPr>
          <p:cNvSpPr>
            <a:spLocks noGrp="1"/>
          </p:cNvSpPr>
          <p:nvPr>
            <p:ph type="dt" sz="half" idx="10"/>
          </p:nvPr>
        </p:nvSpPr>
        <p:spPr/>
        <p:txBody>
          <a:bodyPr/>
          <a:lstStyle/>
          <a:p>
            <a:fld id="{F251E90A-E2CF-449A-A936-BDEAAD22FBF4}" type="datetime1">
              <a:rPr lang="ru-RU" smtClean="0"/>
              <a:t>09.04.2026</a:t>
            </a:fld>
            <a:endParaRPr lang="ru-RU"/>
          </a:p>
        </p:txBody>
      </p:sp>
      <p:sp>
        <p:nvSpPr>
          <p:cNvPr id="5" name="Нижний колонтитул 4">
            <a:extLst>
              <a:ext uri="{FF2B5EF4-FFF2-40B4-BE49-F238E27FC236}">
                <a16:creationId xmlns:a16="http://schemas.microsoft.com/office/drawing/2014/main" id="{D90F23AE-BB0E-1397-1190-E75BBBD302A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9C2F430-7AEB-608E-0835-BBC3D878ECE3}"/>
              </a:ext>
            </a:extLst>
          </p:cNvPr>
          <p:cNvSpPr>
            <a:spLocks noGrp="1"/>
          </p:cNvSpPr>
          <p:nvPr>
            <p:ph type="sldNum" sz="quarter" idx="12"/>
          </p:nvPr>
        </p:nvSpPr>
        <p:spPr/>
        <p:txBody>
          <a:bodyPr/>
          <a:lstStyle/>
          <a:p>
            <a:fld id="{D8214FA6-4742-421D-8B19-2C99196BD091}" type="slidenum">
              <a:rPr lang="ru-RU" smtClean="0"/>
              <a:t>‹#›</a:t>
            </a:fld>
            <a:endParaRPr lang="ru-RU"/>
          </a:p>
        </p:txBody>
      </p:sp>
    </p:spTree>
    <p:extLst>
      <p:ext uri="{BB962C8B-B14F-4D97-AF65-F5344CB8AC3E}">
        <p14:creationId xmlns:p14="http://schemas.microsoft.com/office/powerpoint/2010/main" val="2714605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3DC2F5C9-EF33-8015-6BDC-9623DD17BE2C}"/>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6CCFD21D-566F-1778-903C-D429D4C835EC}"/>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FC2B756-2386-0F6F-BCCB-300C650FDD99}"/>
              </a:ext>
            </a:extLst>
          </p:cNvPr>
          <p:cNvSpPr>
            <a:spLocks noGrp="1"/>
          </p:cNvSpPr>
          <p:nvPr>
            <p:ph type="dt" sz="half" idx="10"/>
          </p:nvPr>
        </p:nvSpPr>
        <p:spPr/>
        <p:txBody>
          <a:bodyPr/>
          <a:lstStyle/>
          <a:p>
            <a:fld id="{A330D511-6EC1-400E-AA0E-CF98495E3CE3}" type="datetime1">
              <a:rPr lang="ru-RU" smtClean="0"/>
              <a:t>09.04.2026</a:t>
            </a:fld>
            <a:endParaRPr lang="ru-RU"/>
          </a:p>
        </p:txBody>
      </p:sp>
      <p:sp>
        <p:nvSpPr>
          <p:cNvPr id="5" name="Нижний колонтитул 4">
            <a:extLst>
              <a:ext uri="{FF2B5EF4-FFF2-40B4-BE49-F238E27FC236}">
                <a16:creationId xmlns:a16="http://schemas.microsoft.com/office/drawing/2014/main" id="{85DF330E-BACF-7F08-ED9F-C70B6DEF6DD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3BC4C9FF-FE1D-86F3-8AC8-39837FDDFEF4}"/>
              </a:ext>
            </a:extLst>
          </p:cNvPr>
          <p:cNvSpPr>
            <a:spLocks noGrp="1"/>
          </p:cNvSpPr>
          <p:nvPr>
            <p:ph type="sldNum" sz="quarter" idx="12"/>
          </p:nvPr>
        </p:nvSpPr>
        <p:spPr/>
        <p:txBody>
          <a:bodyPr/>
          <a:lstStyle/>
          <a:p>
            <a:fld id="{D8214FA6-4742-421D-8B19-2C99196BD091}" type="slidenum">
              <a:rPr lang="ru-RU" smtClean="0"/>
              <a:t>‹#›</a:t>
            </a:fld>
            <a:endParaRPr lang="ru-RU"/>
          </a:p>
        </p:txBody>
      </p:sp>
    </p:spTree>
    <p:extLst>
      <p:ext uri="{BB962C8B-B14F-4D97-AF65-F5344CB8AC3E}">
        <p14:creationId xmlns:p14="http://schemas.microsoft.com/office/powerpoint/2010/main" val="2416721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8D08F5E-6953-9675-C53A-141D1AAAE5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dirty="0"/>
              <a:t>Образец заголовка</a:t>
            </a:r>
          </a:p>
        </p:txBody>
      </p:sp>
      <p:sp>
        <p:nvSpPr>
          <p:cNvPr id="3" name="Текст 2">
            <a:extLst>
              <a:ext uri="{FF2B5EF4-FFF2-40B4-BE49-F238E27FC236}">
                <a16:creationId xmlns:a16="http://schemas.microsoft.com/office/drawing/2014/main" id="{AD7B8AAA-E6C6-DE12-723C-59A3949237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E75C4D46-7613-F868-F5F0-D29A639649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Arial" panose="020B0604020202020204" pitchFamily="34" charset="0"/>
              </a:defRPr>
            </a:lvl1pPr>
          </a:lstStyle>
          <a:p>
            <a:fld id="{A1D3613B-B83E-4967-B36F-0783EA156D4F}" type="datetime1">
              <a:rPr lang="ru-RU" smtClean="0"/>
              <a:pPr/>
              <a:t>09.04.2026</a:t>
            </a:fld>
            <a:endParaRPr lang="ru-RU" dirty="0"/>
          </a:p>
        </p:txBody>
      </p:sp>
      <p:sp>
        <p:nvSpPr>
          <p:cNvPr id="5" name="Нижний колонтитул 4">
            <a:extLst>
              <a:ext uri="{FF2B5EF4-FFF2-40B4-BE49-F238E27FC236}">
                <a16:creationId xmlns:a16="http://schemas.microsoft.com/office/drawing/2014/main" id="{0B4A54A4-8467-F8C3-0F79-FA7AD9558F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Arial" panose="020B0604020202020204" pitchFamily="34" charset="0"/>
              </a:defRPr>
            </a:lvl1pPr>
          </a:lstStyle>
          <a:p>
            <a:endParaRPr lang="ru-RU" dirty="0"/>
          </a:p>
        </p:txBody>
      </p:sp>
      <p:sp>
        <p:nvSpPr>
          <p:cNvPr id="6" name="Номер слайда 5">
            <a:extLst>
              <a:ext uri="{FF2B5EF4-FFF2-40B4-BE49-F238E27FC236}">
                <a16:creationId xmlns:a16="http://schemas.microsoft.com/office/drawing/2014/main" id="{BAB6226F-7455-E006-9B1F-F52846DB0C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Arial" panose="020B0604020202020204" pitchFamily="34" charset="0"/>
              </a:defRPr>
            </a:lvl1pPr>
          </a:lstStyle>
          <a:p>
            <a:fld id="{D8214FA6-4742-421D-8B19-2C99196BD091}" type="slidenum">
              <a:rPr lang="ru-RU" smtClean="0"/>
              <a:pPr/>
              <a:t>‹#›</a:t>
            </a:fld>
            <a:endParaRPr lang="ru-RU" dirty="0"/>
          </a:p>
        </p:txBody>
      </p:sp>
    </p:spTree>
    <p:extLst>
      <p:ext uri="{BB962C8B-B14F-4D97-AF65-F5344CB8AC3E}">
        <p14:creationId xmlns:p14="http://schemas.microsoft.com/office/powerpoint/2010/main" val="13214478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8C2B95F-8F92-4BDA-C0D6-BDFAEE429F55}"/>
              </a:ext>
            </a:extLst>
          </p:cNvPr>
          <p:cNvSpPr>
            <a:spLocks noGrp="1"/>
          </p:cNvSpPr>
          <p:nvPr>
            <p:ph type="ctrTitle"/>
          </p:nvPr>
        </p:nvSpPr>
        <p:spPr>
          <a:xfrm>
            <a:off x="1116419" y="1122363"/>
            <a:ext cx="10217888" cy="2387600"/>
          </a:xfrm>
        </p:spPr>
        <p:txBody>
          <a:bodyPr>
            <a:normAutofit/>
          </a:bodyPr>
          <a:lstStyle/>
          <a:p>
            <a:r>
              <a:rPr lang="en-US" dirty="0">
                <a:latin typeface="Arial" panose="020B0604020202020204" pitchFamily="34" charset="0"/>
                <a:cs typeface="Arial" panose="020B0604020202020204" pitchFamily="34" charset="0"/>
              </a:rPr>
              <a:t>Lecture </a:t>
            </a:r>
            <a:r>
              <a:rPr lang="ru-RU" dirty="0">
                <a:latin typeface="Arial" panose="020B0604020202020204" pitchFamily="34" charset="0"/>
                <a:cs typeface="Arial" panose="020B0604020202020204" pitchFamily="34" charset="0"/>
              </a:rPr>
              <a:t>4</a:t>
            </a:r>
            <a:r>
              <a:rPr lang="en-US" dirty="0">
                <a:latin typeface="Arial" panose="020B0604020202020204" pitchFamily="34" charset="0"/>
                <a:cs typeface="Arial" panose="020B0604020202020204" pitchFamily="34" charset="0"/>
              </a:rPr>
              <a:t>. Systematic Analysis Methods</a:t>
            </a:r>
            <a:endParaRPr lang="ru-RU" dirty="0">
              <a:latin typeface="Arial" panose="020B0604020202020204" pitchFamily="34" charset="0"/>
              <a:cs typeface="Arial" panose="020B0604020202020204" pitchFamily="34" charset="0"/>
            </a:endParaRPr>
          </a:p>
        </p:txBody>
      </p:sp>
      <p:sp>
        <p:nvSpPr>
          <p:cNvPr id="3" name="Подзаголовок 2">
            <a:extLst>
              <a:ext uri="{FF2B5EF4-FFF2-40B4-BE49-F238E27FC236}">
                <a16:creationId xmlns:a16="http://schemas.microsoft.com/office/drawing/2014/main" id="{53C7CEDD-F2C9-E4A3-2059-EA99B38A1A95}"/>
              </a:ext>
            </a:extLst>
          </p:cNvPr>
          <p:cNvSpPr>
            <a:spLocks noGrp="1"/>
          </p:cNvSpPr>
          <p:nvPr>
            <p:ph type="subTitle" idx="1"/>
          </p:nvPr>
        </p:nvSpPr>
        <p:spPr/>
        <p:txBody>
          <a:bodyPr/>
          <a:lstStyle/>
          <a:p>
            <a:r>
              <a:rPr lang="en-US" dirty="0">
                <a:latin typeface="Arial" panose="020B0604020202020204" pitchFamily="34" charset="0"/>
                <a:cs typeface="Arial" panose="020B0604020202020204" pitchFamily="34" charset="0"/>
              </a:rPr>
              <a:t>Part (2). Analysis of Resistive Circuits</a:t>
            </a:r>
            <a:endParaRPr lang="ru-RU" dirty="0">
              <a:latin typeface="Arial" panose="020B0604020202020204" pitchFamily="34" charset="0"/>
              <a:cs typeface="Arial" panose="020B0604020202020204" pitchFamily="34" charset="0"/>
            </a:endParaRPr>
          </a:p>
        </p:txBody>
      </p:sp>
      <p:sp>
        <p:nvSpPr>
          <p:cNvPr id="4" name="Прямоугольный треугольник 3">
            <a:extLst>
              <a:ext uri="{FF2B5EF4-FFF2-40B4-BE49-F238E27FC236}">
                <a16:creationId xmlns:a16="http://schemas.microsoft.com/office/drawing/2014/main" id="{DB6EF3D4-C8F0-8823-0588-1203238073E4}"/>
              </a:ext>
            </a:extLst>
          </p:cNvPr>
          <p:cNvSpPr/>
          <p:nvPr/>
        </p:nvSpPr>
        <p:spPr>
          <a:xfrm>
            <a:off x="0" y="2828923"/>
            <a:ext cx="3751945" cy="4029077"/>
          </a:xfrm>
          <a:prstGeom prst="rtTriangle">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5" name="Прямоугольный треугольник 4">
            <a:extLst>
              <a:ext uri="{FF2B5EF4-FFF2-40B4-BE49-F238E27FC236}">
                <a16:creationId xmlns:a16="http://schemas.microsoft.com/office/drawing/2014/main" id="{7981C153-8561-4E73-1FA6-37C3C7D1520B}"/>
              </a:ext>
            </a:extLst>
          </p:cNvPr>
          <p:cNvSpPr/>
          <p:nvPr/>
        </p:nvSpPr>
        <p:spPr>
          <a:xfrm rot="10800000">
            <a:off x="8440055" y="9523"/>
            <a:ext cx="3751945" cy="4029077"/>
          </a:xfrm>
          <a:prstGeom prst="rtTriangle">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Tree>
    <p:extLst>
      <p:ext uri="{BB962C8B-B14F-4D97-AF65-F5344CB8AC3E}">
        <p14:creationId xmlns:p14="http://schemas.microsoft.com/office/powerpoint/2010/main" val="988633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3" name="Группа 2">
            <a:extLst>
              <a:ext uri="{FF2B5EF4-FFF2-40B4-BE49-F238E27FC236}">
                <a16:creationId xmlns:a16="http://schemas.microsoft.com/office/drawing/2014/main" id="{A3791F99-A33C-55D1-024E-272C7587DC45}"/>
              </a:ext>
            </a:extLst>
          </p:cNvPr>
          <p:cNvGrpSpPr/>
          <p:nvPr/>
        </p:nvGrpSpPr>
        <p:grpSpPr>
          <a:xfrm>
            <a:off x="0" y="0"/>
            <a:ext cx="12192000" cy="1690688"/>
            <a:chOff x="0" y="0"/>
            <a:chExt cx="12192000" cy="1690688"/>
          </a:xfrm>
        </p:grpSpPr>
        <p:sp>
          <p:nvSpPr>
            <p:cNvPr id="4" name="Прямоугольник 3">
              <a:extLst>
                <a:ext uri="{FF2B5EF4-FFF2-40B4-BE49-F238E27FC236}">
                  <a16:creationId xmlns:a16="http://schemas.microsoft.com/office/drawing/2014/main" id="{4770B3C2-EA99-E80B-3B80-CF2D720656BD}"/>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5" name="Прямоугольник: скругленные углы 4">
              <a:extLst>
                <a:ext uri="{FF2B5EF4-FFF2-40B4-BE49-F238E27FC236}">
                  <a16:creationId xmlns:a16="http://schemas.microsoft.com/office/drawing/2014/main" id="{54C0E6E2-7966-4848-BB1F-200AF90E13C8}"/>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Объект 7">
            <a:extLst>
              <a:ext uri="{FF2B5EF4-FFF2-40B4-BE49-F238E27FC236}">
                <a16:creationId xmlns:a16="http://schemas.microsoft.com/office/drawing/2014/main" id="{EB28B86A-F4DD-E49F-7E2B-7014795122AC}"/>
              </a:ext>
            </a:extLst>
          </p:cNvPr>
          <p:cNvSpPr>
            <a:spLocks noGrp="1"/>
          </p:cNvSpPr>
          <p:nvPr>
            <p:ph idx="1"/>
          </p:nvPr>
        </p:nvSpPr>
        <p:spPr/>
        <p:txBody>
          <a:bodyPr/>
          <a:lstStyle/>
          <a:p>
            <a:r>
              <a:rPr lang="en-US" dirty="0">
                <a:latin typeface="Arial" panose="020B0604020202020204" pitchFamily="34" charset="0"/>
                <a:cs typeface="Arial" panose="020B0604020202020204" pitchFamily="34" charset="0"/>
              </a:rPr>
              <a:t>Welcome back to our course on The Principle of Circuit. </a:t>
            </a:r>
          </a:p>
          <a:p>
            <a:r>
              <a:rPr lang="en-US" dirty="0">
                <a:latin typeface="Arial" panose="020B0604020202020204" pitchFamily="34" charset="0"/>
                <a:cs typeface="Arial" panose="020B0604020202020204" pitchFamily="34" charset="0"/>
              </a:rPr>
              <a:t>In our previous lectures, we established the fundamental behavior of ideal elements and explored how to simplify circuits using equivalent transformations, such as series, parallel, and Delta-Star conversions.</a:t>
            </a:r>
          </a:p>
          <a:p>
            <a:r>
              <a:rPr lang="en-US" dirty="0">
                <a:latin typeface="Arial" panose="020B0604020202020204" pitchFamily="34" charset="0"/>
                <a:cs typeface="Arial" panose="020B0604020202020204" pitchFamily="34" charset="0"/>
              </a:rPr>
              <a:t>However, not all circuits can be simplified using these basic reduction techniques. </a:t>
            </a:r>
          </a:p>
          <a:p>
            <a:r>
              <a:rPr lang="en-US" dirty="0">
                <a:latin typeface="Arial" panose="020B0604020202020204" pitchFamily="34" charset="0"/>
                <a:cs typeface="Arial" panose="020B0604020202020204" pitchFamily="34" charset="0"/>
              </a:rPr>
              <a:t>When we encounter complex networks with multiple sources and interconnections that are neither series nor parallel, we require more powerful mathematical tools.</a:t>
            </a:r>
          </a:p>
          <a:p>
            <a:endParaRPr lang="ru-RU" dirty="0">
              <a:latin typeface="Arial" panose="020B0604020202020204" pitchFamily="34" charset="0"/>
              <a:cs typeface="Arial" panose="020B0604020202020204" pitchFamily="34" charset="0"/>
            </a:endParaRPr>
          </a:p>
        </p:txBody>
      </p:sp>
      <p:sp>
        <p:nvSpPr>
          <p:cNvPr id="6" name="Номер слайда 5">
            <a:extLst>
              <a:ext uri="{FF2B5EF4-FFF2-40B4-BE49-F238E27FC236}">
                <a16:creationId xmlns:a16="http://schemas.microsoft.com/office/drawing/2014/main" id="{DE7DF558-F28D-0AC5-0567-33E68A19C5B1}"/>
              </a:ext>
            </a:extLst>
          </p:cNvPr>
          <p:cNvSpPr>
            <a:spLocks noGrp="1"/>
          </p:cNvSpPr>
          <p:nvPr>
            <p:ph type="sldNum" sz="quarter" idx="12"/>
          </p:nvPr>
        </p:nvSpPr>
        <p:spPr/>
        <p:txBody>
          <a:bodyPr/>
          <a:lstStyle/>
          <a:p>
            <a:fld id="{D8214FA6-4742-421D-8B19-2C99196BD091}" type="slidenum">
              <a:rPr lang="ru-RU" smtClean="0"/>
              <a:t>2</a:t>
            </a:fld>
            <a:endParaRPr lang="ru-RU"/>
          </a:p>
        </p:txBody>
      </p:sp>
    </p:spTree>
    <p:extLst>
      <p:ext uri="{BB962C8B-B14F-4D97-AF65-F5344CB8AC3E}">
        <p14:creationId xmlns:p14="http://schemas.microsoft.com/office/powerpoint/2010/main" val="1927760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97BCD-C777-AD7A-4077-B5B582ECA72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E739A7E-CCDF-E716-F48A-129146E16FA9}"/>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3" name="Группа 2">
            <a:extLst>
              <a:ext uri="{FF2B5EF4-FFF2-40B4-BE49-F238E27FC236}">
                <a16:creationId xmlns:a16="http://schemas.microsoft.com/office/drawing/2014/main" id="{82C7D2BE-9DDA-B030-04DB-8BD542234701}"/>
              </a:ext>
            </a:extLst>
          </p:cNvPr>
          <p:cNvGrpSpPr/>
          <p:nvPr/>
        </p:nvGrpSpPr>
        <p:grpSpPr>
          <a:xfrm>
            <a:off x="0" y="0"/>
            <a:ext cx="12192000" cy="1690688"/>
            <a:chOff x="0" y="0"/>
            <a:chExt cx="12192000" cy="1690688"/>
          </a:xfrm>
        </p:grpSpPr>
        <p:sp>
          <p:nvSpPr>
            <p:cNvPr id="4" name="Прямоугольник 3">
              <a:extLst>
                <a:ext uri="{FF2B5EF4-FFF2-40B4-BE49-F238E27FC236}">
                  <a16:creationId xmlns:a16="http://schemas.microsoft.com/office/drawing/2014/main" id="{AB7ABB76-2C30-984A-B98A-9F0ADFE39743}"/>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5" name="Прямоугольник: скругленные углы 4">
              <a:extLst>
                <a:ext uri="{FF2B5EF4-FFF2-40B4-BE49-F238E27FC236}">
                  <a16:creationId xmlns:a16="http://schemas.microsoft.com/office/drawing/2014/main" id="{6CD9AC82-79C3-0B3D-902D-A9C10413EFBE}"/>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Объект 7">
            <a:extLst>
              <a:ext uri="{FF2B5EF4-FFF2-40B4-BE49-F238E27FC236}">
                <a16:creationId xmlns:a16="http://schemas.microsoft.com/office/drawing/2014/main" id="{8937F7AD-17C4-1A5E-6A0B-81D4B031E87F}"/>
              </a:ext>
            </a:extLst>
          </p:cNvPr>
          <p:cNvSpPr>
            <a:spLocks noGrp="1"/>
          </p:cNvSpPr>
          <p:nvPr>
            <p:ph idx="1"/>
          </p:nvPr>
        </p:nvSpPr>
        <p:spPr/>
        <p:txBody>
          <a:bodyPr/>
          <a:lstStyle/>
          <a:p>
            <a:r>
              <a:rPr lang="en-US" dirty="0">
                <a:latin typeface="Arial" panose="020B0604020202020204" pitchFamily="34" charset="0"/>
                <a:cs typeface="Arial" panose="020B0604020202020204" pitchFamily="34" charset="0"/>
              </a:rPr>
              <a:t>But first of all, let’s review the example of Y-</a:t>
            </a:r>
            <a:r>
              <a:rPr lang="el-GR" dirty="0">
                <a:latin typeface="Arial" panose="020B0604020202020204" pitchFamily="34" charset="0"/>
                <a:cs typeface="Arial" panose="020B0604020202020204" pitchFamily="34" charset="0"/>
              </a:rPr>
              <a:t>Δ</a:t>
            </a:r>
            <a:r>
              <a:rPr lang="en-US" dirty="0">
                <a:latin typeface="Arial" panose="020B0604020202020204" pitchFamily="34" charset="0"/>
                <a:cs typeface="Arial" panose="020B0604020202020204" pitchFamily="34" charset="0"/>
              </a:rPr>
              <a:t> transform because it is not so obvious to understand</a:t>
            </a:r>
            <a:endParaRPr lang="ru-RU" dirty="0">
              <a:latin typeface="Arial" panose="020B0604020202020204" pitchFamily="34" charset="0"/>
              <a:cs typeface="Arial" panose="020B0604020202020204" pitchFamily="34" charset="0"/>
            </a:endParaRPr>
          </a:p>
        </p:txBody>
      </p:sp>
      <p:sp>
        <p:nvSpPr>
          <p:cNvPr id="6" name="Номер слайда 5">
            <a:extLst>
              <a:ext uri="{FF2B5EF4-FFF2-40B4-BE49-F238E27FC236}">
                <a16:creationId xmlns:a16="http://schemas.microsoft.com/office/drawing/2014/main" id="{7CD99F20-FA83-366A-4EF3-F954AF66F191}"/>
              </a:ext>
            </a:extLst>
          </p:cNvPr>
          <p:cNvSpPr>
            <a:spLocks noGrp="1"/>
          </p:cNvSpPr>
          <p:nvPr>
            <p:ph type="sldNum" sz="quarter" idx="12"/>
          </p:nvPr>
        </p:nvSpPr>
        <p:spPr/>
        <p:txBody>
          <a:bodyPr/>
          <a:lstStyle/>
          <a:p>
            <a:fld id="{D8214FA6-4742-421D-8B19-2C99196BD091}" type="slidenum">
              <a:rPr lang="ru-RU" smtClean="0"/>
              <a:t>3</a:t>
            </a:fld>
            <a:endParaRPr lang="ru-RU"/>
          </a:p>
        </p:txBody>
      </p:sp>
      <p:pic>
        <p:nvPicPr>
          <p:cNvPr id="9" name="Рисунок 8">
            <a:extLst>
              <a:ext uri="{FF2B5EF4-FFF2-40B4-BE49-F238E27FC236}">
                <a16:creationId xmlns:a16="http://schemas.microsoft.com/office/drawing/2014/main" id="{76BC85F2-B0D0-609D-A4F6-D8924E0B1DF4}"/>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876533" y="3045370"/>
            <a:ext cx="8143964" cy="3085271"/>
          </a:xfrm>
          <a:prstGeom prst="rect">
            <a:avLst/>
          </a:prstGeom>
        </p:spPr>
      </p:pic>
    </p:spTree>
    <p:extLst>
      <p:ext uri="{BB962C8B-B14F-4D97-AF65-F5344CB8AC3E}">
        <p14:creationId xmlns:p14="http://schemas.microsoft.com/office/powerpoint/2010/main" val="1386252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6CC78-1897-A830-FB40-BE70AABA9F4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1A5DDB6-1E68-65F9-45C4-805823C7C699}"/>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3" name="Группа 2">
            <a:extLst>
              <a:ext uri="{FF2B5EF4-FFF2-40B4-BE49-F238E27FC236}">
                <a16:creationId xmlns:a16="http://schemas.microsoft.com/office/drawing/2014/main" id="{70A7144F-BE8A-4691-27EB-0A2F2B557F1C}"/>
              </a:ext>
            </a:extLst>
          </p:cNvPr>
          <p:cNvGrpSpPr/>
          <p:nvPr/>
        </p:nvGrpSpPr>
        <p:grpSpPr>
          <a:xfrm>
            <a:off x="0" y="0"/>
            <a:ext cx="12192000" cy="1690688"/>
            <a:chOff x="0" y="0"/>
            <a:chExt cx="12192000" cy="1690688"/>
          </a:xfrm>
        </p:grpSpPr>
        <p:sp>
          <p:nvSpPr>
            <p:cNvPr id="4" name="Прямоугольник 3">
              <a:extLst>
                <a:ext uri="{FF2B5EF4-FFF2-40B4-BE49-F238E27FC236}">
                  <a16:creationId xmlns:a16="http://schemas.microsoft.com/office/drawing/2014/main" id="{AAF366D6-DC6C-9664-1B61-4AE8095BA8A9}"/>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5" name="Прямоугольник: скругленные углы 4">
              <a:extLst>
                <a:ext uri="{FF2B5EF4-FFF2-40B4-BE49-F238E27FC236}">
                  <a16:creationId xmlns:a16="http://schemas.microsoft.com/office/drawing/2014/main" id="{819539D5-F09C-40C2-B07B-61DA0D4F804B}"/>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Объект 7">
            <a:extLst>
              <a:ext uri="{FF2B5EF4-FFF2-40B4-BE49-F238E27FC236}">
                <a16:creationId xmlns:a16="http://schemas.microsoft.com/office/drawing/2014/main" id="{4A4BCECF-38D5-FF78-5827-BC04714A70AE}"/>
              </a:ext>
            </a:extLst>
          </p:cNvPr>
          <p:cNvSpPr>
            <a:spLocks noGrp="1"/>
          </p:cNvSpPr>
          <p:nvPr>
            <p:ph idx="1"/>
          </p:nvPr>
        </p:nvSpPr>
        <p:spPr>
          <a:xfrm>
            <a:off x="838200" y="1825625"/>
            <a:ext cx="10984832" cy="4351338"/>
          </a:xfrm>
        </p:spPr>
        <p:txBody>
          <a:bodyPr/>
          <a:lstStyle/>
          <a:p>
            <a:r>
              <a:rPr lang="en-US" dirty="0">
                <a:latin typeface="Arial" panose="020B0604020202020204" pitchFamily="34" charset="0"/>
                <a:cs typeface="Arial" panose="020B0604020202020204" pitchFamily="34" charset="0"/>
              </a:rPr>
              <a:t>So, we can designate the resistors AC, BC and AB at the </a:t>
            </a:r>
            <a:r>
              <a:rPr lang="el-GR" dirty="0">
                <a:latin typeface="Arial" panose="020B0604020202020204" pitchFamily="34" charset="0"/>
                <a:cs typeface="Arial" panose="020B0604020202020204" pitchFamily="34" charset="0"/>
              </a:rPr>
              <a:t>Δ</a:t>
            </a:r>
            <a:r>
              <a:rPr lang="en-US" dirty="0">
                <a:latin typeface="Arial" panose="020B0604020202020204" pitchFamily="34" charset="0"/>
                <a:cs typeface="Arial" panose="020B0604020202020204" pitchFamily="34" charset="0"/>
              </a:rPr>
              <a:t>-circuit and </a:t>
            </a:r>
            <a:r>
              <a:rPr lang="en-US" dirty="0" err="1">
                <a:latin typeface="Arial" panose="020B0604020202020204" pitchFamily="34" charset="0"/>
                <a:cs typeface="Arial" panose="020B0604020202020204" pitchFamily="34" charset="0"/>
              </a:rPr>
              <a:t>az</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bz</a:t>
            </a:r>
            <a:r>
              <a:rPr lang="en-US" dirty="0">
                <a:cs typeface="Arial" panose="020B0604020202020204" pitchFamily="34" charset="0"/>
              </a:rPr>
              <a:t> and </a:t>
            </a:r>
            <a:r>
              <a:rPr lang="en-US" dirty="0" err="1">
                <a:cs typeface="Arial" panose="020B0604020202020204" pitchFamily="34" charset="0"/>
              </a:rPr>
              <a:t>cz</a:t>
            </a:r>
            <a:r>
              <a:rPr lang="en-US" dirty="0">
                <a:cs typeface="Arial" panose="020B0604020202020204" pitchFamily="34" charset="0"/>
              </a:rPr>
              <a:t> at the Y-circuit to make the formulas look more geometric, now we are talking about resistors between two points.</a:t>
            </a:r>
          </a:p>
          <a:p>
            <a:r>
              <a:rPr lang="en-US" dirty="0">
                <a:latin typeface="Arial" panose="020B0604020202020204" pitchFamily="34" charset="0"/>
                <a:cs typeface="Arial" panose="020B0604020202020204" pitchFamily="34" charset="0"/>
              </a:rPr>
              <a:t>T</a:t>
            </a:r>
            <a:r>
              <a:rPr lang="en-US" dirty="0">
                <a:cs typeface="Arial" panose="020B0604020202020204" pitchFamily="34" charset="0"/>
              </a:rPr>
              <a:t>hese formulas can be written as on the slide</a:t>
            </a:r>
            <a:endParaRPr lang="ru-RU" dirty="0">
              <a:latin typeface="Arial" panose="020B0604020202020204" pitchFamily="34" charset="0"/>
              <a:cs typeface="Arial" panose="020B0604020202020204" pitchFamily="34" charset="0"/>
            </a:endParaRPr>
          </a:p>
        </p:txBody>
      </p:sp>
      <p:sp>
        <p:nvSpPr>
          <p:cNvPr id="6" name="Номер слайда 5">
            <a:extLst>
              <a:ext uri="{FF2B5EF4-FFF2-40B4-BE49-F238E27FC236}">
                <a16:creationId xmlns:a16="http://schemas.microsoft.com/office/drawing/2014/main" id="{F0B384E0-FC8C-BDCB-68CA-95FABD63E1F8}"/>
              </a:ext>
            </a:extLst>
          </p:cNvPr>
          <p:cNvSpPr>
            <a:spLocks noGrp="1"/>
          </p:cNvSpPr>
          <p:nvPr>
            <p:ph type="sldNum" sz="quarter" idx="12"/>
          </p:nvPr>
        </p:nvSpPr>
        <p:spPr/>
        <p:txBody>
          <a:bodyPr/>
          <a:lstStyle/>
          <a:p>
            <a:fld id="{D8214FA6-4742-421D-8B19-2C99196BD091}" type="slidenum">
              <a:rPr lang="ru-RU" smtClean="0"/>
              <a:t>4</a:t>
            </a:fld>
            <a:endParaRPr lang="ru-RU"/>
          </a:p>
        </p:txBody>
      </p:sp>
      <p:pic>
        <p:nvPicPr>
          <p:cNvPr id="7" name="Рисунок 6">
            <a:extLst>
              <a:ext uri="{FF2B5EF4-FFF2-40B4-BE49-F238E27FC236}">
                <a16:creationId xmlns:a16="http://schemas.microsoft.com/office/drawing/2014/main" id="{406976AA-F808-A50C-E3F5-186725FD43AD}"/>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2066501" y="3565525"/>
            <a:ext cx="8058997" cy="3292475"/>
          </a:xfrm>
          <a:prstGeom prst="rect">
            <a:avLst/>
          </a:prstGeom>
        </p:spPr>
      </p:pic>
    </p:spTree>
    <p:extLst>
      <p:ext uri="{BB962C8B-B14F-4D97-AF65-F5344CB8AC3E}">
        <p14:creationId xmlns:p14="http://schemas.microsoft.com/office/powerpoint/2010/main" val="1807697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46F8E-0802-3960-BF94-3A3D09D504E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4B55DA4-7479-3F52-9844-64C2D4FE4207}"/>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3" name="Группа 2">
            <a:extLst>
              <a:ext uri="{FF2B5EF4-FFF2-40B4-BE49-F238E27FC236}">
                <a16:creationId xmlns:a16="http://schemas.microsoft.com/office/drawing/2014/main" id="{3688316C-CA80-92D9-B1AE-D4B9AEB0F272}"/>
              </a:ext>
            </a:extLst>
          </p:cNvPr>
          <p:cNvGrpSpPr/>
          <p:nvPr/>
        </p:nvGrpSpPr>
        <p:grpSpPr>
          <a:xfrm>
            <a:off x="0" y="0"/>
            <a:ext cx="12192000" cy="1690688"/>
            <a:chOff x="0" y="0"/>
            <a:chExt cx="12192000" cy="1690688"/>
          </a:xfrm>
        </p:grpSpPr>
        <p:sp>
          <p:nvSpPr>
            <p:cNvPr id="4" name="Прямоугольник 3">
              <a:extLst>
                <a:ext uri="{FF2B5EF4-FFF2-40B4-BE49-F238E27FC236}">
                  <a16:creationId xmlns:a16="http://schemas.microsoft.com/office/drawing/2014/main" id="{7CE34ACC-75E2-C081-7BEF-88B577BC3CBC}"/>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5" name="Прямоугольник: скругленные углы 4">
              <a:extLst>
                <a:ext uri="{FF2B5EF4-FFF2-40B4-BE49-F238E27FC236}">
                  <a16:creationId xmlns:a16="http://schemas.microsoft.com/office/drawing/2014/main" id="{26E0D91C-931D-5695-68E9-A59C44E07C68}"/>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Объект 7">
            <a:extLst>
              <a:ext uri="{FF2B5EF4-FFF2-40B4-BE49-F238E27FC236}">
                <a16:creationId xmlns:a16="http://schemas.microsoft.com/office/drawing/2014/main" id="{945A2F10-8A24-1946-0346-CF618357F3E5}"/>
              </a:ext>
            </a:extLst>
          </p:cNvPr>
          <p:cNvSpPr>
            <a:spLocks noGrp="1"/>
          </p:cNvSpPr>
          <p:nvPr>
            <p:ph idx="1"/>
          </p:nvPr>
        </p:nvSpPr>
        <p:spPr/>
        <p:txBody>
          <a:bodyPr/>
          <a:lstStyle/>
          <a:p>
            <a:r>
              <a:rPr lang="en-US" dirty="0">
                <a:latin typeface="Arial" panose="020B0604020202020204" pitchFamily="34" charset="0"/>
                <a:cs typeface="Arial" panose="020B0604020202020204" pitchFamily="34" charset="0"/>
              </a:rPr>
              <a:t>Let’s apply these formulas to transform </a:t>
            </a:r>
            <a:r>
              <a:rPr lang="el-GR" dirty="0">
                <a:latin typeface="Arial" panose="020B0604020202020204" pitchFamily="34" charset="0"/>
                <a:cs typeface="Arial" panose="020B0604020202020204" pitchFamily="34" charset="0"/>
              </a:rPr>
              <a:t>Δ</a:t>
            </a:r>
            <a:r>
              <a:rPr lang="en-US" dirty="0">
                <a:latin typeface="Arial" panose="020B0604020202020204" pitchFamily="34" charset="0"/>
                <a:cs typeface="Arial" panose="020B0604020202020204" pitchFamily="34" charset="0"/>
              </a:rPr>
              <a:t> to Y circuit</a:t>
            </a:r>
            <a:endParaRPr lang="ru-RU" dirty="0">
              <a:latin typeface="Arial" panose="020B0604020202020204" pitchFamily="34" charset="0"/>
              <a:cs typeface="Arial" panose="020B0604020202020204" pitchFamily="34" charset="0"/>
            </a:endParaRPr>
          </a:p>
        </p:txBody>
      </p:sp>
      <p:sp>
        <p:nvSpPr>
          <p:cNvPr id="6" name="Номер слайда 5">
            <a:extLst>
              <a:ext uri="{FF2B5EF4-FFF2-40B4-BE49-F238E27FC236}">
                <a16:creationId xmlns:a16="http://schemas.microsoft.com/office/drawing/2014/main" id="{416050E2-1FA7-702F-1E4F-CC8DAB1522D8}"/>
              </a:ext>
            </a:extLst>
          </p:cNvPr>
          <p:cNvSpPr>
            <a:spLocks noGrp="1"/>
          </p:cNvSpPr>
          <p:nvPr>
            <p:ph type="sldNum" sz="quarter" idx="12"/>
          </p:nvPr>
        </p:nvSpPr>
        <p:spPr/>
        <p:txBody>
          <a:bodyPr/>
          <a:lstStyle/>
          <a:p>
            <a:fld id="{D8214FA6-4742-421D-8B19-2C99196BD091}" type="slidenum">
              <a:rPr lang="ru-RU" smtClean="0"/>
              <a:t>5</a:t>
            </a:fld>
            <a:endParaRPr lang="ru-RU"/>
          </a:p>
        </p:txBody>
      </p:sp>
      <p:pic>
        <p:nvPicPr>
          <p:cNvPr id="7" name="Рисунок 6">
            <a:extLst>
              <a:ext uri="{FF2B5EF4-FFF2-40B4-BE49-F238E27FC236}">
                <a16:creationId xmlns:a16="http://schemas.microsoft.com/office/drawing/2014/main" id="{7352F17D-8A24-9FD4-3F0D-9394DD43477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2610323"/>
            <a:ext cx="12192000" cy="3438769"/>
          </a:xfrm>
          <a:prstGeom prst="rect">
            <a:avLst/>
          </a:prstGeom>
        </p:spPr>
      </p:pic>
    </p:spTree>
    <p:extLst>
      <p:ext uri="{BB962C8B-B14F-4D97-AF65-F5344CB8AC3E}">
        <p14:creationId xmlns:p14="http://schemas.microsoft.com/office/powerpoint/2010/main" val="3095179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A66F0-9033-29DE-7950-EA1010B543F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C2639D-61A8-69EF-0D01-8FF6984BB42F}"/>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3" name="Группа 2">
            <a:extLst>
              <a:ext uri="{FF2B5EF4-FFF2-40B4-BE49-F238E27FC236}">
                <a16:creationId xmlns:a16="http://schemas.microsoft.com/office/drawing/2014/main" id="{300C6E15-F809-E3C7-9227-EC180A36C9C9}"/>
              </a:ext>
            </a:extLst>
          </p:cNvPr>
          <p:cNvGrpSpPr/>
          <p:nvPr/>
        </p:nvGrpSpPr>
        <p:grpSpPr>
          <a:xfrm>
            <a:off x="0" y="0"/>
            <a:ext cx="12192000" cy="1690688"/>
            <a:chOff x="0" y="0"/>
            <a:chExt cx="12192000" cy="1690688"/>
          </a:xfrm>
        </p:grpSpPr>
        <p:sp>
          <p:nvSpPr>
            <p:cNvPr id="4" name="Прямоугольник 3">
              <a:extLst>
                <a:ext uri="{FF2B5EF4-FFF2-40B4-BE49-F238E27FC236}">
                  <a16:creationId xmlns:a16="http://schemas.microsoft.com/office/drawing/2014/main" id="{5AF52873-B59F-EDB0-C127-9738DF245B50}"/>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5" name="Прямоугольник: скругленные углы 4">
              <a:extLst>
                <a:ext uri="{FF2B5EF4-FFF2-40B4-BE49-F238E27FC236}">
                  <a16:creationId xmlns:a16="http://schemas.microsoft.com/office/drawing/2014/main" id="{36AD2EAC-1787-6D2F-EC85-34163A41C038}"/>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Объект 7">
            <a:extLst>
              <a:ext uri="{FF2B5EF4-FFF2-40B4-BE49-F238E27FC236}">
                <a16:creationId xmlns:a16="http://schemas.microsoft.com/office/drawing/2014/main" id="{71EC6E96-88A4-9576-4F00-2AB50C90E9DB}"/>
              </a:ext>
            </a:extLst>
          </p:cNvPr>
          <p:cNvSpPr>
            <a:spLocks noGrp="1"/>
          </p:cNvSpPr>
          <p:nvPr>
            <p:ph idx="1"/>
          </p:nvPr>
        </p:nvSpPr>
        <p:spPr>
          <a:xfrm>
            <a:off x="838199" y="1825625"/>
            <a:ext cx="10793361" cy="4351338"/>
          </a:xfrm>
        </p:spPr>
        <p:txBody>
          <a:bodyPr/>
          <a:lstStyle/>
          <a:p>
            <a:r>
              <a:rPr lang="en-US" dirty="0">
                <a:latin typeface="Arial" panose="020B0604020202020204" pitchFamily="34" charset="0"/>
                <a:cs typeface="Arial" panose="020B0604020202020204" pitchFamily="34" charset="0"/>
              </a:rPr>
              <a:t>Therefore, we will have the new Y-circuit, equivalent to the </a:t>
            </a:r>
            <a:r>
              <a:rPr lang="el-GR" dirty="0">
                <a:latin typeface="Arial" panose="020B0604020202020204" pitchFamily="34" charset="0"/>
                <a:cs typeface="Arial" panose="020B0604020202020204" pitchFamily="34" charset="0"/>
              </a:rPr>
              <a:t>Δ</a:t>
            </a:r>
            <a:r>
              <a:rPr lang="en-US" dirty="0">
                <a:latin typeface="Arial" panose="020B0604020202020204" pitchFamily="34" charset="0"/>
                <a:cs typeface="Arial" panose="020B0604020202020204" pitchFamily="34" charset="0"/>
              </a:rPr>
              <a:t> one</a:t>
            </a:r>
            <a:endParaRPr lang="ru-RU" dirty="0">
              <a:latin typeface="Arial" panose="020B0604020202020204" pitchFamily="34" charset="0"/>
              <a:cs typeface="Arial" panose="020B0604020202020204" pitchFamily="34" charset="0"/>
            </a:endParaRPr>
          </a:p>
        </p:txBody>
      </p:sp>
      <p:sp>
        <p:nvSpPr>
          <p:cNvPr id="6" name="Номер слайда 5">
            <a:extLst>
              <a:ext uri="{FF2B5EF4-FFF2-40B4-BE49-F238E27FC236}">
                <a16:creationId xmlns:a16="http://schemas.microsoft.com/office/drawing/2014/main" id="{08EAB172-FEE1-475D-D876-3605FC769626}"/>
              </a:ext>
            </a:extLst>
          </p:cNvPr>
          <p:cNvSpPr>
            <a:spLocks noGrp="1"/>
          </p:cNvSpPr>
          <p:nvPr>
            <p:ph type="sldNum" sz="quarter" idx="12"/>
          </p:nvPr>
        </p:nvSpPr>
        <p:spPr/>
        <p:txBody>
          <a:bodyPr/>
          <a:lstStyle/>
          <a:p>
            <a:fld id="{D8214FA6-4742-421D-8B19-2C99196BD091}" type="slidenum">
              <a:rPr lang="ru-RU" smtClean="0"/>
              <a:t>6</a:t>
            </a:fld>
            <a:endParaRPr lang="ru-RU"/>
          </a:p>
        </p:txBody>
      </p:sp>
      <p:pic>
        <p:nvPicPr>
          <p:cNvPr id="9" name="Рисунок 8">
            <a:extLst>
              <a:ext uri="{FF2B5EF4-FFF2-40B4-BE49-F238E27FC236}">
                <a16:creationId xmlns:a16="http://schemas.microsoft.com/office/drawing/2014/main" id="{C5855599-1564-E41F-C660-E40C05467C32}"/>
              </a:ext>
            </a:extLst>
          </p:cNvPr>
          <p:cNvPicPr>
            <a:picLocks noChangeAspect="1"/>
          </p:cNvPicPr>
          <p:nvPr/>
        </p:nvPicPr>
        <p:blipFill>
          <a:blip r:embed="rId2"/>
          <a:stretch>
            <a:fillRect/>
          </a:stretch>
        </p:blipFill>
        <p:spPr>
          <a:xfrm>
            <a:off x="827940" y="2379915"/>
            <a:ext cx="10536120" cy="3886742"/>
          </a:xfrm>
          <a:prstGeom prst="rect">
            <a:avLst/>
          </a:prstGeom>
        </p:spPr>
      </p:pic>
    </p:spTree>
    <p:extLst>
      <p:ext uri="{BB962C8B-B14F-4D97-AF65-F5344CB8AC3E}">
        <p14:creationId xmlns:p14="http://schemas.microsoft.com/office/powerpoint/2010/main" val="4190817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A746D-BB82-6DF1-8A79-F0A5E405D47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2E86B51-1CE4-7C3A-8360-83A4287B8427}"/>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3" name="Группа 2">
            <a:extLst>
              <a:ext uri="{FF2B5EF4-FFF2-40B4-BE49-F238E27FC236}">
                <a16:creationId xmlns:a16="http://schemas.microsoft.com/office/drawing/2014/main" id="{5DFF5DC7-4E9C-0576-735A-059A76B5AD42}"/>
              </a:ext>
            </a:extLst>
          </p:cNvPr>
          <p:cNvGrpSpPr/>
          <p:nvPr/>
        </p:nvGrpSpPr>
        <p:grpSpPr>
          <a:xfrm>
            <a:off x="0" y="0"/>
            <a:ext cx="12192000" cy="1690688"/>
            <a:chOff x="0" y="0"/>
            <a:chExt cx="12192000" cy="1690688"/>
          </a:xfrm>
        </p:grpSpPr>
        <p:sp>
          <p:nvSpPr>
            <p:cNvPr id="4" name="Прямоугольник 3">
              <a:extLst>
                <a:ext uri="{FF2B5EF4-FFF2-40B4-BE49-F238E27FC236}">
                  <a16:creationId xmlns:a16="http://schemas.microsoft.com/office/drawing/2014/main" id="{4EC3C02C-F833-9E74-5355-6839E676C924}"/>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5" name="Прямоугольник: скругленные углы 4">
              <a:extLst>
                <a:ext uri="{FF2B5EF4-FFF2-40B4-BE49-F238E27FC236}">
                  <a16:creationId xmlns:a16="http://schemas.microsoft.com/office/drawing/2014/main" id="{F900736A-5378-5719-B402-7015A76B58EC}"/>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Объект 7">
            <a:extLst>
              <a:ext uri="{FF2B5EF4-FFF2-40B4-BE49-F238E27FC236}">
                <a16:creationId xmlns:a16="http://schemas.microsoft.com/office/drawing/2014/main" id="{2AD4C36F-C749-8C87-AEA2-786785696326}"/>
              </a:ext>
            </a:extLst>
          </p:cNvPr>
          <p:cNvSpPr>
            <a:spLocks noGrp="1"/>
          </p:cNvSpPr>
          <p:nvPr>
            <p:ph idx="1"/>
          </p:nvPr>
        </p:nvSpPr>
        <p:spPr/>
        <p:txBody>
          <a:bodyPr/>
          <a:lstStyle/>
          <a:p>
            <a:r>
              <a:rPr lang="en-US" dirty="0">
                <a:latin typeface="Arial" panose="020B0604020202020204" pitchFamily="34" charset="0"/>
                <a:cs typeface="Arial" panose="020B0604020202020204" pitchFamily="34" charset="0"/>
              </a:rPr>
              <a:t>And now let’s try an Y-</a:t>
            </a:r>
            <a:r>
              <a:rPr lang="el-GR" dirty="0">
                <a:latin typeface="Arial" panose="020B0604020202020204" pitchFamily="34" charset="0"/>
                <a:cs typeface="Arial" panose="020B0604020202020204" pitchFamily="34" charset="0"/>
              </a:rPr>
              <a:t>Δ</a:t>
            </a:r>
            <a:r>
              <a:rPr lang="en-US" dirty="0">
                <a:latin typeface="Arial" panose="020B0604020202020204" pitchFamily="34" charset="0"/>
                <a:cs typeface="Arial" panose="020B0604020202020204" pitchFamily="34" charset="0"/>
              </a:rPr>
              <a:t> transform</a:t>
            </a:r>
            <a:endParaRPr lang="ru-RU" dirty="0">
              <a:latin typeface="Arial" panose="020B0604020202020204" pitchFamily="34" charset="0"/>
              <a:cs typeface="Arial" panose="020B0604020202020204" pitchFamily="34" charset="0"/>
            </a:endParaRPr>
          </a:p>
        </p:txBody>
      </p:sp>
      <p:sp>
        <p:nvSpPr>
          <p:cNvPr id="6" name="Номер слайда 5">
            <a:extLst>
              <a:ext uri="{FF2B5EF4-FFF2-40B4-BE49-F238E27FC236}">
                <a16:creationId xmlns:a16="http://schemas.microsoft.com/office/drawing/2014/main" id="{5B2D7D97-358F-D7C3-2D4F-2BD1F5597683}"/>
              </a:ext>
            </a:extLst>
          </p:cNvPr>
          <p:cNvSpPr>
            <a:spLocks noGrp="1"/>
          </p:cNvSpPr>
          <p:nvPr>
            <p:ph type="sldNum" sz="quarter" idx="12"/>
          </p:nvPr>
        </p:nvSpPr>
        <p:spPr/>
        <p:txBody>
          <a:bodyPr/>
          <a:lstStyle/>
          <a:p>
            <a:fld id="{D8214FA6-4742-421D-8B19-2C99196BD091}" type="slidenum">
              <a:rPr lang="ru-RU" smtClean="0"/>
              <a:t>7</a:t>
            </a:fld>
            <a:endParaRPr lang="ru-RU"/>
          </a:p>
        </p:txBody>
      </p:sp>
      <p:pic>
        <p:nvPicPr>
          <p:cNvPr id="7" name="Рисунок 6">
            <a:extLst>
              <a:ext uri="{FF2B5EF4-FFF2-40B4-BE49-F238E27FC236}">
                <a16:creationId xmlns:a16="http://schemas.microsoft.com/office/drawing/2014/main" id="{29D36D25-1628-0D03-34D6-6AC1578C1748}"/>
              </a:ext>
            </a:extLst>
          </p:cNvPr>
          <p:cNvPicPr>
            <a:picLocks noChangeAspect="1"/>
          </p:cNvPicPr>
          <p:nvPr/>
        </p:nvPicPr>
        <p:blipFill>
          <a:blip r:embed="rId2"/>
          <a:stretch>
            <a:fillRect/>
          </a:stretch>
        </p:blipFill>
        <p:spPr>
          <a:xfrm>
            <a:off x="0" y="2556958"/>
            <a:ext cx="11726912" cy="3620005"/>
          </a:xfrm>
          <a:prstGeom prst="rect">
            <a:avLst/>
          </a:prstGeom>
        </p:spPr>
      </p:pic>
    </p:spTree>
    <p:extLst>
      <p:ext uri="{BB962C8B-B14F-4D97-AF65-F5344CB8AC3E}">
        <p14:creationId xmlns:p14="http://schemas.microsoft.com/office/powerpoint/2010/main" val="956230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4D9E2-B96F-ADF3-CA6F-8387372997F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4B3C97-C56C-1671-6F87-2818E42B3F39}"/>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3" name="Группа 2">
            <a:extLst>
              <a:ext uri="{FF2B5EF4-FFF2-40B4-BE49-F238E27FC236}">
                <a16:creationId xmlns:a16="http://schemas.microsoft.com/office/drawing/2014/main" id="{F5CCB4F5-9322-B428-91FB-2A5FAE5F7D7B}"/>
              </a:ext>
            </a:extLst>
          </p:cNvPr>
          <p:cNvGrpSpPr/>
          <p:nvPr/>
        </p:nvGrpSpPr>
        <p:grpSpPr>
          <a:xfrm>
            <a:off x="0" y="0"/>
            <a:ext cx="12192000" cy="1690688"/>
            <a:chOff x="0" y="0"/>
            <a:chExt cx="12192000" cy="1690688"/>
          </a:xfrm>
        </p:grpSpPr>
        <p:sp>
          <p:nvSpPr>
            <p:cNvPr id="4" name="Прямоугольник 3">
              <a:extLst>
                <a:ext uri="{FF2B5EF4-FFF2-40B4-BE49-F238E27FC236}">
                  <a16:creationId xmlns:a16="http://schemas.microsoft.com/office/drawing/2014/main" id="{EAB64548-A113-090D-CDD3-0BC9A64A3F0F}"/>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5" name="Прямоугольник: скругленные углы 4">
              <a:extLst>
                <a:ext uri="{FF2B5EF4-FFF2-40B4-BE49-F238E27FC236}">
                  <a16:creationId xmlns:a16="http://schemas.microsoft.com/office/drawing/2014/main" id="{70A72302-DE0C-C27D-AF00-92423FC579AD}"/>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Объект 7">
            <a:extLst>
              <a:ext uri="{FF2B5EF4-FFF2-40B4-BE49-F238E27FC236}">
                <a16:creationId xmlns:a16="http://schemas.microsoft.com/office/drawing/2014/main" id="{08E38491-84DE-0898-284F-18A76265FEA0}"/>
              </a:ext>
            </a:extLst>
          </p:cNvPr>
          <p:cNvSpPr>
            <a:spLocks noGrp="1"/>
          </p:cNvSpPr>
          <p:nvPr>
            <p:ph idx="1"/>
          </p:nvPr>
        </p:nvSpPr>
        <p:spPr>
          <a:xfrm>
            <a:off x="838200" y="1825625"/>
            <a:ext cx="10744200" cy="4351338"/>
          </a:xfrm>
        </p:spPr>
        <p:txBody>
          <a:bodyPr/>
          <a:lstStyle/>
          <a:p>
            <a:r>
              <a:rPr lang="en-US" dirty="0">
                <a:latin typeface="Arial" panose="020B0604020202020204" pitchFamily="34" charset="0"/>
                <a:cs typeface="Arial" panose="020B0604020202020204" pitchFamily="34" charset="0"/>
              </a:rPr>
              <a:t>Therefore, we will have the new Δ-circuit, equivalent to the Y one</a:t>
            </a:r>
          </a:p>
        </p:txBody>
      </p:sp>
      <p:sp>
        <p:nvSpPr>
          <p:cNvPr id="6" name="Номер слайда 5">
            <a:extLst>
              <a:ext uri="{FF2B5EF4-FFF2-40B4-BE49-F238E27FC236}">
                <a16:creationId xmlns:a16="http://schemas.microsoft.com/office/drawing/2014/main" id="{C73C245F-5499-BC22-187A-E4FC848CBEE8}"/>
              </a:ext>
            </a:extLst>
          </p:cNvPr>
          <p:cNvSpPr>
            <a:spLocks noGrp="1"/>
          </p:cNvSpPr>
          <p:nvPr>
            <p:ph type="sldNum" sz="quarter" idx="12"/>
          </p:nvPr>
        </p:nvSpPr>
        <p:spPr/>
        <p:txBody>
          <a:bodyPr/>
          <a:lstStyle/>
          <a:p>
            <a:fld id="{D8214FA6-4742-421D-8B19-2C99196BD091}" type="slidenum">
              <a:rPr lang="ru-RU" smtClean="0"/>
              <a:t>8</a:t>
            </a:fld>
            <a:endParaRPr lang="ru-RU"/>
          </a:p>
        </p:txBody>
      </p:sp>
      <p:pic>
        <p:nvPicPr>
          <p:cNvPr id="9" name="Рисунок 8">
            <a:extLst>
              <a:ext uri="{FF2B5EF4-FFF2-40B4-BE49-F238E27FC236}">
                <a16:creationId xmlns:a16="http://schemas.microsoft.com/office/drawing/2014/main" id="{8D6B9C7C-6223-5D78-3EC5-3B2DDBB8D767}"/>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1079199" y="2674105"/>
            <a:ext cx="10033602" cy="3502858"/>
          </a:xfrm>
          <a:prstGeom prst="rect">
            <a:avLst/>
          </a:prstGeom>
        </p:spPr>
      </p:pic>
    </p:spTree>
    <p:extLst>
      <p:ext uri="{BB962C8B-B14F-4D97-AF65-F5344CB8AC3E}">
        <p14:creationId xmlns:p14="http://schemas.microsoft.com/office/powerpoint/2010/main" val="1876048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95B9D-5347-FDC6-0155-C0E26552D58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2A9BE0-13C2-0D13-2F00-E7370D8633C3}"/>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3" name="Группа 2">
            <a:extLst>
              <a:ext uri="{FF2B5EF4-FFF2-40B4-BE49-F238E27FC236}">
                <a16:creationId xmlns:a16="http://schemas.microsoft.com/office/drawing/2014/main" id="{E9811A4F-9DD5-29DA-F118-D420E2B84BA2}"/>
              </a:ext>
            </a:extLst>
          </p:cNvPr>
          <p:cNvGrpSpPr/>
          <p:nvPr/>
        </p:nvGrpSpPr>
        <p:grpSpPr>
          <a:xfrm>
            <a:off x="0" y="0"/>
            <a:ext cx="12192000" cy="1690688"/>
            <a:chOff x="0" y="0"/>
            <a:chExt cx="12192000" cy="1690688"/>
          </a:xfrm>
        </p:grpSpPr>
        <p:sp>
          <p:nvSpPr>
            <p:cNvPr id="4" name="Прямоугольник 3">
              <a:extLst>
                <a:ext uri="{FF2B5EF4-FFF2-40B4-BE49-F238E27FC236}">
                  <a16:creationId xmlns:a16="http://schemas.microsoft.com/office/drawing/2014/main" id="{67CD47B3-3689-D19F-AA4E-2393CD6C9E75}"/>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5" name="Прямоугольник: скругленные углы 4">
              <a:extLst>
                <a:ext uri="{FF2B5EF4-FFF2-40B4-BE49-F238E27FC236}">
                  <a16:creationId xmlns:a16="http://schemas.microsoft.com/office/drawing/2014/main" id="{7C9FC07B-331F-5FE1-2E5C-2BE9E760D7A6}"/>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Объект 7">
            <a:extLst>
              <a:ext uri="{FF2B5EF4-FFF2-40B4-BE49-F238E27FC236}">
                <a16:creationId xmlns:a16="http://schemas.microsoft.com/office/drawing/2014/main" id="{6414178F-6145-0304-45AF-D8C398982B19}"/>
              </a:ext>
            </a:extLst>
          </p:cNvPr>
          <p:cNvSpPr>
            <a:spLocks noGrp="1"/>
          </p:cNvSpPr>
          <p:nvPr>
            <p:ph idx="1"/>
          </p:nvPr>
        </p:nvSpPr>
        <p:spPr>
          <a:xfrm>
            <a:off x="838200" y="1825625"/>
            <a:ext cx="10744200" cy="4351338"/>
          </a:xfrm>
        </p:spPr>
        <p:txBody>
          <a:bodyPr/>
          <a:lstStyle/>
          <a:p>
            <a:r>
              <a:rPr lang="en-US" dirty="0">
                <a:latin typeface="Arial" panose="020B0604020202020204" pitchFamily="34" charset="0"/>
                <a:cs typeface="Arial" panose="020B0604020202020204" pitchFamily="34" charset="0"/>
              </a:rPr>
              <a:t>Equivalent transform means, that if you change </a:t>
            </a:r>
            <a:r>
              <a:rPr lang="el-GR" dirty="0">
                <a:latin typeface="Arial" panose="020B0604020202020204" pitchFamily="34" charset="0"/>
                <a:cs typeface="Arial" panose="020B0604020202020204" pitchFamily="34" charset="0"/>
              </a:rPr>
              <a:t>Δ</a:t>
            </a:r>
            <a:r>
              <a:rPr lang="en-US" dirty="0">
                <a:cs typeface="Arial" panose="020B0604020202020204" pitchFamily="34" charset="0"/>
              </a:rPr>
              <a:t>-shaped part in a circuit</a:t>
            </a:r>
            <a:r>
              <a:rPr lang="en-US" dirty="0">
                <a:latin typeface="Arial" panose="020B0604020202020204" pitchFamily="34" charset="0"/>
                <a:cs typeface="Arial" panose="020B0604020202020204" pitchFamily="34" charset="0"/>
              </a:rPr>
              <a:t> to calculated equivalent Y-shaped part nothing will changes in this circuit</a:t>
            </a:r>
          </a:p>
          <a:p>
            <a:r>
              <a:rPr lang="en-US" dirty="0">
                <a:latin typeface="Arial" panose="020B0604020202020204" pitchFamily="34" charset="0"/>
                <a:cs typeface="Arial" panose="020B0604020202020204" pitchFamily="34" charset="0"/>
              </a:rPr>
              <a:t>Voltages and currents must be stable</a:t>
            </a:r>
          </a:p>
        </p:txBody>
      </p:sp>
      <p:sp>
        <p:nvSpPr>
          <p:cNvPr id="6" name="Номер слайда 5">
            <a:extLst>
              <a:ext uri="{FF2B5EF4-FFF2-40B4-BE49-F238E27FC236}">
                <a16:creationId xmlns:a16="http://schemas.microsoft.com/office/drawing/2014/main" id="{8D38E54F-4EC5-90BB-8588-7953A054989A}"/>
              </a:ext>
            </a:extLst>
          </p:cNvPr>
          <p:cNvSpPr>
            <a:spLocks noGrp="1"/>
          </p:cNvSpPr>
          <p:nvPr>
            <p:ph type="sldNum" sz="quarter" idx="12"/>
          </p:nvPr>
        </p:nvSpPr>
        <p:spPr/>
        <p:txBody>
          <a:bodyPr/>
          <a:lstStyle/>
          <a:p>
            <a:fld id="{D8214FA6-4742-421D-8B19-2C99196BD091}" type="slidenum">
              <a:rPr lang="ru-RU" smtClean="0"/>
              <a:t>9</a:t>
            </a:fld>
            <a:endParaRPr lang="ru-RU"/>
          </a:p>
        </p:txBody>
      </p:sp>
    </p:spTree>
    <p:extLst>
      <p:ext uri="{BB962C8B-B14F-4D97-AF65-F5344CB8AC3E}">
        <p14:creationId xmlns:p14="http://schemas.microsoft.com/office/powerpoint/2010/main" val="2905692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A2435-A65E-7F16-8DBD-8E0A622BFB6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FBDA7E0-8BCE-6E86-F341-4185A062FFBF}"/>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3" name="Группа 2">
            <a:extLst>
              <a:ext uri="{FF2B5EF4-FFF2-40B4-BE49-F238E27FC236}">
                <a16:creationId xmlns:a16="http://schemas.microsoft.com/office/drawing/2014/main" id="{02833391-D707-04C4-3C20-0ED91AAE092E}"/>
              </a:ext>
            </a:extLst>
          </p:cNvPr>
          <p:cNvGrpSpPr/>
          <p:nvPr/>
        </p:nvGrpSpPr>
        <p:grpSpPr>
          <a:xfrm>
            <a:off x="0" y="0"/>
            <a:ext cx="12192000" cy="1690688"/>
            <a:chOff x="0" y="0"/>
            <a:chExt cx="12192000" cy="1690688"/>
          </a:xfrm>
        </p:grpSpPr>
        <p:sp>
          <p:nvSpPr>
            <p:cNvPr id="4" name="Прямоугольник 3">
              <a:extLst>
                <a:ext uri="{FF2B5EF4-FFF2-40B4-BE49-F238E27FC236}">
                  <a16:creationId xmlns:a16="http://schemas.microsoft.com/office/drawing/2014/main" id="{A96D5819-7BA4-4364-D30B-662F12B4CC26}"/>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5" name="Прямоугольник: скругленные углы 4">
              <a:extLst>
                <a:ext uri="{FF2B5EF4-FFF2-40B4-BE49-F238E27FC236}">
                  <a16:creationId xmlns:a16="http://schemas.microsoft.com/office/drawing/2014/main" id="{B6907C1F-49E0-4EC3-65F8-79DB4990FC54}"/>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Объект 7">
            <a:extLst>
              <a:ext uri="{FF2B5EF4-FFF2-40B4-BE49-F238E27FC236}">
                <a16:creationId xmlns:a16="http://schemas.microsoft.com/office/drawing/2014/main" id="{9024229B-0FFF-25D3-E22C-1F2532BC91E4}"/>
              </a:ext>
            </a:extLst>
          </p:cNvPr>
          <p:cNvSpPr>
            <a:spLocks noGrp="1"/>
          </p:cNvSpPr>
          <p:nvPr>
            <p:ph idx="1"/>
          </p:nvPr>
        </p:nvSpPr>
        <p:spPr>
          <a:xfrm>
            <a:off x="838199" y="1825625"/>
            <a:ext cx="11009671" cy="4351338"/>
          </a:xfrm>
        </p:spPr>
        <p:txBody>
          <a:bodyPr/>
          <a:lstStyle/>
          <a:p>
            <a:r>
              <a:rPr lang="en-US" dirty="0">
                <a:latin typeface="Arial" panose="020B0604020202020204" pitchFamily="34" charset="0"/>
                <a:cs typeface="Arial" panose="020B0604020202020204" pitchFamily="34" charset="0"/>
              </a:rPr>
              <a:t>You can see that current doesn’t change after transformation here </a:t>
            </a:r>
          </a:p>
        </p:txBody>
      </p:sp>
      <p:sp>
        <p:nvSpPr>
          <p:cNvPr id="6" name="Номер слайда 5">
            <a:extLst>
              <a:ext uri="{FF2B5EF4-FFF2-40B4-BE49-F238E27FC236}">
                <a16:creationId xmlns:a16="http://schemas.microsoft.com/office/drawing/2014/main" id="{FA26D5A1-C142-705E-4BBA-14F2632084A2}"/>
              </a:ext>
            </a:extLst>
          </p:cNvPr>
          <p:cNvSpPr>
            <a:spLocks noGrp="1"/>
          </p:cNvSpPr>
          <p:nvPr>
            <p:ph type="sldNum" sz="quarter" idx="12"/>
          </p:nvPr>
        </p:nvSpPr>
        <p:spPr/>
        <p:txBody>
          <a:bodyPr/>
          <a:lstStyle/>
          <a:p>
            <a:fld id="{D8214FA6-4742-421D-8B19-2C99196BD091}" type="slidenum">
              <a:rPr lang="ru-RU" smtClean="0"/>
              <a:t>10</a:t>
            </a:fld>
            <a:endParaRPr lang="ru-RU"/>
          </a:p>
        </p:txBody>
      </p:sp>
      <p:pic>
        <p:nvPicPr>
          <p:cNvPr id="16" name="Рисунок 15">
            <a:extLst>
              <a:ext uri="{FF2B5EF4-FFF2-40B4-BE49-F238E27FC236}">
                <a16:creationId xmlns:a16="http://schemas.microsoft.com/office/drawing/2014/main" id="{1F414AAB-220C-9A80-00D1-612F316DAB4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298088" y="2309272"/>
            <a:ext cx="9595823" cy="4548728"/>
          </a:xfrm>
          <a:prstGeom prst="rect">
            <a:avLst/>
          </a:prstGeom>
        </p:spPr>
      </p:pic>
    </p:spTree>
    <p:extLst>
      <p:ext uri="{BB962C8B-B14F-4D97-AF65-F5344CB8AC3E}">
        <p14:creationId xmlns:p14="http://schemas.microsoft.com/office/powerpoint/2010/main" val="369389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11CFA-6BCC-E886-F0BC-E3813F50047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CA66918-B896-C423-4263-5F51F18A5504}"/>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3" name="Группа 2">
            <a:extLst>
              <a:ext uri="{FF2B5EF4-FFF2-40B4-BE49-F238E27FC236}">
                <a16:creationId xmlns:a16="http://schemas.microsoft.com/office/drawing/2014/main" id="{C21799F2-19AB-803E-1A81-1F649D5417FA}"/>
              </a:ext>
            </a:extLst>
          </p:cNvPr>
          <p:cNvGrpSpPr/>
          <p:nvPr/>
        </p:nvGrpSpPr>
        <p:grpSpPr>
          <a:xfrm>
            <a:off x="0" y="0"/>
            <a:ext cx="12192000" cy="1690688"/>
            <a:chOff x="0" y="0"/>
            <a:chExt cx="12192000" cy="1690688"/>
          </a:xfrm>
        </p:grpSpPr>
        <p:sp>
          <p:nvSpPr>
            <p:cNvPr id="4" name="Прямоугольник 3">
              <a:extLst>
                <a:ext uri="{FF2B5EF4-FFF2-40B4-BE49-F238E27FC236}">
                  <a16:creationId xmlns:a16="http://schemas.microsoft.com/office/drawing/2014/main" id="{3B14FA9A-1F1C-F03A-E1B6-A777DAED1C96}"/>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5" name="Прямоугольник: скругленные углы 4">
              <a:extLst>
                <a:ext uri="{FF2B5EF4-FFF2-40B4-BE49-F238E27FC236}">
                  <a16:creationId xmlns:a16="http://schemas.microsoft.com/office/drawing/2014/main" id="{6293F192-D0ED-52CA-3DD2-D1F8C50AE8A4}"/>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Объект 7">
            <a:extLst>
              <a:ext uri="{FF2B5EF4-FFF2-40B4-BE49-F238E27FC236}">
                <a16:creationId xmlns:a16="http://schemas.microsoft.com/office/drawing/2014/main" id="{F8D8F5B8-9D55-8DE5-EDB5-E08B1C227B03}"/>
              </a:ext>
            </a:extLst>
          </p:cNvPr>
          <p:cNvSpPr>
            <a:spLocks noGrp="1"/>
          </p:cNvSpPr>
          <p:nvPr>
            <p:ph idx="1"/>
          </p:nvPr>
        </p:nvSpPr>
        <p:spPr>
          <a:xfrm>
            <a:off x="838199" y="1825625"/>
            <a:ext cx="11009671" cy="4351338"/>
          </a:xfrm>
        </p:spPr>
        <p:txBody>
          <a:bodyPr/>
          <a:lstStyle/>
          <a:p>
            <a:r>
              <a:rPr lang="en-US" dirty="0">
                <a:latin typeface="Arial" panose="020B0604020202020204" pitchFamily="34" charset="0"/>
                <a:cs typeface="Arial" panose="020B0604020202020204" pitchFamily="34" charset="0"/>
              </a:rPr>
              <a:t>And here</a:t>
            </a:r>
          </a:p>
        </p:txBody>
      </p:sp>
      <p:sp>
        <p:nvSpPr>
          <p:cNvPr id="6" name="Номер слайда 5">
            <a:extLst>
              <a:ext uri="{FF2B5EF4-FFF2-40B4-BE49-F238E27FC236}">
                <a16:creationId xmlns:a16="http://schemas.microsoft.com/office/drawing/2014/main" id="{81F3B72C-9CF2-2CEF-F29B-56DA871A6C16}"/>
              </a:ext>
            </a:extLst>
          </p:cNvPr>
          <p:cNvSpPr>
            <a:spLocks noGrp="1"/>
          </p:cNvSpPr>
          <p:nvPr>
            <p:ph type="sldNum" sz="quarter" idx="12"/>
          </p:nvPr>
        </p:nvSpPr>
        <p:spPr/>
        <p:txBody>
          <a:bodyPr/>
          <a:lstStyle/>
          <a:p>
            <a:fld id="{D8214FA6-4742-421D-8B19-2C99196BD091}" type="slidenum">
              <a:rPr lang="ru-RU" smtClean="0"/>
              <a:t>11</a:t>
            </a:fld>
            <a:endParaRPr lang="ru-RU"/>
          </a:p>
        </p:txBody>
      </p:sp>
      <p:pic>
        <p:nvPicPr>
          <p:cNvPr id="13" name="Рисунок 12" descr="Изображение выглядит как диаграмма, линия, План, схематичный&#10;&#10;Автоматически созданное описание">
            <a:extLst>
              <a:ext uri="{FF2B5EF4-FFF2-40B4-BE49-F238E27FC236}">
                <a16:creationId xmlns:a16="http://schemas.microsoft.com/office/drawing/2014/main" id="{B27CBBA7-4EAC-5C06-8EC3-040405BE217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04567" y="2449116"/>
            <a:ext cx="10382865" cy="4134564"/>
          </a:xfrm>
          <a:prstGeom prst="rect">
            <a:avLst/>
          </a:prstGeom>
        </p:spPr>
      </p:pic>
    </p:spTree>
    <p:extLst>
      <p:ext uri="{BB962C8B-B14F-4D97-AF65-F5344CB8AC3E}">
        <p14:creationId xmlns:p14="http://schemas.microsoft.com/office/powerpoint/2010/main" val="1467153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81AC7-807C-0C8C-F78D-76D98EBC05C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5DFF16-696A-27E9-7FD9-8A15E88AE804}"/>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3" name="Группа 2">
            <a:extLst>
              <a:ext uri="{FF2B5EF4-FFF2-40B4-BE49-F238E27FC236}">
                <a16:creationId xmlns:a16="http://schemas.microsoft.com/office/drawing/2014/main" id="{1E2CAEDA-6483-E51E-5E53-D31073AE954F}"/>
              </a:ext>
            </a:extLst>
          </p:cNvPr>
          <p:cNvGrpSpPr/>
          <p:nvPr/>
        </p:nvGrpSpPr>
        <p:grpSpPr>
          <a:xfrm>
            <a:off x="0" y="0"/>
            <a:ext cx="12192000" cy="1690688"/>
            <a:chOff x="0" y="0"/>
            <a:chExt cx="12192000" cy="1690688"/>
          </a:xfrm>
        </p:grpSpPr>
        <p:sp>
          <p:nvSpPr>
            <p:cNvPr id="4" name="Прямоугольник 3">
              <a:extLst>
                <a:ext uri="{FF2B5EF4-FFF2-40B4-BE49-F238E27FC236}">
                  <a16:creationId xmlns:a16="http://schemas.microsoft.com/office/drawing/2014/main" id="{EAA13EF7-A922-66C0-2C89-4B39561097C3}"/>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5" name="Прямоугольник: скругленные углы 4">
              <a:extLst>
                <a:ext uri="{FF2B5EF4-FFF2-40B4-BE49-F238E27FC236}">
                  <a16:creationId xmlns:a16="http://schemas.microsoft.com/office/drawing/2014/main" id="{F1078AB8-D5CC-A8BF-4B7D-607D434FC06D}"/>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Объект 7">
            <a:extLst>
              <a:ext uri="{FF2B5EF4-FFF2-40B4-BE49-F238E27FC236}">
                <a16:creationId xmlns:a16="http://schemas.microsoft.com/office/drawing/2014/main" id="{1E8CED04-285F-980A-E59C-6F8FEBA12CF0}"/>
              </a:ext>
            </a:extLst>
          </p:cNvPr>
          <p:cNvSpPr>
            <a:spLocks noGrp="1"/>
          </p:cNvSpPr>
          <p:nvPr>
            <p:ph idx="1"/>
          </p:nvPr>
        </p:nvSpPr>
        <p:spPr/>
        <p:txBody>
          <a:bodyPr/>
          <a:lstStyle/>
          <a:p>
            <a:r>
              <a:rPr lang="en-US" dirty="0">
                <a:cs typeface="Arial" panose="020B0604020202020204" pitchFamily="34" charset="0"/>
              </a:rPr>
              <a:t>Now we can go next.</a:t>
            </a:r>
          </a:p>
          <a:p>
            <a:r>
              <a:rPr lang="en-US" dirty="0">
                <a:latin typeface="Arial" panose="020B0604020202020204" pitchFamily="34" charset="0"/>
                <a:cs typeface="Arial" panose="020B0604020202020204" pitchFamily="34" charset="0"/>
              </a:rPr>
              <a:t>Today, we begin the study of systematic analysis methods.</a:t>
            </a:r>
          </a:p>
          <a:p>
            <a:r>
              <a:rPr lang="en-US" dirty="0">
                <a:latin typeface="Arial" panose="020B0604020202020204" pitchFamily="34" charset="0"/>
                <a:cs typeface="Arial" panose="020B0604020202020204" pitchFamily="34" charset="0"/>
              </a:rPr>
              <a:t>These are algorithmic procedures that allow us to convert any linear circuit into a system of simultaneous algebraic equations. </a:t>
            </a:r>
          </a:p>
          <a:p>
            <a:r>
              <a:rPr lang="en-US" dirty="0">
                <a:latin typeface="Arial" panose="020B0604020202020204" pitchFamily="34" charset="0"/>
                <a:cs typeface="Arial" panose="020B0604020202020204" pitchFamily="34" charset="0"/>
              </a:rPr>
              <a:t>The primary objective of this lecture is to master the Branch Current Method, the Nodal Voltage Method, and the Mesh Current Method.</a:t>
            </a:r>
          </a:p>
          <a:p>
            <a:r>
              <a:rPr lang="en-US" dirty="0">
                <a:latin typeface="Arial" panose="020B0604020202020204" pitchFamily="34" charset="0"/>
                <a:cs typeface="Arial" panose="020B0604020202020204" pitchFamily="34" charset="0"/>
              </a:rPr>
              <a:t>These three techniques form the toolkit of every professional electrical engineer.</a:t>
            </a:r>
            <a:endParaRPr lang="ru-RU" dirty="0">
              <a:latin typeface="Arial" panose="020B0604020202020204" pitchFamily="34" charset="0"/>
              <a:cs typeface="Arial" panose="020B0604020202020204" pitchFamily="34" charset="0"/>
            </a:endParaRPr>
          </a:p>
        </p:txBody>
      </p:sp>
      <p:sp>
        <p:nvSpPr>
          <p:cNvPr id="6" name="Номер слайда 5">
            <a:extLst>
              <a:ext uri="{FF2B5EF4-FFF2-40B4-BE49-F238E27FC236}">
                <a16:creationId xmlns:a16="http://schemas.microsoft.com/office/drawing/2014/main" id="{9C1B8229-BA1E-00D2-84C4-39A50BAA911C}"/>
              </a:ext>
            </a:extLst>
          </p:cNvPr>
          <p:cNvSpPr>
            <a:spLocks noGrp="1"/>
          </p:cNvSpPr>
          <p:nvPr>
            <p:ph type="sldNum" sz="quarter" idx="12"/>
          </p:nvPr>
        </p:nvSpPr>
        <p:spPr/>
        <p:txBody>
          <a:bodyPr/>
          <a:lstStyle/>
          <a:p>
            <a:fld id="{D8214FA6-4742-421D-8B19-2C99196BD091}" type="slidenum">
              <a:rPr lang="ru-RU" smtClean="0"/>
              <a:t>12</a:t>
            </a:fld>
            <a:endParaRPr lang="ru-RU"/>
          </a:p>
        </p:txBody>
      </p:sp>
    </p:spTree>
    <p:extLst>
      <p:ext uri="{BB962C8B-B14F-4D97-AF65-F5344CB8AC3E}">
        <p14:creationId xmlns:p14="http://schemas.microsoft.com/office/powerpoint/2010/main" val="3928977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115A2-9130-068B-D2E8-89A84401C35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82BD01-CC80-517F-F6F5-7F8C6292AE11}"/>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3" name="Группа 2">
            <a:extLst>
              <a:ext uri="{FF2B5EF4-FFF2-40B4-BE49-F238E27FC236}">
                <a16:creationId xmlns:a16="http://schemas.microsoft.com/office/drawing/2014/main" id="{3333D3FA-ED26-85DF-F747-B49165625F8B}"/>
              </a:ext>
            </a:extLst>
          </p:cNvPr>
          <p:cNvGrpSpPr/>
          <p:nvPr/>
        </p:nvGrpSpPr>
        <p:grpSpPr>
          <a:xfrm>
            <a:off x="0" y="0"/>
            <a:ext cx="12192000" cy="1690688"/>
            <a:chOff x="0" y="0"/>
            <a:chExt cx="12192000" cy="1690688"/>
          </a:xfrm>
        </p:grpSpPr>
        <p:sp>
          <p:nvSpPr>
            <p:cNvPr id="4" name="Прямоугольник 3">
              <a:extLst>
                <a:ext uri="{FF2B5EF4-FFF2-40B4-BE49-F238E27FC236}">
                  <a16:creationId xmlns:a16="http://schemas.microsoft.com/office/drawing/2014/main" id="{8C72887C-DBE9-BFB1-06D1-15A49FDED7B3}"/>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5" name="Прямоугольник: скругленные углы 4">
              <a:extLst>
                <a:ext uri="{FF2B5EF4-FFF2-40B4-BE49-F238E27FC236}">
                  <a16:creationId xmlns:a16="http://schemas.microsoft.com/office/drawing/2014/main" id="{5BB5D1FB-D505-0F4C-7456-621DCA2C860A}"/>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Объект 7">
            <a:extLst>
              <a:ext uri="{FF2B5EF4-FFF2-40B4-BE49-F238E27FC236}">
                <a16:creationId xmlns:a16="http://schemas.microsoft.com/office/drawing/2014/main" id="{11FA6634-2019-E206-0185-0CE55ABA8529}"/>
              </a:ext>
            </a:extLst>
          </p:cNvPr>
          <p:cNvSpPr>
            <a:spLocks noGrp="1"/>
          </p:cNvSpPr>
          <p:nvPr>
            <p:ph idx="1"/>
          </p:nvPr>
        </p:nvSpPr>
        <p:spPr/>
        <p:txBody>
          <a:bodyPr>
            <a:normAutofit/>
          </a:bodyPr>
          <a:lstStyle/>
          <a:p>
            <a:r>
              <a:rPr lang="en-US" dirty="0">
                <a:latin typeface="Arial" panose="020B0604020202020204" pitchFamily="34" charset="0"/>
                <a:cs typeface="Arial" panose="020B0604020202020204" pitchFamily="34" charset="0"/>
              </a:rPr>
              <a:t>Systematic analysis methods provide a structured step-by-step approach to writing exactly enough independent equations to solve the circuit.</a:t>
            </a:r>
          </a:p>
          <a:p>
            <a:r>
              <a:rPr lang="en-US" dirty="0">
                <a:latin typeface="Arial" panose="020B0604020202020204" pitchFamily="34" charset="0"/>
                <a:cs typeface="Arial" panose="020B0604020202020204" pitchFamily="34" charset="0"/>
              </a:rPr>
              <a:t>We will trade the visual intuition of circuit reduction for the mathematical rigor of linear algebra. </a:t>
            </a:r>
          </a:p>
          <a:p>
            <a:r>
              <a:rPr lang="en-US" dirty="0">
                <a:latin typeface="Arial" panose="020B0604020202020204" pitchFamily="34" charset="0"/>
                <a:cs typeface="Arial" panose="020B0604020202020204" pitchFamily="34" charset="0"/>
              </a:rPr>
              <a:t>While circuit reduction changes the structure of the circuit to find a single value, systematic methods leave the circuit structure intact and solve for all variables simultaneously.</a:t>
            </a:r>
            <a:endParaRPr lang="ru-RU" dirty="0">
              <a:latin typeface="Arial" panose="020B0604020202020204" pitchFamily="34" charset="0"/>
              <a:cs typeface="Arial" panose="020B0604020202020204" pitchFamily="34" charset="0"/>
            </a:endParaRPr>
          </a:p>
        </p:txBody>
      </p:sp>
      <p:sp>
        <p:nvSpPr>
          <p:cNvPr id="6" name="Номер слайда 5">
            <a:extLst>
              <a:ext uri="{FF2B5EF4-FFF2-40B4-BE49-F238E27FC236}">
                <a16:creationId xmlns:a16="http://schemas.microsoft.com/office/drawing/2014/main" id="{DAD9684F-2FA2-0EFC-E8A4-D83DE488D4FC}"/>
              </a:ext>
            </a:extLst>
          </p:cNvPr>
          <p:cNvSpPr>
            <a:spLocks noGrp="1"/>
          </p:cNvSpPr>
          <p:nvPr>
            <p:ph type="sldNum" sz="quarter" idx="12"/>
          </p:nvPr>
        </p:nvSpPr>
        <p:spPr/>
        <p:txBody>
          <a:bodyPr/>
          <a:lstStyle/>
          <a:p>
            <a:fld id="{D8214FA6-4742-421D-8B19-2C99196BD091}" type="slidenum">
              <a:rPr lang="ru-RU" smtClean="0"/>
              <a:t>13</a:t>
            </a:fld>
            <a:endParaRPr lang="ru-RU"/>
          </a:p>
        </p:txBody>
      </p:sp>
    </p:spTree>
    <p:extLst>
      <p:ext uri="{BB962C8B-B14F-4D97-AF65-F5344CB8AC3E}">
        <p14:creationId xmlns:p14="http://schemas.microsoft.com/office/powerpoint/2010/main" val="37124628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E9229-1360-05DF-93A4-394C0A05891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7574E0E-7A41-9DFE-EE7A-8F5706D85592}"/>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3" name="Группа 2">
            <a:extLst>
              <a:ext uri="{FF2B5EF4-FFF2-40B4-BE49-F238E27FC236}">
                <a16:creationId xmlns:a16="http://schemas.microsoft.com/office/drawing/2014/main" id="{797A2192-B334-B81D-067F-F52E884DBE50}"/>
              </a:ext>
            </a:extLst>
          </p:cNvPr>
          <p:cNvGrpSpPr/>
          <p:nvPr/>
        </p:nvGrpSpPr>
        <p:grpSpPr>
          <a:xfrm>
            <a:off x="0" y="0"/>
            <a:ext cx="12192000" cy="1690688"/>
            <a:chOff x="0" y="0"/>
            <a:chExt cx="12192000" cy="1690688"/>
          </a:xfrm>
        </p:grpSpPr>
        <p:sp>
          <p:nvSpPr>
            <p:cNvPr id="4" name="Прямоугольник 3">
              <a:extLst>
                <a:ext uri="{FF2B5EF4-FFF2-40B4-BE49-F238E27FC236}">
                  <a16:creationId xmlns:a16="http://schemas.microsoft.com/office/drawing/2014/main" id="{B5745510-52A4-60E6-EE9B-EA0F727481BA}"/>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5" name="Прямоугольник: скругленные углы 4">
              <a:extLst>
                <a:ext uri="{FF2B5EF4-FFF2-40B4-BE49-F238E27FC236}">
                  <a16:creationId xmlns:a16="http://schemas.microsoft.com/office/drawing/2014/main" id="{2C167FCE-3377-AE3A-E2AC-2B98EE97BF72}"/>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Объект 7">
            <a:extLst>
              <a:ext uri="{FF2B5EF4-FFF2-40B4-BE49-F238E27FC236}">
                <a16:creationId xmlns:a16="http://schemas.microsoft.com/office/drawing/2014/main" id="{1A5C7D55-69D3-DE2B-0691-D22DA728D2D5}"/>
              </a:ext>
            </a:extLst>
          </p:cNvPr>
          <p:cNvSpPr>
            <a:spLocks noGrp="1"/>
          </p:cNvSpPr>
          <p:nvPr>
            <p:ph idx="1"/>
          </p:nvPr>
        </p:nvSpPr>
        <p:spPr/>
        <p:txBody>
          <a:bodyPr>
            <a:normAutofit lnSpcReduction="10000"/>
          </a:bodyPr>
          <a:lstStyle/>
          <a:p>
            <a:r>
              <a:rPr lang="en-US" dirty="0">
                <a:latin typeface="Arial" panose="020B0604020202020204" pitchFamily="34" charset="0"/>
                <a:cs typeface="Arial" panose="020B0604020202020204" pitchFamily="34" charset="0"/>
              </a:rPr>
              <a:t>To understand why we need these methods, consider a circuit with two voltage sources and three resistors arranged in two loops. </a:t>
            </a:r>
          </a:p>
          <a:p>
            <a:r>
              <a:rPr lang="en-US" dirty="0">
                <a:latin typeface="Arial" panose="020B0604020202020204" pitchFamily="34" charset="0"/>
                <a:cs typeface="Arial" panose="020B0604020202020204" pitchFamily="34" charset="0"/>
              </a:rPr>
              <a:t>We know Kirchhoff's Laws hold true: the sum of currents at any node is zero (KCL) and the sum of voltages in any loop is zero (KVL).</a:t>
            </a:r>
          </a:p>
          <a:p>
            <a:r>
              <a:rPr lang="en-US" dirty="0">
                <a:latin typeface="Arial" panose="020B0604020202020204" pitchFamily="34" charset="0"/>
                <a:cs typeface="Arial" panose="020B0604020202020204" pitchFamily="34" charset="0"/>
              </a:rPr>
              <a:t>If we apply these laws randomly, we might end up with more equations than variables, or equations that are redundant. Systematic analysis methods provide a structured step-by-step approach to writing exactly enough independent equations to solve the circuit.</a:t>
            </a:r>
            <a:endParaRPr lang="ru-RU" dirty="0">
              <a:latin typeface="Arial" panose="020B0604020202020204" pitchFamily="34" charset="0"/>
              <a:cs typeface="Arial" panose="020B0604020202020204" pitchFamily="34" charset="0"/>
            </a:endParaRPr>
          </a:p>
        </p:txBody>
      </p:sp>
      <p:sp>
        <p:nvSpPr>
          <p:cNvPr id="6" name="Номер слайда 5">
            <a:extLst>
              <a:ext uri="{FF2B5EF4-FFF2-40B4-BE49-F238E27FC236}">
                <a16:creationId xmlns:a16="http://schemas.microsoft.com/office/drawing/2014/main" id="{81E84C1D-2883-1805-26D8-A270FD9A5236}"/>
              </a:ext>
            </a:extLst>
          </p:cNvPr>
          <p:cNvSpPr>
            <a:spLocks noGrp="1"/>
          </p:cNvSpPr>
          <p:nvPr>
            <p:ph type="sldNum" sz="quarter" idx="12"/>
          </p:nvPr>
        </p:nvSpPr>
        <p:spPr/>
        <p:txBody>
          <a:bodyPr/>
          <a:lstStyle/>
          <a:p>
            <a:fld id="{D8214FA6-4742-421D-8B19-2C99196BD091}" type="slidenum">
              <a:rPr lang="ru-RU" smtClean="0"/>
              <a:t>14</a:t>
            </a:fld>
            <a:endParaRPr lang="ru-RU"/>
          </a:p>
        </p:txBody>
      </p:sp>
    </p:spTree>
    <p:extLst>
      <p:ext uri="{BB962C8B-B14F-4D97-AF65-F5344CB8AC3E}">
        <p14:creationId xmlns:p14="http://schemas.microsoft.com/office/powerpoint/2010/main" val="2671642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1FE8A-58CD-ADD2-B2D4-265FC8E222D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04C1697-6501-7F3A-ED48-A5DE020E3281}"/>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3" name="Группа 2">
            <a:extLst>
              <a:ext uri="{FF2B5EF4-FFF2-40B4-BE49-F238E27FC236}">
                <a16:creationId xmlns:a16="http://schemas.microsoft.com/office/drawing/2014/main" id="{A1C647C9-594D-459D-92A2-8E20B92624F1}"/>
              </a:ext>
            </a:extLst>
          </p:cNvPr>
          <p:cNvGrpSpPr/>
          <p:nvPr/>
        </p:nvGrpSpPr>
        <p:grpSpPr>
          <a:xfrm>
            <a:off x="0" y="0"/>
            <a:ext cx="12192000" cy="1690688"/>
            <a:chOff x="0" y="0"/>
            <a:chExt cx="12192000" cy="1690688"/>
          </a:xfrm>
        </p:grpSpPr>
        <p:sp>
          <p:nvSpPr>
            <p:cNvPr id="4" name="Прямоугольник 3">
              <a:extLst>
                <a:ext uri="{FF2B5EF4-FFF2-40B4-BE49-F238E27FC236}">
                  <a16:creationId xmlns:a16="http://schemas.microsoft.com/office/drawing/2014/main" id="{3497C495-A2FF-FC5E-11FB-4717074CECCF}"/>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5" name="Прямоугольник: скругленные углы 4">
              <a:extLst>
                <a:ext uri="{FF2B5EF4-FFF2-40B4-BE49-F238E27FC236}">
                  <a16:creationId xmlns:a16="http://schemas.microsoft.com/office/drawing/2014/main" id="{9AFC62A6-E1D0-2E3E-DF77-7B59E5DF1757}"/>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Объект 7">
            <a:extLst>
              <a:ext uri="{FF2B5EF4-FFF2-40B4-BE49-F238E27FC236}">
                <a16:creationId xmlns:a16="http://schemas.microsoft.com/office/drawing/2014/main" id="{6E609C38-659B-8207-36C0-9EE8637AF2C4}"/>
              </a:ext>
            </a:extLst>
          </p:cNvPr>
          <p:cNvSpPr>
            <a:spLocks noGrp="1"/>
          </p:cNvSpPr>
          <p:nvPr>
            <p:ph idx="1"/>
          </p:nvPr>
        </p:nvSpPr>
        <p:spPr>
          <a:xfrm>
            <a:off x="838200" y="1825625"/>
            <a:ext cx="6990347" cy="4351338"/>
          </a:xfrm>
        </p:spPr>
        <p:txBody>
          <a:bodyPr/>
          <a:lstStyle/>
          <a:p>
            <a:r>
              <a:rPr lang="en-US" dirty="0"/>
              <a:t>We will trade the visual intuition of circuit reduction for the mathematical rigor of linear algebra. </a:t>
            </a:r>
          </a:p>
          <a:p>
            <a:r>
              <a:rPr lang="en-US" dirty="0"/>
              <a:t>While circuit reduction changes the structure of the circuit to find a single value, systematic methods leave the circuit structure intact and solve for all variables simultaneously.</a:t>
            </a:r>
            <a:endParaRPr lang="ru-RU" dirty="0"/>
          </a:p>
        </p:txBody>
      </p:sp>
      <p:pic>
        <p:nvPicPr>
          <p:cNvPr id="9" name="Рисунок 8">
            <a:extLst>
              <a:ext uri="{FF2B5EF4-FFF2-40B4-BE49-F238E27FC236}">
                <a16:creationId xmlns:a16="http://schemas.microsoft.com/office/drawing/2014/main" id="{D243B7A8-3467-F2C3-C3E9-292272AE8142}"/>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7729728" y="2122964"/>
            <a:ext cx="4351020" cy="3756660"/>
          </a:xfrm>
          <a:prstGeom prst="rect">
            <a:avLst/>
          </a:prstGeom>
          <a:noFill/>
          <a:ln>
            <a:noFill/>
          </a:ln>
        </p:spPr>
      </p:pic>
      <p:sp>
        <p:nvSpPr>
          <p:cNvPr id="6" name="Номер слайда 5">
            <a:extLst>
              <a:ext uri="{FF2B5EF4-FFF2-40B4-BE49-F238E27FC236}">
                <a16:creationId xmlns:a16="http://schemas.microsoft.com/office/drawing/2014/main" id="{C9F47B50-B709-B2D0-100D-D4AABBB0B93B}"/>
              </a:ext>
            </a:extLst>
          </p:cNvPr>
          <p:cNvSpPr>
            <a:spLocks noGrp="1"/>
          </p:cNvSpPr>
          <p:nvPr>
            <p:ph type="sldNum" sz="quarter" idx="12"/>
          </p:nvPr>
        </p:nvSpPr>
        <p:spPr/>
        <p:txBody>
          <a:bodyPr/>
          <a:lstStyle/>
          <a:p>
            <a:fld id="{D8214FA6-4742-421D-8B19-2C99196BD091}" type="slidenum">
              <a:rPr lang="ru-RU" smtClean="0"/>
              <a:t>15</a:t>
            </a:fld>
            <a:endParaRPr lang="ru-RU"/>
          </a:p>
        </p:txBody>
      </p:sp>
    </p:spTree>
    <p:extLst>
      <p:ext uri="{BB962C8B-B14F-4D97-AF65-F5344CB8AC3E}">
        <p14:creationId xmlns:p14="http://schemas.microsoft.com/office/powerpoint/2010/main" val="3160300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7E55D-1EC2-259C-3F33-06277167DE7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0BA373-A3AE-CA8B-0FAF-55C3E3323C22}"/>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3" name="Группа 2">
            <a:extLst>
              <a:ext uri="{FF2B5EF4-FFF2-40B4-BE49-F238E27FC236}">
                <a16:creationId xmlns:a16="http://schemas.microsoft.com/office/drawing/2014/main" id="{3BDDEA6B-3928-C319-A34A-26A5CD48F75C}"/>
              </a:ext>
            </a:extLst>
          </p:cNvPr>
          <p:cNvGrpSpPr/>
          <p:nvPr/>
        </p:nvGrpSpPr>
        <p:grpSpPr>
          <a:xfrm>
            <a:off x="0" y="0"/>
            <a:ext cx="12192000" cy="1690688"/>
            <a:chOff x="0" y="0"/>
            <a:chExt cx="12192000" cy="1690688"/>
          </a:xfrm>
        </p:grpSpPr>
        <p:sp>
          <p:nvSpPr>
            <p:cNvPr id="4" name="Прямоугольник 3">
              <a:extLst>
                <a:ext uri="{FF2B5EF4-FFF2-40B4-BE49-F238E27FC236}">
                  <a16:creationId xmlns:a16="http://schemas.microsoft.com/office/drawing/2014/main" id="{33211C55-2548-098E-CD5F-49398DF0DABB}"/>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5" name="Прямоугольник: скругленные углы 4">
              <a:extLst>
                <a:ext uri="{FF2B5EF4-FFF2-40B4-BE49-F238E27FC236}">
                  <a16:creationId xmlns:a16="http://schemas.microsoft.com/office/drawing/2014/main" id="{1E28C135-6286-E27C-EBA9-2A46A636E7CE}"/>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Объект 7">
            <a:extLst>
              <a:ext uri="{FF2B5EF4-FFF2-40B4-BE49-F238E27FC236}">
                <a16:creationId xmlns:a16="http://schemas.microsoft.com/office/drawing/2014/main" id="{2984635D-43FF-3950-4BDD-49F535C8F29D}"/>
              </a:ext>
            </a:extLst>
          </p:cNvPr>
          <p:cNvSpPr>
            <a:spLocks noGrp="1"/>
          </p:cNvSpPr>
          <p:nvPr>
            <p:ph idx="1"/>
          </p:nvPr>
        </p:nvSpPr>
        <p:spPr/>
        <p:txBody>
          <a:bodyPr>
            <a:normAutofit/>
          </a:bodyPr>
          <a:lstStyle/>
          <a:p>
            <a:r>
              <a:rPr lang="en-US" dirty="0">
                <a:latin typeface="Arial" panose="020B0604020202020204" pitchFamily="34" charset="0"/>
                <a:cs typeface="Arial" panose="020B0604020202020204" pitchFamily="34" charset="0"/>
              </a:rPr>
              <a:t>Before we proceed, we must strictly define our topological terminology. As we defined in Lecture 2:</a:t>
            </a:r>
          </a:p>
          <a:p>
            <a:r>
              <a:rPr lang="en-US" dirty="0">
                <a:latin typeface="Arial" panose="020B0604020202020204" pitchFamily="34" charset="0"/>
                <a:cs typeface="Arial" panose="020B0604020202020204" pitchFamily="34" charset="0"/>
              </a:rPr>
              <a:t>a Node is a connection point between two or more elements;</a:t>
            </a:r>
          </a:p>
          <a:p>
            <a:r>
              <a:rPr lang="en-US" dirty="0">
                <a:latin typeface="Arial" panose="020B0604020202020204" pitchFamily="34" charset="0"/>
                <a:cs typeface="Arial" panose="020B0604020202020204" pitchFamily="34" charset="0"/>
              </a:rPr>
              <a:t>a Branch is a path containing a single element connecting two nodes;</a:t>
            </a:r>
          </a:p>
          <a:p>
            <a:r>
              <a:rPr lang="en-US" dirty="0">
                <a:latin typeface="Arial" panose="020B0604020202020204" pitchFamily="34" charset="0"/>
                <a:cs typeface="Arial" panose="020B0604020202020204" pitchFamily="34" charset="0"/>
              </a:rPr>
              <a:t>a Loop is any closed path through the circuit.</a:t>
            </a:r>
          </a:p>
          <a:p>
            <a:r>
              <a:rPr lang="en-US" dirty="0">
                <a:latin typeface="Arial" panose="020B0604020202020204" pitchFamily="34" charset="0"/>
                <a:cs typeface="Arial" panose="020B0604020202020204" pitchFamily="34" charset="0"/>
              </a:rPr>
              <a:t>To these, we add a specific type of loop called a «Mesh». </a:t>
            </a:r>
            <a:endParaRPr lang="ru-RU" dirty="0">
              <a:latin typeface="Arial" panose="020B0604020202020204" pitchFamily="34" charset="0"/>
              <a:cs typeface="Arial" panose="020B0604020202020204" pitchFamily="34" charset="0"/>
            </a:endParaRPr>
          </a:p>
        </p:txBody>
      </p:sp>
      <p:sp>
        <p:nvSpPr>
          <p:cNvPr id="6" name="Номер слайда 5">
            <a:extLst>
              <a:ext uri="{FF2B5EF4-FFF2-40B4-BE49-F238E27FC236}">
                <a16:creationId xmlns:a16="http://schemas.microsoft.com/office/drawing/2014/main" id="{4A094A73-35BB-02FB-3E5A-820E48C1526C}"/>
              </a:ext>
            </a:extLst>
          </p:cNvPr>
          <p:cNvSpPr>
            <a:spLocks noGrp="1"/>
          </p:cNvSpPr>
          <p:nvPr>
            <p:ph type="sldNum" sz="quarter" idx="12"/>
          </p:nvPr>
        </p:nvSpPr>
        <p:spPr/>
        <p:txBody>
          <a:bodyPr/>
          <a:lstStyle/>
          <a:p>
            <a:fld id="{D8214FA6-4742-421D-8B19-2C99196BD091}" type="slidenum">
              <a:rPr lang="ru-RU" smtClean="0"/>
              <a:t>16</a:t>
            </a:fld>
            <a:endParaRPr lang="ru-RU"/>
          </a:p>
        </p:txBody>
      </p:sp>
    </p:spTree>
    <p:extLst>
      <p:ext uri="{BB962C8B-B14F-4D97-AF65-F5344CB8AC3E}">
        <p14:creationId xmlns:p14="http://schemas.microsoft.com/office/powerpoint/2010/main" val="428966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3AFE3-1622-C84B-BE1A-5287BAB3997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7274603-BCB5-D0E9-F3D2-0F9B743C0CBA}"/>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C806F4B4-4750-C3A0-1838-814A9270C372}"/>
              </a:ext>
            </a:extLst>
          </p:cNvPr>
          <p:cNvSpPr>
            <a:spLocks noGrp="1"/>
          </p:cNvSpPr>
          <p:nvPr>
            <p:ph idx="1"/>
          </p:nvPr>
        </p:nvSpPr>
        <p:spPr>
          <a:xfrm>
            <a:off x="838200" y="1825625"/>
            <a:ext cx="5494020" cy="4351338"/>
          </a:xfrm>
        </p:spPr>
        <p:txBody>
          <a:bodyPr>
            <a:noAutofit/>
          </a:bodyPr>
          <a:lstStyle/>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A Mesh is a loop that does not contain any other loops within it.</a:t>
            </a:r>
            <a:endParaRPr lang="ru-RU" b="1" dirty="0">
              <a:effectLst/>
              <a:latin typeface="Arial" panose="020B0604020202020204" pitchFamily="34" charset="0"/>
              <a:ea typeface="Aptos" panose="020B0004020202020204" pitchFamily="34" charset="0"/>
              <a:cs typeface="Arial" panose="020B0604020202020204" pitchFamily="34" charset="0"/>
            </a:endParaRP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You can think of a mesh as a «window pane» in the circuit diagram. In Fig. here you can see that sum of all meshes can be named «loop».</a:t>
            </a:r>
            <a:endParaRPr lang="ru-RU" dirty="0">
              <a:effectLst/>
              <a:latin typeface="Arial" panose="020B0604020202020204" pitchFamily="34" charset="0"/>
              <a:ea typeface="Aptos" panose="020B0004020202020204" pitchFamily="34" charset="0"/>
              <a:cs typeface="Arial" panose="020B0604020202020204" pitchFamily="34" charset="0"/>
            </a:endParaRPr>
          </a:p>
        </p:txBody>
      </p:sp>
      <p:pic>
        <p:nvPicPr>
          <p:cNvPr id="5" name="Рисунок 4">
            <a:extLst>
              <a:ext uri="{FF2B5EF4-FFF2-40B4-BE49-F238E27FC236}">
                <a16:creationId xmlns:a16="http://schemas.microsoft.com/office/drawing/2014/main" id="{991BD57D-693C-106B-63B4-620FA772ACEF}"/>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6491617" y="1977846"/>
            <a:ext cx="5589131" cy="4515029"/>
          </a:xfrm>
          <a:prstGeom prst="rect">
            <a:avLst/>
          </a:prstGeom>
          <a:noFill/>
          <a:ln>
            <a:noFill/>
          </a:ln>
        </p:spPr>
      </p:pic>
      <p:grpSp>
        <p:nvGrpSpPr>
          <p:cNvPr id="4" name="Группа 3">
            <a:extLst>
              <a:ext uri="{FF2B5EF4-FFF2-40B4-BE49-F238E27FC236}">
                <a16:creationId xmlns:a16="http://schemas.microsoft.com/office/drawing/2014/main" id="{363DD804-58F0-04BA-4882-8F6F349912C3}"/>
              </a:ext>
            </a:extLst>
          </p:cNvPr>
          <p:cNvGrpSpPr/>
          <p:nvPr/>
        </p:nvGrpSpPr>
        <p:grpSpPr>
          <a:xfrm>
            <a:off x="0" y="0"/>
            <a:ext cx="12192000" cy="1690688"/>
            <a:chOff x="0" y="0"/>
            <a:chExt cx="12192000" cy="1690688"/>
          </a:xfrm>
        </p:grpSpPr>
        <p:sp>
          <p:nvSpPr>
            <p:cNvPr id="6" name="Прямоугольник 5">
              <a:extLst>
                <a:ext uri="{FF2B5EF4-FFF2-40B4-BE49-F238E27FC236}">
                  <a16:creationId xmlns:a16="http://schemas.microsoft.com/office/drawing/2014/main" id="{3C1E9051-C23D-B6EC-2A64-D60B319B884F}"/>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7" name="Прямоугольник: скругленные углы 6">
              <a:extLst>
                <a:ext uri="{FF2B5EF4-FFF2-40B4-BE49-F238E27FC236}">
                  <a16:creationId xmlns:a16="http://schemas.microsoft.com/office/drawing/2014/main" id="{A922BD61-2D55-961D-8C8B-0D30FF0AF2E8}"/>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Номер слайда 7">
            <a:extLst>
              <a:ext uri="{FF2B5EF4-FFF2-40B4-BE49-F238E27FC236}">
                <a16:creationId xmlns:a16="http://schemas.microsoft.com/office/drawing/2014/main" id="{E754067C-A6B1-979F-9D35-AAB352A63C61}"/>
              </a:ext>
            </a:extLst>
          </p:cNvPr>
          <p:cNvSpPr>
            <a:spLocks noGrp="1"/>
          </p:cNvSpPr>
          <p:nvPr>
            <p:ph type="sldNum" sz="quarter" idx="12"/>
          </p:nvPr>
        </p:nvSpPr>
        <p:spPr/>
        <p:txBody>
          <a:bodyPr/>
          <a:lstStyle/>
          <a:p>
            <a:fld id="{D8214FA6-4742-421D-8B19-2C99196BD091}" type="slidenum">
              <a:rPr lang="ru-RU" smtClean="0"/>
              <a:t>17</a:t>
            </a:fld>
            <a:endParaRPr lang="ru-RU"/>
          </a:p>
        </p:txBody>
      </p:sp>
    </p:spTree>
    <p:extLst>
      <p:ext uri="{BB962C8B-B14F-4D97-AF65-F5344CB8AC3E}">
        <p14:creationId xmlns:p14="http://schemas.microsoft.com/office/powerpoint/2010/main" val="4274622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a:xfrm>
            <a:off x="838200" y="1825625"/>
            <a:ext cx="5494020" cy="4351338"/>
          </a:xfrm>
        </p:spPr>
        <p:txBody>
          <a:bodyPr>
            <a:noAutofit/>
          </a:bodyPr>
          <a:lstStyle/>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The number of independent equations required to solve a circuit is determined by its topology.</a:t>
            </a:r>
          </a:p>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If a circuit has n nodes and b branches, we need a specific number of KCL and KVL equations to find every current and voltage.</a:t>
            </a:r>
            <a:endParaRPr lang="ru-RU" b="1" dirty="0">
              <a:effectLst/>
              <a:latin typeface="Arial" panose="020B0604020202020204" pitchFamily="34" charset="0"/>
              <a:ea typeface="Aptos" panose="020B0004020202020204" pitchFamily="34" charset="0"/>
              <a:cs typeface="Arial" panose="020B0604020202020204" pitchFamily="34" charset="0"/>
            </a:endParaRPr>
          </a:p>
        </p:txBody>
      </p:sp>
      <p:pic>
        <p:nvPicPr>
          <p:cNvPr id="5" name="Рисунок 4">
            <a:extLst>
              <a:ext uri="{FF2B5EF4-FFF2-40B4-BE49-F238E27FC236}">
                <a16:creationId xmlns:a16="http://schemas.microsoft.com/office/drawing/2014/main" id="{04E3F8F6-6202-BBFC-7D09-4A464D664058}"/>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6491617" y="1977846"/>
            <a:ext cx="5589131" cy="4515029"/>
          </a:xfrm>
          <a:prstGeom prst="rect">
            <a:avLst/>
          </a:prstGeom>
          <a:noFill/>
          <a:ln>
            <a:noFill/>
          </a:ln>
        </p:spPr>
      </p:pic>
      <p:grpSp>
        <p:nvGrpSpPr>
          <p:cNvPr id="4" name="Группа 3">
            <a:extLst>
              <a:ext uri="{FF2B5EF4-FFF2-40B4-BE49-F238E27FC236}">
                <a16:creationId xmlns:a16="http://schemas.microsoft.com/office/drawing/2014/main" id="{27AAFE0A-828C-8334-4841-D17096CFB45A}"/>
              </a:ext>
            </a:extLst>
          </p:cNvPr>
          <p:cNvGrpSpPr/>
          <p:nvPr/>
        </p:nvGrpSpPr>
        <p:grpSpPr>
          <a:xfrm>
            <a:off x="0" y="0"/>
            <a:ext cx="12192000" cy="1690688"/>
            <a:chOff x="0" y="0"/>
            <a:chExt cx="12192000" cy="1690688"/>
          </a:xfrm>
        </p:grpSpPr>
        <p:sp>
          <p:nvSpPr>
            <p:cNvPr id="6" name="Прямоугольник 5">
              <a:extLst>
                <a:ext uri="{FF2B5EF4-FFF2-40B4-BE49-F238E27FC236}">
                  <a16:creationId xmlns:a16="http://schemas.microsoft.com/office/drawing/2014/main" id="{43383A2D-12D7-18D7-38D8-3673DEB50582}"/>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7" name="Прямоугольник: скругленные углы 6">
              <a:extLst>
                <a:ext uri="{FF2B5EF4-FFF2-40B4-BE49-F238E27FC236}">
                  <a16:creationId xmlns:a16="http://schemas.microsoft.com/office/drawing/2014/main" id="{DC0896B1-8571-225E-B6EC-827E99732B16}"/>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Номер слайда 7">
            <a:extLst>
              <a:ext uri="{FF2B5EF4-FFF2-40B4-BE49-F238E27FC236}">
                <a16:creationId xmlns:a16="http://schemas.microsoft.com/office/drawing/2014/main" id="{A5DE89E1-58D0-14F3-F3BE-24654EF7C5F2}"/>
              </a:ext>
            </a:extLst>
          </p:cNvPr>
          <p:cNvSpPr>
            <a:spLocks noGrp="1"/>
          </p:cNvSpPr>
          <p:nvPr>
            <p:ph type="sldNum" sz="quarter" idx="12"/>
          </p:nvPr>
        </p:nvSpPr>
        <p:spPr/>
        <p:txBody>
          <a:bodyPr/>
          <a:lstStyle/>
          <a:p>
            <a:fld id="{D8214FA6-4742-421D-8B19-2C99196BD091}" type="slidenum">
              <a:rPr lang="ru-RU" smtClean="0"/>
              <a:t>18</a:t>
            </a:fld>
            <a:endParaRPr lang="ru-RU"/>
          </a:p>
        </p:txBody>
      </p:sp>
    </p:spTree>
    <p:extLst>
      <p:ext uri="{BB962C8B-B14F-4D97-AF65-F5344CB8AC3E}">
        <p14:creationId xmlns:p14="http://schemas.microsoft.com/office/powerpoint/2010/main" val="117684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The first and most fundamental method is the Branch Current Method. This method is the most direct application of Kirchhoff's laws.</a:t>
                </a: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In this method, </a:t>
                </a:r>
                <a:r>
                  <a:rPr lang="en-US" b="1" dirty="0">
                    <a:effectLst/>
                    <a:latin typeface="Arial" panose="020B0604020202020204" pitchFamily="34" charset="0"/>
                    <a:ea typeface="Aptos" panose="020B0004020202020204" pitchFamily="34" charset="0"/>
                    <a:cs typeface="Arial" panose="020B0604020202020204" pitchFamily="34" charset="0"/>
                  </a:rPr>
                  <a:t>we treat the current flowing through each branch as an unknown variable.</a:t>
                </a:r>
                <a:r>
                  <a:rPr lang="en-US" dirty="0">
                    <a:effectLst/>
                    <a:latin typeface="Arial" panose="020B0604020202020204" pitchFamily="34" charset="0"/>
                    <a:ea typeface="Aptos" panose="020B0004020202020204" pitchFamily="34" charset="0"/>
                    <a:cs typeface="Arial" panose="020B0604020202020204" pitchFamily="34" charset="0"/>
                  </a:rPr>
                  <a:t> </a:t>
                </a:r>
                <a:r>
                  <a:rPr lang="en-US" b="1" dirty="0">
                    <a:effectLst/>
                    <a:latin typeface="Arial" panose="020B0604020202020204" pitchFamily="34" charset="0"/>
                    <a:ea typeface="Aptos" panose="020B0004020202020204" pitchFamily="34" charset="0"/>
                    <a:cs typeface="Arial" panose="020B0604020202020204" pitchFamily="34" charset="0"/>
                  </a:rPr>
                  <a:t>If a circuit has </a:t>
                </a:r>
                <a14:m>
                  <m:oMath xmlns:m="http://schemas.openxmlformats.org/officeDocument/2006/math">
                    <m:r>
                      <a:rPr lang="en-US" b="1" i="1">
                        <a:effectLst/>
                        <a:latin typeface="Cambria Math" panose="02040503050406030204" pitchFamily="18" charset="0"/>
                        <a:ea typeface="Aptos" panose="020B0004020202020204" pitchFamily="34" charset="0"/>
                      </a:rPr>
                      <m:t>𝒃</m:t>
                    </m:r>
                  </m:oMath>
                </a14:m>
                <a:r>
                  <a:rPr lang="en-US" b="1" dirty="0">
                    <a:effectLst/>
                    <a:latin typeface="Arial" panose="020B0604020202020204" pitchFamily="34" charset="0"/>
                    <a:ea typeface="Aptos" panose="020B0004020202020204" pitchFamily="34" charset="0"/>
                    <a:cs typeface="Arial" panose="020B0604020202020204" pitchFamily="34" charset="0"/>
                  </a:rPr>
                  <a:t> branches, we will have </a:t>
                </a:r>
                <a14:m>
                  <m:oMath xmlns:m="http://schemas.openxmlformats.org/officeDocument/2006/math">
                    <m:r>
                      <a:rPr lang="en-US" b="1" i="1">
                        <a:effectLst/>
                        <a:latin typeface="Cambria Math" panose="02040503050406030204" pitchFamily="18" charset="0"/>
                        <a:ea typeface="Aptos" panose="020B0004020202020204" pitchFamily="34" charset="0"/>
                      </a:rPr>
                      <m:t>𝒃</m:t>
                    </m:r>
                  </m:oMath>
                </a14:m>
                <a:r>
                  <a:rPr lang="en-US" b="1" dirty="0">
                    <a:effectLst/>
                    <a:latin typeface="Arial" panose="020B0604020202020204" pitchFamily="34" charset="0"/>
                    <a:ea typeface="Aptos" panose="020B0004020202020204" pitchFamily="34" charset="0"/>
                    <a:cs typeface="Arial" panose="020B0604020202020204" pitchFamily="34" charset="0"/>
                  </a:rPr>
                  <a:t> unknown currents (</a:t>
                </a:r>
                <a14:m>
                  <m:oMath xmlns:m="http://schemas.openxmlformats.org/officeDocument/2006/math">
                    <m:sSub>
                      <m:sSubPr>
                        <m:ctrlPr>
                          <a:rPr lang="ru-RU" b="1" i="1">
                            <a:effectLst/>
                            <a:latin typeface="Cambria Math" panose="02040503050406030204" pitchFamily="18" charset="0"/>
                            <a:ea typeface="Aptos" panose="020B0004020202020204" pitchFamily="34" charset="0"/>
                          </a:rPr>
                        </m:ctrlPr>
                      </m:sSubPr>
                      <m:e>
                        <m:r>
                          <a:rPr lang="en-US" b="1" i="1">
                            <a:effectLst/>
                            <a:latin typeface="Cambria Math" panose="02040503050406030204" pitchFamily="18" charset="0"/>
                            <a:ea typeface="Aptos" panose="020B0004020202020204" pitchFamily="34" charset="0"/>
                          </a:rPr>
                          <m:t>𝒊</m:t>
                        </m:r>
                      </m:e>
                      <m:sub>
                        <m:r>
                          <a:rPr lang="en-US" b="1" i="1">
                            <a:effectLst/>
                            <a:latin typeface="Cambria Math" panose="02040503050406030204" pitchFamily="18" charset="0"/>
                            <a:ea typeface="Aptos" panose="020B0004020202020204" pitchFamily="34" charset="0"/>
                          </a:rPr>
                          <m:t>𝟏</m:t>
                        </m:r>
                      </m:sub>
                    </m:sSub>
                    <m:r>
                      <a:rPr lang="en-US" b="1">
                        <a:effectLst/>
                        <a:latin typeface="Cambria Math" panose="02040503050406030204" pitchFamily="18" charset="0"/>
                        <a:ea typeface="Aptos" panose="020B0004020202020204" pitchFamily="34" charset="0"/>
                      </a:rPr>
                      <m:t>,</m:t>
                    </m:r>
                    <m:sSub>
                      <m:sSubPr>
                        <m:ctrlPr>
                          <a:rPr lang="ru-RU" b="1" i="1">
                            <a:effectLst/>
                            <a:latin typeface="Cambria Math" panose="02040503050406030204" pitchFamily="18" charset="0"/>
                            <a:ea typeface="Aptos" panose="020B0004020202020204" pitchFamily="34" charset="0"/>
                          </a:rPr>
                        </m:ctrlPr>
                      </m:sSubPr>
                      <m:e>
                        <m:r>
                          <a:rPr lang="en-US" b="1" i="1">
                            <a:effectLst/>
                            <a:latin typeface="Cambria Math" panose="02040503050406030204" pitchFamily="18" charset="0"/>
                            <a:ea typeface="Aptos" panose="020B0004020202020204" pitchFamily="34" charset="0"/>
                          </a:rPr>
                          <m:t>𝒊</m:t>
                        </m:r>
                      </m:e>
                      <m:sub>
                        <m:r>
                          <a:rPr lang="en-US" b="1" i="1">
                            <a:effectLst/>
                            <a:latin typeface="Cambria Math" panose="02040503050406030204" pitchFamily="18" charset="0"/>
                            <a:ea typeface="Aptos" panose="020B0004020202020204" pitchFamily="34" charset="0"/>
                          </a:rPr>
                          <m:t>𝟐</m:t>
                        </m:r>
                      </m:sub>
                    </m:sSub>
                    <m:r>
                      <a:rPr lang="en-US" b="1">
                        <a:effectLst/>
                        <a:latin typeface="Cambria Math" panose="02040503050406030204" pitchFamily="18" charset="0"/>
                        <a:ea typeface="Aptos" panose="020B0004020202020204" pitchFamily="34" charset="0"/>
                      </a:rPr>
                      <m:t>,...</m:t>
                    </m:r>
                    <m:sSub>
                      <m:sSubPr>
                        <m:ctrlPr>
                          <a:rPr lang="ru-RU" b="1" i="1">
                            <a:effectLst/>
                            <a:latin typeface="Cambria Math" panose="02040503050406030204" pitchFamily="18" charset="0"/>
                            <a:ea typeface="Aptos" panose="020B0004020202020204" pitchFamily="34" charset="0"/>
                          </a:rPr>
                        </m:ctrlPr>
                      </m:sSubPr>
                      <m:e>
                        <m:r>
                          <a:rPr lang="en-US" b="1" i="1">
                            <a:effectLst/>
                            <a:latin typeface="Cambria Math" panose="02040503050406030204" pitchFamily="18" charset="0"/>
                            <a:ea typeface="Aptos" panose="020B0004020202020204" pitchFamily="34" charset="0"/>
                          </a:rPr>
                          <m:t>𝒊</m:t>
                        </m:r>
                      </m:e>
                      <m:sub>
                        <m:r>
                          <a:rPr lang="en-US" b="1" i="1">
                            <a:effectLst/>
                            <a:latin typeface="Cambria Math" panose="02040503050406030204" pitchFamily="18" charset="0"/>
                            <a:ea typeface="Aptos" panose="020B0004020202020204" pitchFamily="34" charset="0"/>
                          </a:rPr>
                          <m:t>𝒃</m:t>
                        </m:r>
                      </m:sub>
                    </m:sSub>
                  </m:oMath>
                </a14:m>
                <a:r>
                  <a:rPr lang="en-US" b="1" dirty="0">
                    <a:effectLst/>
                    <a:latin typeface="Arial" panose="020B0604020202020204" pitchFamily="34" charset="0"/>
                    <a:ea typeface="Aptos" panose="020B0004020202020204" pitchFamily="34" charset="0"/>
                    <a:cs typeface="Arial" panose="020B0604020202020204" pitchFamily="34" charset="0"/>
                  </a:rPr>
                  <a:t>). To solve for these unknowns, we must write a system of </a:t>
                </a:r>
                <a14:m>
                  <m:oMath xmlns:m="http://schemas.openxmlformats.org/officeDocument/2006/math">
                    <m:r>
                      <a:rPr lang="en-US" b="1" i="1">
                        <a:effectLst/>
                        <a:latin typeface="Cambria Math" panose="02040503050406030204" pitchFamily="18" charset="0"/>
                        <a:ea typeface="Aptos" panose="020B0004020202020204" pitchFamily="34" charset="0"/>
                      </a:rPr>
                      <m:t>𝒃</m:t>
                    </m:r>
                  </m:oMath>
                </a14:m>
                <a:r>
                  <a:rPr lang="en-US" b="1" dirty="0">
                    <a:effectLst/>
                    <a:latin typeface="Arial" panose="020B0604020202020204" pitchFamily="34" charset="0"/>
                    <a:ea typeface="Aptos" panose="020B0004020202020204" pitchFamily="34" charset="0"/>
                    <a:cs typeface="Arial" panose="020B0604020202020204" pitchFamily="34" charset="0"/>
                  </a:rPr>
                  <a:t> independent equations.</a:t>
                </a:r>
                <a:endParaRPr lang="en-US" dirty="0">
                  <a:effectLst/>
                  <a:latin typeface="Arial" panose="020B0604020202020204" pitchFamily="34" charset="0"/>
                  <a:ea typeface="Aptos" panose="020B00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38B32713-8DC8-A19D-A317-628052EECCD1}"/>
                  </a:ext>
                </a:extLst>
              </p:cNvPr>
              <p:cNvSpPr>
                <a:spLocks noGrp="1" noRot="1" noChangeAspect="1" noMove="1" noResize="1" noEditPoints="1" noAdjustHandles="1" noChangeArrowheads="1" noChangeShapeType="1" noTextEdit="1"/>
              </p:cNvSpPr>
              <p:nvPr>
                <p:ph idx="1"/>
              </p:nvPr>
            </p:nvSpPr>
            <p:spPr>
              <a:blipFill>
                <a:blip r:embed="rId2"/>
                <a:stretch>
                  <a:fillRect l="-1043" t="-560" r="-1159" b="-1961"/>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F45F968C-ED3D-6890-33AE-248D1A35DBB8}"/>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4554F389-3076-AF51-8C9B-9D17EF4AFF71}"/>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9E01C340-72A6-F133-1D84-75BEBCF8A3FC}"/>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36674DD1-FA62-236B-48FE-095015EDC7C8}"/>
              </a:ext>
            </a:extLst>
          </p:cNvPr>
          <p:cNvSpPr>
            <a:spLocks noGrp="1"/>
          </p:cNvSpPr>
          <p:nvPr>
            <p:ph type="sldNum" sz="quarter" idx="12"/>
          </p:nvPr>
        </p:nvSpPr>
        <p:spPr/>
        <p:txBody>
          <a:bodyPr/>
          <a:lstStyle/>
          <a:p>
            <a:fld id="{D8214FA6-4742-421D-8B19-2C99196BD091}" type="slidenum">
              <a:rPr lang="ru-RU" smtClean="0"/>
              <a:t>19</a:t>
            </a:fld>
            <a:endParaRPr lang="ru-RU"/>
          </a:p>
        </p:txBody>
      </p:sp>
    </p:spTree>
    <p:extLst>
      <p:ext uri="{BB962C8B-B14F-4D97-AF65-F5344CB8AC3E}">
        <p14:creationId xmlns:p14="http://schemas.microsoft.com/office/powerpoint/2010/main" val="33602544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67792-E76C-C499-00E0-EA689BFAE63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3B45C5A-B72A-47D3-C525-150B7298C7E8}"/>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45BDB66E-2B0D-0224-065A-E1445D1F8A25}"/>
              </a:ext>
            </a:extLst>
          </p:cNvPr>
          <p:cNvSpPr>
            <a:spLocks noGrp="1"/>
          </p:cNvSpPr>
          <p:nvPr>
            <p:ph idx="1"/>
          </p:nvPr>
        </p:nvSpPr>
        <p:spPr/>
        <p:txBody>
          <a:bodyPr>
            <a:noAutofit/>
          </a:bodyPr>
          <a:lstStyle/>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The Branch Current Method is universally applicable to any circuit, but it is computationally inefficient.</a:t>
            </a:r>
            <a:r>
              <a:rPr lang="en-US" dirty="0">
                <a:effectLst/>
                <a:latin typeface="Arial" panose="020B0604020202020204" pitchFamily="34" charset="0"/>
                <a:ea typeface="Aptos" panose="020B0004020202020204" pitchFamily="34" charset="0"/>
                <a:cs typeface="Arial" panose="020B0604020202020204" pitchFamily="34" charset="0"/>
              </a:rPr>
              <a:t> </a:t>
            </a:r>
          </a:p>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For a circuit with just 5 branches, you must solve a system of 5 simultaneous equations. </a:t>
            </a: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While this is easy for a computer, it is boring for a human.</a:t>
            </a: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However, understanding this method is crucial because it proves that KCL and KVL are sufficient to solve any network.</a:t>
            </a:r>
            <a:endParaRPr lang="ru-RU" dirty="0">
              <a:effectLst/>
              <a:latin typeface="Arial" panose="020B0604020202020204" pitchFamily="34" charset="0"/>
              <a:ea typeface="Aptos" panose="020B0004020202020204" pitchFamily="34" charset="0"/>
              <a:cs typeface="Arial" panose="020B0604020202020204" pitchFamily="34" charset="0"/>
            </a:endParaRPr>
          </a:p>
          <a:p>
            <a:pPr algn="just">
              <a:lnSpc>
                <a:spcPct val="120000"/>
              </a:lnSpc>
            </a:pPr>
            <a:endParaRPr lang="en-US" dirty="0">
              <a:effectLst/>
              <a:latin typeface="Arial" panose="020B0604020202020204" pitchFamily="34" charset="0"/>
              <a:ea typeface="Aptos" panose="020B00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0EE13FD7-4A7B-DC9D-9E7E-135C9E6B5BA8}"/>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424FE74C-2E4B-08FC-1FA2-471DBE5BA635}"/>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7B80DFA3-0009-ADDE-6E80-203D14E95215}"/>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E114003B-B884-FBC3-E026-9FC1650A68A4}"/>
              </a:ext>
            </a:extLst>
          </p:cNvPr>
          <p:cNvSpPr>
            <a:spLocks noGrp="1"/>
          </p:cNvSpPr>
          <p:nvPr>
            <p:ph type="sldNum" sz="quarter" idx="12"/>
          </p:nvPr>
        </p:nvSpPr>
        <p:spPr/>
        <p:txBody>
          <a:bodyPr/>
          <a:lstStyle/>
          <a:p>
            <a:fld id="{D8214FA6-4742-421D-8B19-2C99196BD091}" type="slidenum">
              <a:rPr lang="ru-RU" smtClean="0"/>
              <a:t>20</a:t>
            </a:fld>
            <a:endParaRPr lang="ru-RU"/>
          </a:p>
        </p:txBody>
      </p:sp>
    </p:spTree>
    <p:extLst>
      <p:ext uri="{BB962C8B-B14F-4D97-AF65-F5344CB8AC3E}">
        <p14:creationId xmlns:p14="http://schemas.microsoft.com/office/powerpoint/2010/main" val="21650837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E1693-A5A8-AA3A-BCB9-53D426156F4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C910A08-F496-5020-B92A-E3B787FAAA34}"/>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70AF953E-A875-6F36-DBBF-08B1751A513D}"/>
                  </a:ext>
                </a:extLst>
              </p:cNvPr>
              <p:cNvSpPr>
                <a:spLocks noGrp="1"/>
              </p:cNvSpPr>
              <p:nvPr>
                <p:ph idx="1"/>
              </p:nvPr>
            </p:nvSpPr>
            <p:spPr/>
            <p:txBody>
              <a:bodyPr>
                <a:noAutofit/>
              </a:bodyPr>
              <a:lstStyle/>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The algorithm for the Branch Current Method:</a:t>
                </a:r>
              </a:p>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arbitrarily assign a reference direction (current arrow) for each branch current</a:t>
                </a:r>
                <a:r>
                  <a:rPr lang="ru-RU" b="1" dirty="0">
                    <a:effectLst/>
                    <a:latin typeface="Arial" panose="020B0604020202020204" pitchFamily="34" charset="0"/>
                    <a:ea typeface="Aptos" panose="020B0004020202020204" pitchFamily="34" charset="0"/>
                    <a:cs typeface="Arial" panose="020B0604020202020204" pitchFamily="34" charset="0"/>
                  </a:rPr>
                  <a:t>;</a:t>
                </a:r>
                <a:r>
                  <a:rPr lang="en-US" b="1" dirty="0">
                    <a:effectLst/>
                    <a:latin typeface="Arial" panose="020B0604020202020204" pitchFamily="34" charset="0"/>
                    <a:ea typeface="Aptos" panose="020B0004020202020204" pitchFamily="34" charset="0"/>
                    <a:cs typeface="Arial" panose="020B0604020202020204" pitchFamily="34" charset="0"/>
                  </a:rPr>
                  <a:t> </a:t>
                </a:r>
                <a:r>
                  <a:rPr lang="en-US" dirty="0">
                    <a:effectLst/>
                    <a:latin typeface="Arial" panose="020B0604020202020204" pitchFamily="34" charset="0"/>
                    <a:ea typeface="Aptos" panose="020B0004020202020204" pitchFamily="34" charset="0"/>
                    <a:cs typeface="Arial" panose="020B0604020202020204" pitchFamily="34" charset="0"/>
                  </a:rPr>
                  <a:t>Remember, if the calculated value is negative, the actual direction is opposite;</a:t>
                </a:r>
                <a:endParaRPr lang="ru-RU" dirty="0">
                  <a:effectLst/>
                  <a:latin typeface="Arial" panose="020B0604020202020204" pitchFamily="34" charset="0"/>
                  <a:ea typeface="Aptos" panose="020B0004020202020204" pitchFamily="34" charset="0"/>
                  <a:cs typeface="Arial" panose="020B0604020202020204" pitchFamily="34" charset="0"/>
                </a:endParaRPr>
              </a:p>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count the number of nodes (n). Write KCL equations for </a:t>
                </a:r>
                <a14:m>
                  <m:oMath xmlns:m="http://schemas.openxmlformats.org/officeDocument/2006/math">
                    <m:r>
                      <a:rPr lang="en-US" b="1" i="1" dirty="0" smtClean="0">
                        <a:effectLst/>
                        <a:latin typeface="Cambria Math" panose="02040503050406030204" pitchFamily="18" charset="0"/>
                        <a:ea typeface="Aptos" panose="020B0004020202020204" pitchFamily="34" charset="0"/>
                        <a:cs typeface="Arial" panose="020B0604020202020204" pitchFamily="34" charset="0"/>
                      </a:rPr>
                      <m:t>(</m:t>
                    </m:r>
                    <m:r>
                      <a:rPr lang="en-US" b="1" i="1" dirty="0" smtClean="0">
                        <a:effectLst/>
                        <a:latin typeface="Cambria Math" panose="02040503050406030204" pitchFamily="18" charset="0"/>
                        <a:ea typeface="Aptos" panose="020B0004020202020204" pitchFamily="34" charset="0"/>
                        <a:cs typeface="Arial" panose="020B0604020202020204" pitchFamily="34" charset="0"/>
                      </a:rPr>
                      <m:t>𝒏</m:t>
                    </m:r>
                    <m:r>
                      <a:rPr lang="en-US" b="1" i="1" dirty="0" smtClean="0">
                        <a:effectLst/>
                        <a:latin typeface="Cambria Math" panose="02040503050406030204" pitchFamily="18" charset="0"/>
                        <a:ea typeface="Aptos" panose="020B0004020202020204" pitchFamily="34" charset="0"/>
                        <a:cs typeface="Arial" panose="020B0604020202020204" pitchFamily="34" charset="0"/>
                      </a:rPr>
                      <m:t>−</m:t>
                    </m:r>
                    <m:r>
                      <a:rPr lang="en-US" b="1" i="1" dirty="0" smtClean="0">
                        <a:effectLst/>
                        <a:latin typeface="Cambria Math" panose="02040503050406030204" pitchFamily="18" charset="0"/>
                        <a:ea typeface="Aptos" panose="020B0004020202020204" pitchFamily="34" charset="0"/>
                        <a:cs typeface="Arial" panose="020B0604020202020204" pitchFamily="34" charset="0"/>
                      </a:rPr>
                      <m:t>𝟏</m:t>
                    </m:r>
                    <m:r>
                      <a:rPr lang="ru-RU" b="1" i="1" dirty="0">
                        <a:effectLst/>
                        <a:latin typeface="Cambria Math" panose="02040503050406030204" pitchFamily="18" charset="0"/>
                        <a:ea typeface="Aptos" panose="020B0004020202020204" pitchFamily="34" charset="0"/>
                        <a:cs typeface="Arial" panose="020B0604020202020204" pitchFamily="34" charset="0"/>
                      </a:rPr>
                      <m:t>)</m:t>
                    </m:r>
                  </m:oMath>
                </a14:m>
                <a:r>
                  <a:rPr lang="en-US" b="1" dirty="0">
                    <a:effectLst/>
                    <a:latin typeface="Arial" panose="020B0604020202020204" pitchFamily="34" charset="0"/>
                    <a:ea typeface="Aptos" panose="020B0004020202020204" pitchFamily="34" charset="0"/>
                    <a:cs typeface="Arial" panose="020B0604020202020204" pitchFamily="34" charset="0"/>
                  </a:rPr>
                  <a:t>; </a:t>
                </a:r>
                <a:r>
                  <a:rPr lang="en-US" dirty="0">
                    <a:effectLst/>
                    <a:latin typeface="Arial" panose="020B0604020202020204" pitchFamily="34" charset="0"/>
                    <a:ea typeface="Aptos" panose="020B0004020202020204" pitchFamily="34" charset="0"/>
                    <a:cs typeface="Arial" panose="020B0604020202020204" pitchFamily="34" charset="0"/>
                  </a:rPr>
                  <a:t>We omit one node because its equation is mathematically dependent on the others (redundant);</a:t>
                </a:r>
              </a:p>
            </p:txBody>
          </p:sp>
        </mc:Choice>
        <mc:Fallback xmlns="">
          <p:sp>
            <p:nvSpPr>
              <p:cNvPr id="3" name="Объект 2">
                <a:extLst>
                  <a:ext uri="{FF2B5EF4-FFF2-40B4-BE49-F238E27FC236}">
                    <a16:creationId xmlns:a16="http://schemas.microsoft.com/office/drawing/2014/main" id="{70AF953E-A875-6F36-DBBF-08B1751A513D}"/>
                  </a:ext>
                </a:extLst>
              </p:cNvPr>
              <p:cNvSpPr>
                <a:spLocks noGrp="1" noRot="1" noChangeAspect="1" noMove="1" noResize="1" noEditPoints="1" noAdjustHandles="1" noChangeArrowheads="1" noChangeShapeType="1" noTextEdit="1"/>
              </p:cNvSpPr>
              <p:nvPr>
                <p:ph idx="1"/>
              </p:nvPr>
            </p:nvSpPr>
            <p:spPr>
              <a:blipFill>
                <a:blip r:embed="rId2"/>
                <a:stretch>
                  <a:fillRect l="-1043" t="-560"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D93DC89B-3D5D-1D41-5A45-887A23F28DF0}"/>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E2CA6A26-0F4B-9BEA-2EDC-A447660190CC}"/>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F35E83F1-7918-71EF-7128-D0E2105AAD8D}"/>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363439FB-68E1-A4CE-7093-6C14A46B2ED0}"/>
              </a:ext>
            </a:extLst>
          </p:cNvPr>
          <p:cNvSpPr>
            <a:spLocks noGrp="1"/>
          </p:cNvSpPr>
          <p:nvPr>
            <p:ph type="sldNum" sz="quarter" idx="12"/>
          </p:nvPr>
        </p:nvSpPr>
        <p:spPr/>
        <p:txBody>
          <a:bodyPr/>
          <a:lstStyle/>
          <a:p>
            <a:fld id="{D8214FA6-4742-421D-8B19-2C99196BD091}" type="slidenum">
              <a:rPr lang="ru-RU" smtClean="0"/>
              <a:t>21</a:t>
            </a:fld>
            <a:endParaRPr lang="ru-RU"/>
          </a:p>
        </p:txBody>
      </p:sp>
    </p:spTree>
    <p:extLst>
      <p:ext uri="{BB962C8B-B14F-4D97-AF65-F5344CB8AC3E}">
        <p14:creationId xmlns:p14="http://schemas.microsoft.com/office/powerpoint/2010/main" val="1432335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9A6DF-7C5F-B2D5-D8FE-904891762F6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C6AD79-B8F4-7E9F-8F6B-2FAB9925028F}"/>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95938221-401A-664E-59B5-00C7F3AC63F0}"/>
              </a:ext>
            </a:extLst>
          </p:cNvPr>
          <p:cNvSpPr>
            <a:spLocks noGrp="1"/>
          </p:cNvSpPr>
          <p:nvPr>
            <p:ph idx="1"/>
          </p:nvPr>
        </p:nvSpPr>
        <p:spPr/>
        <p:txBody>
          <a:bodyPr>
            <a:noAutofit/>
          </a:bodyPr>
          <a:lstStyle/>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count the number of independent loops (meshes). Write KVL equations for these loops;</a:t>
            </a:r>
          </a:p>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solve the resulting system of linear equations</a:t>
            </a:r>
            <a:r>
              <a:rPr lang="en-US" dirty="0">
                <a:effectLst/>
                <a:latin typeface="Arial" panose="020B0604020202020204" pitchFamily="34" charset="0"/>
                <a:ea typeface="Aptos" panose="020B0004020202020204" pitchFamily="34" charset="0"/>
                <a:cs typeface="Arial" panose="020B0604020202020204" pitchFamily="34" charset="0"/>
              </a:rPr>
              <a:t> to determine the individual branch currents.</a:t>
            </a:r>
          </a:p>
        </p:txBody>
      </p:sp>
      <p:grpSp>
        <p:nvGrpSpPr>
          <p:cNvPr id="4" name="Группа 3">
            <a:extLst>
              <a:ext uri="{FF2B5EF4-FFF2-40B4-BE49-F238E27FC236}">
                <a16:creationId xmlns:a16="http://schemas.microsoft.com/office/drawing/2014/main" id="{1035CEA0-B251-CB29-BD3D-256569D36810}"/>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A97F6DA1-4CD8-CF99-2287-14F0DEBD87BB}"/>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11F3E14E-3151-D3A5-D641-144CEDA64B78}"/>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937D8AEA-C44E-0F5F-7200-77B58BD9C99C}"/>
              </a:ext>
            </a:extLst>
          </p:cNvPr>
          <p:cNvSpPr>
            <a:spLocks noGrp="1"/>
          </p:cNvSpPr>
          <p:nvPr>
            <p:ph type="sldNum" sz="quarter" idx="12"/>
          </p:nvPr>
        </p:nvSpPr>
        <p:spPr/>
        <p:txBody>
          <a:bodyPr/>
          <a:lstStyle/>
          <a:p>
            <a:fld id="{D8214FA6-4742-421D-8B19-2C99196BD091}" type="slidenum">
              <a:rPr lang="ru-RU" smtClean="0"/>
              <a:t>22</a:t>
            </a:fld>
            <a:endParaRPr lang="ru-RU"/>
          </a:p>
        </p:txBody>
      </p:sp>
    </p:spTree>
    <p:extLst>
      <p:ext uri="{BB962C8B-B14F-4D97-AF65-F5344CB8AC3E}">
        <p14:creationId xmlns:p14="http://schemas.microsoft.com/office/powerpoint/2010/main" val="787991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Autofit/>
              </a:bodyPr>
              <a:lstStyle/>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It is imperative to follow the passive sign convention when writing the KVL equations: voltage drops across resistors are positive in the direction of the current (</a:t>
                </a:r>
                <a14:m>
                  <m:oMath xmlns:m="http://schemas.openxmlformats.org/officeDocument/2006/math">
                    <m:r>
                      <a:rPr lang="en-US" b="1" i="1" dirty="0" smtClean="0">
                        <a:effectLst/>
                        <a:latin typeface="Cambria Math" panose="02040503050406030204" pitchFamily="18" charset="0"/>
                        <a:ea typeface="Aptos" panose="020B0004020202020204" pitchFamily="34" charset="0"/>
                        <a:cs typeface="Arial" panose="020B0604020202020204" pitchFamily="34" charset="0"/>
                      </a:rPr>
                      <m:t>+</m:t>
                    </m:r>
                    <m:r>
                      <a:rPr lang="en-US" b="1" i="1" dirty="0" err="1">
                        <a:effectLst/>
                        <a:latin typeface="Cambria Math" panose="02040503050406030204" pitchFamily="18" charset="0"/>
                        <a:ea typeface="Aptos" panose="020B0004020202020204" pitchFamily="34" charset="0"/>
                        <a:cs typeface="Arial" panose="020B0604020202020204" pitchFamily="34" charset="0"/>
                      </a:rPr>
                      <m:t>𝒊𝑹</m:t>
                    </m:r>
                  </m:oMath>
                </a14:m>
                <a:r>
                  <a:rPr lang="en-US" b="1" dirty="0">
                    <a:effectLst/>
                    <a:latin typeface="Arial" panose="020B0604020202020204" pitchFamily="34" charset="0"/>
                    <a:ea typeface="Aptos" panose="020B0004020202020204" pitchFamily="34" charset="0"/>
                    <a:cs typeface="Arial" panose="020B0604020202020204" pitchFamily="34" charset="0"/>
                  </a:rPr>
                  <a:t>), and voltage rises are negative.</a:t>
                </a:r>
              </a:p>
            </p:txBody>
          </p:sp>
        </mc:Choice>
        <mc:Fallback xmlns="">
          <p:sp>
            <p:nvSpPr>
              <p:cNvPr id="3" name="Объект 2">
                <a:extLst>
                  <a:ext uri="{FF2B5EF4-FFF2-40B4-BE49-F238E27FC236}">
                    <a16:creationId xmlns:a16="http://schemas.microsoft.com/office/drawing/2014/main" id="{38B32713-8DC8-A19D-A317-628052EECCD1}"/>
                  </a:ext>
                </a:extLst>
              </p:cNvPr>
              <p:cNvSpPr>
                <a:spLocks noGrp="1" noRot="1" noChangeAspect="1" noMove="1" noResize="1" noEditPoints="1" noAdjustHandles="1" noChangeArrowheads="1" noChangeShapeType="1" noTextEdit="1"/>
              </p:cNvSpPr>
              <p:nvPr>
                <p:ph idx="1"/>
              </p:nvPr>
            </p:nvSpPr>
            <p:spPr>
              <a:blipFill>
                <a:blip r:embed="rId2"/>
                <a:stretch>
                  <a:fillRect l="-1043" t="-560"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3AA46AC3-1EE0-E832-2488-6E737CDB7BC5}"/>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4776FA8F-900C-8587-FB1A-CD1724ACD6D6}"/>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D2902FF5-ECFC-2502-33A8-03E948F492A2}"/>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F3C280EB-045F-1492-C786-9C9A0C3650A8}"/>
              </a:ext>
            </a:extLst>
          </p:cNvPr>
          <p:cNvSpPr>
            <a:spLocks noGrp="1"/>
          </p:cNvSpPr>
          <p:nvPr>
            <p:ph type="sldNum" sz="quarter" idx="12"/>
          </p:nvPr>
        </p:nvSpPr>
        <p:spPr/>
        <p:txBody>
          <a:bodyPr/>
          <a:lstStyle/>
          <a:p>
            <a:fld id="{D8214FA6-4742-421D-8B19-2C99196BD091}" type="slidenum">
              <a:rPr lang="ru-RU" smtClean="0"/>
              <a:t>23</a:t>
            </a:fld>
            <a:endParaRPr lang="ru-RU"/>
          </a:p>
        </p:txBody>
      </p:sp>
    </p:spTree>
    <p:extLst>
      <p:ext uri="{BB962C8B-B14F-4D97-AF65-F5344CB8AC3E}">
        <p14:creationId xmlns:p14="http://schemas.microsoft.com/office/powerpoint/2010/main" val="17077251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8BB83-9FF5-3252-881E-148AC01B719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733ADB-5669-E6AD-C19A-311173428BD7}"/>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EB521A9D-3CD2-38DF-2668-12BC46BA6BD2}"/>
                  </a:ext>
                </a:extLst>
              </p:cNvPr>
              <p:cNvSpPr>
                <a:spLocks noGrp="1"/>
              </p:cNvSpPr>
              <p:nvPr>
                <p:ph idx="1"/>
              </p:nvPr>
            </p:nvSpPr>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Let us apply this to a practical example. Imagine a circuit with two generic meshes: a left loop and a right loop, sharing a central vertical resistor. Let us say we have 3 branches. We label the currents </a:t>
                </a:r>
                <a14:m>
                  <m:oMath xmlns:m="http://schemas.openxmlformats.org/officeDocument/2006/math">
                    <m:sSub>
                      <m:sSubPr>
                        <m:ctrlPr>
                          <a:rPr lang="en-US" i="1" dirty="0" smtClean="0">
                            <a:effectLst/>
                            <a:latin typeface="Cambria Math" panose="02040503050406030204" pitchFamily="18" charset="0"/>
                            <a:ea typeface="Aptos" panose="020B0004020202020204" pitchFamily="34" charset="0"/>
                            <a:cs typeface="Arial" panose="020B0604020202020204" pitchFamily="34" charset="0"/>
                          </a:rPr>
                        </m:ctrlPr>
                      </m:sSubPr>
                      <m:e>
                        <m:r>
                          <a:rPr lang="en-US" i="1" dirty="0" smtClean="0">
                            <a:effectLst/>
                            <a:latin typeface="Cambria Math" panose="02040503050406030204" pitchFamily="18" charset="0"/>
                            <a:ea typeface="Aptos" panose="020B0004020202020204" pitchFamily="34" charset="0"/>
                            <a:cs typeface="Arial" panose="020B0604020202020204" pitchFamily="34" charset="0"/>
                          </a:rPr>
                          <m:t>𝑖</m:t>
                        </m:r>
                      </m:e>
                      <m:sub>
                        <m:r>
                          <a:rPr lang="en-US" i="1" dirty="0" smtClean="0">
                            <a:effectLst/>
                            <a:latin typeface="Cambria Math" panose="02040503050406030204" pitchFamily="18" charset="0"/>
                            <a:ea typeface="Aptos" panose="020B0004020202020204" pitchFamily="34" charset="0"/>
                            <a:cs typeface="Arial" panose="020B0604020202020204" pitchFamily="34" charset="0"/>
                          </a:rPr>
                          <m:t>1</m:t>
                        </m:r>
                      </m:sub>
                    </m:sSub>
                    <m:r>
                      <a:rPr lang="en-US" i="1" dirty="0" smtClean="0">
                        <a:effectLst/>
                        <a:latin typeface="Cambria Math" panose="02040503050406030204" pitchFamily="18" charset="0"/>
                        <a:ea typeface="Aptos" panose="020B0004020202020204" pitchFamily="34" charset="0"/>
                        <a:cs typeface="Arial" panose="020B0604020202020204" pitchFamily="34" charset="0"/>
                      </a:rPr>
                      <m:t>,</m:t>
                    </m:r>
                    <m:sSub>
                      <m:sSubPr>
                        <m:ctrlPr>
                          <a:rPr lang="en-US" i="1" dirty="0" smtClean="0">
                            <a:effectLst/>
                            <a:latin typeface="Cambria Math" panose="02040503050406030204" pitchFamily="18" charset="0"/>
                            <a:ea typeface="Aptos" panose="020B0004020202020204" pitchFamily="34" charset="0"/>
                            <a:cs typeface="Arial" panose="020B0604020202020204" pitchFamily="34" charset="0"/>
                          </a:rPr>
                        </m:ctrlPr>
                      </m:sSubPr>
                      <m:e>
                        <m:r>
                          <a:rPr lang="en-US" i="1" dirty="0" smtClean="0">
                            <a:effectLst/>
                            <a:latin typeface="Cambria Math" panose="02040503050406030204" pitchFamily="18" charset="0"/>
                            <a:ea typeface="Aptos" panose="020B0004020202020204" pitchFamily="34" charset="0"/>
                            <a:cs typeface="Arial" panose="020B0604020202020204" pitchFamily="34" charset="0"/>
                          </a:rPr>
                          <m:t>𝑖</m:t>
                        </m:r>
                      </m:e>
                      <m:sub>
                        <m:r>
                          <a:rPr lang="en-US" i="1" dirty="0" smtClean="0">
                            <a:effectLst/>
                            <a:latin typeface="Cambria Math" panose="02040503050406030204" pitchFamily="18" charset="0"/>
                            <a:ea typeface="Aptos" panose="020B0004020202020204" pitchFamily="34" charset="0"/>
                            <a:cs typeface="Arial" panose="020B0604020202020204" pitchFamily="34" charset="0"/>
                          </a:rPr>
                          <m:t>2</m:t>
                        </m:r>
                      </m:sub>
                    </m:sSub>
                  </m:oMath>
                </a14:m>
                <a:r>
                  <a:rPr lang="en-US" dirty="0">
                    <a:effectLst/>
                    <a:latin typeface="Arial" panose="020B0604020202020204" pitchFamily="34" charset="0"/>
                    <a:ea typeface="Aptos" panose="020B0004020202020204" pitchFamily="34" charset="0"/>
                    <a:cs typeface="Arial" panose="020B0604020202020204" pitchFamily="34" charset="0"/>
                  </a:rPr>
                  <a:t>, and </a:t>
                </a:r>
                <a14:m>
                  <m:oMath xmlns:m="http://schemas.openxmlformats.org/officeDocument/2006/math">
                    <m:sSub>
                      <m:sSubPr>
                        <m:ctrlPr>
                          <a:rPr lang="en-US" i="1" dirty="0" smtClean="0">
                            <a:effectLst/>
                            <a:latin typeface="Cambria Math" panose="02040503050406030204" pitchFamily="18" charset="0"/>
                            <a:ea typeface="Aptos" panose="020B0004020202020204" pitchFamily="34" charset="0"/>
                            <a:cs typeface="Arial" panose="020B0604020202020204" pitchFamily="34" charset="0"/>
                          </a:rPr>
                        </m:ctrlPr>
                      </m:sSubPr>
                      <m:e>
                        <m:r>
                          <a:rPr lang="en-US" i="1" dirty="0" smtClean="0">
                            <a:effectLst/>
                            <a:latin typeface="Cambria Math" panose="02040503050406030204" pitchFamily="18" charset="0"/>
                            <a:ea typeface="Aptos" panose="020B0004020202020204" pitchFamily="34" charset="0"/>
                            <a:cs typeface="Arial" panose="020B0604020202020204" pitchFamily="34" charset="0"/>
                          </a:rPr>
                          <m:t>𝑖</m:t>
                        </m:r>
                      </m:e>
                      <m:sub>
                        <m:r>
                          <a:rPr lang="en-US" i="1" dirty="0" smtClean="0">
                            <a:effectLst/>
                            <a:latin typeface="Cambria Math" panose="02040503050406030204" pitchFamily="18" charset="0"/>
                            <a:ea typeface="Aptos" panose="020B0004020202020204" pitchFamily="34" charset="0"/>
                            <a:cs typeface="Arial" panose="020B0604020202020204" pitchFamily="34" charset="0"/>
                          </a:rPr>
                          <m:t>3</m:t>
                        </m:r>
                      </m:sub>
                    </m:sSub>
                  </m:oMath>
                </a14:m>
                <a:r>
                  <a:rPr lang="en-US" dirty="0">
                    <a:effectLst/>
                    <a:latin typeface="Arial" panose="020B0604020202020204" pitchFamily="34" charset="0"/>
                    <a:ea typeface="Aptos" panose="020B0004020202020204" pitchFamily="34" charset="0"/>
                    <a:cs typeface="Arial" panose="020B0604020202020204" pitchFamily="34" charset="0"/>
                  </a:rPr>
                  <a:t>. We have 2 nodes (top and bottom). </a:t>
                </a:r>
              </a:p>
            </p:txBody>
          </p:sp>
        </mc:Choice>
        <mc:Fallback xmlns="">
          <p:sp>
            <p:nvSpPr>
              <p:cNvPr id="3" name="Объект 2">
                <a:extLst>
                  <a:ext uri="{FF2B5EF4-FFF2-40B4-BE49-F238E27FC236}">
                    <a16:creationId xmlns:a16="http://schemas.microsoft.com/office/drawing/2014/main" id="{EB521A9D-3CD2-38DF-2668-12BC46BA6BD2}"/>
                  </a:ext>
                </a:extLst>
              </p:cNvPr>
              <p:cNvSpPr>
                <a:spLocks noGrp="1" noRot="1" noChangeAspect="1" noMove="1" noResize="1" noEditPoints="1" noAdjustHandles="1" noChangeArrowheads="1" noChangeShapeType="1" noTextEdit="1"/>
              </p:cNvSpPr>
              <p:nvPr>
                <p:ph idx="1"/>
              </p:nvPr>
            </p:nvSpPr>
            <p:spPr>
              <a:blipFill>
                <a:blip r:embed="rId2"/>
                <a:stretch>
                  <a:fillRect l="-1043" t="-560"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83AA0B57-725B-892E-6137-BDB27AC0A050}"/>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12315FC3-58A4-15F5-52F8-0204778E14FB}"/>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BB9F96B1-2CA1-CA6C-AD77-89AF4E8A6A9C}"/>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pic>
        <p:nvPicPr>
          <p:cNvPr id="7" name="Рисунок 6">
            <a:extLst>
              <a:ext uri="{FF2B5EF4-FFF2-40B4-BE49-F238E27FC236}">
                <a16:creationId xmlns:a16="http://schemas.microsoft.com/office/drawing/2014/main" id="{C97522DA-1FE4-C63D-1592-88F1FC36F002}"/>
              </a:ext>
            </a:extLst>
          </p:cNvPr>
          <p:cNvPicPr>
            <a:picLocks noChangeAspect="1"/>
          </p:cNvPicPr>
          <p:nvPr/>
        </p:nvPicPr>
        <p:blipFill>
          <a:blip r:embed="rId3" cstate="email">
            <a:extLst>
              <a:ext uri="{28A0092B-C50C-407E-A947-70E740481C1C}">
                <a14:useLocalDpi xmlns:a14="http://schemas.microsoft.com/office/drawing/2010/main"/>
              </a:ext>
            </a:extLst>
          </a:blip>
          <a:srcRect l="4678" r="5958"/>
          <a:stretch/>
        </p:blipFill>
        <p:spPr bwMode="auto">
          <a:xfrm>
            <a:off x="4770193" y="4186753"/>
            <a:ext cx="2651613" cy="2396927"/>
          </a:xfrm>
          <a:prstGeom prst="rect">
            <a:avLst/>
          </a:prstGeom>
          <a:noFill/>
          <a:ln>
            <a:noFill/>
          </a:ln>
        </p:spPr>
      </p:pic>
      <p:sp>
        <p:nvSpPr>
          <p:cNvPr id="8" name="Номер слайда 7">
            <a:extLst>
              <a:ext uri="{FF2B5EF4-FFF2-40B4-BE49-F238E27FC236}">
                <a16:creationId xmlns:a16="http://schemas.microsoft.com/office/drawing/2014/main" id="{17A88FBF-0B4A-E57A-7885-8854B87375D9}"/>
              </a:ext>
            </a:extLst>
          </p:cNvPr>
          <p:cNvSpPr>
            <a:spLocks noGrp="1"/>
          </p:cNvSpPr>
          <p:nvPr>
            <p:ph type="sldNum" sz="quarter" idx="12"/>
          </p:nvPr>
        </p:nvSpPr>
        <p:spPr/>
        <p:txBody>
          <a:bodyPr/>
          <a:lstStyle/>
          <a:p>
            <a:fld id="{D8214FA6-4742-421D-8B19-2C99196BD091}" type="slidenum">
              <a:rPr lang="ru-RU" smtClean="0"/>
              <a:t>24</a:t>
            </a:fld>
            <a:endParaRPr lang="ru-RU"/>
          </a:p>
        </p:txBody>
      </p:sp>
    </p:spTree>
    <p:extLst>
      <p:ext uri="{BB962C8B-B14F-4D97-AF65-F5344CB8AC3E}">
        <p14:creationId xmlns:p14="http://schemas.microsoft.com/office/powerpoint/2010/main" val="14755247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Autofit/>
              </a:bodyPr>
              <a:lstStyle/>
              <a:p>
                <a:r>
                  <a:rPr lang="en-US" dirty="0"/>
                  <a:t>We write KCL for the top node: </a:t>
                </a:r>
              </a:p>
              <a:p>
                <a:r>
                  <a:rPr lang="en-US" b="1" dirty="0"/>
                  <a:t>Sum of currents entering equals sum of currents leaving: </a:t>
                </a:r>
              </a:p>
              <a:p>
                <a:pPr marL="0" indent="0">
                  <a:buNone/>
                </a:pPr>
                <a14:m>
                  <m:oMathPara xmlns:m="http://schemas.openxmlformats.org/officeDocument/2006/math">
                    <m:oMathParaPr>
                      <m:jc m:val="centerGroup"/>
                    </m:oMathParaPr>
                    <m:oMath xmlns:m="http://schemas.openxmlformats.org/officeDocument/2006/math">
                      <m:sSub>
                        <m:sSubPr>
                          <m:ctrlPr>
                            <a:rPr lang="ru-RU" b="1" i="1">
                              <a:latin typeface="Cambria Math" panose="02040503050406030204" pitchFamily="18" charset="0"/>
                            </a:rPr>
                          </m:ctrlPr>
                        </m:sSubPr>
                        <m:e>
                          <m:r>
                            <a:rPr lang="en-US" b="1" i="1" smtClean="0">
                              <a:latin typeface="Cambria Math" panose="02040503050406030204" pitchFamily="18" charset="0"/>
                            </a:rPr>
                            <m:t>𝒊</m:t>
                          </m:r>
                        </m:e>
                        <m:sub>
                          <m:r>
                            <a:rPr lang="en-US" b="1" i="1" smtClean="0">
                              <a:latin typeface="Cambria Math" panose="02040503050406030204" pitchFamily="18" charset="0"/>
                            </a:rPr>
                            <m:t>𝟏</m:t>
                          </m:r>
                        </m:sub>
                      </m:sSub>
                      <m:r>
                        <a:rPr lang="en-US" b="1" smtClean="0">
                          <a:latin typeface="Cambria Math" panose="02040503050406030204" pitchFamily="18" charset="0"/>
                        </a:rPr>
                        <m:t>+</m:t>
                      </m:r>
                      <m:sSub>
                        <m:sSubPr>
                          <m:ctrlPr>
                            <a:rPr lang="ru-RU" b="1" i="1">
                              <a:latin typeface="Cambria Math" panose="02040503050406030204" pitchFamily="18" charset="0"/>
                            </a:rPr>
                          </m:ctrlPr>
                        </m:sSubPr>
                        <m:e>
                          <m:r>
                            <a:rPr lang="en-US" b="1" i="1" smtClean="0">
                              <a:latin typeface="Cambria Math" panose="02040503050406030204" pitchFamily="18" charset="0"/>
                            </a:rPr>
                            <m:t>𝒊</m:t>
                          </m:r>
                        </m:e>
                        <m:sub>
                          <m:r>
                            <a:rPr lang="en-US" b="1" i="1" smtClean="0">
                              <a:latin typeface="Cambria Math" panose="02040503050406030204" pitchFamily="18" charset="0"/>
                            </a:rPr>
                            <m:t>𝟐</m:t>
                          </m:r>
                        </m:sub>
                      </m:sSub>
                      <m:r>
                        <a:rPr lang="en-US" b="1" smtClean="0">
                          <a:latin typeface="Cambria Math" panose="02040503050406030204" pitchFamily="18" charset="0"/>
                        </a:rPr>
                        <m:t>=</m:t>
                      </m:r>
                      <m:sSub>
                        <m:sSubPr>
                          <m:ctrlPr>
                            <a:rPr lang="ru-RU" b="1" i="1">
                              <a:latin typeface="Cambria Math" panose="02040503050406030204" pitchFamily="18" charset="0"/>
                            </a:rPr>
                          </m:ctrlPr>
                        </m:sSubPr>
                        <m:e>
                          <m:r>
                            <a:rPr lang="en-US" b="1" i="1" smtClean="0">
                              <a:latin typeface="Cambria Math" panose="02040503050406030204" pitchFamily="18" charset="0"/>
                            </a:rPr>
                            <m:t>𝒊</m:t>
                          </m:r>
                        </m:e>
                        <m:sub>
                          <m:r>
                            <a:rPr lang="en-US" b="1" i="1" smtClean="0">
                              <a:latin typeface="Cambria Math" panose="02040503050406030204" pitchFamily="18" charset="0"/>
                            </a:rPr>
                            <m:t>𝟑</m:t>
                          </m:r>
                        </m:sub>
                      </m:sSub>
                      <m:r>
                        <a:rPr lang="en-US" b="1" i="1" smtClean="0">
                          <a:latin typeface="Cambria Math" panose="02040503050406030204" pitchFamily="18" charset="0"/>
                        </a:rPr>
                        <m:t>.</m:t>
                      </m:r>
                    </m:oMath>
                  </m:oMathPara>
                </a14:m>
                <a:endParaRPr lang="en-US" b="1" dirty="0"/>
              </a:p>
              <a:p>
                <a:r>
                  <a:rPr lang="en-US" dirty="0"/>
                  <a:t>We have 2 meshes. </a:t>
                </a:r>
              </a:p>
              <a:p>
                <a:r>
                  <a:rPr lang="en-US" b="1" dirty="0"/>
                  <a:t>We write KVL for the left mesh and the right mesh</a:t>
                </a:r>
                <a:r>
                  <a:rPr lang="ru-RU" b="1" dirty="0"/>
                  <a:t>.</a:t>
                </a:r>
                <a:endParaRPr lang="en-US" b="1" dirty="0"/>
              </a:p>
              <a:p>
                <a:r>
                  <a:rPr lang="en-US" dirty="0"/>
                  <a:t>This gives us 3 equations for our 3 unknown currents.</a:t>
                </a:r>
                <a:endParaRPr lang="ru-RU" dirty="0"/>
              </a:p>
              <a:p>
                <a:r>
                  <a:rPr lang="en-US" b="1" dirty="0"/>
                  <a:t>Once the branch currents are known, we can calculate any voltage using Ohm’s Law and any power using </a:t>
                </a:r>
                <a14:m>
                  <m:oMath xmlns:m="http://schemas.openxmlformats.org/officeDocument/2006/math">
                    <m:r>
                      <a:rPr lang="en-US" b="1" i="1" smtClean="0">
                        <a:latin typeface="Cambria Math" panose="02040503050406030204" pitchFamily="18" charset="0"/>
                      </a:rPr>
                      <m:t>𝒑</m:t>
                    </m:r>
                    <m:r>
                      <a:rPr lang="en-US" b="1" smtClean="0">
                        <a:latin typeface="Cambria Math" panose="02040503050406030204" pitchFamily="18" charset="0"/>
                      </a:rPr>
                      <m:t>=</m:t>
                    </m:r>
                    <m:r>
                      <a:rPr lang="en-US" b="1" i="1" smtClean="0">
                        <a:latin typeface="Cambria Math" panose="02040503050406030204" pitchFamily="18" charset="0"/>
                      </a:rPr>
                      <m:t>𝒗𝒊</m:t>
                    </m:r>
                  </m:oMath>
                </a14:m>
                <a:r>
                  <a:rPr lang="en-US" b="1" dirty="0"/>
                  <a:t>.</a:t>
                </a:r>
                <a:endParaRPr lang="ru-RU" b="1" dirty="0"/>
              </a:p>
            </p:txBody>
          </p:sp>
        </mc:Choice>
        <mc:Fallback xmlns="">
          <p:sp>
            <p:nvSpPr>
              <p:cNvPr id="3" name="Объект 2">
                <a:extLst>
                  <a:ext uri="{FF2B5EF4-FFF2-40B4-BE49-F238E27FC236}">
                    <a16:creationId xmlns:a16="http://schemas.microsoft.com/office/drawing/2014/main" id="{38B32713-8DC8-A19D-A317-628052EECCD1}"/>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FB6CE0BC-F101-810C-41F4-DAA4CFD44E9D}"/>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6EA202A9-1A46-9A3A-428B-A36DD1FA1E21}"/>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FC3E5A25-FECC-515D-A09A-22DA8535B5AB}"/>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CC2CAC3F-6765-BC9B-A554-5F9D5A1F8DC9}"/>
              </a:ext>
            </a:extLst>
          </p:cNvPr>
          <p:cNvSpPr>
            <a:spLocks noGrp="1"/>
          </p:cNvSpPr>
          <p:nvPr>
            <p:ph type="sldNum" sz="quarter" idx="12"/>
          </p:nvPr>
        </p:nvSpPr>
        <p:spPr/>
        <p:txBody>
          <a:bodyPr/>
          <a:lstStyle/>
          <a:p>
            <a:fld id="{D8214FA6-4742-421D-8B19-2C99196BD091}" type="slidenum">
              <a:rPr lang="ru-RU" smtClean="0"/>
              <a:t>25</a:t>
            </a:fld>
            <a:endParaRPr lang="ru-RU"/>
          </a:p>
        </p:txBody>
      </p:sp>
    </p:spTree>
    <p:extLst>
      <p:ext uri="{BB962C8B-B14F-4D97-AF65-F5344CB8AC3E}">
        <p14:creationId xmlns:p14="http://schemas.microsoft.com/office/powerpoint/2010/main" val="10190902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a:xfrm>
            <a:off x="838200" y="1825625"/>
            <a:ext cx="5257800" cy="4351338"/>
          </a:xfrm>
        </p:spPr>
        <p:txBody>
          <a:bodyPr>
            <a:noAutofit/>
          </a:bodyPr>
          <a:lstStyle/>
          <a:p>
            <a:r>
              <a:rPr lang="en-US" dirty="0"/>
              <a:t>Let’s look at two examples that fit that problem. </a:t>
            </a:r>
          </a:p>
          <a:p>
            <a:r>
              <a:rPr lang="en-US" dirty="0"/>
              <a:t>First, let’s consider a circuit similar to Fig. Let the voltage of the sources be the same and amount to 9 V.</a:t>
            </a:r>
            <a:endParaRPr lang="ru-RU" dirty="0"/>
          </a:p>
        </p:txBody>
      </p:sp>
      <p:pic>
        <p:nvPicPr>
          <p:cNvPr id="4" name="Рисунок 3">
            <a:extLst>
              <a:ext uri="{FF2B5EF4-FFF2-40B4-BE49-F238E27FC236}">
                <a16:creationId xmlns:a16="http://schemas.microsoft.com/office/drawing/2014/main" id="{494C676B-3EB1-EC49-C4FB-E7245E4A3F57}"/>
              </a:ext>
            </a:extLst>
          </p:cNvPr>
          <p:cNvPicPr>
            <a:picLocks noChangeAspect="1"/>
          </p:cNvPicPr>
          <p:nvPr/>
        </p:nvPicPr>
        <p:blipFill>
          <a:blip r:embed="rId2" cstate="email">
            <a:extLst>
              <a:ext uri="{28A0092B-C50C-407E-A947-70E740481C1C}">
                <a14:useLocalDpi xmlns:a14="http://schemas.microsoft.com/office/drawing/2010/main"/>
              </a:ext>
            </a:extLst>
          </a:blip>
          <a:srcRect l="4678" r="5958"/>
          <a:stretch/>
        </p:blipFill>
        <p:spPr bwMode="auto">
          <a:xfrm>
            <a:off x="6207252" y="1690688"/>
            <a:ext cx="5662863" cy="5118948"/>
          </a:xfrm>
          <a:prstGeom prst="rect">
            <a:avLst/>
          </a:prstGeom>
          <a:noFill/>
          <a:ln>
            <a:noFill/>
          </a:ln>
        </p:spPr>
      </p:pic>
      <p:grpSp>
        <p:nvGrpSpPr>
          <p:cNvPr id="5" name="Группа 4">
            <a:extLst>
              <a:ext uri="{FF2B5EF4-FFF2-40B4-BE49-F238E27FC236}">
                <a16:creationId xmlns:a16="http://schemas.microsoft.com/office/drawing/2014/main" id="{6777E6F6-8ADB-DDCC-6059-1F710D2CB847}"/>
              </a:ext>
            </a:extLst>
          </p:cNvPr>
          <p:cNvGrpSpPr/>
          <p:nvPr/>
        </p:nvGrpSpPr>
        <p:grpSpPr>
          <a:xfrm>
            <a:off x="0" y="0"/>
            <a:ext cx="12192000" cy="1690688"/>
            <a:chOff x="0" y="0"/>
            <a:chExt cx="12192000" cy="1690688"/>
          </a:xfrm>
        </p:grpSpPr>
        <p:sp>
          <p:nvSpPr>
            <p:cNvPr id="6" name="Прямоугольник 5">
              <a:extLst>
                <a:ext uri="{FF2B5EF4-FFF2-40B4-BE49-F238E27FC236}">
                  <a16:creationId xmlns:a16="http://schemas.microsoft.com/office/drawing/2014/main" id="{7D7B8A62-3999-AE42-C979-05F64AC95EE5}"/>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7" name="Прямоугольник: скругленные углы 6">
              <a:extLst>
                <a:ext uri="{FF2B5EF4-FFF2-40B4-BE49-F238E27FC236}">
                  <a16:creationId xmlns:a16="http://schemas.microsoft.com/office/drawing/2014/main" id="{81A35FFC-5380-B7C1-0BA4-4D709AC32F2D}"/>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Номер слайда 7">
            <a:extLst>
              <a:ext uri="{FF2B5EF4-FFF2-40B4-BE49-F238E27FC236}">
                <a16:creationId xmlns:a16="http://schemas.microsoft.com/office/drawing/2014/main" id="{D4100A80-CC52-EEFC-B717-CEB13C9D0B2E}"/>
              </a:ext>
            </a:extLst>
          </p:cNvPr>
          <p:cNvSpPr>
            <a:spLocks noGrp="1"/>
          </p:cNvSpPr>
          <p:nvPr>
            <p:ph type="sldNum" sz="quarter" idx="12"/>
          </p:nvPr>
        </p:nvSpPr>
        <p:spPr/>
        <p:txBody>
          <a:bodyPr/>
          <a:lstStyle/>
          <a:p>
            <a:fld id="{D8214FA6-4742-421D-8B19-2C99196BD091}" type="slidenum">
              <a:rPr lang="ru-RU" smtClean="0"/>
              <a:t>26</a:t>
            </a:fld>
            <a:endParaRPr lang="ru-RU"/>
          </a:p>
        </p:txBody>
      </p:sp>
    </p:spTree>
    <p:extLst>
      <p:ext uri="{BB962C8B-B14F-4D97-AF65-F5344CB8AC3E}">
        <p14:creationId xmlns:p14="http://schemas.microsoft.com/office/powerpoint/2010/main" val="29323036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In this case, </a:t>
                </a:r>
                <a14:m>
                  <m:oMath xmlns:m="http://schemas.openxmlformats.org/officeDocument/2006/math">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𝑉</m:t>
                        </m:r>
                      </m:e>
                      <m:sub>
                        <m:r>
                          <a:rPr lang="en-US" b="0" i="1">
                            <a:effectLst/>
                            <a:latin typeface="Cambria Math" panose="02040503050406030204" pitchFamily="18" charset="0"/>
                            <a:ea typeface="Aptos" panose="020B0004020202020204" pitchFamily="34" charset="0"/>
                          </a:rPr>
                          <m:t>𝐴</m:t>
                        </m:r>
                      </m:sub>
                    </m:sSub>
                    <m:r>
                      <a:rPr lang="en-US" b="0">
                        <a:effectLst/>
                        <a:latin typeface="Cambria Math" panose="02040503050406030204" pitchFamily="18" charset="0"/>
                        <a:ea typeface="Aptos" panose="020B0004020202020204" pitchFamily="34" charset="0"/>
                      </a:rPr>
                      <m:t>=</m:t>
                    </m:r>
                    <m:r>
                      <a:rPr lang="en-US" b="0" i="1">
                        <a:effectLst/>
                        <a:latin typeface="Cambria Math" panose="02040503050406030204" pitchFamily="18" charset="0"/>
                        <a:ea typeface="Aptos" panose="020B0004020202020204" pitchFamily="34" charset="0"/>
                      </a:rPr>
                      <m:t>9 </m:t>
                    </m:r>
                    <m:r>
                      <a:rPr lang="en-US" b="0" i="1">
                        <a:effectLst/>
                        <a:latin typeface="Cambria Math" panose="02040503050406030204" pitchFamily="18" charset="0"/>
                        <a:ea typeface="Aptos" panose="020B0004020202020204" pitchFamily="34" charset="0"/>
                      </a:rPr>
                      <m:t>𝑉</m:t>
                    </m:r>
                  </m:oMath>
                </a14:m>
                <a:r>
                  <a:rPr lang="en-US" dirty="0">
                    <a:effectLst/>
                    <a:latin typeface="Arial" panose="020B0604020202020204" pitchFamily="34" charset="0"/>
                    <a:ea typeface="Aptos" panose="020B0004020202020204" pitchFamily="34" charset="0"/>
                    <a:cs typeface="Arial" panose="020B0604020202020204" pitchFamily="34" charset="0"/>
                  </a:rPr>
                  <a:t> and </a:t>
                </a:r>
                <a14:m>
                  <m:oMath xmlns:m="http://schemas.openxmlformats.org/officeDocument/2006/math">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𝑉</m:t>
                        </m:r>
                      </m:e>
                      <m:sub>
                        <m:r>
                          <a:rPr lang="en-US" b="0" i="1">
                            <a:effectLst/>
                            <a:latin typeface="Cambria Math" panose="02040503050406030204" pitchFamily="18" charset="0"/>
                            <a:ea typeface="Aptos" panose="020B0004020202020204" pitchFamily="34" charset="0"/>
                          </a:rPr>
                          <m:t>𝐵</m:t>
                        </m:r>
                      </m:sub>
                    </m:sSub>
                    <m:r>
                      <a:rPr lang="en-US" b="0">
                        <a:effectLst/>
                        <a:latin typeface="Cambria Math" panose="02040503050406030204" pitchFamily="18" charset="0"/>
                        <a:ea typeface="Aptos" panose="020B0004020202020204" pitchFamily="34" charset="0"/>
                      </a:rPr>
                      <m:t>=</m:t>
                    </m:r>
                    <m:r>
                      <a:rPr lang="en-US" b="0" i="1">
                        <a:effectLst/>
                        <a:latin typeface="Cambria Math" panose="02040503050406030204" pitchFamily="18" charset="0"/>
                        <a:ea typeface="Aptos" panose="020B0004020202020204" pitchFamily="34" charset="0"/>
                      </a:rPr>
                      <m:t>9 </m:t>
                    </m:r>
                    <m:r>
                      <a:rPr lang="en-US" b="0" i="1">
                        <a:effectLst/>
                        <a:latin typeface="Cambria Math" panose="02040503050406030204" pitchFamily="18" charset="0"/>
                        <a:ea typeface="Aptos" panose="020B0004020202020204" pitchFamily="34" charset="0"/>
                      </a:rPr>
                      <m:t>𝑉</m:t>
                    </m:r>
                  </m:oMath>
                </a14:m>
                <a:r>
                  <a:rPr lang="en-US" dirty="0">
                    <a:effectLst/>
                    <a:latin typeface="Arial" panose="020B0604020202020204" pitchFamily="34" charset="0"/>
                    <a:ea typeface="Aptos" panose="020B0004020202020204" pitchFamily="34" charset="0"/>
                    <a:cs typeface="Arial" panose="020B0604020202020204" pitchFamily="34" charset="0"/>
                  </a:rPr>
                  <a:t>.</a:t>
                </a:r>
                <a:endParaRPr lang="ru-RU" dirty="0">
                  <a:effectLst/>
                  <a:latin typeface="Arial" panose="020B0604020202020204" pitchFamily="34" charset="0"/>
                  <a:ea typeface="Aptos" panose="020B0004020202020204" pitchFamily="34" charset="0"/>
                  <a:cs typeface="Arial" panose="020B0604020202020204" pitchFamily="34" charset="0"/>
                </a:endParaRP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The system of equations:</a:t>
                </a:r>
                <a:endParaRPr lang="en-US" i="1" dirty="0">
                  <a:effectLst/>
                  <a:latin typeface="Arial" panose="020B0604020202020204" pitchFamily="34" charset="0"/>
                  <a:ea typeface="Aptos" panose="020B0004020202020204" pitchFamily="34" charset="0"/>
                  <a:cs typeface="Arial" panose="020B0604020202020204" pitchFamily="34" charset="0"/>
                </a:endParaRPr>
              </a:p>
              <a:p>
                <a:pPr marL="0" indent="0" algn="ctr">
                  <a:lnSpc>
                    <a:spcPct val="120000"/>
                  </a:lnSpc>
                  <a:buNone/>
                </a:pPr>
                <a14:m>
                  <m:oMathPara xmlns:m="http://schemas.openxmlformats.org/officeDocument/2006/math">
                    <m:oMathParaPr>
                      <m:jc m:val="centerGroup"/>
                    </m:oMathParaPr>
                    <m:oMath xmlns:m="http://schemas.openxmlformats.org/officeDocument/2006/math">
                      <m:d>
                        <m:dPr>
                          <m:begChr m:val="{"/>
                          <m:endChr m:val=""/>
                          <m:ctrlPr>
                            <a:rPr lang="ru-RU" i="1" smtClean="0">
                              <a:effectLst/>
                              <a:latin typeface="Cambria Math" panose="02040503050406030204" pitchFamily="18" charset="0"/>
                              <a:ea typeface="Aptos" panose="020B0004020202020204" pitchFamily="34" charset="0"/>
                            </a:rPr>
                          </m:ctrlPr>
                        </m:dPr>
                        <m:e>
                          <m:m>
                            <m:mPr>
                              <m:plcHide m:val="on"/>
                              <m:mcs>
                                <m:mc>
                                  <m:mcPr>
                                    <m:count m:val="1"/>
                                    <m:mcJc m:val="center"/>
                                  </m:mcPr>
                                </m:mc>
                              </m:mcs>
                              <m:ctrlPr>
                                <a:rPr lang="ru-RU" i="1">
                                  <a:effectLst/>
                                  <a:latin typeface="Cambria Math" panose="02040503050406030204" pitchFamily="18" charset="0"/>
                                  <a:ea typeface="Aptos" panose="020B0004020202020204" pitchFamily="34" charset="0"/>
                                </a:rPr>
                              </m:ctrlPr>
                            </m:mPr>
                            <m:mr>
                              <m:e>
                                <m:r>
                                  <a:rPr lang="en-US" b="0">
                                    <a:effectLst/>
                                    <a:latin typeface="Cambria Math" panose="02040503050406030204" pitchFamily="18" charset="0"/>
                                    <a:ea typeface="Aptos" panose="020B0004020202020204" pitchFamily="34" charset="0"/>
                                  </a:rPr>
                                  <m:t>(</m:t>
                                </m:r>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𝑅</m:t>
                                    </m:r>
                                  </m:e>
                                  <m:sub>
                                    <m:r>
                                      <a:rPr lang="en-US" b="0" i="1">
                                        <a:effectLst/>
                                        <a:latin typeface="Cambria Math" panose="02040503050406030204" pitchFamily="18" charset="0"/>
                                        <a:ea typeface="Aptos" panose="020B0004020202020204" pitchFamily="34" charset="0"/>
                                      </a:rPr>
                                      <m:t>1</m:t>
                                    </m:r>
                                  </m:sub>
                                </m:sSub>
                                <m:r>
                                  <a:rPr lang="en-US" b="0">
                                    <a:effectLst/>
                                    <a:latin typeface="Cambria Math" panose="02040503050406030204" pitchFamily="18" charset="0"/>
                                    <a:ea typeface="Aptos" panose="020B0004020202020204" pitchFamily="34" charset="0"/>
                                  </a:rPr>
                                  <m:t>+</m:t>
                                </m:r>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𝑅</m:t>
                                    </m:r>
                                  </m:e>
                                  <m:sub>
                                    <m:r>
                                      <a:rPr lang="en-US" b="0" i="1">
                                        <a:effectLst/>
                                        <a:latin typeface="Cambria Math" panose="02040503050406030204" pitchFamily="18" charset="0"/>
                                        <a:ea typeface="Aptos" panose="020B0004020202020204" pitchFamily="34" charset="0"/>
                                      </a:rPr>
                                      <m:t>3</m:t>
                                    </m:r>
                                  </m:sub>
                                </m:sSub>
                                <m:r>
                                  <a:rPr lang="en-US" b="0">
                                    <a:effectLst/>
                                    <a:latin typeface="Cambria Math" panose="02040503050406030204" pitchFamily="18" charset="0"/>
                                    <a:ea typeface="Aptos" panose="020B0004020202020204" pitchFamily="34" charset="0"/>
                                  </a:rPr>
                                  <m:t>)</m:t>
                                </m:r>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𝑖</m:t>
                                    </m:r>
                                  </m:e>
                                  <m:sub>
                                    <m:r>
                                      <a:rPr lang="en-US" b="0" i="1">
                                        <a:effectLst/>
                                        <a:latin typeface="Cambria Math" panose="02040503050406030204" pitchFamily="18" charset="0"/>
                                        <a:ea typeface="Aptos" panose="020B0004020202020204" pitchFamily="34" charset="0"/>
                                      </a:rPr>
                                      <m:t>1</m:t>
                                    </m:r>
                                  </m:sub>
                                </m:sSub>
                                <m:r>
                                  <a:rPr lang="en-US" b="0" i="1">
                                    <a:effectLst/>
                                    <a:latin typeface="Cambria Math" panose="02040503050406030204" pitchFamily="18" charset="0"/>
                                    <a:ea typeface="Aptos" panose="020B0004020202020204" pitchFamily="34" charset="0"/>
                                  </a:rPr>
                                  <m:t>−</m:t>
                                </m:r>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𝑅</m:t>
                                    </m:r>
                                  </m:e>
                                  <m:sub>
                                    <m:r>
                                      <a:rPr lang="en-US" b="0" i="1">
                                        <a:effectLst/>
                                        <a:latin typeface="Cambria Math" panose="02040503050406030204" pitchFamily="18" charset="0"/>
                                        <a:ea typeface="Aptos" panose="020B0004020202020204" pitchFamily="34" charset="0"/>
                                      </a:rPr>
                                      <m:t>3</m:t>
                                    </m:r>
                                  </m:sub>
                                </m:sSub>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𝑖</m:t>
                                    </m:r>
                                  </m:e>
                                  <m:sub>
                                    <m:r>
                                      <a:rPr lang="en-US" b="0" i="1">
                                        <a:effectLst/>
                                        <a:latin typeface="Cambria Math" panose="02040503050406030204" pitchFamily="18" charset="0"/>
                                        <a:ea typeface="Aptos" panose="020B0004020202020204" pitchFamily="34" charset="0"/>
                                      </a:rPr>
                                      <m:t>2</m:t>
                                    </m:r>
                                  </m:sub>
                                </m:sSub>
                                <m:r>
                                  <a:rPr lang="en-US" b="0">
                                    <a:effectLst/>
                                    <a:latin typeface="Cambria Math" panose="02040503050406030204" pitchFamily="18" charset="0"/>
                                    <a:ea typeface="Aptos" panose="020B0004020202020204" pitchFamily="34" charset="0"/>
                                  </a:rPr>
                                  <m:t>=</m:t>
                                </m:r>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𝑉</m:t>
                                    </m:r>
                                  </m:e>
                                  <m:sub>
                                    <m:r>
                                      <a:rPr lang="en-US" b="0" i="1">
                                        <a:effectLst/>
                                        <a:latin typeface="Cambria Math" panose="02040503050406030204" pitchFamily="18" charset="0"/>
                                        <a:ea typeface="Aptos" panose="020B0004020202020204" pitchFamily="34" charset="0"/>
                                      </a:rPr>
                                      <m:t>𝐴</m:t>
                                    </m:r>
                                  </m:sub>
                                </m:sSub>
                              </m:e>
                            </m:mr>
                            <m:mr>
                              <m:e>
                                <m:r>
                                  <a:rPr lang="en-US" b="0" i="1">
                                    <a:effectLst/>
                                    <a:latin typeface="Cambria Math" panose="02040503050406030204" pitchFamily="18" charset="0"/>
                                    <a:ea typeface="Aptos" panose="020B0004020202020204" pitchFamily="34" charset="0"/>
                                  </a:rPr>
                                  <m:t>−</m:t>
                                </m:r>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𝑅</m:t>
                                    </m:r>
                                  </m:e>
                                  <m:sub>
                                    <m:r>
                                      <a:rPr lang="en-US" b="0" i="1">
                                        <a:effectLst/>
                                        <a:latin typeface="Cambria Math" panose="02040503050406030204" pitchFamily="18" charset="0"/>
                                        <a:ea typeface="Aptos" panose="020B0004020202020204" pitchFamily="34" charset="0"/>
                                      </a:rPr>
                                      <m:t>3</m:t>
                                    </m:r>
                                  </m:sub>
                                </m:sSub>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𝑖</m:t>
                                    </m:r>
                                  </m:e>
                                  <m:sub>
                                    <m:r>
                                      <a:rPr lang="en-US" b="0" i="1">
                                        <a:effectLst/>
                                        <a:latin typeface="Cambria Math" panose="02040503050406030204" pitchFamily="18" charset="0"/>
                                        <a:ea typeface="Aptos" panose="020B0004020202020204" pitchFamily="34" charset="0"/>
                                      </a:rPr>
                                      <m:t>1</m:t>
                                    </m:r>
                                  </m:sub>
                                </m:sSub>
                                <m:r>
                                  <a:rPr lang="en-US" b="0">
                                    <a:effectLst/>
                                    <a:latin typeface="Cambria Math" panose="02040503050406030204" pitchFamily="18" charset="0"/>
                                    <a:ea typeface="Aptos" panose="020B0004020202020204" pitchFamily="34" charset="0"/>
                                  </a:rPr>
                                  <m:t>+(</m:t>
                                </m:r>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𝑅</m:t>
                                    </m:r>
                                  </m:e>
                                  <m:sub>
                                    <m:r>
                                      <a:rPr lang="en-US" b="0" i="1">
                                        <a:effectLst/>
                                        <a:latin typeface="Cambria Math" panose="02040503050406030204" pitchFamily="18" charset="0"/>
                                        <a:ea typeface="Aptos" panose="020B0004020202020204" pitchFamily="34" charset="0"/>
                                      </a:rPr>
                                      <m:t>2</m:t>
                                    </m:r>
                                  </m:sub>
                                </m:sSub>
                                <m:r>
                                  <a:rPr lang="en-US" b="0">
                                    <a:effectLst/>
                                    <a:latin typeface="Cambria Math" panose="02040503050406030204" pitchFamily="18" charset="0"/>
                                    <a:ea typeface="Aptos" panose="020B0004020202020204" pitchFamily="34" charset="0"/>
                                  </a:rPr>
                                  <m:t>+</m:t>
                                </m:r>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𝑅</m:t>
                                    </m:r>
                                  </m:e>
                                  <m:sub>
                                    <m:r>
                                      <a:rPr lang="en-US" b="0" i="1">
                                        <a:effectLst/>
                                        <a:latin typeface="Cambria Math" panose="02040503050406030204" pitchFamily="18" charset="0"/>
                                        <a:ea typeface="Aptos" panose="020B0004020202020204" pitchFamily="34" charset="0"/>
                                      </a:rPr>
                                      <m:t>3</m:t>
                                    </m:r>
                                  </m:sub>
                                </m:sSub>
                                <m:r>
                                  <a:rPr lang="en-US" b="0">
                                    <a:effectLst/>
                                    <a:latin typeface="Cambria Math" panose="02040503050406030204" pitchFamily="18" charset="0"/>
                                    <a:ea typeface="Aptos" panose="020B0004020202020204" pitchFamily="34" charset="0"/>
                                  </a:rPr>
                                  <m:t>)</m:t>
                                </m:r>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𝑖</m:t>
                                    </m:r>
                                  </m:e>
                                  <m:sub>
                                    <m:r>
                                      <a:rPr lang="en-US" b="0" i="1">
                                        <a:effectLst/>
                                        <a:latin typeface="Cambria Math" panose="02040503050406030204" pitchFamily="18" charset="0"/>
                                        <a:ea typeface="Aptos" panose="020B0004020202020204" pitchFamily="34" charset="0"/>
                                      </a:rPr>
                                      <m:t>2</m:t>
                                    </m:r>
                                  </m:sub>
                                </m:sSub>
                                <m:r>
                                  <a:rPr lang="en-US" b="0">
                                    <a:effectLst/>
                                    <a:latin typeface="Cambria Math" panose="02040503050406030204" pitchFamily="18" charset="0"/>
                                    <a:ea typeface="Aptos" panose="020B0004020202020204" pitchFamily="34" charset="0"/>
                                  </a:rPr>
                                  <m:t>=</m:t>
                                </m:r>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𝑉</m:t>
                                    </m:r>
                                  </m:e>
                                  <m:sub>
                                    <m:r>
                                      <a:rPr lang="en-US" b="0" i="1">
                                        <a:effectLst/>
                                        <a:latin typeface="Cambria Math" panose="02040503050406030204" pitchFamily="18" charset="0"/>
                                        <a:ea typeface="Aptos" panose="020B0004020202020204" pitchFamily="34" charset="0"/>
                                      </a:rPr>
                                      <m:t>𝐵</m:t>
                                    </m:r>
                                  </m:sub>
                                </m:sSub>
                              </m:e>
                            </m:mr>
                          </m:m>
                        </m:e>
                      </m:d>
                    </m:oMath>
                  </m:oMathPara>
                </a14:m>
                <a:endParaRPr lang="en-US" dirty="0">
                  <a:effectLst/>
                  <a:latin typeface="Arial" panose="020B0604020202020204" pitchFamily="34" charset="0"/>
                  <a:ea typeface="Aptos" panose="020B0004020202020204" pitchFamily="34" charset="0"/>
                  <a:cs typeface="Arial" panose="020B0604020202020204" pitchFamily="34" charset="0"/>
                </a:endParaRP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Substituting the values (</a:t>
                </a:r>
                <a14:m>
                  <m:oMath xmlns:m="http://schemas.openxmlformats.org/officeDocument/2006/math">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𝑅</m:t>
                        </m:r>
                      </m:e>
                      <m:sub>
                        <m:r>
                          <a:rPr lang="en-US" b="0" i="1">
                            <a:effectLst/>
                            <a:latin typeface="Cambria Math" panose="02040503050406030204" pitchFamily="18" charset="0"/>
                            <a:ea typeface="Aptos" panose="020B0004020202020204" pitchFamily="34" charset="0"/>
                          </a:rPr>
                          <m:t>1</m:t>
                        </m:r>
                      </m:sub>
                    </m:sSub>
                    <m:r>
                      <a:rPr lang="en-US" b="0">
                        <a:effectLst/>
                        <a:latin typeface="Cambria Math" panose="02040503050406030204" pitchFamily="18" charset="0"/>
                        <a:ea typeface="Aptos" panose="020B0004020202020204" pitchFamily="34" charset="0"/>
                      </a:rPr>
                      <m:t>=</m:t>
                    </m:r>
                    <m:r>
                      <a:rPr lang="en-US" b="0" i="1">
                        <a:effectLst/>
                        <a:latin typeface="Cambria Math" panose="02040503050406030204" pitchFamily="18" charset="0"/>
                        <a:ea typeface="Aptos" panose="020B0004020202020204" pitchFamily="34" charset="0"/>
                      </a:rPr>
                      <m:t>10</m:t>
                    </m:r>
                    <m:r>
                      <a:rPr lang="en-US" b="0">
                        <a:effectLst/>
                        <a:latin typeface="Cambria Math" panose="02040503050406030204" pitchFamily="18" charset="0"/>
                        <a:ea typeface="Aptos" panose="020B0004020202020204" pitchFamily="34" charset="0"/>
                      </a:rPr>
                      <m:t>,</m:t>
                    </m:r>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𝑅</m:t>
                        </m:r>
                      </m:e>
                      <m:sub>
                        <m:r>
                          <a:rPr lang="en-US" b="0" i="1">
                            <a:effectLst/>
                            <a:latin typeface="Cambria Math" panose="02040503050406030204" pitchFamily="18" charset="0"/>
                            <a:ea typeface="Aptos" panose="020B0004020202020204" pitchFamily="34" charset="0"/>
                          </a:rPr>
                          <m:t>2</m:t>
                        </m:r>
                      </m:sub>
                    </m:sSub>
                    <m:r>
                      <a:rPr lang="en-US" b="0">
                        <a:effectLst/>
                        <a:latin typeface="Cambria Math" panose="02040503050406030204" pitchFamily="18" charset="0"/>
                        <a:ea typeface="Aptos" panose="020B0004020202020204" pitchFamily="34" charset="0"/>
                      </a:rPr>
                      <m:t>=</m:t>
                    </m:r>
                    <m:r>
                      <a:rPr lang="en-US" b="0" i="1">
                        <a:effectLst/>
                        <a:latin typeface="Cambria Math" panose="02040503050406030204" pitchFamily="18" charset="0"/>
                        <a:ea typeface="Aptos" panose="020B0004020202020204" pitchFamily="34" charset="0"/>
                      </a:rPr>
                      <m:t>10</m:t>
                    </m:r>
                    <m:r>
                      <a:rPr lang="en-US" b="0">
                        <a:effectLst/>
                        <a:latin typeface="Cambria Math" panose="02040503050406030204" pitchFamily="18" charset="0"/>
                        <a:ea typeface="Aptos" panose="020B0004020202020204" pitchFamily="34" charset="0"/>
                      </a:rPr>
                      <m:t>,</m:t>
                    </m:r>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𝑅</m:t>
                        </m:r>
                      </m:e>
                      <m:sub>
                        <m:r>
                          <a:rPr lang="en-US" b="0" i="1">
                            <a:effectLst/>
                            <a:latin typeface="Cambria Math" panose="02040503050406030204" pitchFamily="18" charset="0"/>
                            <a:ea typeface="Aptos" panose="020B0004020202020204" pitchFamily="34" charset="0"/>
                          </a:rPr>
                          <m:t>3</m:t>
                        </m:r>
                      </m:sub>
                    </m:sSub>
                    <m:r>
                      <a:rPr lang="en-US" b="0">
                        <a:effectLst/>
                        <a:latin typeface="Cambria Math" panose="02040503050406030204" pitchFamily="18" charset="0"/>
                        <a:ea typeface="Aptos" panose="020B0004020202020204" pitchFamily="34" charset="0"/>
                      </a:rPr>
                      <m:t>=</m:t>
                    </m:r>
                    <m:r>
                      <a:rPr lang="en-US" b="0" i="1">
                        <a:effectLst/>
                        <a:latin typeface="Cambria Math" panose="02040503050406030204" pitchFamily="18" charset="0"/>
                        <a:ea typeface="Aptos" panose="020B0004020202020204" pitchFamily="34" charset="0"/>
                      </a:rPr>
                      <m:t>100</m:t>
                    </m:r>
                    <m:r>
                      <a:rPr lang="en-US" b="0">
                        <a:effectLst/>
                        <a:latin typeface="Cambria Math" panose="02040503050406030204" pitchFamily="18" charset="0"/>
                        <a:ea typeface="Aptos" panose="020B0004020202020204" pitchFamily="34" charset="0"/>
                      </a:rPr>
                      <m:t>,</m:t>
                    </m:r>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𝑉</m:t>
                        </m:r>
                      </m:e>
                      <m:sub>
                        <m:r>
                          <a:rPr lang="en-US" b="0" i="1">
                            <a:effectLst/>
                            <a:latin typeface="Cambria Math" panose="02040503050406030204" pitchFamily="18" charset="0"/>
                            <a:ea typeface="Aptos" panose="020B0004020202020204" pitchFamily="34" charset="0"/>
                          </a:rPr>
                          <m:t>𝐴</m:t>
                        </m:r>
                      </m:sub>
                    </m:sSub>
                    <m:r>
                      <a:rPr lang="en-US" b="0">
                        <a:effectLst/>
                        <a:latin typeface="Cambria Math" panose="02040503050406030204" pitchFamily="18" charset="0"/>
                        <a:ea typeface="Aptos" panose="020B0004020202020204" pitchFamily="34" charset="0"/>
                      </a:rPr>
                      <m:t>=</m:t>
                    </m:r>
                    <m:r>
                      <a:rPr lang="en-US" b="0" i="1">
                        <a:effectLst/>
                        <a:latin typeface="Cambria Math" panose="02040503050406030204" pitchFamily="18" charset="0"/>
                        <a:ea typeface="Aptos" panose="020B0004020202020204" pitchFamily="34" charset="0"/>
                      </a:rPr>
                      <m:t>9</m:t>
                    </m:r>
                    <m:r>
                      <a:rPr lang="en-US" b="0">
                        <a:effectLst/>
                        <a:latin typeface="Cambria Math" panose="02040503050406030204" pitchFamily="18" charset="0"/>
                        <a:ea typeface="Aptos" panose="020B0004020202020204" pitchFamily="34" charset="0"/>
                      </a:rPr>
                      <m:t>,</m:t>
                    </m:r>
                  </m:oMath>
                </a14:m>
                <a:br>
                  <a:rPr lang="en-US" dirty="0">
                    <a:effectLst/>
                    <a:latin typeface="Arial" panose="020B0604020202020204" pitchFamily="34" charset="0"/>
                    <a:ea typeface="Aptos" panose="020B0004020202020204" pitchFamily="34" charset="0"/>
                    <a:cs typeface="Arial" panose="020B0604020202020204" pitchFamily="34" charset="0"/>
                  </a:rPr>
                </a:br>
                <a14:m>
                  <m:oMath xmlns:m="http://schemas.openxmlformats.org/officeDocument/2006/math">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𝑉</m:t>
                        </m:r>
                      </m:e>
                      <m:sub>
                        <m:r>
                          <a:rPr lang="en-US" b="0" i="1">
                            <a:effectLst/>
                            <a:latin typeface="Cambria Math" panose="02040503050406030204" pitchFamily="18" charset="0"/>
                            <a:ea typeface="Aptos" panose="020B0004020202020204" pitchFamily="34" charset="0"/>
                          </a:rPr>
                          <m:t>𝐵</m:t>
                        </m:r>
                      </m:sub>
                    </m:sSub>
                    <m:r>
                      <a:rPr lang="en-US" b="0">
                        <a:effectLst/>
                        <a:latin typeface="Cambria Math" panose="02040503050406030204" pitchFamily="18" charset="0"/>
                        <a:ea typeface="Aptos" panose="020B0004020202020204" pitchFamily="34" charset="0"/>
                      </a:rPr>
                      <m:t>=</m:t>
                    </m:r>
                    <m:r>
                      <a:rPr lang="en-US" b="0" i="1">
                        <a:effectLst/>
                        <a:latin typeface="Cambria Math" panose="02040503050406030204" pitchFamily="18" charset="0"/>
                        <a:ea typeface="Aptos" panose="020B0004020202020204" pitchFamily="34" charset="0"/>
                      </a:rPr>
                      <m:t>9</m:t>
                    </m:r>
                  </m:oMath>
                </a14:m>
                <a:r>
                  <a:rPr lang="en-US" dirty="0">
                    <a:effectLst/>
                    <a:latin typeface="Arial" panose="020B0604020202020204" pitchFamily="34" charset="0"/>
                    <a:ea typeface="Aptos" panose="020B0004020202020204" pitchFamily="34" charset="0"/>
                    <a:cs typeface="Arial" panose="020B0604020202020204" pitchFamily="34" charset="0"/>
                  </a:rPr>
                  <a:t>):</a:t>
                </a:r>
                <a:endParaRPr lang="ru-RU" dirty="0">
                  <a:effectLst/>
                  <a:latin typeface="Arial" panose="020B0604020202020204" pitchFamily="34" charset="0"/>
                  <a:ea typeface="Aptos" panose="020B0004020202020204" pitchFamily="34" charset="0"/>
                  <a:cs typeface="Arial" panose="020B0604020202020204" pitchFamily="34" charset="0"/>
                </a:endParaRPr>
              </a:p>
              <a:p>
                <a:pPr marL="0" indent="0" algn="ctr">
                  <a:lnSpc>
                    <a:spcPct val="120000"/>
                  </a:lnSpc>
                  <a:buNone/>
                </a:pPr>
                <a14:m>
                  <m:oMathPara xmlns:m="http://schemas.openxmlformats.org/officeDocument/2006/math">
                    <m:oMathParaPr>
                      <m:jc m:val="centerGroup"/>
                    </m:oMathParaPr>
                    <m:oMath xmlns:m="http://schemas.openxmlformats.org/officeDocument/2006/math">
                      <m:d>
                        <m:dPr>
                          <m:begChr m:val="{"/>
                          <m:endChr m:val=""/>
                          <m:ctrlPr>
                            <a:rPr lang="ru-RU" i="1">
                              <a:effectLst/>
                              <a:latin typeface="Cambria Math" panose="02040503050406030204" pitchFamily="18" charset="0"/>
                              <a:ea typeface="Aptos" panose="020B0004020202020204" pitchFamily="34" charset="0"/>
                            </a:rPr>
                          </m:ctrlPr>
                        </m:dPr>
                        <m:e>
                          <m:m>
                            <m:mPr>
                              <m:plcHide m:val="on"/>
                              <m:mcs>
                                <m:mc>
                                  <m:mcPr>
                                    <m:count m:val="1"/>
                                    <m:mcJc m:val="center"/>
                                  </m:mcPr>
                                </m:mc>
                              </m:mcs>
                              <m:ctrlPr>
                                <a:rPr lang="ru-RU" i="1">
                                  <a:effectLst/>
                                  <a:latin typeface="Cambria Math" panose="02040503050406030204" pitchFamily="18" charset="0"/>
                                  <a:ea typeface="Aptos" panose="020B0004020202020204" pitchFamily="34" charset="0"/>
                                </a:rPr>
                              </m:ctrlPr>
                            </m:mPr>
                            <m:mr>
                              <m:e>
                                <m:r>
                                  <a:rPr lang="en-US" b="0" i="1">
                                    <a:effectLst/>
                                    <a:latin typeface="Cambria Math" panose="02040503050406030204" pitchFamily="18" charset="0"/>
                                    <a:ea typeface="Aptos" panose="020B0004020202020204" pitchFamily="34" charset="0"/>
                                  </a:rPr>
                                  <m:t>110</m:t>
                                </m:r>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𝑖</m:t>
                                    </m:r>
                                  </m:e>
                                  <m:sub>
                                    <m:r>
                                      <a:rPr lang="en-US" b="0" i="1">
                                        <a:effectLst/>
                                        <a:latin typeface="Cambria Math" panose="02040503050406030204" pitchFamily="18" charset="0"/>
                                        <a:ea typeface="Aptos" panose="020B0004020202020204" pitchFamily="34" charset="0"/>
                                      </a:rPr>
                                      <m:t>1</m:t>
                                    </m:r>
                                  </m:sub>
                                </m:sSub>
                                <m:r>
                                  <a:rPr lang="en-US" b="0" i="1">
                                    <a:effectLst/>
                                    <a:latin typeface="Cambria Math" panose="02040503050406030204" pitchFamily="18" charset="0"/>
                                    <a:ea typeface="Aptos" panose="020B0004020202020204" pitchFamily="34" charset="0"/>
                                  </a:rPr>
                                  <m:t>−100</m:t>
                                </m:r>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𝑖</m:t>
                                    </m:r>
                                  </m:e>
                                  <m:sub>
                                    <m:r>
                                      <a:rPr lang="en-US" b="0" i="1">
                                        <a:effectLst/>
                                        <a:latin typeface="Cambria Math" panose="02040503050406030204" pitchFamily="18" charset="0"/>
                                        <a:ea typeface="Aptos" panose="020B0004020202020204" pitchFamily="34" charset="0"/>
                                      </a:rPr>
                                      <m:t>2</m:t>
                                    </m:r>
                                  </m:sub>
                                </m:sSub>
                                <m:r>
                                  <a:rPr lang="en-US" b="0">
                                    <a:effectLst/>
                                    <a:latin typeface="Cambria Math" panose="02040503050406030204" pitchFamily="18" charset="0"/>
                                    <a:ea typeface="Aptos" panose="020B0004020202020204" pitchFamily="34" charset="0"/>
                                  </a:rPr>
                                  <m:t>=</m:t>
                                </m:r>
                                <m:r>
                                  <a:rPr lang="en-US" b="0" i="1">
                                    <a:effectLst/>
                                    <a:latin typeface="Cambria Math" panose="02040503050406030204" pitchFamily="18" charset="0"/>
                                    <a:ea typeface="Aptos" panose="020B0004020202020204" pitchFamily="34" charset="0"/>
                                  </a:rPr>
                                  <m:t>9</m:t>
                                </m:r>
                              </m:e>
                            </m:mr>
                            <m:mr>
                              <m:e>
                                <m:r>
                                  <a:rPr lang="en-US" b="0" i="1">
                                    <a:effectLst/>
                                    <a:latin typeface="Cambria Math" panose="02040503050406030204" pitchFamily="18" charset="0"/>
                                    <a:ea typeface="Aptos" panose="020B0004020202020204" pitchFamily="34" charset="0"/>
                                  </a:rPr>
                                  <m:t>−100</m:t>
                                </m:r>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𝑖</m:t>
                                    </m:r>
                                  </m:e>
                                  <m:sub>
                                    <m:r>
                                      <a:rPr lang="en-US" b="0" i="1">
                                        <a:effectLst/>
                                        <a:latin typeface="Cambria Math" panose="02040503050406030204" pitchFamily="18" charset="0"/>
                                        <a:ea typeface="Aptos" panose="020B0004020202020204" pitchFamily="34" charset="0"/>
                                      </a:rPr>
                                      <m:t>1</m:t>
                                    </m:r>
                                  </m:sub>
                                </m:sSub>
                                <m:r>
                                  <a:rPr lang="en-US" b="0">
                                    <a:effectLst/>
                                    <a:latin typeface="Cambria Math" panose="02040503050406030204" pitchFamily="18" charset="0"/>
                                    <a:ea typeface="Aptos" panose="020B0004020202020204" pitchFamily="34" charset="0"/>
                                  </a:rPr>
                                  <m:t>+</m:t>
                                </m:r>
                                <m:r>
                                  <a:rPr lang="en-US" b="0" i="1">
                                    <a:effectLst/>
                                    <a:latin typeface="Cambria Math" panose="02040503050406030204" pitchFamily="18" charset="0"/>
                                    <a:ea typeface="Aptos" panose="020B0004020202020204" pitchFamily="34" charset="0"/>
                                  </a:rPr>
                                  <m:t>110</m:t>
                                </m:r>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𝑖</m:t>
                                    </m:r>
                                  </m:e>
                                  <m:sub>
                                    <m:r>
                                      <a:rPr lang="en-US" b="0" i="1">
                                        <a:effectLst/>
                                        <a:latin typeface="Cambria Math" panose="02040503050406030204" pitchFamily="18" charset="0"/>
                                        <a:ea typeface="Aptos" panose="020B0004020202020204" pitchFamily="34" charset="0"/>
                                      </a:rPr>
                                      <m:t>2</m:t>
                                    </m:r>
                                  </m:sub>
                                </m:sSub>
                                <m:r>
                                  <a:rPr lang="en-US" b="0">
                                    <a:effectLst/>
                                    <a:latin typeface="Cambria Math" panose="02040503050406030204" pitchFamily="18" charset="0"/>
                                    <a:ea typeface="Aptos" panose="020B0004020202020204" pitchFamily="34" charset="0"/>
                                  </a:rPr>
                                  <m:t>=</m:t>
                                </m:r>
                                <m:r>
                                  <a:rPr lang="en-US" b="0" i="1">
                                    <a:effectLst/>
                                    <a:latin typeface="Cambria Math" panose="02040503050406030204" pitchFamily="18" charset="0"/>
                                    <a:ea typeface="Aptos" panose="020B0004020202020204" pitchFamily="34" charset="0"/>
                                  </a:rPr>
                                  <m:t>9</m:t>
                                </m:r>
                              </m:e>
                            </m:mr>
                          </m:m>
                        </m:e>
                      </m:d>
                    </m:oMath>
                  </m:oMathPara>
                </a14:m>
                <a:endParaRPr lang="en-US" dirty="0">
                  <a:effectLst/>
                  <a:latin typeface="Arial" panose="020B0604020202020204" pitchFamily="34" charset="0"/>
                  <a:ea typeface="Aptos" panose="020B00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38B32713-8DC8-A19D-A317-628052EECCD1}"/>
                  </a:ext>
                </a:extLst>
              </p:cNvPr>
              <p:cNvSpPr>
                <a:spLocks noGrp="1" noRot="1" noChangeAspect="1" noMove="1" noResize="1" noEditPoints="1" noAdjustHandles="1" noChangeArrowheads="1" noChangeShapeType="1" noTextEdit="1"/>
              </p:cNvSpPr>
              <p:nvPr>
                <p:ph idx="1"/>
              </p:nvPr>
            </p:nvSpPr>
            <p:spPr>
              <a:blipFill>
                <a:blip r:embed="rId2"/>
                <a:stretch>
                  <a:fillRect l="-1043" t="-560" b="-6443"/>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17B6B49B-BE1E-BC95-D19B-578E4276F046}"/>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DFB617EB-D0F2-C672-C1EA-D6C148CE1C16}"/>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EE4B814A-6634-3C36-91A3-B2452A712C62}"/>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BA66E016-E745-333C-52DC-6FE50FB1F12E}"/>
              </a:ext>
            </a:extLst>
          </p:cNvPr>
          <p:cNvSpPr>
            <a:spLocks noGrp="1"/>
          </p:cNvSpPr>
          <p:nvPr>
            <p:ph type="sldNum" sz="quarter" idx="12"/>
          </p:nvPr>
        </p:nvSpPr>
        <p:spPr/>
        <p:txBody>
          <a:bodyPr/>
          <a:lstStyle/>
          <a:p>
            <a:fld id="{D8214FA6-4742-421D-8B19-2C99196BD091}" type="slidenum">
              <a:rPr lang="ru-RU" smtClean="0"/>
              <a:t>27</a:t>
            </a:fld>
            <a:endParaRPr lang="ru-RU"/>
          </a:p>
        </p:txBody>
      </p:sp>
    </p:spTree>
    <p:extLst>
      <p:ext uri="{BB962C8B-B14F-4D97-AF65-F5344CB8AC3E}">
        <p14:creationId xmlns:p14="http://schemas.microsoft.com/office/powerpoint/2010/main" val="20196843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The symmetry of the circuit and sources means </a:t>
                </a:r>
                <a14:m>
                  <m:oMath xmlns:m="http://schemas.openxmlformats.org/officeDocument/2006/math">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𝑖</m:t>
                        </m:r>
                      </m:e>
                      <m:sub>
                        <m:r>
                          <a:rPr lang="en-US" b="0" i="1">
                            <a:effectLst/>
                            <a:latin typeface="Cambria Math" panose="02040503050406030204" pitchFamily="18" charset="0"/>
                            <a:ea typeface="Aptos" panose="020B0004020202020204" pitchFamily="34" charset="0"/>
                          </a:rPr>
                          <m:t>1</m:t>
                        </m:r>
                      </m:sub>
                    </m:sSub>
                    <m:r>
                      <a:rPr lang="en-US" b="0">
                        <a:effectLst/>
                        <a:latin typeface="Cambria Math" panose="02040503050406030204" pitchFamily="18" charset="0"/>
                        <a:ea typeface="Aptos" panose="020B0004020202020204" pitchFamily="34" charset="0"/>
                      </a:rPr>
                      <m:t>=</m:t>
                    </m:r>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𝑖</m:t>
                        </m:r>
                      </m:e>
                      <m:sub>
                        <m:r>
                          <a:rPr lang="en-US" b="0" i="1">
                            <a:effectLst/>
                            <a:latin typeface="Cambria Math" panose="02040503050406030204" pitchFamily="18" charset="0"/>
                            <a:ea typeface="Aptos" panose="020B0004020202020204" pitchFamily="34" charset="0"/>
                          </a:rPr>
                          <m:t>2</m:t>
                        </m:r>
                      </m:sub>
                    </m:sSub>
                  </m:oMath>
                </a14:m>
                <a:r>
                  <a:rPr lang="en-US" dirty="0">
                    <a:effectLst/>
                    <a:latin typeface="Arial" panose="020B0604020202020204" pitchFamily="34" charset="0"/>
                    <a:ea typeface="Aptos" panose="020B0004020202020204" pitchFamily="34" charset="0"/>
                    <a:cs typeface="Arial" panose="020B0604020202020204" pitchFamily="34" charset="0"/>
                  </a:rPr>
                  <a:t>. Substituting </a:t>
                </a:r>
                <a14:m>
                  <m:oMath xmlns:m="http://schemas.openxmlformats.org/officeDocument/2006/math">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𝑖</m:t>
                        </m:r>
                      </m:e>
                      <m:sub>
                        <m:r>
                          <a:rPr lang="en-US" b="0" i="1">
                            <a:effectLst/>
                            <a:latin typeface="Cambria Math" panose="02040503050406030204" pitchFamily="18" charset="0"/>
                            <a:ea typeface="Aptos" panose="020B0004020202020204" pitchFamily="34" charset="0"/>
                          </a:rPr>
                          <m:t>1</m:t>
                        </m:r>
                      </m:sub>
                    </m:sSub>
                  </m:oMath>
                </a14:m>
                <a:r>
                  <a:rPr lang="en-US" dirty="0">
                    <a:effectLst/>
                    <a:latin typeface="Arial" panose="020B0604020202020204" pitchFamily="34" charset="0"/>
                    <a:ea typeface="Aptos" panose="020B0004020202020204" pitchFamily="34" charset="0"/>
                    <a:cs typeface="Arial" panose="020B0604020202020204" pitchFamily="34" charset="0"/>
                  </a:rPr>
                  <a:t> for </a:t>
                </a:r>
                <a14:m>
                  <m:oMath xmlns:m="http://schemas.openxmlformats.org/officeDocument/2006/math">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𝑖</m:t>
                        </m:r>
                      </m:e>
                      <m:sub>
                        <m:r>
                          <a:rPr lang="en-US" b="0" i="1">
                            <a:effectLst/>
                            <a:latin typeface="Cambria Math" panose="02040503050406030204" pitchFamily="18" charset="0"/>
                            <a:ea typeface="Aptos" panose="020B0004020202020204" pitchFamily="34" charset="0"/>
                          </a:rPr>
                          <m:t>2</m:t>
                        </m:r>
                      </m:sub>
                    </m:sSub>
                  </m:oMath>
                </a14:m>
                <a:r>
                  <a:rPr lang="en-US" dirty="0">
                    <a:effectLst/>
                    <a:latin typeface="Arial" panose="020B0604020202020204" pitchFamily="34" charset="0"/>
                    <a:ea typeface="Aptos" panose="020B0004020202020204" pitchFamily="34" charset="0"/>
                    <a:cs typeface="Arial" panose="020B0604020202020204" pitchFamily="34" charset="0"/>
                  </a:rPr>
                  <a:t> in the first equation:</a:t>
                </a:r>
                <a:endParaRPr lang="en-US" dirty="0">
                  <a:latin typeface="Arial" panose="020B0604020202020204" pitchFamily="34" charset="0"/>
                  <a:ea typeface="Aptos" panose="020B0004020202020204" pitchFamily="34" charset="0"/>
                  <a:cs typeface="Arial" panose="020B0604020202020204" pitchFamily="34" charset="0"/>
                </a:endParaRPr>
              </a:p>
              <a:p>
                <a:pPr marL="0" indent="0" algn="just">
                  <a:lnSpc>
                    <a:spcPct val="120000"/>
                  </a:lnSpc>
                  <a:buNone/>
                </a:pPr>
                <a14:m>
                  <m:oMathPara xmlns:m="http://schemas.openxmlformats.org/officeDocument/2006/math">
                    <m:oMathParaPr>
                      <m:jc m:val="centerGroup"/>
                    </m:oMathParaPr>
                    <m:oMath xmlns:m="http://schemas.openxmlformats.org/officeDocument/2006/math">
                      <m:r>
                        <a:rPr lang="en-US" b="0" i="1">
                          <a:effectLst/>
                          <a:latin typeface="Cambria Math" panose="02040503050406030204" pitchFamily="18" charset="0"/>
                          <a:ea typeface="Aptos" panose="020B0004020202020204" pitchFamily="34" charset="0"/>
                        </a:rPr>
                        <m:t>110</m:t>
                      </m:r>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𝑖</m:t>
                          </m:r>
                        </m:e>
                        <m:sub>
                          <m:r>
                            <a:rPr lang="en-US" b="0" i="1">
                              <a:effectLst/>
                              <a:latin typeface="Cambria Math" panose="02040503050406030204" pitchFamily="18" charset="0"/>
                              <a:ea typeface="Aptos" panose="020B0004020202020204" pitchFamily="34" charset="0"/>
                            </a:rPr>
                            <m:t>1</m:t>
                          </m:r>
                        </m:sub>
                      </m:sSub>
                      <m:r>
                        <a:rPr lang="en-US" b="0" i="1">
                          <a:effectLst/>
                          <a:latin typeface="Cambria Math" panose="02040503050406030204" pitchFamily="18" charset="0"/>
                          <a:ea typeface="Aptos" panose="020B0004020202020204" pitchFamily="34" charset="0"/>
                        </a:rPr>
                        <m:t>−100</m:t>
                      </m:r>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𝑖</m:t>
                          </m:r>
                        </m:e>
                        <m:sub>
                          <m:r>
                            <a:rPr lang="en-US" b="0" i="1">
                              <a:effectLst/>
                              <a:latin typeface="Cambria Math" panose="02040503050406030204" pitchFamily="18" charset="0"/>
                              <a:ea typeface="Aptos" panose="020B0004020202020204" pitchFamily="34" charset="0"/>
                            </a:rPr>
                            <m:t>1</m:t>
                          </m:r>
                        </m:sub>
                      </m:sSub>
                      <m:r>
                        <a:rPr lang="en-US" b="0">
                          <a:effectLst/>
                          <a:latin typeface="Cambria Math" panose="02040503050406030204" pitchFamily="18" charset="0"/>
                          <a:ea typeface="Aptos" panose="020B0004020202020204" pitchFamily="34" charset="0"/>
                        </a:rPr>
                        <m:t>=</m:t>
                      </m:r>
                      <m:r>
                        <a:rPr lang="en-US" b="0" i="1">
                          <a:effectLst/>
                          <a:latin typeface="Cambria Math" panose="02040503050406030204" pitchFamily="18" charset="0"/>
                          <a:ea typeface="Aptos" panose="020B0004020202020204" pitchFamily="34" charset="0"/>
                        </a:rPr>
                        <m:t>9</m:t>
                      </m:r>
                      <m:r>
                        <a:rPr lang="en-US" b="0" i="0" smtClean="0">
                          <a:effectLst/>
                          <a:latin typeface="Cambria Math" panose="02040503050406030204" pitchFamily="18" charset="0"/>
                          <a:ea typeface="Aptos" panose="020B0004020202020204" pitchFamily="34" charset="0"/>
                        </a:rPr>
                        <m:t>,     </m:t>
                      </m:r>
                      <m:r>
                        <a:rPr lang="en-US" b="0" i="1">
                          <a:effectLst/>
                          <a:latin typeface="Cambria Math" panose="02040503050406030204" pitchFamily="18" charset="0"/>
                          <a:ea typeface="Aptos" panose="020B0004020202020204" pitchFamily="34" charset="0"/>
                        </a:rPr>
                        <m:t>10</m:t>
                      </m:r>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𝑖</m:t>
                          </m:r>
                        </m:e>
                        <m:sub>
                          <m:r>
                            <a:rPr lang="en-US" b="0" i="1">
                              <a:effectLst/>
                              <a:latin typeface="Cambria Math" panose="02040503050406030204" pitchFamily="18" charset="0"/>
                              <a:ea typeface="Aptos" panose="020B0004020202020204" pitchFamily="34" charset="0"/>
                            </a:rPr>
                            <m:t>1</m:t>
                          </m:r>
                        </m:sub>
                      </m:sSub>
                      <m:r>
                        <a:rPr lang="en-US" b="0">
                          <a:effectLst/>
                          <a:latin typeface="Cambria Math" panose="02040503050406030204" pitchFamily="18" charset="0"/>
                          <a:ea typeface="Aptos" panose="020B0004020202020204" pitchFamily="34" charset="0"/>
                        </a:rPr>
                        <m:t>=</m:t>
                      </m:r>
                      <m:r>
                        <a:rPr lang="en-US" b="0" i="1">
                          <a:effectLst/>
                          <a:latin typeface="Cambria Math" panose="02040503050406030204" pitchFamily="18" charset="0"/>
                          <a:ea typeface="Aptos" panose="020B0004020202020204" pitchFamily="34" charset="0"/>
                        </a:rPr>
                        <m:t>9</m:t>
                      </m:r>
                      <m:r>
                        <a:rPr lang="en-US" b="0" i="0" smtClean="0">
                          <a:effectLst/>
                          <a:latin typeface="Cambria Math" panose="02040503050406030204" pitchFamily="18" charset="0"/>
                          <a:ea typeface="Aptos" panose="020B0004020202020204" pitchFamily="34" charset="0"/>
                        </a:rPr>
                        <m:t>,</m:t>
                      </m:r>
                      <m:r>
                        <a:rPr lang="en-US" b="0" i="1" smtClean="0">
                          <a:effectLst/>
                          <a:latin typeface="Cambria Math" panose="02040503050406030204" pitchFamily="18" charset="0"/>
                          <a:ea typeface="Aptos" panose="020B0004020202020204" pitchFamily="34" charset="0"/>
                        </a:rPr>
                        <m:t>      </m:t>
                      </m:r>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𝑖</m:t>
                          </m:r>
                        </m:e>
                        <m:sub>
                          <m:r>
                            <a:rPr lang="en-US" b="0" i="1">
                              <a:effectLst/>
                              <a:latin typeface="Cambria Math" panose="02040503050406030204" pitchFamily="18" charset="0"/>
                              <a:ea typeface="Aptos" panose="020B0004020202020204" pitchFamily="34" charset="0"/>
                            </a:rPr>
                            <m:t>1</m:t>
                          </m:r>
                        </m:sub>
                      </m:sSub>
                      <m:r>
                        <a:rPr lang="en-US" b="0">
                          <a:effectLst/>
                          <a:latin typeface="Cambria Math" panose="02040503050406030204" pitchFamily="18" charset="0"/>
                          <a:ea typeface="Aptos" panose="020B0004020202020204" pitchFamily="34" charset="0"/>
                        </a:rPr>
                        <m:t>=</m:t>
                      </m:r>
                      <m:f>
                        <m:fPr>
                          <m:ctrlPr>
                            <a:rPr lang="ru-RU" i="1">
                              <a:effectLst/>
                              <a:latin typeface="Cambria Math" panose="02040503050406030204" pitchFamily="18" charset="0"/>
                              <a:ea typeface="Aptos" panose="020B0004020202020204" pitchFamily="34" charset="0"/>
                            </a:rPr>
                          </m:ctrlPr>
                        </m:fPr>
                        <m:num>
                          <m:r>
                            <a:rPr lang="en-US" b="0" i="1">
                              <a:effectLst/>
                              <a:latin typeface="Cambria Math" panose="02040503050406030204" pitchFamily="18" charset="0"/>
                              <a:ea typeface="Aptos" panose="020B0004020202020204" pitchFamily="34" charset="0"/>
                            </a:rPr>
                            <m:t>9</m:t>
                          </m:r>
                        </m:num>
                        <m:den>
                          <m:r>
                            <a:rPr lang="en-US" b="0" i="1">
                              <a:effectLst/>
                              <a:latin typeface="Cambria Math" panose="02040503050406030204" pitchFamily="18" charset="0"/>
                              <a:ea typeface="Aptos" panose="020B0004020202020204" pitchFamily="34" charset="0"/>
                            </a:rPr>
                            <m:t>10</m:t>
                          </m:r>
                        </m:den>
                      </m:f>
                      <m:r>
                        <a:rPr lang="en-US" b="0">
                          <a:effectLst/>
                          <a:latin typeface="Cambria Math" panose="02040503050406030204" pitchFamily="18" charset="0"/>
                          <a:ea typeface="Aptos" panose="020B0004020202020204" pitchFamily="34" charset="0"/>
                        </a:rPr>
                        <m:t>=</m:t>
                      </m:r>
                      <m:r>
                        <a:rPr lang="en-US" b="0" i="1">
                          <a:effectLst/>
                          <a:latin typeface="Cambria Math" panose="02040503050406030204" pitchFamily="18" charset="0"/>
                          <a:ea typeface="Aptos" panose="020B0004020202020204" pitchFamily="34" charset="0"/>
                        </a:rPr>
                        <m:t>0</m:t>
                      </m:r>
                      <m:r>
                        <a:rPr lang="en-US" b="0">
                          <a:effectLst/>
                          <a:latin typeface="Cambria Math" panose="02040503050406030204" pitchFamily="18" charset="0"/>
                          <a:ea typeface="Aptos" panose="020B0004020202020204" pitchFamily="34" charset="0"/>
                        </a:rPr>
                        <m:t>.</m:t>
                      </m:r>
                      <m:r>
                        <a:rPr lang="en-US" b="0" i="1">
                          <a:effectLst/>
                          <a:latin typeface="Cambria Math" panose="02040503050406030204" pitchFamily="18" charset="0"/>
                          <a:ea typeface="Aptos" panose="020B0004020202020204" pitchFamily="34" charset="0"/>
                        </a:rPr>
                        <m:t>9</m:t>
                      </m:r>
                      <m:r>
                        <a:rPr lang="en-US" b="0">
                          <a:effectLst/>
                          <a:latin typeface="Cambria Math" panose="02040503050406030204" pitchFamily="18" charset="0"/>
                          <a:ea typeface="Aptos" panose="020B0004020202020204" pitchFamily="34" charset="0"/>
                        </a:rPr>
                        <m:t> </m:t>
                      </m:r>
                      <m:r>
                        <a:rPr lang="en-US" b="0" i="1">
                          <a:effectLst/>
                          <a:latin typeface="Cambria Math" panose="02040503050406030204" pitchFamily="18" charset="0"/>
                          <a:ea typeface="Aptos" panose="020B0004020202020204" pitchFamily="34" charset="0"/>
                        </a:rPr>
                        <m:t>𝐴</m:t>
                      </m:r>
                    </m:oMath>
                  </m:oMathPara>
                </a14:m>
                <a:endParaRPr lang="ru-RU" dirty="0">
                  <a:effectLst/>
                  <a:latin typeface="Arial" panose="020B0604020202020204" pitchFamily="34" charset="0"/>
                  <a:ea typeface="Aptos" panose="020B0004020202020204" pitchFamily="34" charset="0"/>
                  <a:cs typeface="Arial" panose="020B0604020202020204" pitchFamily="34" charset="0"/>
                </a:endParaRPr>
              </a:p>
              <a:p>
                <a:pPr marL="0" indent="0" algn="ctr">
                  <a:lnSpc>
                    <a:spcPct val="120000"/>
                  </a:lnSpc>
                  <a:buNone/>
                </a:pPr>
                <a:endParaRPr lang="ru-RU" b="1" dirty="0">
                  <a:effectLst/>
                  <a:latin typeface="Arial" panose="020B0604020202020204" pitchFamily="34" charset="0"/>
                  <a:ea typeface="Aptos" panose="020B0004020202020204" pitchFamily="34" charset="0"/>
                  <a:cs typeface="Arial" panose="020B0604020202020204" pitchFamily="34" charset="0"/>
                </a:endParaRPr>
              </a:p>
              <a:p>
                <a:pPr algn="ctr">
                  <a:lnSpc>
                    <a:spcPct val="120000"/>
                  </a:lnSpc>
                </a:pPr>
                <a:endParaRPr lang="ru-RU" b="1" dirty="0">
                  <a:effectLst/>
                  <a:latin typeface="Arial" panose="020B0604020202020204" pitchFamily="34" charset="0"/>
                  <a:ea typeface="Aptos" panose="020B00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38B32713-8DC8-A19D-A317-628052EECCD1}"/>
                  </a:ext>
                </a:extLst>
              </p:cNvPr>
              <p:cNvSpPr>
                <a:spLocks noGrp="1" noRot="1" noChangeAspect="1" noMove="1" noResize="1" noEditPoints="1" noAdjustHandles="1" noChangeArrowheads="1" noChangeShapeType="1" noTextEdit="1"/>
              </p:cNvSpPr>
              <p:nvPr>
                <p:ph idx="1"/>
              </p:nvPr>
            </p:nvSpPr>
            <p:spPr>
              <a:blipFill>
                <a:blip r:embed="rId2"/>
                <a:stretch>
                  <a:fillRect l="-1043" t="-560" r="-1159"/>
                </a:stretch>
              </a:blipFill>
            </p:spPr>
            <p:txBody>
              <a:bodyPr/>
              <a:lstStyle/>
              <a:p>
                <a:r>
                  <a:rPr lang="ru-RU">
                    <a:noFill/>
                  </a:rPr>
                  <a:t> </a:t>
                </a:r>
              </a:p>
            </p:txBody>
          </p:sp>
        </mc:Fallback>
      </mc:AlternateContent>
      <p:graphicFrame>
        <p:nvGraphicFramePr>
          <p:cNvPr id="6" name="Таблица 5">
            <a:extLst>
              <a:ext uri="{FF2B5EF4-FFF2-40B4-BE49-F238E27FC236}">
                <a16:creationId xmlns:a16="http://schemas.microsoft.com/office/drawing/2014/main" id="{D7108B64-E77F-EAAE-48C1-2B348993AA42}"/>
              </a:ext>
            </a:extLst>
          </p:cNvPr>
          <p:cNvGraphicFramePr>
            <a:graphicFrameLocks noGrp="1"/>
          </p:cNvGraphicFramePr>
          <p:nvPr>
            <p:extLst>
              <p:ext uri="{D42A27DB-BD31-4B8C-83A1-F6EECF244321}">
                <p14:modId xmlns:p14="http://schemas.microsoft.com/office/powerpoint/2010/main" val="1396996615"/>
              </p:ext>
            </p:extLst>
          </p:nvPr>
        </p:nvGraphicFramePr>
        <p:xfrm>
          <a:off x="838200" y="4669091"/>
          <a:ext cx="10515600" cy="1900811"/>
        </p:xfrm>
        <a:graphic>
          <a:graphicData uri="http://schemas.openxmlformats.org/drawingml/2006/table">
            <a:tbl>
              <a:tblPr firstRow="1" bandRow="1" bandCol="1">
                <a:tableStyleId>{5940675A-B579-460E-94D1-54222C63F5DA}</a:tableStyleId>
              </a:tblPr>
              <a:tblGrid>
                <a:gridCol w="5257800">
                  <a:extLst>
                    <a:ext uri="{9D8B030D-6E8A-4147-A177-3AD203B41FA5}">
                      <a16:colId xmlns:a16="http://schemas.microsoft.com/office/drawing/2014/main" val="2353862111"/>
                    </a:ext>
                  </a:extLst>
                </a:gridCol>
                <a:gridCol w="5257800">
                  <a:extLst>
                    <a:ext uri="{9D8B030D-6E8A-4147-A177-3AD203B41FA5}">
                      <a16:colId xmlns:a16="http://schemas.microsoft.com/office/drawing/2014/main" val="2899444102"/>
                    </a:ext>
                  </a:extLst>
                </a:gridCol>
              </a:tblGrid>
              <a:tr h="0">
                <a:tc>
                  <a:txBody>
                    <a:bodyPr/>
                    <a:lstStyle/>
                    <a:p>
                      <a:pPr algn="ctr">
                        <a:lnSpc>
                          <a:spcPct val="120000"/>
                        </a:lnSpc>
                      </a:pPr>
                      <a:r>
                        <a:rPr lang="en-US" sz="2800" b="0" dirty="0">
                          <a:effectLst/>
                          <a:latin typeface="Arial" panose="020B0604020202020204" pitchFamily="34" charset="0"/>
                        </a:rPr>
                        <a:t>Current</a:t>
                      </a:r>
                      <a:endParaRPr lang="ru-RU" sz="2800" b="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ctr">
                        <a:lnSpc>
                          <a:spcPct val="120000"/>
                        </a:lnSpc>
                      </a:pPr>
                      <a:r>
                        <a:rPr lang="en-US" sz="2800" b="0" dirty="0">
                          <a:effectLst/>
                          <a:latin typeface="Arial" panose="020B0604020202020204" pitchFamily="34" charset="0"/>
                        </a:rPr>
                        <a:t>Value (A)</a:t>
                      </a:r>
                      <a:endParaRPr lang="ru-RU" sz="2800" b="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494565060"/>
                  </a:ext>
                </a:extLst>
              </a:tr>
              <a:tr h="0">
                <a:tc>
                  <a:txBody>
                    <a:bodyPr/>
                    <a:lstStyle/>
                    <a:p>
                      <a:pPr algn="ctr">
                        <a:lnSpc>
                          <a:spcPct val="120000"/>
                        </a:lnSpc>
                      </a:pPr>
                      <a:r>
                        <a:rPr lang="ru-RU" sz="2800" b="0" dirty="0">
                          <a:effectLst/>
                          <a:latin typeface="Arial" panose="020B0604020202020204" pitchFamily="34" charset="0"/>
                          <a:ea typeface="Aptos" panose="020B0004020202020204" pitchFamily="34" charset="0"/>
                          <a:cs typeface="Arial" panose="020B0604020202020204" pitchFamily="34" charset="0"/>
                        </a:rPr>
                        <a:t>𝑖</a:t>
                      </a:r>
                      <a:r>
                        <a:rPr lang="ru-RU" sz="1800" b="0" dirty="0">
                          <a:effectLst/>
                          <a:latin typeface="Arial" panose="020B0604020202020204" pitchFamily="34" charset="0"/>
                          <a:ea typeface="Aptos" panose="020B0004020202020204" pitchFamily="34" charset="0"/>
                          <a:cs typeface="Arial" panose="020B0604020202020204" pitchFamily="34" charset="0"/>
                        </a:rPr>
                        <a:t>1</a:t>
                      </a:r>
                      <a:r>
                        <a:rPr lang="en-US" sz="1800" b="0" dirty="0">
                          <a:effectLst/>
                          <a:latin typeface="Arial" panose="020B0604020202020204" pitchFamily="34" charset="0"/>
                          <a:ea typeface="Aptos" panose="020B0004020202020204" pitchFamily="34" charset="0"/>
                          <a:cs typeface="Arial" panose="020B0604020202020204" pitchFamily="34" charset="0"/>
                        </a:rPr>
                        <a:t> </a:t>
                      </a:r>
                      <a:r>
                        <a:rPr lang="en-US" sz="2800" b="0" dirty="0">
                          <a:effectLst/>
                        </a:rPr>
                        <a:t>(Left Mesh Current)</a:t>
                      </a:r>
                      <a:endParaRPr lang="ru-RU" sz="2800" b="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ctr">
                        <a:lnSpc>
                          <a:spcPct val="120000"/>
                        </a:lnSpc>
                      </a:pPr>
                      <a:r>
                        <a:rPr lang="en-US" sz="2800" b="0" dirty="0">
                          <a:effectLst/>
                          <a:latin typeface="Arial" panose="020B0604020202020204" pitchFamily="34" charset="0"/>
                        </a:rPr>
                        <a:t>0.9 A</a:t>
                      </a:r>
                      <a:endParaRPr lang="ru-RU" sz="2800" b="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410059530"/>
                  </a:ext>
                </a:extLst>
              </a:tr>
              <a:tr h="0">
                <a:tc>
                  <a:txBody>
                    <a:bodyPr/>
                    <a:lstStyle/>
                    <a:p>
                      <a:pPr algn="ctr">
                        <a:lnSpc>
                          <a:spcPct val="120000"/>
                        </a:lnSpc>
                      </a:pPr>
                      <a:r>
                        <a:rPr lang="ru-RU" sz="2800" b="0" dirty="0">
                          <a:effectLst/>
                          <a:latin typeface="Arial" panose="020B0604020202020204" pitchFamily="34" charset="0"/>
                          <a:ea typeface="Aptos" panose="020B0004020202020204" pitchFamily="34" charset="0"/>
                          <a:cs typeface="Arial" panose="020B0604020202020204" pitchFamily="34" charset="0"/>
                        </a:rPr>
                        <a:t>𝑖</a:t>
                      </a:r>
                      <a:r>
                        <a:rPr lang="ru-RU" sz="1800" b="0" dirty="0">
                          <a:effectLst/>
                          <a:latin typeface="Arial" panose="020B0604020202020204" pitchFamily="34" charset="0"/>
                          <a:ea typeface="Aptos" panose="020B0004020202020204" pitchFamily="34" charset="0"/>
                          <a:cs typeface="Arial" panose="020B0604020202020204" pitchFamily="34" charset="0"/>
                        </a:rPr>
                        <a:t>2</a:t>
                      </a:r>
                      <a:r>
                        <a:rPr lang="en-US" sz="1800" b="0" dirty="0">
                          <a:effectLst/>
                          <a:latin typeface="Arial" panose="020B0604020202020204" pitchFamily="34" charset="0"/>
                          <a:ea typeface="Aptos" panose="020B0004020202020204" pitchFamily="34" charset="0"/>
                          <a:cs typeface="Arial" panose="020B0604020202020204" pitchFamily="34" charset="0"/>
                        </a:rPr>
                        <a:t> </a:t>
                      </a:r>
                      <a:r>
                        <a:rPr lang="en-US" sz="2800" b="0" dirty="0">
                          <a:effectLst/>
                        </a:rPr>
                        <a:t>(Right Mesh Current)</a:t>
                      </a:r>
                      <a:endParaRPr lang="ru-RU" sz="2800" b="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ctr">
                        <a:lnSpc>
                          <a:spcPct val="120000"/>
                        </a:lnSpc>
                      </a:pPr>
                      <a:r>
                        <a:rPr lang="en-US" sz="2800" b="0" dirty="0">
                          <a:effectLst/>
                          <a:latin typeface="Arial" panose="020B0604020202020204" pitchFamily="34" charset="0"/>
                        </a:rPr>
                        <a:t>0.9 A</a:t>
                      </a:r>
                      <a:endParaRPr lang="ru-RU" sz="2800" b="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615566036"/>
                  </a:ext>
                </a:extLst>
              </a:tr>
              <a:tr h="0">
                <a:tc>
                  <a:txBody>
                    <a:bodyPr/>
                    <a:lstStyle/>
                    <a:p>
                      <a:pPr algn="ctr">
                        <a:lnSpc>
                          <a:spcPct val="120000"/>
                        </a:lnSpc>
                      </a:pPr>
                      <a:r>
                        <a:rPr lang="el-GR" sz="2800" b="0" dirty="0">
                          <a:effectLst/>
                          <a:latin typeface="Arial" panose="020B0604020202020204" pitchFamily="34" charset="0"/>
                        </a:rPr>
                        <a:t>𝑖</a:t>
                      </a:r>
                      <a:r>
                        <a:rPr lang="el-GR" sz="1800" b="0" dirty="0">
                          <a:effectLst/>
                        </a:rPr>
                        <a:t>(100 Ω) </a:t>
                      </a:r>
                      <a:r>
                        <a:rPr lang="en-US" sz="2800" b="0" dirty="0">
                          <a:effectLst/>
                        </a:rPr>
                        <a:t>(Center Branch Current)</a:t>
                      </a:r>
                      <a:endParaRPr lang="ru-RU" sz="2800" b="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ctr">
                        <a:lnSpc>
                          <a:spcPct val="120000"/>
                        </a:lnSpc>
                      </a:pPr>
                      <a:r>
                        <a:rPr lang="ru-RU" sz="2800" b="0" dirty="0">
                          <a:effectLst/>
                          <a:latin typeface="Arial" panose="020B0604020202020204" pitchFamily="34" charset="0"/>
                          <a:ea typeface="Aptos" panose="020B0004020202020204" pitchFamily="34" charset="0"/>
                          <a:cs typeface="Arial" panose="020B0604020202020204" pitchFamily="34" charset="0"/>
                        </a:rPr>
                        <a:t>𝑖</a:t>
                      </a:r>
                      <a:r>
                        <a:rPr lang="ru-RU" sz="1800" b="0" dirty="0">
                          <a:effectLst/>
                          <a:latin typeface="Arial" panose="020B0604020202020204" pitchFamily="34" charset="0"/>
                          <a:ea typeface="Aptos" panose="020B0004020202020204" pitchFamily="34" charset="0"/>
                          <a:cs typeface="Arial" panose="020B0604020202020204" pitchFamily="34" charset="0"/>
                        </a:rPr>
                        <a:t>1</a:t>
                      </a:r>
                      <a:r>
                        <a:rPr lang="ru-RU" sz="2800" b="0" dirty="0">
                          <a:effectLst/>
                          <a:latin typeface="Arial" panose="020B0604020202020204" pitchFamily="34" charset="0"/>
                          <a:ea typeface="Aptos" panose="020B0004020202020204" pitchFamily="34" charset="0"/>
                          <a:cs typeface="Arial" panose="020B0604020202020204" pitchFamily="34" charset="0"/>
                        </a:rPr>
                        <a:t>−𝑖</a:t>
                      </a:r>
                      <a:r>
                        <a:rPr lang="ru-RU" sz="1800" b="0" dirty="0">
                          <a:effectLst/>
                          <a:latin typeface="Arial" panose="020B0604020202020204" pitchFamily="34" charset="0"/>
                          <a:ea typeface="Aptos" panose="020B0004020202020204" pitchFamily="34" charset="0"/>
                          <a:cs typeface="Arial" panose="020B0604020202020204" pitchFamily="34" charset="0"/>
                        </a:rPr>
                        <a:t>2</a:t>
                      </a:r>
                      <a:r>
                        <a:rPr lang="ru-RU" sz="2800" b="0" dirty="0">
                          <a:effectLst/>
                          <a:latin typeface="Arial" panose="020B0604020202020204" pitchFamily="34" charset="0"/>
                          <a:ea typeface="Aptos" panose="020B0004020202020204" pitchFamily="34" charset="0"/>
                          <a:cs typeface="Arial" panose="020B0604020202020204" pitchFamily="34" charset="0"/>
                        </a:rPr>
                        <a:t>=0 𝐴</a:t>
                      </a:r>
                    </a:p>
                  </a:txBody>
                  <a:tcPr marL="68580" marR="68580" marT="0" marB="0"/>
                </a:tc>
                <a:extLst>
                  <a:ext uri="{0D108BD9-81ED-4DB2-BD59-A6C34878D82A}">
                    <a16:rowId xmlns:a16="http://schemas.microsoft.com/office/drawing/2014/main" val="1422168062"/>
                  </a:ext>
                </a:extLst>
              </a:tr>
            </a:tbl>
          </a:graphicData>
        </a:graphic>
      </p:graphicFrame>
      <p:grpSp>
        <p:nvGrpSpPr>
          <p:cNvPr id="4" name="Группа 3">
            <a:extLst>
              <a:ext uri="{FF2B5EF4-FFF2-40B4-BE49-F238E27FC236}">
                <a16:creationId xmlns:a16="http://schemas.microsoft.com/office/drawing/2014/main" id="{7C04463B-E3C2-FA42-78D6-30D10C978BFE}"/>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EC208B21-B22C-2093-C2F9-2B4E6B35AFC7}"/>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7" name="Прямоугольник: скругленные углы 6">
              <a:extLst>
                <a:ext uri="{FF2B5EF4-FFF2-40B4-BE49-F238E27FC236}">
                  <a16:creationId xmlns:a16="http://schemas.microsoft.com/office/drawing/2014/main" id="{E3F41878-1908-CD47-8527-BFB30C2BB94C}"/>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Номер слайда 7">
            <a:extLst>
              <a:ext uri="{FF2B5EF4-FFF2-40B4-BE49-F238E27FC236}">
                <a16:creationId xmlns:a16="http://schemas.microsoft.com/office/drawing/2014/main" id="{D80B1448-E66E-FF0C-11B0-1C5C341AF431}"/>
              </a:ext>
            </a:extLst>
          </p:cNvPr>
          <p:cNvSpPr>
            <a:spLocks noGrp="1"/>
          </p:cNvSpPr>
          <p:nvPr>
            <p:ph type="sldNum" sz="quarter" idx="12"/>
          </p:nvPr>
        </p:nvSpPr>
        <p:spPr/>
        <p:txBody>
          <a:bodyPr/>
          <a:lstStyle/>
          <a:p>
            <a:fld id="{D8214FA6-4742-421D-8B19-2C99196BD091}" type="slidenum">
              <a:rPr lang="ru-RU" smtClean="0"/>
              <a:t>28</a:t>
            </a:fld>
            <a:endParaRPr lang="ru-RU"/>
          </a:p>
        </p:txBody>
      </p:sp>
    </p:spTree>
    <p:extLst>
      <p:ext uri="{BB962C8B-B14F-4D97-AF65-F5344CB8AC3E}">
        <p14:creationId xmlns:p14="http://schemas.microsoft.com/office/powerpoint/2010/main" val="24845736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a:xfrm>
            <a:off x="838200" y="1825625"/>
            <a:ext cx="5772190" cy="4351338"/>
          </a:xfrm>
        </p:spPr>
        <p:txBody>
          <a:bodyPr>
            <a:noAutofit/>
          </a:bodyPr>
          <a:lstStyle/>
          <a:p>
            <a:r>
              <a:rPr lang="en-US" dirty="0"/>
              <a:t>Second, let’s consider a different circuit with one source only.</a:t>
            </a:r>
          </a:p>
          <a:p>
            <a:r>
              <a:rPr lang="en-US" dirty="0"/>
              <a:t>In this case, the source in the left mesh is V=9 V, and the source in the right mesh is 0 V.</a:t>
            </a:r>
            <a:endParaRPr lang="ru-RU" dirty="0"/>
          </a:p>
        </p:txBody>
      </p:sp>
      <p:pic>
        <p:nvPicPr>
          <p:cNvPr id="5" name="Рисунок 4">
            <a:extLst>
              <a:ext uri="{FF2B5EF4-FFF2-40B4-BE49-F238E27FC236}">
                <a16:creationId xmlns:a16="http://schemas.microsoft.com/office/drawing/2014/main" id="{25098251-1E79-F06C-E94D-31570E69082B}"/>
              </a:ext>
            </a:extLst>
          </p:cNvPr>
          <p:cNvPicPr>
            <a:picLocks noChangeAspect="1"/>
          </p:cNvPicPr>
          <p:nvPr/>
        </p:nvPicPr>
        <p:blipFill>
          <a:blip r:embed="rId2" cstate="email">
            <a:extLst>
              <a:ext uri="{28A0092B-C50C-407E-A947-70E740481C1C}">
                <a14:useLocalDpi xmlns:a14="http://schemas.microsoft.com/office/drawing/2010/main"/>
              </a:ext>
            </a:extLst>
          </a:blip>
          <a:srcRect l="9274" r="7336"/>
          <a:stretch/>
        </p:blipFill>
        <p:spPr bwMode="auto">
          <a:xfrm>
            <a:off x="6610390" y="1558689"/>
            <a:ext cx="5470358" cy="5299311"/>
          </a:xfrm>
          <a:prstGeom prst="rect">
            <a:avLst/>
          </a:prstGeom>
          <a:noFill/>
          <a:ln>
            <a:noFill/>
          </a:ln>
        </p:spPr>
      </p:pic>
      <p:grpSp>
        <p:nvGrpSpPr>
          <p:cNvPr id="4" name="Группа 3">
            <a:extLst>
              <a:ext uri="{FF2B5EF4-FFF2-40B4-BE49-F238E27FC236}">
                <a16:creationId xmlns:a16="http://schemas.microsoft.com/office/drawing/2014/main" id="{29CCBE1A-65FB-135A-BDA5-B547F516CA55}"/>
              </a:ext>
            </a:extLst>
          </p:cNvPr>
          <p:cNvGrpSpPr/>
          <p:nvPr/>
        </p:nvGrpSpPr>
        <p:grpSpPr>
          <a:xfrm>
            <a:off x="0" y="0"/>
            <a:ext cx="12192000" cy="1690688"/>
            <a:chOff x="0" y="0"/>
            <a:chExt cx="12192000" cy="1690688"/>
          </a:xfrm>
        </p:grpSpPr>
        <p:sp>
          <p:nvSpPr>
            <p:cNvPr id="6" name="Прямоугольник 5">
              <a:extLst>
                <a:ext uri="{FF2B5EF4-FFF2-40B4-BE49-F238E27FC236}">
                  <a16:creationId xmlns:a16="http://schemas.microsoft.com/office/drawing/2014/main" id="{DC824321-F243-CCFC-B3BC-86AFA2800925}"/>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7" name="Прямоугольник: скругленные углы 6">
              <a:extLst>
                <a:ext uri="{FF2B5EF4-FFF2-40B4-BE49-F238E27FC236}">
                  <a16:creationId xmlns:a16="http://schemas.microsoft.com/office/drawing/2014/main" id="{DF1736E7-9A54-3A36-F41B-AE9FFD21BF4D}"/>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Номер слайда 7">
            <a:extLst>
              <a:ext uri="{FF2B5EF4-FFF2-40B4-BE49-F238E27FC236}">
                <a16:creationId xmlns:a16="http://schemas.microsoft.com/office/drawing/2014/main" id="{AF2DE196-F2BA-F47B-82DC-6FF7A25E1AA6}"/>
              </a:ext>
            </a:extLst>
          </p:cNvPr>
          <p:cNvSpPr>
            <a:spLocks noGrp="1"/>
          </p:cNvSpPr>
          <p:nvPr>
            <p:ph type="sldNum" sz="quarter" idx="12"/>
          </p:nvPr>
        </p:nvSpPr>
        <p:spPr/>
        <p:txBody>
          <a:bodyPr/>
          <a:lstStyle/>
          <a:p>
            <a:fld id="{D8214FA6-4742-421D-8B19-2C99196BD091}" type="slidenum">
              <a:rPr lang="ru-RU" smtClean="0"/>
              <a:t>29</a:t>
            </a:fld>
            <a:endParaRPr lang="ru-RU"/>
          </a:p>
        </p:txBody>
      </p:sp>
    </p:spTree>
    <p:extLst>
      <p:ext uri="{BB962C8B-B14F-4D97-AF65-F5344CB8AC3E}">
        <p14:creationId xmlns:p14="http://schemas.microsoft.com/office/powerpoint/2010/main" val="11077013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Autofit/>
              </a:bodyPr>
              <a:lstStyle/>
              <a:p>
                <a:pPr>
                  <a:lnSpc>
                    <a:spcPct val="120000"/>
                  </a:lnSpc>
                </a:pPr>
                <a:r>
                  <a:rPr lang="en-US" dirty="0">
                    <a:latin typeface="Arial" panose="020B0604020202020204" pitchFamily="34" charset="0"/>
                    <a:cs typeface="Arial" panose="020B0604020202020204" pitchFamily="34" charset="0"/>
                  </a:rPr>
                  <a:t>The system of equations (from Section 2.A) was:</a:t>
                </a:r>
              </a:p>
              <a:p>
                <a:pPr marL="0" indent="0" algn="ctr">
                  <a:lnSpc>
                    <a:spcPct val="120000"/>
                  </a:lnSpc>
                  <a:buNone/>
                </a:pPr>
                <a14:m>
                  <m:oMathPara xmlns:m="http://schemas.openxmlformats.org/officeDocument/2006/math">
                    <m:oMathParaPr>
                      <m:jc m:val="centerGroup"/>
                    </m:oMathParaPr>
                    <m:oMath xmlns:m="http://schemas.openxmlformats.org/officeDocument/2006/math">
                      <m:d>
                        <m:dPr>
                          <m:begChr m:val="{"/>
                          <m:endChr m:val=""/>
                          <m:ctrlPr>
                            <a:rPr lang="ru-RU" i="1">
                              <a:latin typeface="Cambria Math" panose="02040503050406030204" pitchFamily="18" charset="0"/>
                            </a:rPr>
                          </m:ctrlPr>
                        </m:dPr>
                        <m:e>
                          <m:m>
                            <m:mPr>
                              <m:plcHide m:val="on"/>
                              <m:mcs>
                                <m:mc>
                                  <m:mcPr>
                                    <m:count m:val="1"/>
                                    <m:mcJc m:val="center"/>
                                  </m:mcPr>
                                </m:mc>
                              </m:mcs>
                              <m:ctrlPr>
                                <a:rPr lang="ru-RU" i="1">
                                  <a:latin typeface="Cambria Math" panose="02040503050406030204" pitchFamily="18" charset="0"/>
                                </a:rPr>
                              </m:ctrlPr>
                            </m:mPr>
                            <m:mr>
                              <m:e>
                                <m:r>
                                  <a:rPr lang="en-US" b="0">
                                    <a:latin typeface="Cambria Math" panose="02040503050406030204" pitchFamily="18" charset="0"/>
                                  </a:rPr>
                                  <m:t>(</m:t>
                                </m:r>
                                <m:sSub>
                                  <m:sSubPr>
                                    <m:ctrlPr>
                                      <a:rPr lang="ru-RU" i="1">
                                        <a:latin typeface="Cambria Math" panose="02040503050406030204" pitchFamily="18" charset="0"/>
                                      </a:rPr>
                                    </m:ctrlPr>
                                  </m:sSubPr>
                                  <m:e>
                                    <m:r>
                                      <a:rPr lang="en-US" b="0" i="1">
                                        <a:latin typeface="Cambria Math" panose="02040503050406030204" pitchFamily="18" charset="0"/>
                                      </a:rPr>
                                      <m:t>𝑅</m:t>
                                    </m:r>
                                  </m:e>
                                  <m:sub>
                                    <m:r>
                                      <a:rPr lang="en-US" b="0" i="1">
                                        <a:latin typeface="Cambria Math" panose="02040503050406030204" pitchFamily="18" charset="0"/>
                                      </a:rPr>
                                      <m:t>1</m:t>
                                    </m:r>
                                  </m:sub>
                                </m:sSub>
                                <m:r>
                                  <a:rPr lang="en-US" b="0">
                                    <a:latin typeface="Cambria Math" panose="02040503050406030204" pitchFamily="18" charset="0"/>
                                  </a:rPr>
                                  <m:t>+</m:t>
                                </m:r>
                                <m:sSub>
                                  <m:sSubPr>
                                    <m:ctrlPr>
                                      <a:rPr lang="ru-RU" i="1">
                                        <a:latin typeface="Cambria Math" panose="02040503050406030204" pitchFamily="18" charset="0"/>
                                      </a:rPr>
                                    </m:ctrlPr>
                                  </m:sSubPr>
                                  <m:e>
                                    <m:r>
                                      <a:rPr lang="en-US" b="0" i="1">
                                        <a:latin typeface="Cambria Math" panose="02040503050406030204" pitchFamily="18" charset="0"/>
                                      </a:rPr>
                                      <m:t>𝑅</m:t>
                                    </m:r>
                                  </m:e>
                                  <m:sub>
                                    <m:r>
                                      <a:rPr lang="en-US" b="0" i="1">
                                        <a:latin typeface="Cambria Math" panose="02040503050406030204" pitchFamily="18" charset="0"/>
                                      </a:rPr>
                                      <m:t>3</m:t>
                                    </m:r>
                                  </m:sub>
                                </m:sSub>
                                <m:r>
                                  <a:rPr lang="en-US" b="0">
                                    <a:latin typeface="Cambria Math" panose="02040503050406030204" pitchFamily="18" charset="0"/>
                                  </a:rPr>
                                  <m:t>)</m:t>
                                </m:r>
                                <m:sSub>
                                  <m:sSubPr>
                                    <m:ctrlPr>
                                      <a:rPr lang="ru-RU" i="1">
                                        <a:latin typeface="Cambria Math" panose="02040503050406030204" pitchFamily="18" charset="0"/>
                                      </a:rPr>
                                    </m:ctrlPr>
                                  </m:sSubPr>
                                  <m:e>
                                    <m:r>
                                      <a:rPr lang="en-US" b="0" i="1">
                                        <a:latin typeface="Cambria Math" panose="02040503050406030204" pitchFamily="18" charset="0"/>
                                      </a:rPr>
                                      <m:t>𝑖</m:t>
                                    </m:r>
                                  </m:e>
                                  <m:sub>
                                    <m:r>
                                      <a:rPr lang="en-US" b="0" i="1">
                                        <a:latin typeface="Cambria Math" panose="02040503050406030204" pitchFamily="18" charset="0"/>
                                      </a:rPr>
                                      <m:t>1</m:t>
                                    </m:r>
                                  </m:sub>
                                </m:sSub>
                                <m:r>
                                  <a:rPr lang="en-US" b="0" i="1">
                                    <a:latin typeface="Cambria Math" panose="02040503050406030204" pitchFamily="18" charset="0"/>
                                  </a:rPr>
                                  <m:t>−</m:t>
                                </m:r>
                                <m:sSub>
                                  <m:sSubPr>
                                    <m:ctrlPr>
                                      <a:rPr lang="ru-RU" i="1">
                                        <a:latin typeface="Cambria Math" panose="02040503050406030204" pitchFamily="18" charset="0"/>
                                      </a:rPr>
                                    </m:ctrlPr>
                                  </m:sSubPr>
                                  <m:e>
                                    <m:r>
                                      <a:rPr lang="en-US" b="0" i="1">
                                        <a:latin typeface="Cambria Math" panose="02040503050406030204" pitchFamily="18" charset="0"/>
                                      </a:rPr>
                                      <m:t>𝑅</m:t>
                                    </m:r>
                                  </m:e>
                                  <m:sub>
                                    <m:r>
                                      <a:rPr lang="en-US" b="0" i="1">
                                        <a:latin typeface="Cambria Math" panose="02040503050406030204" pitchFamily="18" charset="0"/>
                                      </a:rPr>
                                      <m:t>3</m:t>
                                    </m:r>
                                  </m:sub>
                                </m:sSub>
                                <m:sSub>
                                  <m:sSubPr>
                                    <m:ctrlPr>
                                      <a:rPr lang="ru-RU" i="1">
                                        <a:latin typeface="Cambria Math" panose="02040503050406030204" pitchFamily="18" charset="0"/>
                                      </a:rPr>
                                    </m:ctrlPr>
                                  </m:sSubPr>
                                  <m:e>
                                    <m:r>
                                      <a:rPr lang="en-US" b="0" i="1">
                                        <a:latin typeface="Cambria Math" panose="02040503050406030204" pitchFamily="18" charset="0"/>
                                      </a:rPr>
                                      <m:t>𝑖</m:t>
                                    </m:r>
                                  </m:e>
                                  <m:sub>
                                    <m:r>
                                      <a:rPr lang="en-US" b="0" i="1">
                                        <a:latin typeface="Cambria Math" panose="02040503050406030204" pitchFamily="18" charset="0"/>
                                      </a:rPr>
                                      <m:t>2</m:t>
                                    </m:r>
                                  </m:sub>
                                </m:sSub>
                                <m:r>
                                  <a:rPr lang="en-US" b="0">
                                    <a:latin typeface="Cambria Math" panose="02040503050406030204" pitchFamily="18" charset="0"/>
                                  </a:rPr>
                                  <m:t>=</m:t>
                                </m:r>
                                <m:r>
                                  <a:rPr lang="en-US" b="0" i="1">
                                    <a:latin typeface="Cambria Math" panose="02040503050406030204" pitchFamily="18" charset="0"/>
                                  </a:rPr>
                                  <m:t>𝑉</m:t>
                                </m:r>
                              </m:e>
                            </m:mr>
                            <m:mr>
                              <m:e>
                                <m:r>
                                  <a:rPr lang="en-US" b="0" i="1">
                                    <a:latin typeface="Cambria Math" panose="02040503050406030204" pitchFamily="18" charset="0"/>
                                  </a:rPr>
                                  <m:t>−</m:t>
                                </m:r>
                                <m:sSub>
                                  <m:sSubPr>
                                    <m:ctrlPr>
                                      <a:rPr lang="ru-RU" i="1">
                                        <a:latin typeface="Cambria Math" panose="02040503050406030204" pitchFamily="18" charset="0"/>
                                      </a:rPr>
                                    </m:ctrlPr>
                                  </m:sSubPr>
                                  <m:e>
                                    <m:r>
                                      <a:rPr lang="en-US" b="0" i="1">
                                        <a:latin typeface="Cambria Math" panose="02040503050406030204" pitchFamily="18" charset="0"/>
                                      </a:rPr>
                                      <m:t>𝑅</m:t>
                                    </m:r>
                                  </m:e>
                                  <m:sub>
                                    <m:r>
                                      <a:rPr lang="en-US" b="0" i="1">
                                        <a:latin typeface="Cambria Math" panose="02040503050406030204" pitchFamily="18" charset="0"/>
                                      </a:rPr>
                                      <m:t>3</m:t>
                                    </m:r>
                                  </m:sub>
                                </m:sSub>
                                <m:sSub>
                                  <m:sSubPr>
                                    <m:ctrlPr>
                                      <a:rPr lang="ru-RU" i="1">
                                        <a:latin typeface="Cambria Math" panose="02040503050406030204" pitchFamily="18" charset="0"/>
                                      </a:rPr>
                                    </m:ctrlPr>
                                  </m:sSubPr>
                                  <m:e>
                                    <m:r>
                                      <a:rPr lang="en-US" b="0" i="1">
                                        <a:latin typeface="Cambria Math" panose="02040503050406030204" pitchFamily="18" charset="0"/>
                                      </a:rPr>
                                      <m:t>𝑖</m:t>
                                    </m:r>
                                  </m:e>
                                  <m:sub>
                                    <m:r>
                                      <a:rPr lang="en-US" b="0" i="1">
                                        <a:latin typeface="Cambria Math" panose="02040503050406030204" pitchFamily="18" charset="0"/>
                                      </a:rPr>
                                      <m:t>1</m:t>
                                    </m:r>
                                  </m:sub>
                                </m:sSub>
                                <m:r>
                                  <a:rPr lang="en-US" b="0">
                                    <a:latin typeface="Cambria Math" panose="02040503050406030204" pitchFamily="18" charset="0"/>
                                  </a:rPr>
                                  <m:t>+(</m:t>
                                </m:r>
                                <m:sSub>
                                  <m:sSubPr>
                                    <m:ctrlPr>
                                      <a:rPr lang="ru-RU" i="1">
                                        <a:latin typeface="Cambria Math" panose="02040503050406030204" pitchFamily="18" charset="0"/>
                                      </a:rPr>
                                    </m:ctrlPr>
                                  </m:sSubPr>
                                  <m:e>
                                    <m:r>
                                      <a:rPr lang="en-US" b="0" i="1">
                                        <a:latin typeface="Cambria Math" panose="02040503050406030204" pitchFamily="18" charset="0"/>
                                      </a:rPr>
                                      <m:t>𝑅</m:t>
                                    </m:r>
                                  </m:e>
                                  <m:sub>
                                    <m:r>
                                      <a:rPr lang="en-US" b="0" i="1">
                                        <a:latin typeface="Cambria Math" panose="02040503050406030204" pitchFamily="18" charset="0"/>
                                      </a:rPr>
                                      <m:t>2</m:t>
                                    </m:r>
                                  </m:sub>
                                </m:sSub>
                                <m:r>
                                  <a:rPr lang="en-US" b="0">
                                    <a:latin typeface="Cambria Math" panose="02040503050406030204" pitchFamily="18" charset="0"/>
                                  </a:rPr>
                                  <m:t>+</m:t>
                                </m:r>
                                <m:sSub>
                                  <m:sSubPr>
                                    <m:ctrlPr>
                                      <a:rPr lang="ru-RU" i="1">
                                        <a:latin typeface="Cambria Math" panose="02040503050406030204" pitchFamily="18" charset="0"/>
                                      </a:rPr>
                                    </m:ctrlPr>
                                  </m:sSubPr>
                                  <m:e>
                                    <m:r>
                                      <a:rPr lang="en-US" b="0" i="1">
                                        <a:latin typeface="Cambria Math" panose="02040503050406030204" pitchFamily="18" charset="0"/>
                                      </a:rPr>
                                      <m:t>𝑅</m:t>
                                    </m:r>
                                  </m:e>
                                  <m:sub>
                                    <m:r>
                                      <a:rPr lang="en-US" b="0" i="1">
                                        <a:latin typeface="Cambria Math" panose="02040503050406030204" pitchFamily="18" charset="0"/>
                                      </a:rPr>
                                      <m:t>3</m:t>
                                    </m:r>
                                  </m:sub>
                                </m:sSub>
                                <m:r>
                                  <a:rPr lang="en-US" b="0">
                                    <a:latin typeface="Cambria Math" panose="02040503050406030204" pitchFamily="18" charset="0"/>
                                  </a:rPr>
                                  <m:t>)</m:t>
                                </m:r>
                                <m:sSub>
                                  <m:sSubPr>
                                    <m:ctrlPr>
                                      <a:rPr lang="ru-RU" i="1">
                                        <a:latin typeface="Cambria Math" panose="02040503050406030204" pitchFamily="18" charset="0"/>
                                      </a:rPr>
                                    </m:ctrlPr>
                                  </m:sSubPr>
                                  <m:e>
                                    <m:r>
                                      <a:rPr lang="en-US" b="0" i="1">
                                        <a:latin typeface="Cambria Math" panose="02040503050406030204" pitchFamily="18" charset="0"/>
                                      </a:rPr>
                                      <m:t>𝑖</m:t>
                                    </m:r>
                                  </m:e>
                                  <m:sub>
                                    <m:r>
                                      <a:rPr lang="en-US" b="0" i="1">
                                        <a:latin typeface="Cambria Math" panose="02040503050406030204" pitchFamily="18" charset="0"/>
                                      </a:rPr>
                                      <m:t>2</m:t>
                                    </m:r>
                                  </m:sub>
                                </m:sSub>
                                <m:r>
                                  <a:rPr lang="en-US" b="0">
                                    <a:latin typeface="Cambria Math" panose="02040503050406030204" pitchFamily="18" charset="0"/>
                                  </a:rPr>
                                  <m:t>=</m:t>
                                </m:r>
                                <m:r>
                                  <a:rPr lang="en-US" b="0" i="1">
                                    <a:latin typeface="Cambria Math" panose="02040503050406030204" pitchFamily="18" charset="0"/>
                                  </a:rPr>
                                  <m:t>0</m:t>
                                </m:r>
                              </m:e>
                            </m:mr>
                          </m:m>
                        </m:e>
                      </m:d>
                    </m:oMath>
                  </m:oMathPara>
                </a14:m>
                <a:endParaRPr lang="en-US" dirty="0">
                  <a:effectLst/>
                  <a:latin typeface="Arial" panose="020B0604020202020204" pitchFamily="34" charset="0"/>
                  <a:ea typeface="Aptos" panose="020B0004020202020204" pitchFamily="34" charset="0"/>
                  <a:cs typeface="Arial" panose="020B0604020202020204" pitchFamily="34" charset="0"/>
                </a:endParaRPr>
              </a:p>
              <a:p>
                <a:r>
                  <a:rPr lang="en-US" dirty="0">
                    <a:effectLst/>
                    <a:latin typeface="Arial" panose="020B0604020202020204" pitchFamily="34" charset="0"/>
                    <a:ea typeface="Aptos" panose="020B0004020202020204" pitchFamily="34" charset="0"/>
                    <a:cs typeface="Arial" panose="020B0604020202020204" pitchFamily="34" charset="0"/>
                  </a:rPr>
                  <a:t>Substituting the values </a:t>
                </a:r>
                <a:r>
                  <a:rPr lang="en-US" dirty="0">
                    <a:latin typeface="Arial" panose="020B0604020202020204" pitchFamily="34" charset="0"/>
                    <a:cs typeface="Arial" panose="020B0604020202020204" pitchFamily="34" charset="0"/>
                  </a:rPr>
                  <a:t>(</a:t>
                </a:r>
                <a14:m>
                  <m:oMath xmlns:m="http://schemas.openxmlformats.org/officeDocument/2006/math">
                    <m:sSub>
                      <m:sSubPr>
                        <m:ctrlPr>
                          <a:rPr lang="ru-RU" i="1">
                            <a:latin typeface="Cambria Math" panose="02040503050406030204" pitchFamily="18" charset="0"/>
                          </a:rPr>
                        </m:ctrlPr>
                      </m:sSubPr>
                      <m:e>
                        <m:r>
                          <a:rPr lang="en-US" b="0" i="1">
                            <a:latin typeface="Cambria Math" panose="02040503050406030204" pitchFamily="18" charset="0"/>
                          </a:rPr>
                          <m:t>𝑅</m:t>
                        </m:r>
                      </m:e>
                      <m:sub>
                        <m:r>
                          <a:rPr lang="en-US" b="0" i="1">
                            <a:latin typeface="Cambria Math" panose="02040503050406030204" pitchFamily="18" charset="0"/>
                          </a:rPr>
                          <m:t>1</m:t>
                        </m:r>
                      </m:sub>
                    </m:sSub>
                    <m:r>
                      <a:rPr lang="en-US" b="0">
                        <a:latin typeface="Cambria Math" panose="02040503050406030204" pitchFamily="18" charset="0"/>
                      </a:rPr>
                      <m:t>=</m:t>
                    </m:r>
                    <m:r>
                      <a:rPr lang="en-US" b="0" i="1">
                        <a:latin typeface="Cambria Math" panose="02040503050406030204" pitchFamily="18" charset="0"/>
                      </a:rPr>
                      <m:t>10</m:t>
                    </m:r>
                    <m:r>
                      <a:rPr lang="en-US" b="0">
                        <a:latin typeface="Cambria Math" panose="02040503050406030204" pitchFamily="18" charset="0"/>
                      </a:rPr>
                      <m:t>,</m:t>
                    </m:r>
                    <m:sSub>
                      <m:sSubPr>
                        <m:ctrlPr>
                          <a:rPr lang="ru-RU" i="1">
                            <a:latin typeface="Cambria Math" panose="02040503050406030204" pitchFamily="18" charset="0"/>
                          </a:rPr>
                        </m:ctrlPr>
                      </m:sSubPr>
                      <m:e>
                        <m:r>
                          <a:rPr lang="en-US" b="0" i="1">
                            <a:latin typeface="Cambria Math" panose="02040503050406030204" pitchFamily="18" charset="0"/>
                          </a:rPr>
                          <m:t>𝑅</m:t>
                        </m:r>
                      </m:e>
                      <m:sub>
                        <m:r>
                          <a:rPr lang="en-US" b="0" i="1">
                            <a:latin typeface="Cambria Math" panose="02040503050406030204" pitchFamily="18" charset="0"/>
                          </a:rPr>
                          <m:t>2</m:t>
                        </m:r>
                      </m:sub>
                    </m:sSub>
                    <m:r>
                      <a:rPr lang="en-US" b="0">
                        <a:latin typeface="Cambria Math" panose="02040503050406030204" pitchFamily="18" charset="0"/>
                      </a:rPr>
                      <m:t>=</m:t>
                    </m:r>
                    <m:r>
                      <a:rPr lang="en-US" b="0" i="1">
                        <a:latin typeface="Cambria Math" panose="02040503050406030204" pitchFamily="18" charset="0"/>
                      </a:rPr>
                      <m:t>30</m:t>
                    </m:r>
                    <m:r>
                      <a:rPr lang="en-US" b="0">
                        <a:latin typeface="Cambria Math" panose="02040503050406030204" pitchFamily="18" charset="0"/>
                      </a:rPr>
                      <m:t>,</m:t>
                    </m:r>
                    <m:sSub>
                      <m:sSubPr>
                        <m:ctrlPr>
                          <a:rPr lang="ru-RU" i="1">
                            <a:latin typeface="Cambria Math" panose="02040503050406030204" pitchFamily="18" charset="0"/>
                          </a:rPr>
                        </m:ctrlPr>
                      </m:sSubPr>
                      <m:e>
                        <m:r>
                          <a:rPr lang="en-US" b="0" i="1">
                            <a:latin typeface="Cambria Math" panose="02040503050406030204" pitchFamily="18" charset="0"/>
                          </a:rPr>
                          <m:t>𝑅</m:t>
                        </m:r>
                      </m:e>
                      <m:sub>
                        <m:r>
                          <a:rPr lang="en-US" b="0" i="1">
                            <a:latin typeface="Cambria Math" panose="02040503050406030204" pitchFamily="18" charset="0"/>
                          </a:rPr>
                          <m:t>3</m:t>
                        </m:r>
                      </m:sub>
                    </m:sSub>
                    <m:r>
                      <a:rPr lang="en-US" b="0">
                        <a:latin typeface="Cambria Math" panose="02040503050406030204" pitchFamily="18" charset="0"/>
                      </a:rPr>
                      <m:t>=</m:t>
                    </m:r>
                    <m:r>
                      <a:rPr lang="en-US" b="0" i="1">
                        <a:latin typeface="Cambria Math" panose="02040503050406030204" pitchFamily="18" charset="0"/>
                      </a:rPr>
                      <m:t>100</m:t>
                    </m:r>
                    <m:r>
                      <a:rPr lang="en-US" b="0">
                        <a:latin typeface="Cambria Math" panose="02040503050406030204" pitchFamily="18" charset="0"/>
                      </a:rPr>
                      <m:t>,</m:t>
                    </m:r>
                    <m:r>
                      <a:rPr lang="en-US" b="0" i="1">
                        <a:latin typeface="Cambria Math" panose="02040503050406030204" pitchFamily="18" charset="0"/>
                      </a:rPr>
                      <m:t>𝑉</m:t>
                    </m:r>
                    <m:r>
                      <a:rPr lang="en-US" b="0">
                        <a:latin typeface="Cambria Math" panose="02040503050406030204" pitchFamily="18" charset="0"/>
                      </a:rPr>
                      <m:t>=</m:t>
                    </m:r>
                    <m:r>
                      <a:rPr lang="en-US" b="0" i="1">
                        <a:latin typeface="Cambria Math" panose="02040503050406030204" pitchFamily="18" charset="0"/>
                      </a:rPr>
                      <m:t>9</m:t>
                    </m:r>
                  </m:oMath>
                </a14:m>
                <a:r>
                  <a:rPr lang="en-US" dirty="0">
                    <a:latin typeface="Arial" panose="020B0604020202020204" pitchFamily="34" charset="0"/>
                    <a:cs typeface="Arial" panose="020B0604020202020204" pitchFamily="34" charset="0"/>
                  </a:rPr>
                  <a:t>):</a:t>
                </a:r>
                <a:endParaRPr lang="ru-RU" dirty="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d>
                        <m:dPr>
                          <m:begChr m:val="{"/>
                          <m:endChr m:val=""/>
                          <m:ctrlPr>
                            <a:rPr lang="ru-RU" i="1">
                              <a:latin typeface="Cambria Math" panose="02040503050406030204" pitchFamily="18" charset="0"/>
                            </a:rPr>
                          </m:ctrlPr>
                        </m:dPr>
                        <m:e>
                          <m:m>
                            <m:mPr>
                              <m:plcHide m:val="on"/>
                              <m:mcs>
                                <m:mc>
                                  <m:mcPr>
                                    <m:count m:val="1"/>
                                    <m:mcJc m:val="center"/>
                                  </m:mcPr>
                                </m:mc>
                              </m:mcs>
                              <m:ctrlPr>
                                <a:rPr lang="ru-RU" i="1">
                                  <a:latin typeface="Cambria Math" panose="02040503050406030204" pitchFamily="18" charset="0"/>
                                </a:rPr>
                              </m:ctrlPr>
                            </m:mPr>
                            <m:mr>
                              <m:e>
                                <m:r>
                                  <a:rPr lang="en-US" b="0" i="1">
                                    <a:latin typeface="Cambria Math" panose="02040503050406030204" pitchFamily="18" charset="0"/>
                                  </a:rPr>
                                  <m:t>110</m:t>
                                </m:r>
                                <m:sSub>
                                  <m:sSubPr>
                                    <m:ctrlPr>
                                      <a:rPr lang="ru-RU" i="1">
                                        <a:latin typeface="Cambria Math" panose="02040503050406030204" pitchFamily="18" charset="0"/>
                                      </a:rPr>
                                    </m:ctrlPr>
                                  </m:sSubPr>
                                  <m:e>
                                    <m:r>
                                      <a:rPr lang="en-US" b="0" i="1">
                                        <a:latin typeface="Cambria Math" panose="02040503050406030204" pitchFamily="18" charset="0"/>
                                      </a:rPr>
                                      <m:t>𝑖</m:t>
                                    </m:r>
                                  </m:e>
                                  <m:sub>
                                    <m:r>
                                      <a:rPr lang="en-US" b="0" i="1">
                                        <a:latin typeface="Cambria Math" panose="02040503050406030204" pitchFamily="18" charset="0"/>
                                      </a:rPr>
                                      <m:t>1</m:t>
                                    </m:r>
                                  </m:sub>
                                </m:sSub>
                                <m:r>
                                  <a:rPr lang="en-US" b="0" i="1">
                                    <a:latin typeface="Cambria Math" panose="02040503050406030204" pitchFamily="18" charset="0"/>
                                  </a:rPr>
                                  <m:t>−100</m:t>
                                </m:r>
                                <m:sSub>
                                  <m:sSubPr>
                                    <m:ctrlPr>
                                      <a:rPr lang="ru-RU" i="1">
                                        <a:latin typeface="Cambria Math" panose="02040503050406030204" pitchFamily="18" charset="0"/>
                                      </a:rPr>
                                    </m:ctrlPr>
                                  </m:sSubPr>
                                  <m:e>
                                    <m:r>
                                      <a:rPr lang="en-US" b="0" i="1">
                                        <a:latin typeface="Cambria Math" panose="02040503050406030204" pitchFamily="18" charset="0"/>
                                      </a:rPr>
                                      <m:t>𝑖</m:t>
                                    </m:r>
                                  </m:e>
                                  <m:sub>
                                    <m:r>
                                      <a:rPr lang="en-US" b="0" i="1">
                                        <a:latin typeface="Cambria Math" panose="02040503050406030204" pitchFamily="18" charset="0"/>
                                      </a:rPr>
                                      <m:t>2</m:t>
                                    </m:r>
                                  </m:sub>
                                </m:sSub>
                                <m:r>
                                  <a:rPr lang="en-US" b="0">
                                    <a:latin typeface="Cambria Math" panose="02040503050406030204" pitchFamily="18" charset="0"/>
                                  </a:rPr>
                                  <m:t>=</m:t>
                                </m:r>
                                <m:r>
                                  <a:rPr lang="en-US" b="0" i="1">
                                    <a:latin typeface="Cambria Math" panose="02040503050406030204" pitchFamily="18" charset="0"/>
                                  </a:rPr>
                                  <m:t>9 </m:t>
                                </m:r>
                                <m:r>
                                  <a:rPr lang="en-US" b="0">
                                    <a:latin typeface="Cambria Math" panose="02040503050406030204" pitchFamily="18" charset="0"/>
                                  </a:rPr>
                                  <m:t>(</m:t>
                                </m:r>
                                <m:sSup>
                                  <m:sSupPr>
                                    <m:ctrlPr>
                                      <a:rPr lang="ru-RU" i="1">
                                        <a:latin typeface="Cambria Math" panose="02040503050406030204" pitchFamily="18" charset="0"/>
                                      </a:rPr>
                                    </m:ctrlPr>
                                  </m:sSupPr>
                                  <m:e>
                                    <m:r>
                                      <a:rPr lang="en-US" b="0" i="1">
                                        <a:latin typeface="Cambria Math" panose="02040503050406030204" pitchFamily="18" charset="0"/>
                                      </a:rPr>
                                      <m:t>4</m:t>
                                    </m:r>
                                  </m:e>
                                  <m:sup>
                                    <m:r>
                                      <a:rPr lang="en-US" b="0" i="1">
                                        <a:latin typeface="Cambria Math" panose="02040503050406030204" pitchFamily="18" charset="0"/>
                                      </a:rPr>
                                      <m:t>′</m:t>
                                    </m:r>
                                  </m:sup>
                                </m:sSup>
                                <m:r>
                                  <a:rPr lang="en-US" b="0">
                                    <a:latin typeface="Cambria Math" panose="02040503050406030204" pitchFamily="18" charset="0"/>
                                  </a:rPr>
                                  <m:t>)</m:t>
                                </m:r>
                              </m:e>
                            </m:mr>
                            <m:mr>
                              <m:e>
                                <m:r>
                                  <a:rPr lang="en-US" b="0" i="1">
                                    <a:latin typeface="Cambria Math" panose="02040503050406030204" pitchFamily="18" charset="0"/>
                                  </a:rPr>
                                  <m:t>−100</m:t>
                                </m:r>
                                <m:sSub>
                                  <m:sSubPr>
                                    <m:ctrlPr>
                                      <a:rPr lang="ru-RU" i="1">
                                        <a:latin typeface="Cambria Math" panose="02040503050406030204" pitchFamily="18" charset="0"/>
                                      </a:rPr>
                                    </m:ctrlPr>
                                  </m:sSubPr>
                                  <m:e>
                                    <m:r>
                                      <a:rPr lang="en-US" b="0" i="1">
                                        <a:latin typeface="Cambria Math" panose="02040503050406030204" pitchFamily="18" charset="0"/>
                                      </a:rPr>
                                      <m:t>𝑖</m:t>
                                    </m:r>
                                  </m:e>
                                  <m:sub>
                                    <m:r>
                                      <a:rPr lang="en-US" b="0" i="1">
                                        <a:latin typeface="Cambria Math" panose="02040503050406030204" pitchFamily="18" charset="0"/>
                                      </a:rPr>
                                      <m:t>1</m:t>
                                    </m:r>
                                  </m:sub>
                                </m:sSub>
                                <m:r>
                                  <a:rPr lang="en-US" b="0">
                                    <a:latin typeface="Cambria Math" panose="02040503050406030204" pitchFamily="18" charset="0"/>
                                  </a:rPr>
                                  <m:t>+</m:t>
                                </m:r>
                                <m:r>
                                  <a:rPr lang="en-US" b="0" i="1">
                                    <a:latin typeface="Cambria Math" panose="02040503050406030204" pitchFamily="18" charset="0"/>
                                  </a:rPr>
                                  <m:t>130</m:t>
                                </m:r>
                                <m:sSub>
                                  <m:sSubPr>
                                    <m:ctrlPr>
                                      <a:rPr lang="ru-RU" i="1">
                                        <a:latin typeface="Cambria Math" panose="02040503050406030204" pitchFamily="18" charset="0"/>
                                      </a:rPr>
                                    </m:ctrlPr>
                                  </m:sSubPr>
                                  <m:e>
                                    <m:r>
                                      <a:rPr lang="en-US" b="0" i="1">
                                        <a:latin typeface="Cambria Math" panose="02040503050406030204" pitchFamily="18" charset="0"/>
                                      </a:rPr>
                                      <m:t>𝑖</m:t>
                                    </m:r>
                                  </m:e>
                                  <m:sub>
                                    <m:r>
                                      <a:rPr lang="en-US" b="0" i="1">
                                        <a:latin typeface="Cambria Math" panose="02040503050406030204" pitchFamily="18" charset="0"/>
                                      </a:rPr>
                                      <m:t>2</m:t>
                                    </m:r>
                                  </m:sub>
                                </m:sSub>
                                <m:r>
                                  <a:rPr lang="en-US" b="0">
                                    <a:latin typeface="Cambria Math" panose="02040503050406030204" pitchFamily="18" charset="0"/>
                                  </a:rPr>
                                  <m:t>=</m:t>
                                </m:r>
                                <m:r>
                                  <a:rPr lang="en-US" b="0" i="1">
                                    <a:latin typeface="Cambria Math" panose="02040503050406030204" pitchFamily="18" charset="0"/>
                                  </a:rPr>
                                  <m:t>0 </m:t>
                                </m:r>
                                <m:r>
                                  <a:rPr lang="en-US" b="0">
                                    <a:latin typeface="Cambria Math" panose="02040503050406030204" pitchFamily="18" charset="0"/>
                                  </a:rPr>
                                  <m:t>(</m:t>
                                </m:r>
                                <m:sSup>
                                  <m:sSupPr>
                                    <m:ctrlPr>
                                      <a:rPr lang="ru-RU" i="1">
                                        <a:latin typeface="Cambria Math" panose="02040503050406030204" pitchFamily="18" charset="0"/>
                                      </a:rPr>
                                    </m:ctrlPr>
                                  </m:sSupPr>
                                  <m:e>
                                    <m:r>
                                      <a:rPr lang="en-US" b="0" i="1">
                                        <a:latin typeface="Cambria Math" panose="02040503050406030204" pitchFamily="18" charset="0"/>
                                      </a:rPr>
                                      <m:t>5</m:t>
                                    </m:r>
                                  </m:e>
                                  <m:sup>
                                    <m:r>
                                      <a:rPr lang="en-US" b="0" i="1">
                                        <a:latin typeface="Cambria Math" panose="02040503050406030204" pitchFamily="18" charset="0"/>
                                      </a:rPr>
                                      <m:t>′</m:t>
                                    </m:r>
                                  </m:sup>
                                </m:sSup>
                                <m:r>
                                  <a:rPr lang="en-US" b="0">
                                    <a:latin typeface="Cambria Math" panose="02040503050406030204" pitchFamily="18" charset="0"/>
                                  </a:rPr>
                                  <m:t>)</m:t>
                                </m:r>
                              </m:e>
                            </m:mr>
                          </m:m>
                        </m:e>
                      </m:d>
                    </m:oMath>
                  </m:oMathPara>
                </a14:m>
                <a:endParaRPr lang="en-US" dirty="0">
                  <a:latin typeface="Arial" panose="020B0604020202020204" pitchFamily="34" charset="0"/>
                  <a:cs typeface="Arial" panose="020B0604020202020204" pitchFamily="34" charset="0"/>
                </a:endParaRP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From equation (5'):</a:t>
                </a:r>
                <a:endParaRPr lang="ru-RU" dirty="0">
                  <a:effectLst/>
                  <a:latin typeface="Arial" panose="020B0604020202020204" pitchFamily="34" charset="0"/>
                  <a:ea typeface="Aptos" panose="020B0004020202020204" pitchFamily="34" charset="0"/>
                  <a:cs typeface="Arial" panose="020B0604020202020204" pitchFamily="34" charset="0"/>
                </a:endParaRPr>
              </a:p>
              <a:p>
                <a:pPr algn="ctr">
                  <a:lnSpc>
                    <a:spcPct val="120000"/>
                  </a:lnSpc>
                </a:pPr>
                <a14:m>
                  <m:oMath xmlns:m="http://schemas.openxmlformats.org/officeDocument/2006/math">
                    <m:r>
                      <a:rPr lang="en-US" b="0" i="1">
                        <a:effectLst/>
                        <a:latin typeface="Cambria Math" panose="02040503050406030204" pitchFamily="18" charset="0"/>
                        <a:ea typeface="Aptos" panose="020B0004020202020204" pitchFamily="34" charset="0"/>
                      </a:rPr>
                      <m:t>100</m:t>
                    </m:r>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𝑖</m:t>
                        </m:r>
                      </m:e>
                      <m:sub>
                        <m:r>
                          <a:rPr lang="en-US" b="0" i="1">
                            <a:effectLst/>
                            <a:latin typeface="Cambria Math" panose="02040503050406030204" pitchFamily="18" charset="0"/>
                            <a:ea typeface="Aptos" panose="020B0004020202020204" pitchFamily="34" charset="0"/>
                          </a:rPr>
                          <m:t>1</m:t>
                        </m:r>
                      </m:sub>
                    </m:sSub>
                    <m:r>
                      <a:rPr lang="en-US" b="0">
                        <a:effectLst/>
                        <a:latin typeface="Cambria Math" panose="02040503050406030204" pitchFamily="18" charset="0"/>
                        <a:ea typeface="Aptos" panose="020B0004020202020204" pitchFamily="34" charset="0"/>
                      </a:rPr>
                      <m:t>=</m:t>
                    </m:r>
                    <m:r>
                      <a:rPr lang="en-US" b="0" i="1">
                        <a:effectLst/>
                        <a:latin typeface="Cambria Math" panose="02040503050406030204" pitchFamily="18" charset="0"/>
                        <a:ea typeface="Aptos" panose="020B0004020202020204" pitchFamily="34" charset="0"/>
                      </a:rPr>
                      <m:t>130</m:t>
                    </m:r>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𝑖</m:t>
                        </m:r>
                      </m:e>
                      <m:sub>
                        <m:r>
                          <a:rPr lang="en-US" b="0" i="1">
                            <a:effectLst/>
                            <a:latin typeface="Cambria Math" panose="02040503050406030204" pitchFamily="18" charset="0"/>
                            <a:ea typeface="Aptos" panose="020B0004020202020204" pitchFamily="34" charset="0"/>
                          </a:rPr>
                          <m:t>2</m:t>
                        </m:r>
                      </m:sub>
                    </m:sSub>
                    <m:r>
                      <a:rPr lang="en-US" b="0">
                        <a:effectLst/>
                        <a:latin typeface="Cambria Math" panose="02040503050406030204" pitchFamily="18" charset="0"/>
                        <a:ea typeface="Aptos" panose="020B0004020202020204" pitchFamily="34" charset="0"/>
                      </a:rPr>
                      <m:t> ⇒ </m:t>
                    </m:r>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𝑖</m:t>
                        </m:r>
                      </m:e>
                      <m:sub>
                        <m:r>
                          <a:rPr lang="en-US" b="0" i="1">
                            <a:effectLst/>
                            <a:latin typeface="Cambria Math" panose="02040503050406030204" pitchFamily="18" charset="0"/>
                            <a:ea typeface="Aptos" panose="020B0004020202020204" pitchFamily="34" charset="0"/>
                          </a:rPr>
                          <m:t>1</m:t>
                        </m:r>
                      </m:sub>
                    </m:sSub>
                    <m:r>
                      <a:rPr lang="en-US" b="0">
                        <a:effectLst/>
                        <a:latin typeface="Cambria Math" panose="02040503050406030204" pitchFamily="18" charset="0"/>
                        <a:ea typeface="Aptos" panose="020B0004020202020204" pitchFamily="34" charset="0"/>
                      </a:rPr>
                      <m:t>=</m:t>
                    </m:r>
                    <m:r>
                      <a:rPr lang="en-US" b="0" i="1">
                        <a:effectLst/>
                        <a:latin typeface="Cambria Math" panose="02040503050406030204" pitchFamily="18" charset="0"/>
                        <a:ea typeface="Aptos" panose="020B0004020202020204" pitchFamily="34" charset="0"/>
                      </a:rPr>
                      <m:t>1</m:t>
                    </m:r>
                    <m:r>
                      <a:rPr lang="en-US" b="0">
                        <a:effectLst/>
                        <a:latin typeface="Cambria Math" panose="02040503050406030204" pitchFamily="18" charset="0"/>
                        <a:ea typeface="Aptos" panose="020B0004020202020204" pitchFamily="34" charset="0"/>
                      </a:rPr>
                      <m:t>.</m:t>
                    </m:r>
                    <m:r>
                      <a:rPr lang="en-US" b="0" i="1">
                        <a:effectLst/>
                        <a:latin typeface="Cambria Math" panose="02040503050406030204" pitchFamily="18" charset="0"/>
                        <a:ea typeface="Aptos" panose="020B0004020202020204" pitchFamily="34" charset="0"/>
                      </a:rPr>
                      <m:t>3</m:t>
                    </m:r>
                    <m:sSub>
                      <m:sSubPr>
                        <m:ctrlPr>
                          <a:rPr lang="ru-RU" i="1">
                            <a:effectLst/>
                            <a:latin typeface="Cambria Math" panose="02040503050406030204" pitchFamily="18" charset="0"/>
                            <a:ea typeface="Aptos" panose="020B0004020202020204" pitchFamily="34" charset="0"/>
                          </a:rPr>
                        </m:ctrlPr>
                      </m:sSubPr>
                      <m:e>
                        <m:r>
                          <a:rPr lang="en-US" b="0" i="1">
                            <a:effectLst/>
                            <a:latin typeface="Cambria Math" panose="02040503050406030204" pitchFamily="18" charset="0"/>
                            <a:ea typeface="Aptos" panose="020B0004020202020204" pitchFamily="34" charset="0"/>
                          </a:rPr>
                          <m:t>𝑖</m:t>
                        </m:r>
                      </m:e>
                      <m:sub>
                        <m:r>
                          <a:rPr lang="en-US" b="0" i="1">
                            <a:effectLst/>
                            <a:latin typeface="Cambria Math" panose="02040503050406030204" pitchFamily="18" charset="0"/>
                            <a:ea typeface="Aptos" panose="020B0004020202020204" pitchFamily="34" charset="0"/>
                          </a:rPr>
                          <m:t>2</m:t>
                        </m:r>
                      </m:sub>
                    </m:sSub>
                  </m:oMath>
                </a14:m>
                <a:endParaRPr lang="ru-RU" dirty="0">
                  <a:effectLst/>
                  <a:latin typeface="Arial" panose="020B0604020202020204" pitchFamily="34" charset="0"/>
                  <a:ea typeface="Aptos" panose="020B0004020202020204" pitchFamily="34" charset="0"/>
                  <a:cs typeface="Arial" panose="020B0604020202020204" pitchFamily="34" charset="0"/>
                </a:endParaRPr>
              </a:p>
              <a:p>
                <a:pPr marL="0" indent="0">
                  <a:buNone/>
                </a:pPr>
                <a:endParaRPr lang="ru-RU" b="1" dirty="0">
                  <a:latin typeface="Arial" panose="020B06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38B32713-8DC8-A19D-A317-628052EECCD1}"/>
                  </a:ext>
                </a:extLst>
              </p:cNvPr>
              <p:cNvSpPr>
                <a:spLocks noGrp="1" noRot="1" noChangeAspect="1" noMove="1" noResize="1" noEditPoints="1" noAdjustHandles="1" noChangeArrowheads="1" noChangeShapeType="1" noTextEdit="1"/>
              </p:cNvSpPr>
              <p:nvPr>
                <p:ph idx="1"/>
              </p:nvPr>
            </p:nvSpPr>
            <p:spPr>
              <a:blipFill>
                <a:blip r:embed="rId2"/>
                <a:stretch>
                  <a:fillRect l="-1043" t="-560"/>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F8F2FB78-6911-EFBE-05E4-DBC60EA7959E}"/>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F55D4062-4DE2-6E96-2398-0F2E51B36E6C}"/>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CCCBA4C3-1DEE-54E2-8DDB-A525D4E6742C}"/>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FB15A10B-F40D-B449-2EB9-82EB40CC585B}"/>
              </a:ext>
            </a:extLst>
          </p:cNvPr>
          <p:cNvSpPr>
            <a:spLocks noGrp="1"/>
          </p:cNvSpPr>
          <p:nvPr>
            <p:ph type="sldNum" sz="quarter" idx="12"/>
          </p:nvPr>
        </p:nvSpPr>
        <p:spPr/>
        <p:txBody>
          <a:bodyPr/>
          <a:lstStyle/>
          <a:p>
            <a:fld id="{D8214FA6-4742-421D-8B19-2C99196BD091}" type="slidenum">
              <a:rPr lang="ru-RU" smtClean="0"/>
              <a:t>30</a:t>
            </a:fld>
            <a:endParaRPr lang="ru-RU"/>
          </a:p>
        </p:txBody>
      </p:sp>
    </p:spTree>
    <p:extLst>
      <p:ext uri="{BB962C8B-B14F-4D97-AF65-F5344CB8AC3E}">
        <p14:creationId xmlns:p14="http://schemas.microsoft.com/office/powerpoint/2010/main" val="42359213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Autofit/>
              </a:bodyPr>
              <a:lstStyle/>
              <a:p>
                <a:r>
                  <a:rPr lang="en-US" dirty="0"/>
                  <a:t>Substitute </a:t>
                </a:r>
                <a14:m>
                  <m:oMath xmlns:m="http://schemas.openxmlformats.org/officeDocument/2006/math">
                    <m:sSub>
                      <m:sSubPr>
                        <m:ctrlPr>
                          <a:rPr lang="ru-RU" i="1">
                            <a:latin typeface="Cambria Math" panose="02040503050406030204" pitchFamily="18" charset="0"/>
                          </a:rPr>
                        </m:ctrlPr>
                      </m:sSubPr>
                      <m:e>
                        <m:r>
                          <a:rPr lang="en-US" b="0" i="1">
                            <a:latin typeface="Cambria Math" panose="02040503050406030204" pitchFamily="18" charset="0"/>
                          </a:rPr>
                          <m:t>𝑖</m:t>
                        </m:r>
                      </m:e>
                      <m:sub>
                        <m:r>
                          <a:rPr lang="en-US" b="0" i="1">
                            <a:latin typeface="Cambria Math" panose="02040503050406030204" pitchFamily="18" charset="0"/>
                          </a:rPr>
                          <m:t>1</m:t>
                        </m:r>
                      </m:sub>
                    </m:sSub>
                  </m:oMath>
                </a14:m>
                <a:r>
                  <a:rPr lang="en-US" dirty="0"/>
                  <a:t> into equation (4'):</a:t>
                </a:r>
                <a:endParaRPr lang="ru-RU" dirty="0"/>
              </a:p>
              <a:p>
                <a:pPr marL="0" indent="0">
                  <a:buNone/>
                </a:pPr>
                <a14:m>
                  <m:oMathPara xmlns:m="http://schemas.openxmlformats.org/officeDocument/2006/math">
                    <m:oMathParaPr>
                      <m:jc m:val="centerGroup"/>
                    </m:oMathParaPr>
                    <m:oMath xmlns:m="http://schemas.openxmlformats.org/officeDocument/2006/math">
                      <m:r>
                        <a:rPr lang="en-US" b="0" i="1">
                          <a:latin typeface="Cambria Math" panose="02040503050406030204" pitchFamily="18" charset="0"/>
                        </a:rPr>
                        <m:t>110</m:t>
                      </m:r>
                      <m:d>
                        <m:dPr>
                          <m:ctrlPr>
                            <a:rPr lang="en-US" i="1">
                              <a:latin typeface="Cambria Math" panose="02040503050406030204" pitchFamily="18" charset="0"/>
                            </a:rPr>
                          </m:ctrlPr>
                        </m:dPr>
                        <m:e>
                          <m:r>
                            <a:rPr lang="en-US" b="0" i="1">
                              <a:latin typeface="Cambria Math" panose="02040503050406030204" pitchFamily="18" charset="0"/>
                            </a:rPr>
                            <m:t>1</m:t>
                          </m:r>
                          <m:r>
                            <a:rPr lang="en-US" b="0">
                              <a:latin typeface="Cambria Math" panose="02040503050406030204" pitchFamily="18" charset="0"/>
                            </a:rPr>
                            <m:t>.</m:t>
                          </m:r>
                          <m:r>
                            <a:rPr lang="en-US" b="0" i="1">
                              <a:latin typeface="Cambria Math" panose="02040503050406030204" pitchFamily="18" charset="0"/>
                            </a:rPr>
                            <m:t>3</m:t>
                          </m:r>
                          <m:sSub>
                            <m:sSubPr>
                              <m:ctrlPr>
                                <a:rPr lang="ru-RU" i="1">
                                  <a:latin typeface="Cambria Math" panose="02040503050406030204" pitchFamily="18" charset="0"/>
                                </a:rPr>
                              </m:ctrlPr>
                            </m:sSubPr>
                            <m:e>
                              <m:r>
                                <a:rPr lang="en-US" b="0" i="1">
                                  <a:latin typeface="Cambria Math" panose="02040503050406030204" pitchFamily="18" charset="0"/>
                                </a:rPr>
                                <m:t>𝑖</m:t>
                              </m:r>
                            </m:e>
                            <m:sub>
                              <m:r>
                                <a:rPr lang="en-US" b="0" i="1">
                                  <a:latin typeface="Cambria Math" panose="02040503050406030204" pitchFamily="18" charset="0"/>
                                </a:rPr>
                                <m:t>2</m:t>
                              </m:r>
                            </m:sub>
                          </m:sSub>
                        </m:e>
                      </m:d>
                      <m:r>
                        <a:rPr lang="en-US" b="0" i="1">
                          <a:latin typeface="Cambria Math" panose="02040503050406030204" pitchFamily="18" charset="0"/>
                        </a:rPr>
                        <m:t>−100</m:t>
                      </m:r>
                      <m:sSub>
                        <m:sSubPr>
                          <m:ctrlPr>
                            <a:rPr lang="ru-RU" i="1">
                              <a:latin typeface="Cambria Math" panose="02040503050406030204" pitchFamily="18" charset="0"/>
                            </a:rPr>
                          </m:ctrlPr>
                        </m:sSubPr>
                        <m:e>
                          <m:r>
                            <a:rPr lang="en-US" b="0" i="1">
                              <a:latin typeface="Cambria Math" panose="02040503050406030204" pitchFamily="18" charset="0"/>
                            </a:rPr>
                            <m:t>𝑖</m:t>
                          </m:r>
                        </m:e>
                        <m:sub>
                          <m:r>
                            <a:rPr lang="en-US" b="0" i="1">
                              <a:latin typeface="Cambria Math" panose="02040503050406030204" pitchFamily="18" charset="0"/>
                            </a:rPr>
                            <m:t>2</m:t>
                          </m:r>
                        </m:sub>
                      </m:sSub>
                      <m:r>
                        <a:rPr lang="en-US" b="0">
                          <a:latin typeface="Cambria Math" panose="02040503050406030204" pitchFamily="18" charset="0"/>
                        </a:rPr>
                        <m:t>=</m:t>
                      </m:r>
                      <m:r>
                        <a:rPr lang="en-US" b="0" i="1">
                          <a:latin typeface="Cambria Math" panose="02040503050406030204" pitchFamily="18" charset="0"/>
                        </a:rPr>
                        <m:t>9</m:t>
                      </m:r>
                      <m:r>
                        <a:rPr lang="en-US" b="0" i="0" smtClean="0">
                          <a:latin typeface="Cambria Math" panose="02040503050406030204" pitchFamily="18" charset="0"/>
                        </a:rPr>
                        <m:t>,  </m:t>
                      </m:r>
                      <m:r>
                        <a:rPr lang="en-US" b="0" i="1">
                          <a:latin typeface="Cambria Math" panose="02040503050406030204" pitchFamily="18" charset="0"/>
                        </a:rPr>
                        <m:t>143</m:t>
                      </m:r>
                      <m:sSub>
                        <m:sSubPr>
                          <m:ctrlPr>
                            <a:rPr lang="ru-RU" i="1">
                              <a:latin typeface="Cambria Math" panose="02040503050406030204" pitchFamily="18" charset="0"/>
                            </a:rPr>
                          </m:ctrlPr>
                        </m:sSubPr>
                        <m:e>
                          <m:r>
                            <a:rPr lang="en-US" b="0" i="1">
                              <a:latin typeface="Cambria Math" panose="02040503050406030204" pitchFamily="18" charset="0"/>
                            </a:rPr>
                            <m:t>𝑖</m:t>
                          </m:r>
                        </m:e>
                        <m:sub>
                          <m:r>
                            <a:rPr lang="en-US" b="0" i="1">
                              <a:latin typeface="Cambria Math" panose="02040503050406030204" pitchFamily="18" charset="0"/>
                            </a:rPr>
                            <m:t>2</m:t>
                          </m:r>
                        </m:sub>
                      </m:sSub>
                      <m:r>
                        <a:rPr lang="en-US" b="0" i="1">
                          <a:latin typeface="Cambria Math" panose="02040503050406030204" pitchFamily="18" charset="0"/>
                        </a:rPr>
                        <m:t>−100</m:t>
                      </m:r>
                      <m:sSub>
                        <m:sSubPr>
                          <m:ctrlPr>
                            <a:rPr lang="ru-RU" i="1">
                              <a:latin typeface="Cambria Math" panose="02040503050406030204" pitchFamily="18" charset="0"/>
                            </a:rPr>
                          </m:ctrlPr>
                        </m:sSubPr>
                        <m:e>
                          <m:r>
                            <a:rPr lang="en-US" b="0" i="1">
                              <a:latin typeface="Cambria Math" panose="02040503050406030204" pitchFamily="18" charset="0"/>
                            </a:rPr>
                            <m:t>𝑖</m:t>
                          </m:r>
                        </m:e>
                        <m:sub>
                          <m:r>
                            <a:rPr lang="en-US" b="0" i="1">
                              <a:latin typeface="Cambria Math" panose="02040503050406030204" pitchFamily="18" charset="0"/>
                            </a:rPr>
                            <m:t>2</m:t>
                          </m:r>
                        </m:sub>
                      </m:sSub>
                      <m:r>
                        <a:rPr lang="en-US" b="0">
                          <a:latin typeface="Cambria Math" panose="02040503050406030204" pitchFamily="18" charset="0"/>
                        </a:rPr>
                        <m:t>=</m:t>
                      </m:r>
                      <m:r>
                        <a:rPr lang="en-US" b="0" i="1">
                          <a:latin typeface="Cambria Math" panose="02040503050406030204" pitchFamily="18" charset="0"/>
                        </a:rPr>
                        <m:t>9</m:t>
                      </m:r>
                    </m:oMath>
                  </m:oMathPara>
                </a14:m>
                <a:endParaRPr lang="ru-RU" dirty="0"/>
              </a:p>
              <a:p>
                <a:pPr marL="0" indent="0">
                  <a:buNone/>
                </a:pPr>
                <a14:m>
                  <m:oMathPara xmlns:m="http://schemas.openxmlformats.org/officeDocument/2006/math">
                    <m:oMathParaPr>
                      <m:jc m:val="centerGroup"/>
                    </m:oMathParaPr>
                    <m:oMath xmlns:m="http://schemas.openxmlformats.org/officeDocument/2006/math">
                      <m:r>
                        <a:rPr lang="en-US" b="0" i="1">
                          <a:latin typeface="Cambria Math" panose="02040503050406030204" pitchFamily="18" charset="0"/>
                        </a:rPr>
                        <m:t>43</m:t>
                      </m:r>
                      <m:sSub>
                        <m:sSubPr>
                          <m:ctrlPr>
                            <a:rPr lang="ru-RU" i="1">
                              <a:latin typeface="Cambria Math" panose="02040503050406030204" pitchFamily="18" charset="0"/>
                            </a:rPr>
                          </m:ctrlPr>
                        </m:sSubPr>
                        <m:e>
                          <m:r>
                            <a:rPr lang="en-US" b="0" i="1">
                              <a:latin typeface="Cambria Math" panose="02040503050406030204" pitchFamily="18" charset="0"/>
                            </a:rPr>
                            <m:t>𝑖</m:t>
                          </m:r>
                        </m:e>
                        <m:sub>
                          <m:r>
                            <a:rPr lang="en-US" b="0" i="1">
                              <a:latin typeface="Cambria Math" panose="02040503050406030204" pitchFamily="18" charset="0"/>
                            </a:rPr>
                            <m:t>2</m:t>
                          </m:r>
                        </m:sub>
                      </m:sSub>
                      <m:r>
                        <a:rPr lang="en-US" b="0">
                          <a:latin typeface="Cambria Math" panose="02040503050406030204" pitchFamily="18" charset="0"/>
                        </a:rPr>
                        <m:t>=</m:t>
                      </m:r>
                      <m:r>
                        <a:rPr lang="en-US" b="0" i="1">
                          <a:latin typeface="Cambria Math" panose="02040503050406030204" pitchFamily="18" charset="0"/>
                        </a:rPr>
                        <m:t>9</m:t>
                      </m:r>
                      <m:r>
                        <a:rPr lang="en-US" b="0" i="0" smtClean="0">
                          <a:latin typeface="Cambria Math" panose="02040503050406030204" pitchFamily="18" charset="0"/>
                        </a:rPr>
                        <m:t>,    </m:t>
                      </m:r>
                      <m:sSub>
                        <m:sSubPr>
                          <m:ctrlPr>
                            <a:rPr lang="ru-RU" i="1">
                              <a:latin typeface="Cambria Math" panose="02040503050406030204" pitchFamily="18" charset="0"/>
                            </a:rPr>
                          </m:ctrlPr>
                        </m:sSubPr>
                        <m:e>
                          <m:r>
                            <a:rPr lang="en-US" b="0" i="1">
                              <a:latin typeface="Cambria Math" panose="02040503050406030204" pitchFamily="18" charset="0"/>
                            </a:rPr>
                            <m:t>𝑖</m:t>
                          </m:r>
                        </m:e>
                        <m:sub>
                          <m:r>
                            <a:rPr lang="en-US" b="0" i="1">
                              <a:latin typeface="Cambria Math" panose="02040503050406030204" pitchFamily="18" charset="0"/>
                            </a:rPr>
                            <m:t>2</m:t>
                          </m:r>
                        </m:sub>
                      </m:sSub>
                      <m:r>
                        <a:rPr lang="en-US" b="0">
                          <a:latin typeface="Cambria Math" panose="02040503050406030204" pitchFamily="18" charset="0"/>
                        </a:rPr>
                        <m:t>=</m:t>
                      </m:r>
                      <m:f>
                        <m:fPr>
                          <m:ctrlPr>
                            <a:rPr lang="ru-RU" i="1">
                              <a:latin typeface="Cambria Math" panose="02040503050406030204" pitchFamily="18" charset="0"/>
                            </a:rPr>
                          </m:ctrlPr>
                        </m:fPr>
                        <m:num>
                          <m:r>
                            <a:rPr lang="en-US" b="0" i="1">
                              <a:latin typeface="Cambria Math" panose="02040503050406030204" pitchFamily="18" charset="0"/>
                            </a:rPr>
                            <m:t>9</m:t>
                          </m:r>
                        </m:num>
                        <m:den>
                          <m:r>
                            <a:rPr lang="en-US" b="0" i="1">
                              <a:latin typeface="Cambria Math" panose="02040503050406030204" pitchFamily="18" charset="0"/>
                            </a:rPr>
                            <m:t>43</m:t>
                          </m:r>
                        </m:den>
                      </m:f>
                    </m:oMath>
                  </m:oMathPara>
                </a14:m>
                <a:endParaRPr lang="ru-RU" dirty="0"/>
              </a:p>
              <a:p>
                <a:pPr marL="0" indent="0">
                  <a:buNone/>
                </a:pPr>
                <a14:m>
                  <m:oMathPara xmlns:m="http://schemas.openxmlformats.org/officeDocument/2006/math">
                    <m:oMathParaPr>
                      <m:jc m:val="centerGroup"/>
                    </m:oMathParaPr>
                    <m:oMath xmlns:m="http://schemas.openxmlformats.org/officeDocument/2006/math">
                      <m:sSub>
                        <m:sSubPr>
                          <m:ctrlPr>
                            <a:rPr lang="ru-RU" i="1">
                              <a:latin typeface="Cambria Math" panose="02040503050406030204" pitchFamily="18" charset="0"/>
                            </a:rPr>
                          </m:ctrlPr>
                        </m:sSubPr>
                        <m:e>
                          <m:r>
                            <a:rPr lang="en-US" b="0" i="1">
                              <a:latin typeface="Cambria Math" panose="02040503050406030204" pitchFamily="18" charset="0"/>
                            </a:rPr>
                            <m:t>𝑖</m:t>
                          </m:r>
                        </m:e>
                        <m:sub>
                          <m:r>
                            <a:rPr lang="en-US" b="0" i="1">
                              <a:latin typeface="Cambria Math" panose="02040503050406030204" pitchFamily="18" charset="0"/>
                            </a:rPr>
                            <m:t>2</m:t>
                          </m:r>
                        </m:sub>
                      </m:sSub>
                      <m:r>
                        <a:rPr lang="en-US" b="0">
                          <a:latin typeface="Cambria Math" panose="02040503050406030204" pitchFamily="18" charset="0"/>
                        </a:rPr>
                        <m:t>≈</m:t>
                      </m:r>
                      <m:r>
                        <a:rPr lang="en-US" b="0" i="1">
                          <a:latin typeface="Cambria Math" panose="02040503050406030204" pitchFamily="18" charset="0"/>
                        </a:rPr>
                        <m:t>0</m:t>
                      </m:r>
                      <m:r>
                        <a:rPr lang="en-US" b="0">
                          <a:latin typeface="Cambria Math" panose="02040503050406030204" pitchFamily="18" charset="0"/>
                        </a:rPr>
                        <m:t>.</m:t>
                      </m:r>
                      <m:r>
                        <a:rPr lang="en-US" b="0" i="1">
                          <a:latin typeface="Cambria Math" panose="02040503050406030204" pitchFamily="18" charset="0"/>
                        </a:rPr>
                        <m:t>2093</m:t>
                      </m:r>
                      <m:r>
                        <a:rPr lang="en-US" b="0">
                          <a:latin typeface="Cambria Math" panose="02040503050406030204" pitchFamily="18" charset="0"/>
                        </a:rPr>
                        <m:t> </m:t>
                      </m:r>
                      <m:r>
                        <a:rPr lang="en-US" b="0" i="1">
                          <a:latin typeface="Cambria Math" panose="02040503050406030204" pitchFamily="18" charset="0"/>
                        </a:rPr>
                        <m:t>𝐴</m:t>
                      </m:r>
                    </m:oMath>
                  </m:oMathPara>
                </a14:m>
                <a:endParaRPr lang="ru-RU" dirty="0"/>
              </a:p>
              <a:p>
                <a:r>
                  <a:rPr lang="en-US" dirty="0"/>
                  <a:t>Now find </a:t>
                </a:r>
                <a14:m>
                  <m:oMath xmlns:m="http://schemas.openxmlformats.org/officeDocument/2006/math">
                    <m:sSub>
                      <m:sSubPr>
                        <m:ctrlPr>
                          <a:rPr lang="ru-RU" i="1">
                            <a:latin typeface="Cambria Math" panose="02040503050406030204" pitchFamily="18" charset="0"/>
                          </a:rPr>
                        </m:ctrlPr>
                      </m:sSubPr>
                      <m:e>
                        <m:r>
                          <a:rPr lang="en-US" b="0" i="1">
                            <a:latin typeface="Cambria Math" panose="02040503050406030204" pitchFamily="18" charset="0"/>
                          </a:rPr>
                          <m:t>𝑖</m:t>
                        </m:r>
                      </m:e>
                      <m:sub>
                        <m:r>
                          <a:rPr lang="en-US" b="0" i="1">
                            <a:latin typeface="Cambria Math" panose="02040503050406030204" pitchFamily="18" charset="0"/>
                          </a:rPr>
                          <m:t>1</m:t>
                        </m:r>
                      </m:sub>
                    </m:sSub>
                  </m:oMath>
                </a14:m>
                <a:r>
                  <a:rPr lang="en-US" dirty="0"/>
                  <a:t>:</a:t>
                </a:r>
                <a:endParaRPr lang="ru-RU" dirty="0"/>
              </a:p>
              <a:p>
                <a:pPr marL="0" indent="0">
                  <a:buNone/>
                </a:pPr>
                <a14:m>
                  <m:oMathPara xmlns:m="http://schemas.openxmlformats.org/officeDocument/2006/math">
                    <m:oMathParaPr>
                      <m:jc m:val="centerGroup"/>
                    </m:oMathParaPr>
                    <m:oMath xmlns:m="http://schemas.openxmlformats.org/officeDocument/2006/math">
                      <m:sSub>
                        <m:sSubPr>
                          <m:ctrlPr>
                            <a:rPr lang="ru-RU" i="1">
                              <a:latin typeface="Cambria Math" panose="02040503050406030204" pitchFamily="18" charset="0"/>
                            </a:rPr>
                          </m:ctrlPr>
                        </m:sSubPr>
                        <m:e>
                          <m:r>
                            <a:rPr lang="en-US" b="0" i="1">
                              <a:latin typeface="Cambria Math" panose="02040503050406030204" pitchFamily="18" charset="0"/>
                            </a:rPr>
                            <m:t>𝑖</m:t>
                          </m:r>
                        </m:e>
                        <m:sub>
                          <m:r>
                            <a:rPr lang="en-US" b="0" i="1">
                              <a:latin typeface="Cambria Math" panose="02040503050406030204" pitchFamily="18" charset="0"/>
                            </a:rPr>
                            <m:t>1</m:t>
                          </m:r>
                        </m:sub>
                      </m:sSub>
                      <m:r>
                        <a:rPr lang="en-US" b="0">
                          <a:latin typeface="Cambria Math" panose="02040503050406030204" pitchFamily="18" charset="0"/>
                        </a:rPr>
                        <m:t>=</m:t>
                      </m:r>
                      <m:r>
                        <a:rPr lang="en-US" b="0" i="1">
                          <a:latin typeface="Cambria Math" panose="02040503050406030204" pitchFamily="18" charset="0"/>
                        </a:rPr>
                        <m:t>1</m:t>
                      </m:r>
                      <m:r>
                        <a:rPr lang="en-US" b="0">
                          <a:latin typeface="Cambria Math" panose="02040503050406030204" pitchFamily="18" charset="0"/>
                        </a:rPr>
                        <m:t>.</m:t>
                      </m:r>
                      <m:r>
                        <a:rPr lang="en-US" b="0" i="1">
                          <a:latin typeface="Cambria Math" panose="02040503050406030204" pitchFamily="18" charset="0"/>
                        </a:rPr>
                        <m:t>3</m:t>
                      </m:r>
                      <m:r>
                        <a:rPr lang="en-US" b="0">
                          <a:latin typeface="Cambria Math" panose="02040503050406030204" pitchFamily="18" charset="0"/>
                        </a:rPr>
                        <m:t>⋅</m:t>
                      </m:r>
                      <m:sSub>
                        <m:sSubPr>
                          <m:ctrlPr>
                            <a:rPr lang="ru-RU" i="1">
                              <a:latin typeface="Cambria Math" panose="02040503050406030204" pitchFamily="18" charset="0"/>
                            </a:rPr>
                          </m:ctrlPr>
                        </m:sSubPr>
                        <m:e>
                          <m:r>
                            <a:rPr lang="en-US" b="0" i="1">
                              <a:latin typeface="Cambria Math" panose="02040503050406030204" pitchFamily="18" charset="0"/>
                            </a:rPr>
                            <m:t>𝑖</m:t>
                          </m:r>
                        </m:e>
                        <m:sub>
                          <m:r>
                            <a:rPr lang="en-US" b="0" i="1">
                              <a:latin typeface="Cambria Math" panose="02040503050406030204" pitchFamily="18" charset="0"/>
                            </a:rPr>
                            <m:t>2</m:t>
                          </m:r>
                        </m:sub>
                      </m:sSub>
                      <m:r>
                        <a:rPr lang="en-US" b="0">
                          <a:latin typeface="Cambria Math" panose="02040503050406030204" pitchFamily="18" charset="0"/>
                        </a:rPr>
                        <m:t>=</m:t>
                      </m:r>
                      <m:r>
                        <a:rPr lang="en-US" b="0" i="1">
                          <a:latin typeface="Cambria Math" panose="02040503050406030204" pitchFamily="18" charset="0"/>
                        </a:rPr>
                        <m:t>1</m:t>
                      </m:r>
                      <m:r>
                        <a:rPr lang="en-US" b="0">
                          <a:latin typeface="Cambria Math" panose="02040503050406030204" pitchFamily="18" charset="0"/>
                        </a:rPr>
                        <m:t>.</m:t>
                      </m:r>
                      <m:r>
                        <a:rPr lang="en-US" b="0" i="1">
                          <a:latin typeface="Cambria Math" panose="02040503050406030204" pitchFamily="18" charset="0"/>
                        </a:rPr>
                        <m:t>3</m:t>
                      </m:r>
                      <m:r>
                        <a:rPr lang="en-US" b="0">
                          <a:latin typeface="Cambria Math" panose="02040503050406030204" pitchFamily="18" charset="0"/>
                        </a:rPr>
                        <m:t>⋅</m:t>
                      </m:r>
                      <m:f>
                        <m:fPr>
                          <m:ctrlPr>
                            <a:rPr lang="ru-RU" i="1">
                              <a:latin typeface="Cambria Math" panose="02040503050406030204" pitchFamily="18" charset="0"/>
                            </a:rPr>
                          </m:ctrlPr>
                        </m:fPr>
                        <m:num>
                          <m:r>
                            <a:rPr lang="en-US" b="0" i="1">
                              <a:latin typeface="Cambria Math" panose="02040503050406030204" pitchFamily="18" charset="0"/>
                            </a:rPr>
                            <m:t>9</m:t>
                          </m:r>
                        </m:num>
                        <m:den>
                          <m:r>
                            <a:rPr lang="en-US" b="0" i="1">
                              <a:latin typeface="Cambria Math" panose="02040503050406030204" pitchFamily="18" charset="0"/>
                            </a:rPr>
                            <m:t>43</m:t>
                          </m:r>
                        </m:den>
                      </m:f>
                      <m:r>
                        <a:rPr lang="en-US" b="0">
                          <a:latin typeface="Cambria Math" panose="02040503050406030204" pitchFamily="18" charset="0"/>
                        </a:rPr>
                        <m:t>=</m:t>
                      </m:r>
                      <m:f>
                        <m:fPr>
                          <m:ctrlPr>
                            <a:rPr lang="ru-RU" i="1">
                              <a:latin typeface="Cambria Math" panose="02040503050406030204" pitchFamily="18" charset="0"/>
                            </a:rPr>
                          </m:ctrlPr>
                        </m:fPr>
                        <m:num>
                          <m:r>
                            <a:rPr lang="en-US" b="0" i="1">
                              <a:latin typeface="Cambria Math" panose="02040503050406030204" pitchFamily="18" charset="0"/>
                            </a:rPr>
                            <m:t>11</m:t>
                          </m:r>
                          <m:r>
                            <a:rPr lang="en-US" b="0">
                              <a:latin typeface="Cambria Math" panose="02040503050406030204" pitchFamily="18" charset="0"/>
                            </a:rPr>
                            <m:t>.</m:t>
                          </m:r>
                          <m:r>
                            <a:rPr lang="en-US" b="0" i="1">
                              <a:latin typeface="Cambria Math" panose="02040503050406030204" pitchFamily="18" charset="0"/>
                            </a:rPr>
                            <m:t>7</m:t>
                          </m:r>
                        </m:num>
                        <m:den>
                          <m:r>
                            <a:rPr lang="en-US" b="0" i="1">
                              <a:latin typeface="Cambria Math" panose="02040503050406030204" pitchFamily="18" charset="0"/>
                            </a:rPr>
                            <m:t>43</m:t>
                          </m:r>
                        </m:den>
                      </m:f>
                    </m:oMath>
                  </m:oMathPara>
                </a14:m>
                <a:endParaRPr lang="ru-RU" dirty="0"/>
              </a:p>
              <a:p>
                <a:pPr marL="0" indent="0">
                  <a:buNone/>
                </a:pPr>
                <a14:m>
                  <m:oMathPara xmlns:m="http://schemas.openxmlformats.org/officeDocument/2006/math">
                    <m:oMathParaPr>
                      <m:jc m:val="centerGroup"/>
                    </m:oMathParaPr>
                    <m:oMath xmlns:m="http://schemas.openxmlformats.org/officeDocument/2006/math">
                      <m:sSub>
                        <m:sSubPr>
                          <m:ctrlPr>
                            <a:rPr lang="ru-RU" i="1">
                              <a:latin typeface="Cambria Math" panose="02040503050406030204" pitchFamily="18" charset="0"/>
                            </a:rPr>
                          </m:ctrlPr>
                        </m:sSubPr>
                        <m:e>
                          <m:r>
                            <a:rPr lang="en-US" b="0" i="1">
                              <a:latin typeface="Cambria Math" panose="02040503050406030204" pitchFamily="18" charset="0"/>
                            </a:rPr>
                            <m:t>𝑖</m:t>
                          </m:r>
                        </m:e>
                        <m:sub>
                          <m:r>
                            <a:rPr lang="en-US" b="0" i="1">
                              <a:latin typeface="Cambria Math" panose="02040503050406030204" pitchFamily="18" charset="0"/>
                            </a:rPr>
                            <m:t>1</m:t>
                          </m:r>
                        </m:sub>
                      </m:sSub>
                      <m:r>
                        <a:rPr lang="en-US" b="0">
                          <a:latin typeface="Cambria Math" panose="02040503050406030204" pitchFamily="18" charset="0"/>
                        </a:rPr>
                        <m:t>≈</m:t>
                      </m:r>
                      <m:r>
                        <a:rPr lang="en-US" b="0" i="1">
                          <a:latin typeface="Cambria Math" panose="02040503050406030204" pitchFamily="18" charset="0"/>
                        </a:rPr>
                        <m:t>0</m:t>
                      </m:r>
                      <m:r>
                        <a:rPr lang="en-US" b="0">
                          <a:latin typeface="Cambria Math" panose="02040503050406030204" pitchFamily="18" charset="0"/>
                        </a:rPr>
                        <m:t>.</m:t>
                      </m:r>
                      <m:r>
                        <a:rPr lang="en-US" b="0" i="1">
                          <a:latin typeface="Cambria Math" panose="02040503050406030204" pitchFamily="18" charset="0"/>
                        </a:rPr>
                        <m:t>2721</m:t>
                      </m:r>
                      <m:r>
                        <a:rPr lang="en-US" b="0">
                          <a:latin typeface="Cambria Math" panose="02040503050406030204" pitchFamily="18" charset="0"/>
                        </a:rPr>
                        <m:t> </m:t>
                      </m:r>
                      <m:r>
                        <a:rPr lang="en-US" b="0" i="1">
                          <a:latin typeface="Cambria Math" panose="02040503050406030204" pitchFamily="18" charset="0"/>
                        </a:rPr>
                        <m:t>𝐴</m:t>
                      </m:r>
                    </m:oMath>
                  </m:oMathPara>
                </a14:m>
                <a:endParaRPr lang="ru-RU" dirty="0"/>
              </a:p>
            </p:txBody>
          </p:sp>
        </mc:Choice>
        <mc:Fallback xmlns="">
          <p:sp>
            <p:nvSpPr>
              <p:cNvPr id="3" name="Объект 2">
                <a:extLst>
                  <a:ext uri="{FF2B5EF4-FFF2-40B4-BE49-F238E27FC236}">
                    <a16:creationId xmlns:a16="http://schemas.microsoft.com/office/drawing/2014/main" id="{38B32713-8DC8-A19D-A317-628052EECCD1}"/>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3E5AA47A-1234-82D8-AD8E-EADB14EA7639}"/>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A9703606-DEDA-4EE4-69D8-E89E67B1D141}"/>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2076F782-765B-A756-1E32-F8C437B01CE4}"/>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6B9BE95B-726E-9559-6240-69EF1A495712}"/>
              </a:ext>
            </a:extLst>
          </p:cNvPr>
          <p:cNvSpPr>
            <a:spLocks noGrp="1"/>
          </p:cNvSpPr>
          <p:nvPr>
            <p:ph type="sldNum" sz="quarter" idx="12"/>
          </p:nvPr>
        </p:nvSpPr>
        <p:spPr/>
        <p:txBody>
          <a:bodyPr/>
          <a:lstStyle/>
          <a:p>
            <a:fld id="{D8214FA6-4742-421D-8B19-2C99196BD091}" type="slidenum">
              <a:rPr lang="ru-RU" smtClean="0"/>
              <a:t>31</a:t>
            </a:fld>
            <a:endParaRPr lang="ru-RU"/>
          </a:p>
        </p:txBody>
      </p:sp>
    </p:spTree>
    <p:extLst>
      <p:ext uri="{BB962C8B-B14F-4D97-AF65-F5344CB8AC3E}">
        <p14:creationId xmlns:p14="http://schemas.microsoft.com/office/powerpoint/2010/main" val="32761677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Autofit/>
          </a:bodyPr>
          <a:lstStyle/>
          <a:p>
            <a:r>
              <a:rPr lang="en-US" dirty="0"/>
              <a:t>Here are all results in one table.</a:t>
            </a:r>
            <a:endParaRPr lang="ru-RU" dirty="0"/>
          </a:p>
        </p:txBody>
      </p:sp>
      <p:graphicFrame>
        <p:nvGraphicFramePr>
          <p:cNvPr id="4" name="Таблица 3">
            <a:extLst>
              <a:ext uri="{FF2B5EF4-FFF2-40B4-BE49-F238E27FC236}">
                <a16:creationId xmlns:a16="http://schemas.microsoft.com/office/drawing/2014/main" id="{A33994EB-0274-A5F1-1FB5-2DD0FF57FA4F}"/>
              </a:ext>
            </a:extLst>
          </p:cNvPr>
          <p:cNvGraphicFramePr>
            <a:graphicFrameLocks noGrp="1"/>
          </p:cNvGraphicFramePr>
          <p:nvPr/>
        </p:nvGraphicFramePr>
        <p:xfrm>
          <a:off x="838200" y="3097530"/>
          <a:ext cx="10515600" cy="1900811"/>
        </p:xfrm>
        <a:graphic>
          <a:graphicData uri="http://schemas.openxmlformats.org/drawingml/2006/table">
            <a:tbl>
              <a:tblPr firstRow="1" bandRow="1" bandCol="1">
                <a:tableStyleId>{5940675A-B579-460E-94D1-54222C63F5DA}</a:tableStyleId>
              </a:tblPr>
              <a:tblGrid>
                <a:gridCol w="5257800">
                  <a:extLst>
                    <a:ext uri="{9D8B030D-6E8A-4147-A177-3AD203B41FA5}">
                      <a16:colId xmlns:a16="http://schemas.microsoft.com/office/drawing/2014/main" val="3914247303"/>
                    </a:ext>
                  </a:extLst>
                </a:gridCol>
                <a:gridCol w="5257800">
                  <a:extLst>
                    <a:ext uri="{9D8B030D-6E8A-4147-A177-3AD203B41FA5}">
                      <a16:colId xmlns:a16="http://schemas.microsoft.com/office/drawing/2014/main" val="1604681166"/>
                    </a:ext>
                  </a:extLst>
                </a:gridCol>
              </a:tblGrid>
              <a:tr h="0">
                <a:tc>
                  <a:txBody>
                    <a:bodyPr/>
                    <a:lstStyle/>
                    <a:p>
                      <a:pPr algn="ctr">
                        <a:lnSpc>
                          <a:spcPct val="120000"/>
                        </a:lnSpc>
                      </a:pPr>
                      <a:r>
                        <a:rPr lang="en-US" sz="2800" dirty="0">
                          <a:effectLst/>
                          <a:latin typeface="Arial" panose="020B0604020202020204" pitchFamily="34" charset="0"/>
                        </a:rPr>
                        <a:t>Current</a:t>
                      </a:r>
                      <a:endParaRPr lang="ru-RU" sz="28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ctr">
                        <a:lnSpc>
                          <a:spcPct val="120000"/>
                        </a:lnSpc>
                      </a:pPr>
                      <a:r>
                        <a:rPr lang="en-US" sz="2800" dirty="0">
                          <a:effectLst/>
                          <a:latin typeface="Arial" panose="020B0604020202020204" pitchFamily="34" charset="0"/>
                        </a:rPr>
                        <a:t>Value (A)</a:t>
                      </a:r>
                      <a:endParaRPr lang="ru-RU" sz="28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119734703"/>
                  </a:ext>
                </a:extLst>
              </a:tr>
              <a:tr h="0">
                <a:tc>
                  <a:txBody>
                    <a:bodyPr/>
                    <a:lstStyle/>
                    <a:p>
                      <a:pPr algn="ctr">
                        <a:lnSpc>
                          <a:spcPct val="120000"/>
                        </a:lnSpc>
                      </a:pPr>
                      <a:r>
                        <a:rPr lang="ru-RU" sz="2800" dirty="0">
                          <a:effectLst/>
                          <a:latin typeface="Arial" panose="020B0604020202020204" pitchFamily="34" charset="0"/>
                          <a:ea typeface="Aptos" panose="020B0004020202020204" pitchFamily="34" charset="0"/>
                          <a:cs typeface="Arial" panose="020B0604020202020204" pitchFamily="34" charset="0"/>
                        </a:rPr>
                        <a:t>𝑖</a:t>
                      </a:r>
                      <a:r>
                        <a:rPr lang="ru-RU" sz="1800" dirty="0">
                          <a:effectLst/>
                          <a:latin typeface="Arial" panose="020B0604020202020204" pitchFamily="34" charset="0"/>
                          <a:ea typeface="Aptos" panose="020B0004020202020204" pitchFamily="34" charset="0"/>
                          <a:cs typeface="Arial" panose="020B0604020202020204" pitchFamily="34" charset="0"/>
                        </a:rPr>
                        <a:t>1</a:t>
                      </a:r>
                      <a:r>
                        <a:rPr lang="en-US" sz="1800" dirty="0">
                          <a:effectLst/>
                          <a:latin typeface="Arial" panose="020B0604020202020204" pitchFamily="34" charset="0"/>
                          <a:ea typeface="Aptos" panose="020B0004020202020204" pitchFamily="34" charset="0"/>
                          <a:cs typeface="Arial" panose="020B0604020202020204" pitchFamily="34" charset="0"/>
                        </a:rPr>
                        <a:t> </a:t>
                      </a:r>
                      <a:r>
                        <a:rPr lang="en-US" sz="2800" dirty="0">
                          <a:effectLst/>
                        </a:rPr>
                        <a:t>(Left Mesh Current)</a:t>
                      </a:r>
                      <a:endParaRPr lang="ru-RU" sz="28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ctr">
                        <a:lnSpc>
                          <a:spcPct val="120000"/>
                        </a:lnSpc>
                      </a:pPr>
                      <a:r>
                        <a:rPr lang="en-US" sz="2800" dirty="0">
                          <a:effectLst/>
                          <a:latin typeface="Arial" panose="020B0604020202020204" pitchFamily="34" charset="0"/>
                          <a:ea typeface="Aptos" panose="020B0004020202020204" pitchFamily="34" charset="0"/>
                          <a:cs typeface="Arial" panose="020B0604020202020204" pitchFamily="34" charset="0"/>
                        </a:rPr>
                        <a:t>9⋅(1.3)/43≈0.2721 𝐴</a:t>
                      </a:r>
                    </a:p>
                  </a:txBody>
                  <a:tcPr marL="68580" marR="68580" marT="0" marB="0"/>
                </a:tc>
                <a:extLst>
                  <a:ext uri="{0D108BD9-81ED-4DB2-BD59-A6C34878D82A}">
                    <a16:rowId xmlns:a16="http://schemas.microsoft.com/office/drawing/2014/main" val="286481628"/>
                  </a:ext>
                </a:extLst>
              </a:tr>
              <a:tr h="0">
                <a:tc>
                  <a:txBody>
                    <a:bodyPr/>
                    <a:lstStyle/>
                    <a:p>
                      <a:pPr algn="ctr">
                        <a:lnSpc>
                          <a:spcPct val="120000"/>
                        </a:lnSpc>
                      </a:pPr>
                      <a:r>
                        <a:rPr lang="ru-RU" sz="2800" dirty="0">
                          <a:effectLst/>
                          <a:latin typeface="Arial" panose="020B0604020202020204" pitchFamily="34" charset="0"/>
                          <a:ea typeface="Aptos" panose="020B0004020202020204" pitchFamily="34" charset="0"/>
                          <a:cs typeface="Arial" panose="020B0604020202020204" pitchFamily="34" charset="0"/>
                        </a:rPr>
                        <a:t>𝑖</a:t>
                      </a:r>
                      <a:r>
                        <a:rPr lang="ru-RU" sz="1800" dirty="0">
                          <a:effectLst/>
                          <a:latin typeface="Arial" panose="020B0604020202020204" pitchFamily="34" charset="0"/>
                          <a:ea typeface="Aptos" panose="020B0004020202020204" pitchFamily="34" charset="0"/>
                          <a:cs typeface="Arial" panose="020B0604020202020204" pitchFamily="34" charset="0"/>
                        </a:rPr>
                        <a:t>2</a:t>
                      </a:r>
                      <a:r>
                        <a:rPr lang="en-US" sz="1800" dirty="0">
                          <a:effectLst/>
                          <a:latin typeface="Arial" panose="020B0604020202020204" pitchFamily="34" charset="0"/>
                          <a:ea typeface="Aptos" panose="020B0004020202020204" pitchFamily="34" charset="0"/>
                          <a:cs typeface="Arial" panose="020B0604020202020204" pitchFamily="34" charset="0"/>
                        </a:rPr>
                        <a:t> </a:t>
                      </a:r>
                      <a:r>
                        <a:rPr lang="en-US" sz="2800" dirty="0">
                          <a:effectLst/>
                        </a:rPr>
                        <a:t>(Right Mesh Current)</a:t>
                      </a:r>
                      <a:endParaRPr lang="ru-RU" sz="28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ctr">
                        <a:lnSpc>
                          <a:spcPct val="120000"/>
                        </a:lnSpc>
                      </a:pPr>
                      <a:r>
                        <a:rPr lang="en-US" sz="2800" dirty="0">
                          <a:effectLst/>
                          <a:latin typeface="Arial" panose="020B0604020202020204" pitchFamily="34" charset="0"/>
                          <a:ea typeface="Aptos" panose="020B0004020202020204" pitchFamily="34" charset="0"/>
                          <a:cs typeface="Arial" panose="020B0604020202020204" pitchFamily="34" charset="0"/>
                        </a:rPr>
                        <a:t>9/43≈0.2093 𝐴</a:t>
                      </a:r>
                    </a:p>
                  </a:txBody>
                  <a:tcPr marL="68580" marR="68580" marT="0" marB="0"/>
                </a:tc>
                <a:extLst>
                  <a:ext uri="{0D108BD9-81ED-4DB2-BD59-A6C34878D82A}">
                    <a16:rowId xmlns:a16="http://schemas.microsoft.com/office/drawing/2014/main" val="347074935"/>
                  </a:ext>
                </a:extLst>
              </a:tr>
              <a:tr h="0">
                <a:tc>
                  <a:txBody>
                    <a:bodyPr/>
                    <a:lstStyle/>
                    <a:p>
                      <a:pPr algn="ctr">
                        <a:lnSpc>
                          <a:spcPct val="120000"/>
                        </a:lnSpc>
                      </a:pPr>
                      <a:r>
                        <a:rPr lang="el-GR" sz="2800" dirty="0">
                          <a:effectLst/>
                          <a:latin typeface="Arial" panose="020B0604020202020204" pitchFamily="34" charset="0"/>
                        </a:rPr>
                        <a:t>𝑖</a:t>
                      </a:r>
                      <a:r>
                        <a:rPr lang="el-GR" sz="1800" dirty="0">
                          <a:effectLst/>
                        </a:rPr>
                        <a:t>(100 Ω) </a:t>
                      </a:r>
                      <a:r>
                        <a:rPr lang="en-US" sz="2800" dirty="0">
                          <a:effectLst/>
                        </a:rPr>
                        <a:t>(Center Branch Current)</a:t>
                      </a:r>
                      <a:endParaRPr lang="ru-RU" sz="28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ctr">
                        <a:lnSpc>
                          <a:spcPct val="120000"/>
                        </a:lnSpc>
                      </a:pPr>
                      <a:r>
                        <a:rPr lang="ru-RU" sz="2800" dirty="0">
                          <a:effectLst/>
                          <a:latin typeface="Arial" panose="020B0604020202020204" pitchFamily="34" charset="0"/>
                          <a:ea typeface="Aptos" panose="020B0004020202020204" pitchFamily="34" charset="0"/>
                          <a:cs typeface="Arial" panose="020B0604020202020204" pitchFamily="34" charset="0"/>
                        </a:rPr>
                        <a:t>𝑖</a:t>
                      </a:r>
                      <a:r>
                        <a:rPr lang="ru-RU" sz="1800" dirty="0">
                          <a:effectLst/>
                          <a:latin typeface="Arial" panose="020B0604020202020204" pitchFamily="34" charset="0"/>
                          <a:ea typeface="Aptos" panose="020B0004020202020204" pitchFamily="34" charset="0"/>
                          <a:cs typeface="Arial" panose="020B0604020202020204" pitchFamily="34" charset="0"/>
                        </a:rPr>
                        <a:t>1</a:t>
                      </a:r>
                      <a:r>
                        <a:rPr lang="en-US" sz="1800" dirty="0">
                          <a:effectLst/>
                          <a:latin typeface="Arial" panose="020B0604020202020204" pitchFamily="34" charset="0"/>
                          <a:ea typeface="Aptos" panose="020B0004020202020204" pitchFamily="34" charset="0"/>
                          <a:cs typeface="Arial" panose="020B0604020202020204" pitchFamily="34" charset="0"/>
                        </a:rPr>
                        <a:t> </a:t>
                      </a:r>
                      <a:r>
                        <a:rPr lang="en-US" sz="2800" dirty="0">
                          <a:effectLst/>
                          <a:latin typeface="Arial" panose="020B0604020202020204" pitchFamily="34" charset="0"/>
                          <a:ea typeface="Aptos" panose="020B0004020202020204" pitchFamily="34" charset="0"/>
                          <a:cs typeface="Arial" panose="020B0604020202020204" pitchFamily="34" charset="0"/>
                        </a:rPr>
                        <a:t>−</a:t>
                      </a:r>
                      <a:r>
                        <a:rPr lang="ru-RU" sz="2800" dirty="0">
                          <a:effectLst/>
                          <a:latin typeface="Arial" panose="020B0604020202020204" pitchFamily="34" charset="0"/>
                          <a:ea typeface="Aptos" panose="020B0004020202020204" pitchFamily="34" charset="0"/>
                          <a:cs typeface="Arial" panose="020B0604020202020204" pitchFamily="34" charset="0"/>
                        </a:rPr>
                        <a:t>𝑖</a:t>
                      </a:r>
                      <a:r>
                        <a:rPr lang="ru-RU" sz="1800" dirty="0">
                          <a:effectLst/>
                          <a:latin typeface="Arial" panose="020B0604020202020204" pitchFamily="34" charset="0"/>
                          <a:ea typeface="Aptos" panose="020B0004020202020204" pitchFamily="34" charset="0"/>
                          <a:cs typeface="Arial" panose="020B0604020202020204" pitchFamily="34" charset="0"/>
                        </a:rPr>
                        <a:t>2</a:t>
                      </a:r>
                      <a:r>
                        <a:rPr lang="en-US" sz="1800" dirty="0">
                          <a:effectLst/>
                          <a:latin typeface="Arial" panose="020B0604020202020204" pitchFamily="34" charset="0"/>
                          <a:ea typeface="Aptos" panose="020B0004020202020204" pitchFamily="34" charset="0"/>
                          <a:cs typeface="Arial" panose="020B0604020202020204" pitchFamily="34" charset="0"/>
                        </a:rPr>
                        <a:t> </a:t>
                      </a:r>
                      <a:r>
                        <a:rPr lang="en-US" sz="2800" dirty="0">
                          <a:effectLst/>
                          <a:latin typeface="Arial" panose="020B0604020202020204" pitchFamily="34" charset="0"/>
                          <a:ea typeface="Aptos" panose="020B0004020202020204" pitchFamily="34" charset="0"/>
                          <a:cs typeface="Arial" panose="020B0604020202020204" pitchFamily="34" charset="0"/>
                        </a:rPr>
                        <a:t>=0.0628 𝐴</a:t>
                      </a:r>
                      <a:endParaRPr lang="ru-RU" sz="28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656565425"/>
                  </a:ext>
                </a:extLst>
              </a:tr>
            </a:tbl>
          </a:graphicData>
        </a:graphic>
      </p:graphicFrame>
      <p:grpSp>
        <p:nvGrpSpPr>
          <p:cNvPr id="5" name="Группа 4">
            <a:extLst>
              <a:ext uri="{FF2B5EF4-FFF2-40B4-BE49-F238E27FC236}">
                <a16:creationId xmlns:a16="http://schemas.microsoft.com/office/drawing/2014/main" id="{B1D2C47B-1A46-7D0B-DF03-AF59480D84F5}"/>
              </a:ext>
            </a:extLst>
          </p:cNvPr>
          <p:cNvGrpSpPr/>
          <p:nvPr/>
        </p:nvGrpSpPr>
        <p:grpSpPr>
          <a:xfrm>
            <a:off x="0" y="0"/>
            <a:ext cx="12192000" cy="1690688"/>
            <a:chOff x="0" y="0"/>
            <a:chExt cx="12192000" cy="1690688"/>
          </a:xfrm>
        </p:grpSpPr>
        <p:sp>
          <p:nvSpPr>
            <p:cNvPr id="6" name="Прямоугольник 5">
              <a:extLst>
                <a:ext uri="{FF2B5EF4-FFF2-40B4-BE49-F238E27FC236}">
                  <a16:creationId xmlns:a16="http://schemas.microsoft.com/office/drawing/2014/main" id="{563F63B9-EB28-E899-45B8-901D6AFACFFF}"/>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7" name="Прямоугольник: скругленные углы 6">
              <a:extLst>
                <a:ext uri="{FF2B5EF4-FFF2-40B4-BE49-F238E27FC236}">
                  <a16:creationId xmlns:a16="http://schemas.microsoft.com/office/drawing/2014/main" id="{9D7B778B-FE80-906F-21F0-4F25D43B5D60}"/>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Номер слайда 7">
            <a:extLst>
              <a:ext uri="{FF2B5EF4-FFF2-40B4-BE49-F238E27FC236}">
                <a16:creationId xmlns:a16="http://schemas.microsoft.com/office/drawing/2014/main" id="{8E0CB57B-126F-C737-39C8-2C0E0B0AE6DC}"/>
              </a:ext>
            </a:extLst>
          </p:cNvPr>
          <p:cNvSpPr>
            <a:spLocks noGrp="1"/>
          </p:cNvSpPr>
          <p:nvPr>
            <p:ph type="sldNum" sz="quarter" idx="12"/>
          </p:nvPr>
        </p:nvSpPr>
        <p:spPr/>
        <p:txBody>
          <a:bodyPr/>
          <a:lstStyle/>
          <a:p>
            <a:fld id="{D8214FA6-4742-421D-8B19-2C99196BD091}" type="slidenum">
              <a:rPr lang="ru-RU" smtClean="0"/>
              <a:t>32</a:t>
            </a:fld>
            <a:endParaRPr lang="ru-RU"/>
          </a:p>
        </p:txBody>
      </p:sp>
    </p:spTree>
    <p:extLst>
      <p:ext uri="{BB962C8B-B14F-4D97-AF65-F5344CB8AC3E}">
        <p14:creationId xmlns:p14="http://schemas.microsoft.com/office/powerpoint/2010/main" val="12188484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3BEEA-5D9B-D731-85DC-8412995C5A8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78AB6B3-D001-A6EF-7CAC-3CFABEEEDF5F}"/>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C170693F-F0C7-018A-1241-85D448BE2C10}"/>
              </a:ext>
            </a:extLst>
          </p:cNvPr>
          <p:cNvSpPr>
            <a:spLocks noGrp="1"/>
          </p:cNvSpPr>
          <p:nvPr>
            <p:ph idx="1"/>
          </p:nvPr>
        </p:nvSpPr>
        <p:spPr/>
        <p:txBody>
          <a:bodyPr>
            <a:noAutofit/>
          </a:bodyPr>
          <a:lstStyle/>
          <a:p>
            <a:pPr algn="just">
              <a:lnSpc>
                <a:spcPct val="120000"/>
              </a:lnSpc>
            </a:pPr>
            <a:endParaRPr lang="en-US" dirty="0">
              <a:effectLst/>
              <a:latin typeface="Arial" panose="020B0604020202020204" pitchFamily="34" charset="0"/>
              <a:ea typeface="Aptos" panose="020B00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0E107E9C-730F-EFEB-6C56-C48560D0262B}"/>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AD65C84F-91EF-0FF4-835B-B217B3BD364E}"/>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6D801B0E-0894-AE7F-76D9-EEE9F921C8E9}"/>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Объект 2">
            <a:extLst>
              <a:ext uri="{FF2B5EF4-FFF2-40B4-BE49-F238E27FC236}">
                <a16:creationId xmlns:a16="http://schemas.microsoft.com/office/drawing/2014/main" id="{9F8358EC-11B5-8402-947B-0EE089FBF83E}"/>
              </a:ext>
            </a:extLst>
          </p:cNvPr>
          <p:cNvSpPr txBox="1">
            <a:spLocks/>
          </p:cNvSpPr>
          <p:nvPr/>
        </p:nvSpPr>
        <p:spPr>
          <a:xfrm>
            <a:off x="838200" y="1825625"/>
            <a:ext cx="5403574"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endParaRPr lang="en-US" dirty="0">
              <a:ea typeface="Aptos" panose="020B0004020202020204" pitchFamily="34" charset="0"/>
              <a:cs typeface="Arial" panose="020B0604020202020204" pitchFamily="34" charset="0"/>
            </a:endParaRPr>
          </a:p>
          <a:p>
            <a:pPr algn="just">
              <a:lnSpc>
                <a:spcPct val="120000"/>
              </a:lnSpc>
            </a:pPr>
            <a:endParaRPr lang="en-US" dirty="0">
              <a:ea typeface="Aptos" panose="020B0004020202020204" pitchFamily="34" charset="0"/>
              <a:cs typeface="Arial" panose="020B0604020202020204" pitchFamily="34" charset="0"/>
            </a:endParaRPr>
          </a:p>
          <a:p>
            <a:pPr algn="just">
              <a:lnSpc>
                <a:spcPct val="120000"/>
              </a:lnSpc>
            </a:pPr>
            <a:r>
              <a:rPr lang="en-US" dirty="0">
                <a:ea typeface="Aptos" panose="020B0004020202020204" pitchFamily="34" charset="0"/>
                <a:cs typeface="Arial" panose="020B0604020202020204" pitchFamily="34" charset="0"/>
              </a:rPr>
              <a:t>Do you have you any questions at the moment?</a:t>
            </a:r>
            <a:endParaRPr lang="ru-RU" dirty="0">
              <a:ea typeface="Aptos" panose="020B0004020202020204" pitchFamily="34" charset="0"/>
              <a:cs typeface="Arial" panose="020B0604020202020204" pitchFamily="34" charset="0"/>
            </a:endParaRPr>
          </a:p>
        </p:txBody>
      </p:sp>
      <p:pic>
        <p:nvPicPr>
          <p:cNvPr id="8" name="Picture 2">
            <a:extLst>
              <a:ext uri="{FF2B5EF4-FFF2-40B4-BE49-F238E27FC236}">
                <a16:creationId xmlns:a16="http://schemas.microsoft.com/office/drawing/2014/main" id="{9F985CD3-C97C-124C-D5B0-5443E94FB1B2}"/>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974323" y="2070119"/>
            <a:ext cx="4220156" cy="4220156"/>
          </a:xfrm>
          <a:prstGeom prst="rect">
            <a:avLst/>
          </a:prstGeom>
          <a:noFill/>
          <a:extLst>
            <a:ext uri="{909E8E84-426E-40DD-AFC4-6F175D3DCCD1}">
              <a14:hiddenFill xmlns:a14="http://schemas.microsoft.com/office/drawing/2010/main">
                <a:solidFill>
                  <a:srgbClr val="FFFFFF"/>
                </a:solidFill>
              </a14:hiddenFill>
            </a:ext>
          </a:extLst>
        </p:spPr>
      </p:pic>
      <p:sp>
        <p:nvSpPr>
          <p:cNvPr id="9" name="Номер слайда 8">
            <a:extLst>
              <a:ext uri="{FF2B5EF4-FFF2-40B4-BE49-F238E27FC236}">
                <a16:creationId xmlns:a16="http://schemas.microsoft.com/office/drawing/2014/main" id="{2EA8002D-BD38-D265-70B5-6EC2FDDA470B}"/>
              </a:ext>
            </a:extLst>
          </p:cNvPr>
          <p:cNvSpPr>
            <a:spLocks noGrp="1"/>
          </p:cNvSpPr>
          <p:nvPr>
            <p:ph type="sldNum" sz="quarter" idx="12"/>
          </p:nvPr>
        </p:nvSpPr>
        <p:spPr/>
        <p:txBody>
          <a:bodyPr/>
          <a:lstStyle/>
          <a:p>
            <a:fld id="{D8214FA6-4742-421D-8B19-2C99196BD091}" type="slidenum">
              <a:rPr lang="ru-RU" smtClean="0"/>
              <a:t>33</a:t>
            </a:fld>
            <a:endParaRPr lang="ru-RU"/>
          </a:p>
        </p:txBody>
      </p:sp>
    </p:spTree>
    <p:extLst>
      <p:ext uri="{BB962C8B-B14F-4D97-AF65-F5344CB8AC3E}">
        <p14:creationId xmlns:p14="http://schemas.microsoft.com/office/powerpoint/2010/main" val="30044993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Autofit/>
          </a:bodyPr>
          <a:lstStyle/>
          <a:p>
            <a:r>
              <a:rPr lang="en-US" dirty="0"/>
              <a:t>As you can see, the Branch Current Method generates a large number of equations. Engineers prefer efficiency. We want to solve for fewer variables. This leads us to </a:t>
            </a:r>
            <a:r>
              <a:rPr lang="en-US" b="1" dirty="0"/>
              <a:t>The Nodal Voltage Method </a:t>
            </a:r>
          </a:p>
          <a:p>
            <a:r>
              <a:rPr lang="en-US" b="1" dirty="0"/>
              <a:t>It reduces the number of equations by solving for «Node Voltages» instead of currents. </a:t>
            </a:r>
          </a:p>
          <a:p>
            <a:r>
              <a:rPr lang="en-US" dirty="0"/>
              <a:t>Recall from Lecture 1 that electric potential is the voltage at a specific point with respect to a common reference point (Ground).</a:t>
            </a:r>
            <a:endParaRPr lang="ru-RU" dirty="0"/>
          </a:p>
        </p:txBody>
      </p:sp>
      <p:grpSp>
        <p:nvGrpSpPr>
          <p:cNvPr id="4" name="Группа 3">
            <a:extLst>
              <a:ext uri="{FF2B5EF4-FFF2-40B4-BE49-F238E27FC236}">
                <a16:creationId xmlns:a16="http://schemas.microsoft.com/office/drawing/2014/main" id="{AAC892E9-4ADE-404B-7A30-96FFF32A393D}"/>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41400D29-EEF2-C3D7-EF12-22330BA5011C}"/>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90EDE704-140E-843E-21A2-A95339E9F15C}"/>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A6E50A00-64F8-93EA-D2D5-E4D997A97F99}"/>
              </a:ext>
            </a:extLst>
          </p:cNvPr>
          <p:cNvSpPr>
            <a:spLocks noGrp="1"/>
          </p:cNvSpPr>
          <p:nvPr>
            <p:ph type="sldNum" sz="quarter" idx="12"/>
          </p:nvPr>
        </p:nvSpPr>
        <p:spPr/>
        <p:txBody>
          <a:bodyPr/>
          <a:lstStyle/>
          <a:p>
            <a:fld id="{D8214FA6-4742-421D-8B19-2C99196BD091}" type="slidenum">
              <a:rPr lang="ru-RU" smtClean="0"/>
              <a:t>34</a:t>
            </a:fld>
            <a:endParaRPr lang="ru-RU"/>
          </a:p>
        </p:txBody>
      </p:sp>
    </p:spTree>
    <p:extLst>
      <p:ext uri="{BB962C8B-B14F-4D97-AF65-F5344CB8AC3E}">
        <p14:creationId xmlns:p14="http://schemas.microsoft.com/office/powerpoint/2010/main" val="14782878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7DBF3-F6F6-F4A4-9393-36581BA3186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3D4F9F-04CA-242A-27CE-FF8837C9165A}"/>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7EA521A2-717B-26A6-57CF-A5570189E4EF}"/>
                  </a:ext>
                </a:extLst>
              </p:cNvPr>
              <p:cNvSpPr>
                <a:spLocks noGrp="1"/>
              </p:cNvSpPr>
              <p:nvPr>
                <p:ph idx="1"/>
              </p:nvPr>
            </p:nvSpPr>
            <p:spPr/>
            <p:txBody>
              <a:bodyPr>
                <a:noAutofit/>
              </a:bodyPr>
              <a:lstStyle/>
              <a:p>
                <a:r>
                  <a:rPr lang="en-US" b="1" dirty="0">
                    <a:effectLst/>
                    <a:latin typeface="Arial" panose="020B0604020202020204" pitchFamily="34" charset="0"/>
                    <a:ea typeface="Aptos" panose="020B0004020202020204" pitchFamily="34" charset="0"/>
                    <a:cs typeface="Arial" panose="020B0604020202020204" pitchFamily="34" charset="0"/>
                  </a:rPr>
                  <a:t>In this method, the unknown variables are the potentials of the essential nodes (</a:t>
                </a:r>
                <a14:m>
                  <m:oMath xmlns:m="http://schemas.openxmlformats.org/officeDocument/2006/math">
                    <m:sSub>
                      <m:sSubPr>
                        <m:ctrlPr>
                          <a:rPr lang="ru-RU" b="1" i="1">
                            <a:effectLst/>
                            <a:latin typeface="Cambria Math" panose="02040503050406030204" pitchFamily="18" charset="0"/>
                          </a:rPr>
                        </m:ctrlPr>
                      </m:sSubPr>
                      <m:e>
                        <m:r>
                          <a:rPr lang="en-US" b="1" i="1">
                            <a:effectLst/>
                            <a:latin typeface="Cambria Math" panose="02040503050406030204" pitchFamily="18" charset="0"/>
                            <a:ea typeface="Aptos" panose="020B0004020202020204" pitchFamily="34" charset="0"/>
                            <a:cs typeface="Times New Roman" panose="02020603050405020304" pitchFamily="18" charset="0"/>
                          </a:rPr>
                          <m:t>𝒗</m:t>
                        </m:r>
                      </m:e>
                      <m:sub>
                        <m:r>
                          <a:rPr lang="en-US" b="1" i="1">
                            <a:effectLst/>
                            <a:latin typeface="Cambria Math" panose="02040503050406030204" pitchFamily="18" charset="0"/>
                            <a:ea typeface="Aptos" panose="020B0004020202020204" pitchFamily="34" charset="0"/>
                            <a:cs typeface="Times New Roman" panose="02020603050405020304" pitchFamily="18" charset="0"/>
                          </a:rPr>
                          <m:t>𝟏</m:t>
                        </m:r>
                      </m:sub>
                    </m:sSub>
                    <m:r>
                      <a:rPr lang="en-US" b="1">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b="1" i="1">
                            <a:effectLst/>
                            <a:latin typeface="Cambria Math" panose="02040503050406030204" pitchFamily="18" charset="0"/>
                          </a:rPr>
                        </m:ctrlPr>
                      </m:sSubPr>
                      <m:e>
                        <m:r>
                          <a:rPr lang="en-US" b="1" i="1">
                            <a:effectLst/>
                            <a:latin typeface="Cambria Math" panose="02040503050406030204" pitchFamily="18" charset="0"/>
                            <a:ea typeface="Aptos" panose="020B0004020202020204" pitchFamily="34" charset="0"/>
                            <a:cs typeface="Times New Roman" panose="02020603050405020304" pitchFamily="18" charset="0"/>
                          </a:rPr>
                          <m:t>𝒗</m:t>
                        </m:r>
                      </m:e>
                      <m:sub>
                        <m:r>
                          <a:rPr lang="en-US" b="1" i="1">
                            <a:effectLst/>
                            <a:latin typeface="Cambria Math" panose="02040503050406030204" pitchFamily="18" charset="0"/>
                            <a:ea typeface="Aptos" panose="020B0004020202020204" pitchFamily="34" charset="0"/>
                            <a:cs typeface="Times New Roman" panose="02020603050405020304" pitchFamily="18" charset="0"/>
                          </a:rPr>
                          <m:t>𝟐</m:t>
                        </m:r>
                      </m:sub>
                    </m:sSub>
                    <m:r>
                      <a:rPr lang="en-US" b="1">
                        <a:effectLst/>
                        <a:latin typeface="Cambria Math" panose="02040503050406030204" pitchFamily="18" charset="0"/>
                        <a:ea typeface="Aptos" panose="020B0004020202020204" pitchFamily="34" charset="0"/>
                        <a:cs typeface="Times New Roman" panose="02020603050405020304" pitchFamily="18" charset="0"/>
                      </a:rPr>
                      <m:t>,...</m:t>
                    </m:r>
                  </m:oMath>
                </a14:m>
                <a:r>
                  <a:rPr lang="en-US" b="1" dirty="0">
                    <a:effectLst/>
                    <a:latin typeface="Arial" panose="020B0604020202020204" pitchFamily="34" charset="0"/>
                    <a:ea typeface="Aptos" panose="020B0004020202020204" pitchFamily="34" charset="0"/>
                    <a:cs typeface="Arial" panose="020B0604020202020204" pitchFamily="34" charset="0"/>
                  </a:rPr>
                  <a:t>) relative to a chosen reference node (0 V).</a:t>
                </a:r>
                <a:r>
                  <a:rPr lang="en-US" dirty="0">
                    <a:effectLst/>
                    <a:latin typeface="Arial" panose="020B0604020202020204" pitchFamily="34" charset="0"/>
                    <a:ea typeface="Aptos" panose="020B00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If a circuit has n nodes, we only need to solve (n-1) equations. This is often much faster than finding all branch currents.</a:t>
                </a:r>
              </a:p>
              <a:p>
                <a:r>
                  <a:rPr lang="en-US" b="1" dirty="0">
                    <a:latin typeface="Arial" panose="020B0604020202020204" pitchFamily="34" charset="0"/>
                    <a:cs typeface="Arial" panose="020B0604020202020204" pitchFamily="34" charset="0"/>
                  </a:rPr>
                  <a:t>The Nodal Voltage Method is based on Kirchhoff’s Current Law (KCL). </a:t>
                </a:r>
              </a:p>
              <a:p>
                <a:r>
                  <a:rPr lang="en-US" dirty="0">
                    <a:latin typeface="Arial" panose="020B0604020202020204" pitchFamily="34" charset="0"/>
                    <a:cs typeface="Arial" panose="020B0604020202020204" pitchFamily="34" charset="0"/>
                  </a:rPr>
                  <a:t>For every non-reference node, we write an equation stating that </a:t>
                </a:r>
                <a:r>
                  <a:rPr lang="en-US" b="1" dirty="0">
                    <a:latin typeface="Arial" panose="020B0604020202020204" pitchFamily="34" charset="0"/>
                    <a:cs typeface="Arial" panose="020B0604020202020204" pitchFamily="34" charset="0"/>
                  </a:rPr>
                  <a:t>the algebraic sum of currents leaving the node is zero.</a:t>
                </a:r>
              </a:p>
            </p:txBody>
          </p:sp>
        </mc:Choice>
        <mc:Fallback xmlns="">
          <p:sp>
            <p:nvSpPr>
              <p:cNvPr id="3" name="Объект 2">
                <a:extLst>
                  <a:ext uri="{FF2B5EF4-FFF2-40B4-BE49-F238E27FC236}">
                    <a16:creationId xmlns:a16="http://schemas.microsoft.com/office/drawing/2014/main" id="{7EA521A2-717B-26A6-57CF-A5570189E4EF}"/>
                  </a:ext>
                </a:extLst>
              </p:cNvPr>
              <p:cNvSpPr>
                <a:spLocks noGrp="1" noRot="1" noChangeAspect="1" noMove="1" noResize="1" noEditPoints="1" noAdjustHandles="1" noChangeArrowheads="1" noChangeShapeType="1" noTextEdit="1"/>
              </p:cNvSpPr>
              <p:nvPr>
                <p:ph idx="1"/>
              </p:nvPr>
            </p:nvSpPr>
            <p:spPr>
              <a:blipFill>
                <a:blip r:embed="rId2"/>
                <a:stretch>
                  <a:fillRect l="-1043" t="-2381" r="-1333"/>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BB8F31DB-376D-80CE-B2EA-36709168F331}"/>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FC012885-15AE-617E-4328-488804A19CCE}"/>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3851A064-CD92-1012-F3AC-2561FD11A455}"/>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62E86078-743B-5286-F4FF-5D43DB251923}"/>
              </a:ext>
            </a:extLst>
          </p:cNvPr>
          <p:cNvSpPr>
            <a:spLocks noGrp="1"/>
          </p:cNvSpPr>
          <p:nvPr>
            <p:ph type="sldNum" sz="quarter" idx="12"/>
          </p:nvPr>
        </p:nvSpPr>
        <p:spPr/>
        <p:txBody>
          <a:bodyPr/>
          <a:lstStyle/>
          <a:p>
            <a:fld id="{D8214FA6-4742-421D-8B19-2C99196BD091}" type="slidenum">
              <a:rPr lang="ru-RU" smtClean="0"/>
              <a:t>35</a:t>
            </a:fld>
            <a:endParaRPr lang="ru-RU"/>
          </a:p>
        </p:txBody>
      </p:sp>
    </p:spTree>
    <p:extLst>
      <p:ext uri="{BB962C8B-B14F-4D97-AF65-F5344CB8AC3E}">
        <p14:creationId xmlns:p14="http://schemas.microsoft.com/office/powerpoint/2010/main" val="13806912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But how do we write currents in terms of node voltages? </a:t>
                </a: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We use Ohm's Law. </a:t>
                </a: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Consider a resistor R connecting Node A (potential </a:t>
                </a:r>
                <a14:m>
                  <m:oMath xmlns:m="http://schemas.openxmlformats.org/officeDocument/2006/math">
                    <m:sSub>
                      <m:sSubPr>
                        <m:ctrlPr>
                          <a:rPr lang="en-US" i="1" dirty="0" smtClean="0">
                            <a:effectLst/>
                            <a:latin typeface="Cambria Math" panose="02040503050406030204" pitchFamily="18" charset="0"/>
                            <a:ea typeface="Aptos" panose="020B0004020202020204" pitchFamily="34" charset="0"/>
                            <a:cs typeface="Arial" panose="020B0604020202020204" pitchFamily="34" charset="0"/>
                          </a:rPr>
                        </m:ctrlPr>
                      </m:sSubPr>
                      <m:e>
                        <m:r>
                          <a:rPr lang="en-US" i="1" dirty="0" smtClean="0">
                            <a:effectLst/>
                            <a:latin typeface="Cambria Math" panose="02040503050406030204" pitchFamily="18" charset="0"/>
                            <a:ea typeface="Aptos" panose="020B0004020202020204" pitchFamily="34" charset="0"/>
                            <a:cs typeface="Arial" panose="020B0604020202020204" pitchFamily="34" charset="0"/>
                          </a:rPr>
                          <m:t>𝑣</m:t>
                        </m:r>
                      </m:e>
                      <m:sub>
                        <m:r>
                          <a:rPr lang="en-US" i="1" dirty="0" smtClean="0">
                            <a:effectLst/>
                            <a:latin typeface="Cambria Math" panose="02040503050406030204" pitchFamily="18" charset="0"/>
                            <a:ea typeface="Aptos" panose="020B0004020202020204" pitchFamily="34" charset="0"/>
                            <a:cs typeface="Arial" panose="020B0604020202020204" pitchFamily="34" charset="0"/>
                          </a:rPr>
                          <m:t>𝑎</m:t>
                        </m:r>
                      </m:sub>
                    </m:sSub>
                  </m:oMath>
                </a14:m>
                <a:r>
                  <a:rPr lang="en-US" dirty="0">
                    <a:effectLst/>
                    <a:latin typeface="Arial" panose="020B0604020202020204" pitchFamily="34" charset="0"/>
                    <a:ea typeface="Aptos" panose="020B0004020202020204" pitchFamily="34" charset="0"/>
                    <a:cs typeface="Arial" panose="020B0604020202020204" pitchFamily="34" charset="0"/>
                  </a:rPr>
                  <a:t>) and Node B (potential </a:t>
                </a:r>
                <a14:m>
                  <m:oMath xmlns:m="http://schemas.openxmlformats.org/officeDocument/2006/math">
                    <m:sSub>
                      <m:sSubPr>
                        <m:ctrlPr>
                          <a:rPr lang="en-US" i="1" dirty="0" smtClean="0">
                            <a:effectLst/>
                            <a:latin typeface="Cambria Math" panose="02040503050406030204" pitchFamily="18" charset="0"/>
                            <a:ea typeface="Aptos" panose="020B0004020202020204" pitchFamily="34" charset="0"/>
                            <a:cs typeface="Arial" panose="020B0604020202020204" pitchFamily="34" charset="0"/>
                          </a:rPr>
                        </m:ctrlPr>
                      </m:sSubPr>
                      <m:e>
                        <m:r>
                          <a:rPr lang="en-US" i="1" dirty="0" smtClean="0">
                            <a:effectLst/>
                            <a:latin typeface="Cambria Math" panose="02040503050406030204" pitchFamily="18" charset="0"/>
                            <a:ea typeface="Aptos" panose="020B0004020202020204" pitchFamily="34" charset="0"/>
                            <a:cs typeface="Arial" panose="020B0604020202020204" pitchFamily="34" charset="0"/>
                          </a:rPr>
                          <m:t>𝑣</m:t>
                        </m:r>
                      </m:e>
                      <m:sub>
                        <m:r>
                          <a:rPr lang="en-US" i="1" dirty="0" smtClean="0">
                            <a:effectLst/>
                            <a:latin typeface="Cambria Math" panose="02040503050406030204" pitchFamily="18" charset="0"/>
                            <a:ea typeface="Aptos" panose="020B0004020202020204" pitchFamily="34" charset="0"/>
                            <a:cs typeface="Arial" panose="020B0604020202020204" pitchFamily="34" charset="0"/>
                          </a:rPr>
                          <m:t>𝑏</m:t>
                        </m:r>
                      </m:sub>
                    </m:sSub>
                  </m:oMath>
                </a14:m>
                <a:r>
                  <a:rPr lang="en-US" dirty="0">
                    <a:effectLst/>
                    <a:latin typeface="Arial" panose="020B0604020202020204" pitchFamily="34" charset="0"/>
                    <a:ea typeface="Aptos" panose="020B0004020202020204" pitchFamily="34" charset="0"/>
                    <a:cs typeface="Arial" panose="020B0604020202020204" pitchFamily="34" charset="0"/>
                  </a:rPr>
                  <a:t>). </a:t>
                </a: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The current flows from higher potential to lower potential. </a:t>
                </a:r>
                <a:endParaRPr lang="ru-RU" dirty="0">
                  <a:latin typeface="Arial" panose="020B06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38B32713-8DC8-A19D-A317-628052EECCD1}"/>
                  </a:ext>
                </a:extLst>
              </p:cNvPr>
              <p:cNvSpPr>
                <a:spLocks noGrp="1" noRot="1" noChangeAspect="1" noMove="1" noResize="1" noEditPoints="1" noAdjustHandles="1" noChangeArrowheads="1" noChangeShapeType="1" noTextEdit="1"/>
              </p:cNvSpPr>
              <p:nvPr>
                <p:ph idx="1"/>
              </p:nvPr>
            </p:nvSpPr>
            <p:spPr>
              <a:blipFill>
                <a:blip r:embed="rId2"/>
                <a:stretch>
                  <a:fillRect l="-1043" t="-560" r="-1159"/>
                </a:stretch>
              </a:blipFill>
            </p:spPr>
            <p:txBody>
              <a:bodyPr/>
              <a:lstStyle/>
              <a:p>
                <a:r>
                  <a:rPr lang="ru-RU">
                    <a:noFill/>
                  </a:rPr>
                  <a:t> </a:t>
                </a:r>
              </a:p>
            </p:txBody>
          </p:sp>
        </mc:Fallback>
      </mc:AlternateContent>
      <p:pic>
        <p:nvPicPr>
          <p:cNvPr id="4" name="Рисунок 3">
            <a:extLst>
              <a:ext uri="{FF2B5EF4-FFF2-40B4-BE49-F238E27FC236}">
                <a16:creationId xmlns:a16="http://schemas.microsoft.com/office/drawing/2014/main" id="{8173FB01-AAA9-8705-4ED9-C8F4D43FE8F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617771" y="4905622"/>
            <a:ext cx="2956457" cy="1952378"/>
          </a:xfrm>
          <a:prstGeom prst="rect">
            <a:avLst/>
          </a:prstGeom>
        </p:spPr>
      </p:pic>
      <p:grpSp>
        <p:nvGrpSpPr>
          <p:cNvPr id="5" name="Группа 4">
            <a:extLst>
              <a:ext uri="{FF2B5EF4-FFF2-40B4-BE49-F238E27FC236}">
                <a16:creationId xmlns:a16="http://schemas.microsoft.com/office/drawing/2014/main" id="{8FB5842B-2424-E441-3633-4E0CFB21CD10}"/>
              </a:ext>
            </a:extLst>
          </p:cNvPr>
          <p:cNvGrpSpPr/>
          <p:nvPr/>
        </p:nvGrpSpPr>
        <p:grpSpPr>
          <a:xfrm>
            <a:off x="0" y="0"/>
            <a:ext cx="12192000" cy="1690688"/>
            <a:chOff x="0" y="0"/>
            <a:chExt cx="12192000" cy="1690688"/>
          </a:xfrm>
        </p:grpSpPr>
        <p:sp>
          <p:nvSpPr>
            <p:cNvPr id="6" name="Прямоугольник 5">
              <a:extLst>
                <a:ext uri="{FF2B5EF4-FFF2-40B4-BE49-F238E27FC236}">
                  <a16:creationId xmlns:a16="http://schemas.microsoft.com/office/drawing/2014/main" id="{F691A000-59EB-3714-5577-0F1B9C86E5DE}"/>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7" name="Прямоугольник: скругленные углы 6">
              <a:extLst>
                <a:ext uri="{FF2B5EF4-FFF2-40B4-BE49-F238E27FC236}">
                  <a16:creationId xmlns:a16="http://schemas.microsoft.com/office/drawing/2014/main" id="{C66B6F99-CB9E-E171-03EF-579132CE275E}"/>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Номер слайда 7">
            <a:extLst>
              <a:ext uri="{FF2B5EF4-FFF2-40B4-BE49-F238E27FC236}">
                <a16:creationId xmlns:a16="http://schemas.microsoft.com/office/drawing/2014/main" id="{F8C96F00-A94D-E5A3-DC3D-38FD17B25548}"/>
              </a:ext>
            </a:extLst>
          </p:cNvPr>
          <p:cNvSpPr>
            <a:spLocks noGrp="1"/>
          </p:cNvSpPr>
          <p:nvPr>
            <p:ph type="sldNum" sz="quarter" idx="12"/>
          </p:nvPr>
        </p:nvSpPr>
        <p:spPr/>
        <p:txBody>
          <a:bodyPr/>
          <a:lstStyle/>
          <a:p>
            <a:fld id="{D8214FA6-4742-421D-8B19-2C99196BD091}" type="slidenum">
              <a:rPr lang="ru-RU" smtClean="0"/>
              <a:t>36</a:t>
            </a:fld>
            <a:endParaRPr lang="ru-RU"/>
          </a:p>
        </p:txBody>
      </p:sp>
    </p:spTree>
    <p:extLst>
      <p:ext uri="{BB962C8B-B14F-4D97-AF65-F5344CB8AC3E}">
        <p14:creationId xmlns:p14="http://schemas.microsoft.com/office/powerpoint/2010/main" val="8129133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98069-B9A4-BFF6-01AA-AC8F454B527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45A4B0B-B38E-51EC-68F3-07DCF351665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A9D7652A-5B74-AF07-850D-9C2C978221B6}"/>
                  </a:ext>
                </a:extLst>
              </p:cNvPr>
              <p:cNvSpPr>
                <a:spLocks noGrp="1"/>
              </p:cNvSpPr>
              <p:nvPr>
                <p:ph idx="1"/>
              </p:nvPr>
            </p:nvSpPr>
            <p:spPr/>
            <p:txBody>
              <a:bodyPr>
                <a:noAutofit/>
              </a:bodyPr>
              <a:lstStyle/>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The current flowing from </a:t>
                </a:r>
                <a14:m>
                  <m:oMath xmlns:m="http://schemas.openxmlformats.org/officeDocument/2006/math">
                    <m:r>
                      <a:rPr lang="en-US" b="1" i="1">
                        <a:effectLst/>
                        <a:latin typeface="Cambria Math" panose="02040503050406030204" pitchFamily="18" charset="0"/>
                        <a:ea typeface="Aptos" panose="020B0004020202020204" pitchFamily="34" charset="0"/>
                      </a:rPr>
                      <m:t>𝑨</m:t>
                    </m:r>
                  </m:oMath>
                </a14:m>
                <a:r>
                  <a:rPr lang="en-US" b="1" dirty="0">
                    <a:effectLst/>
                    <a:latin typeface="Arial" panose="020B0604020202020204" pitchFamily="34" charset="0"/>
                    <a:ea typeface="Aptos" panose="020B0004020202020204" pitchFamily="34" charset="0"/>
                    <a:cs typeface="Arial" panose="020B0604020202020204" pitchFamily="34" charset="0"/>
                  </a:rPr>
                  <a:t> to </a:t>
                </a:r>
                <a14:m>
                  <m:oMath xmlns:m="http://schemas.openxmlformats.org/officeDocument/2006/math">
                    <m:r>
                      <a:rPr lang="en-US" b="1" i="1">
                        <a:effectLst/>
                        <a:latin typeface="Cambria Math" panose="02040503050406030204" pitchFamily="18" charset="0"/>
                        <a:ea typeface="Aptos" panose="020B0004020202020204" pitchFamily="34" charset="0"/>
                      </a:rPr>
                      <m:t>𝑩</m:t>
                    </m:r>
                  </m:oMath>
                </a14:m>
                <a:r>
                  <a:rPr lang="en-US" b="1" dirty="0">
                    <a:effectLst/>
                    <a:latin typeface="Arial" panose="020B0604020202020204" pitchFamily="34" charset="0"/>
                    <a:ea typeface="Aptos" panose="020B0004020202020204" pitchFamily="34" charset="0"/>
                    <a:cs typeface="Arial" panose="020B0604020202020204" pitchFamily="34" charset="0"/>
                  </a:rPr>
                  <a:t> is defined as the difference in potential divided by the resistance:</a:t>
                </a:r>
                <a:endParaRPr lang="ru-RU" b="1" dirty="0">
                  <a:effectLst/>
                  <a:latin typeface="Arial" panose="020B0604020202020204" pitchFamily="34" charset="0"/>
                  <a:ea typeface="Aptos" panose="020B0004020202020204" pitchFamily="34" charset="0"/>
                  <a:cs typeface="Arial" panose="020B0604020202020204" pitchFamily="34" charset="0"/>
                </a:endParaRP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sSub>
                        <m:sSubPr>
                          <m:ctrlPr>
                            <a:rPr lang="ru-RU" b="1" i="1">
                              <a:effectLst/>
                              <a:latin typeface="Cambria Math" panose="02040503050406030204" pitchFamily="18" charset="0"/>
                              <a:ea typeface="Aptos" panose="020B0004020202020204" pitchFamily="34" charset="0"/>
                              <a:cs typeface="Times New Roman" panose="02020603050405020304" pitchFamily="18" charset="0"/>
                            </a:rPr>
                          </m:ctrlPr>
                        </m:sSubPr>
                        <m:e>
                          <m:r>
                            <a:rPr lang="en-US" b="1" i="1">
                              <a:effectLst/>
                              <a:latin typeface="Cambria Math" panose="02040503050406030204" pitchFamily="18" charset="0"/>
                              <a:ea typeface="Aptos" panose="020B0004020202020204" pitchFamily="34" charset="0"/>
                              <a:cs typeface="Times New Roman" panose="02020603050405020304" pitchFamily="18" charset="0"/>
                            </a:rPr>
                            <m:t>𝒊</m:t>
                          </m:r>
                        </m:e>
                        <m:sub>
                          <m:r>
                            <a:rPr lang="en-US" b="1" i="1">
                              <a:effectLst/>
                              <a:latin typeface="Cambria Math" panose="02040503050406030204" pitchFamily="18" charset="0"/>
                              <a:ea typeface="Aptos" panose="020B0004020202020204" pitchFamily="34" charset="0"/>
                              <a:cs typeface="Times New Roman" panose="02020603050405020304" pitchFamily="18" charset="0"/>
                            </a:rPr>
                            <m:t>𝑨𝑩</m:t>
                          </m:r>
                        </m:sub>
                      </m:sSub>
                      <m:r>
                        <a:rPr lang="en-US" b="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b="1" i="1">
                              <a:effectLst/>
                              <a:latin typeface="Cambria Math" panose="02040503050406030204" pitchFamily="18" charset="0"/>
                              <a:ea typeface="Aptos" panose="020B0004020202020204" pitchFamily="34" charset="0"/>
                              <a:cs typeface="Times New Roman" panose="02020603050405020304" pitchFamily="18" charset="0"/>
                            </a:rPr>
                          </m:ctrlPr>
                        </m:fPr>
                        <m:num>
                          <m:sSub>
                            <m:sSubPr>
                              <m:ctrlPr>
                                <a:rPr lang="ru-RU" b="1" i="1">
                                  <a:effectLst/>
                                  <a:latin typeface="Cambria Math" panose="02040503050406030204" pitchFamily="18" charset="0"/>
                                  <a:ea typeface="Aptos" panose="020B0004020202020204" pitchFamily="34" charset="0"/>
                                  <a:cs typeface="Times New Roman" panose="02020603050405020304" pitchFamily="18" charset="0"/>
                                </a:rPr>
                              </m:ctrlPr>
                            </m:sSubPr>
                            <m:e>
                              <m:r>
                                <a:rPr lang="en-US" b="1" i="1">
                                  <a:effectLst/>
                                  <a:latin typeface="Cambria Math" panose="02040503050406030204" pitchFamily="18" charset="0"/>
                                  <a:ea typeface="Aptos" panose="020B0004020202020204" pitchFamily="34" charset="0"/>
                                  <a:cs typeface="Times New Roman" panose="02020603050405020304" pitchFamily="18" charset="0"/>
                                </a:rPr>
                                <m:t>𝒗</m:t>
                              </m:r>
                            </m:e>
                            <m:sub>
                              <m:r>
                                <a:rPr lang="en-US" b="1" i="1">
                                  <a:effectLst/>
                                  <a:latin typeface="Cambria Math" panose="02040503050406030204" pitchFamily="18" charset="0"/>
                                  <a:ea typeface="Aptos" panose="020B0004020202020204" pitchFamily="34" charset="0"/>
                                  <a:cs typeface="Times New Roman" panose="02020603050405020304" pitchFamily="18" charset="0"/>
                                </a:rPr>
                                <m:t>𝒂</m:t>
                              </m:r>
                            </m:sub>
                          </m:sSub>
                          <m:r>
                            <a:rPr lang="en-US" b="1" i="1">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b="1" i="1">
                                  <a:effectLst/>
                                  <a:latin typeface="Cambria Math" panose="02040503050406030204" pitchFamily="18" charset="0"/>
                                  <a:ea typeface="Aptos" panose="020B0004020202020204" pitchFamily="34" charset="0"/>
                                  <a:cs typeface="Times New Roman" panose="02020603050405020304" pitchFamily="18" charset="0"/>
                                </a:rPr>
                              </m:ctrlPr>
                            </m:sSubPr>
                            <m:e>
                              <m:r>
                                <a:rPr lang="en-US" b="1" i="1">
                                  <a:effectLst/>
                                  <a:latin typeface="Cambria Math" panose="02040503050406030204" pitchFamily="18" charset="0"/>
                                  <a:ea typeface="Aptos" panose="020B0004020202020204" pitchFamily="34" charset="0"/>
                                  <a:cs typeface="Times New Roman" panose="02020603050405020304" pitchFamily="18" charset="0"/>
                                </a:rPr>
                                <m:t>𝒗</m:t>
                              </m:r>
                            </m:e>
                            <m:sub>
                              <m:r>
                                <a:rPr lang="en-US" b="1" i="1">
                                  <a:effectLst/>
                                  <a:latin typeface="Cambria Math" panose="02040503050406030204" pitchFamily="18" charset="0"/>
                                  <a:ea typeface="Aptos" panose="020B0004020202020204" pitchFamily="34" charset="0"/>
                                  <a:cs typeface="Times New Roman" panose="02020603050405020304" pitchFamily="18" charset="0"/>
                                </a:rPr>
                                <m:t>𝒃</m:t>
                              </m:r>
                            </m:sub>
                          </m:sSub>
                        </m:num>
                        <m:den>
                          <m:r>
                            <a:rPr lang="en-US" b="1" i="1">
                              <a:effectLst/>
                              <a:latin typeface="Cambria Math" panose="02040503050406030204" pitchFamily="18" charset="0"/>
                              <a:ea typeface="Aptos" panose="020B0004020202020204" pitchFamily="34" charset="0"/>
                              <a:cs typeface="Times New Roman" panose="02020603050405020304" pitchFamily="18" charset="0"/>
                            </a:rPr>
                            <m:t>𝑹</m:t>
                          </m:r>
                        </m:den>
                      </m:f>
                      <m:r>
                        <a:rPr lang="en-US" b="1" i="1" smtClean="0">
                          <a:effectLst/>
                          <a:latin typeface="Cambria Math" panose="02040503050406030204" pitchFamily="18" charset="0"/>
                          <a:ea typeface="Aptos" panose="020B0004020202020204" pitchFamily="34" charset="0"/>
                          <a:cs typeface="Times New Roman" panose="02020603050405020304" pitchFamily="18" charset="0"/>
                        </a:rPr>
                        <m:t>.</m:t>
                      </m:r>
                    </m:oMath>
                  </m:oMathPara>
                </a14:m>
                <a:endParaRPr lang="ru-RU" b="1" dirty="0">
                  <a:effectLst/>
                  <a:latin typeface="Arial" panose="020B0604020202020204" pitchFamily="34" charset="0"/>
                  <a:ea typeface="Aptos" panose="020B0004020202020204" pitchFamily="34" charset="0"/>
                  <a:cs typeface="Arial" panose="020B0604020202020204" pitchFamily="34" charset="0"/>
                </a:endParaRPr>
              </a:p>
              <a:p>
                <a:r>
                  <a:rPr lang="en-US" b="1" dirty="0">
                    <a:effectLst/>
                    <a:latin typeface="Arial" panose="020B0604020202020204" pitchFamily="34" charset="0"/>
                    <a:ea typeface="Aptos" panose="020B0004020202020204" pitchFamily="34" charset="0"/>
                    <a:cs typeface="Arial" panose="020B0604020202020204" pitchFamily="34" charset="0"/>
                  </a:rPr>
                  <a:t>This is the fundamental equation of Nodal Analysis.</a:t>
                </a:r>
                <a:endParaRPr lang="en-US" dirty="0">
                  <a:effectLst/>
                  <a:latin typeface="Arial" panose="020B0604020202020204" pitchFamily="34" charset="0"/>
                  <a:ea typeface="Aptos" panose="020B00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It combines Ohm's Law and KCL into a single step.</a:t>
                </a:r>
                <a:endParaRPr lang="ru-RU" dirty="0">
                  <a:latin typeface="Arial" panose="020B06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A9D7652A-5B74-AF07-850D-9C2C978221B6}"/>
                  </a:ext>
                </a:extLst>
              </p:cNvPr>
              <p:cNvSpPr>
                <a:spLocks noGrp="1" noRot="1" noChangeAspect="1" noMove="1" noResize="1" noEditPoints="1" noAdjustHandles="1" noChangeArrowheads="1" noChangeShapeType="1" noTextEdit="1"/>
              </p:cNvSpPr>
              <p:nvPr>
                <p:ph idx="1"/>
              </p:nvPr>
            </p:nvSpPr>
            <p:spPr>
              <a:blipFill>
                <a:blip r:embed="rId2"/>
                <a:stretch>
                  <a:fillRect l="-1043" t="-560" r="-1159"/>
                </a:stretch>
              </a:blipFill>
            </p:spPr>
            <p:txBody>
              <a:bodyPr/>
              <a:lstStyle/>
              <a:p>
                <a:r>
                  <a:rPr lang="ru-RU">
                    <a:noFill/>
                  </a:rPr>
                  <a:t> </a:t>
                </a:r>
              </a:p>
            </p:txBody>
          </p:sp>
        </mc:Fallback>
      </mc:AlternateContent>
      <p:pic>
        <p:nvPicPr>
          <p:cNvPr id="4" name="Рисунок 3">
            <a:extLst>
              <a:ext uri="{FF2B5EF4-FFF2-40B4-BE49-F238E27FC236}">
                <a16:creationId xmlns:a16="http://schemas.microsoft.com/office/drawing/2014/main" id="{F7722B9E-FD47-975D-45C5-A2006794C6B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617771" y="4905622"/>
            <a:ext cx="2956457" cy="1952378"/>
          </a:xfrm>
          <a:prstGeom prst="rect">
            <a:avLst/>
          </a:prstGeom>
        </p:spPr>
      </p:pic>
      <p:grpSp>
        <p:nvGrpSpPr>
          <p:cNvPr id="5" name="Группа 4">
            <a:extLst>
              <a:ext uri="{FF2B5EF4-FFF2-40B4-BE49-F238E27FC236}">
                <a16:creationId xmlns:a16="http://schemas.microsoft.com/office/drawing/2014/main" id="{12B497FD-6CAC-7F6E-835A-1BEFC37AA1FA}"/>
              </a:ext>
            </a:extLst>
          </p:cNvPr>
          <p:cNvGrpSpPr/>
          <p:nvPr/>
        </p:nvGrpSpPr>
        <p:grpSpPr>
          <a:xfrm>
            <a:off x="0" y="0"/>
            <a:ext cx="12192000" cy="1690688"/>
            <a:chOff x="0" y="0"/>
            <a:chExt cx="12192000" cy="1690688"/>
          </a:xfrm>
        </p:grpSpPr>
        <p:sp>
          <p:nvSpPr>
            <p:cNvPr id="6" name="Прямоугольник 5">
              <a:extLst>
                <a:ext uri="{FF2B5EF4-FFF2-40B4-BE49-F238E27FC236}">
                  <a16:creationId xmlns:a16="http://schemas.microsoft.com/office/drawing/2014/main" id="{DDD44C9D-E26D-9D3D-AA15-0C8AA397C392}"/>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7" name="Прямоугольник: скругленные углы 6">
              <a:extLst>
                <a:ext uri="{FF2B5EF4-FFF2-40B4-BE49-F238E27FC236}">
                  <a16:creationId xmlns:a16="http://schemas.microsoft.com/office/drawing/2014/main" id="{E73E0C7E-C8E4-1505-A98C-4C0F2925845B}"/>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Номер слайда 7">
            <a:extLst>
              <a:ext uri="{FF2B5EF4-FFF2-40B4-BE49-F238E27FC236}">
                <a16:creationId xmlns:a16="http://schemas.microsoft.com/office/drawing/2014/main" id="{0F72845B-7212-7A0A-919D-74AA88859E52}"/>
              </a:ext>
            </a:extLst>
          </p:cNvPr>
          <p:cNvSpPr>
            <a:spLocks noGrp="1"/>
          </p:cNvSpPr>
          <p:nvPr>
            <p:ph type="sldNum" sz="quarter" idx="12"/>
          </p:nvPr>
        </p:nvSpPr>
        <p:spPr/>
        <p:txBody>
          <a:bodyPr/>
          <a:lstStyle/>
          <a:p>
            <a:fld id="{D8214FA6-4742-421D-8B19-2C99196BD091}" type="slidenum">
              <a:rPr lang="ru-RU" smtClean="0"/>
              <a:t>37</a:t>
            </a:fld>
            <a:endParaRPr lang="ru-RU"/>
          </a:p>
        </p:txBody>
      </p:sp>
    </p:spTree>
    <p:extLst>
      <p:ext uri="{BB962C8B-B14F-4D97-AF65-F5344CB8AC3E}">
        <p14:creationId xmlns:p14="http://schemas.microsoft.com/office/powerpoint/2010/main" val="6991896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a:xfrm>
                <a:off x="838199" y="1825625"/>
                <a:ext cx="10840453" cy="4351338"/>
              </a:xfrm>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We follow this systematic </a:t>
                </a:r>
                <a:r>
                  <a:rPr lang="en-US" b="1" dirty="0">
                    <a:effectLst/>
                    <a:latin typeface="Arial" panose="020B0604020202020204" pitchFamily="34" charset="0"/>
                    <a:ea typeface="Aptos" panose="020B0004020202020204" pitchFamily="34" charset="0"/>
                    <a:cs typeface="Arial" panose="020B0604020202020204" pitchFamily="34" charset="0"/>
                  </a:rPr>
                  <a:t>Algorithm for Nodal Analysis:</a:t>
                </a:r>
                <a:endParaRPr lang="ru-RU" b="1" dirty="0">
                  <a:effectLst/>
                  <a:latin typeface="Arial" panose="020B0604020202020204" pitchFamily="34" charset="0"/>
                  <a:ea typeface="Aptos" panose="020B0004020202020204" pitchFamily="34" charset="0"/>
                  <a:cs typeface="Arial" panose="020B0604020202020204" pitchFamily="34" charset="0"/>
                </a:endParaRPr>
              </a:p>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select a Reference Node (Ground)</a:t>
                </a:r>
                <a:r>
                  <a:rPr lang="en-US" b="1" dirty="0">
                    <a:latin typeface="Arial" panose="020B0604020202020204" pitchFamily="34" charset="0"/>
                    <a:ea typeface="Aptos" panose="020B0004020202020204" pitchFamily="34" charset="0"/>
                    <a:cs typeface="Arial" panose="020B0604020202020204" pitchFamily="34" charset="0"/>
                  </a:rPr>
                  <a:t>. </a:t>
                </a:r>
                <a:r>
                  <a:rPr lang="en-US" dirty="0">
                    <a:latin typeface="Arial" panose="020B0604020202020204" pitchFamily="34" charset="0"/>
                    <a:ea typeface="Aptos" panose="020B0004020202020204" pitchFamily="34" charset="0"/>
                    <a:cs typeface="Arial" panose="020B0604020202020204" pitchFamily="34" charset="0"/>
                  </a:rPr>
                  <a:t>Usually, we choose the node with the most connections or the negative terminal of the main source.</a:t>
                </a:r>
                <a:r>
                  <a:rPr lang="en-US" b="1" dirty="0">
                    <a:latin typeface="Arial" panose="020B0604020202020204" pitchFamily="34" charset="0"/>
                    <a:ea typeface="Aptos" panose="020B0004020202020204" pitchFamily="34" charset="0"/>
                    <a:cs typeface="Arial" panose="020B0604020202020204" pitchFamily="34" charset="0"/>
                  </a:rPr>
                  <a:t> </a:t>
                </a:r>
                <a:r>
                  <a:rPr lang="en-US" b="1" dirty="0">
                    <a:effectLst/>
                    <a:latin typeface="Arial" panose="020B0604020202020204" pitchFamily="34" charset="0"/>
                    <a:ea typeface="Aptos" panose="020B0004020202020204" pitchFamily="34" charset="0"/>
                    <a:cs typeface="Arial" panose="020B0604020202020204" pitchFamily="34" charset="0"/>
                  </a:rPr>
                  <a:t>label its potential as </a:t>
                </a:r>
                <a14:m>
                  <m:oMath xmlns:m="http://schemas.openxmlformats.org/officeDocument/2006/math">
                    <m:r>
                      <a:rPr lang="en-US" b="1" i="1" smtClean="0">
                        <a:effectLst/>
                        <a:latin typeface="Cambria Math" panose="02040503050406030204" pitchFamily="18" charset="0"/>
                        <a:ea typeface="Aptos" panose="020B0004020202020204" pitchFamily="34" charset="0"/>
                      </a:rPr>
                      <m:t>𝟎</m:t>
                    </m:r>
                  </m:oMath>
                </a14:m>
                <a:r>
                  <a:rPr lang="en-US" b="1" dirty="0">
                    <a:effectLst/>
                    <a:latin typeface="Arial" panose="020B0604020202020204" pitchFamily="34" charset="0"/>
                    <a:ea typeface="Aptos" panose="020B0004020202020204" pitchFamily="34" charset="0"/>
                    <a:cs typeface="Arial" panose="020B0604020202020204" pitchFamily="34" charset="0"/>
                  </a:rPr>
                  <a:t> V;</a:t>
                </a:r>
                <a:endParaRPr lang="ru-RU" b="1" dirty="0">
                  <a:effectLst/>
                  <a:latin typeface="Arial" panose="020B0604020202020204" pitchFamily="34" charset="0"/>
                  <a:ea typeface="Aptos" panose="020B0004020202020204" pitchFamily="34" charset="0"/>
                  <a:cs typeface="Arial" panose="020B0604020202020204" pitchFamily="34" charset="0"/>
                </a:endParaRPr>
              </a:p>
              <a:p>
                <a:pPr algn="just">
                  <a:lnSpc>
                    <a:spcPct val="120000"/>
                  </a:lnSpc>
                </a:pPr>
                <a:r>
                  <a:rPr lang="en-US" b="1" dirty="0">
                    <a:latin typeface="Arial" panose="020B0604020202020204" pitchFamily="34" charset="0"/>
                    <a:ea typeface="Aptos" panose="020B0004020202020204" pitchFamily="34" charset="0"/>
                    <a:cs typeface="Arial" panose="020B0604020202020204" pitchFamily="34" charset="0"/>
                  </a:rPr>
                  <a:t>l</a:t>
                </a:r>
                <a:r>
                  <a:rPr lang="en-US" b="1" dirty="0">
                    <a:effectLst/>
                    <a:latin typeface="Arial" panose="020B0604020202020204" pitchFamily="34" charset="0"/>
                    <a:ea typeface="Aptos" panose="020B0004020202020204" pitchFamily="34" charset="0"/>
                    <a:cs typeface="Arial" panose="020B0604020202020204" pitchFamily="34" charset="0"/>
                  </a:rPr>
                  <a:t>abel the potentials of the remaining nodes as variables </a:t>
                </a:r>
                <a14:m>
                  <m:oMath xmlns:m="http://schemas.openxmlformats.org/officeDocument/2006/math">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𝒗</m:t>
                        </m:r>
                      </m:e>
                      <m:sub>
                        <m:r>
                          <a:rPr lang="en-US" b="1" i="1" smtClean="0">
                            <a:effectLst/>
                            <a:latin typeface="Cambria Math" panose="02040503050406030204" pitchFamily="18" charset="0"/>
                            <a:ea typeface="Aptos" panose="020B0004020202020204" pitchFamily="34" charset="0"/>
                          </a:rPr>
                          <m:t>𝟏</m:t>
                        </m:r>
                      </m:sub>
                    </m:sSub>
                    <m:r>
                      <a:rPr lang="en-US" b="1" smtClean="0">
                        <a:effectLst/>
                        <a:latin typeface="Cambria Math" panose="02040503050406030204" pitchFamily="18" charset="0"/>
                        <a:ea typeface="Aptos" panose="020B0004020202020204" pitchFamily="34" charset="0"/>
                      </a:rPr>
                      <m:t>,</m:t>
                    </m:r>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𝒗</m:t>
                        </m:r>
                      </m:e>
                      <m:sub>
                        <m:r>
                          <a:rPr lang="en-US" b="1" i="1" smtClean="0">
                            <a:effectLst/>
                            <a:latin typeface="Cambria Math" panose="02040503050406030204" pitchFamily="18" charset="0"/>
                            <a:ea typeface="Aptos" panose="020B0004020202020204" pitchFamily="34" charset="0"/>
                          </a:rPr>
                          <m:t>𝟐</m:t>
                        </m:r>
                      </m:sub>
                    </m:sSub>
                    <m:r>
                      <a:rPr lang="en-US" b="1" smtClean="0">
                        <a:effectLst/>
                        <a:latin typeface="Cambria Math" panose="02040503050406030204" pitchFamily="18" charset="0"/>
                        <a:ea typeface="Aptos" panose="020B0004020202020204" pitchFamily="34" charset="0"/>
                      </a:rPr>
                      <m:t>,...</m:t>
                    </m:r>
                  </m:oMath>
                </a14:m>
                <a:r>
                  <a:rPr lang="en-US" b="1" dirty="0">
                    <a:effectLst/>
                    <a:latin typeface="Arial" panose="020B0604020202020204" pitchFamily="34" charset="0"/>
                    <a:ea typeface="Aptos" panose="020B0004020202020204" pitchFamily="34" charset="0"/>
                    <a:cs typeface="Arial" panose="020B0604020202020204" pitchFamily="34" charset="0"/>
                  </a:rPr>
                  <a:t>.</a:t>
                </a:r>
                <a:endParaRPr lang="ru-RU" b="1" dirty="0">
                  <a:effectLst/>
                  <a:latin typeface="Arial" panose="020B0604020202020204" pitchFamily="34" charset="0"/>
                  <a:ea typeface="Aptos" panose="020B00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38B32713-8DC8-A19D-A317-628052EECCD1}"/>
                  </a:ext>
                </a:extLst>
              </p:cNvPr>
              <p:cNvSpPr>
                <a:spLocks noGrp="1" noRot="1" noChangeAspect="1" noMove="1" noResize="1" noEditPoints="1" noAdjustHandles="1" noChangeArrowheads="1" noChangeShapeType="1" noTextEdit="1"/>
              </p:cNvSpPr>
              <p:nvPr>
                <p:ph idx="1"/>
              </p:nvPr>
            </p:nvSpPr>
            <p:spPr>
              <a:xfrm>
                <a:off x="838199" y="1825625"/>
                <a:ext cx="10840453" cy="4351338"/>
              </a:xfrm>
              <a:blipFill>
                <a:blip r:embed="rId2"/>
                <a:stretch>
                  <a:fillRect l="-956" t="-560" r="-1124"/>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CEA2003F-3925-1853-400F-50852C96BA7D}"/>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4E3FDA10-B849-EDCF-3D48-AA5F4BA33E3B}"/>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103781EB-559F-412C-7AF4-E95A1070FFEF}"/>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2B65865E-E877-E842-3791-29FC1E01EAAC}"/>
              </a:ext>
            </a:extLst>
          </p:cNvPr>
          <p:cNvSpPr>
            <a:spLocks noGrp="1"/>
          </p:cNvSpPr>
          <p:nvPr>
            <p:ph type="sldNum" sz="quarter" idx="12"/>
          </p:nvPr>
        </p:nvSpPr>
        <p:spPr/>
        <p:txBody>
          <a:bodyPr/>
          <a:lstStyle/>
          <a:p>
            <a:fld id="{D8214FA6-4742-421D-8B19-2C99196BD091}" type="slidenum">
              <a:rPr lang="ru-RU" smtClean="0"/>
              <a:t>38</a:t>
            </a:fld>
            <a:endParaRPr lang="ru-RU"/>
          </a:p>
        </p:txBody>
      </p:sp>
    </p:spTree>
    <p:extLst>
      <p:ext uri="{BB962C8B-B14F-4D97-AF65-F5344CB8AC3E}">
        <p14:creationId xmlns:p14="http://schemas.microsoft.com/office/powerpoint/2010/main" val="21164756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98008-DDE2-0AC7-171E-BC82361723F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631C638-C55F-3E07-F4EA-F29FECBB2CF7}"/>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C8BBEC64-3584-7BD6-92F7-622201203CF1}"/>
                  </a:ext>
                </a:extLst>
              </p:cNvPr>
              <p:cNvSpPr>
                <a:spLocks noGrp="1"/>
              </p:cNvSpPr>
              <p:nvPr>
                <p:ph idx="1"/>
              </p:nvPr>
            </p:nvSpPr>
            <p:spPr>
              <a:xfrm>
                <a:off x="838199" y="1825625"/>
                <a:ext cx="10840453" cy="4351338"/>
              </a:xfrm>
            </p:spPr>
            <p:txBody>
              <a:bodyPr>
                <a:noAutofit/>
              </a:bodyPr>
              <a:lstStyle/>
              <a:p>
                <a:pPr algn="just">
                  <a:lnSpc>
                    <a:spcPct val="120000"/>
                  </a:lnSpc>
                </a:pPr>
                <a:r>
                  <a:rPr lang="en-US" b="1" dirty="0">
                    <a:latin typeface="Arial" panose="020B0604020202020204" pitchFamily="34" charset="0"/>
                    <a:ea typeface="Aptos" panose="020B0004020202020204" pitchFamily="34" charset="0"/>
                    <a:cs typeface="Arial" panose="020B0604020202020204" pitchFamily="34" charset="0"/>
                  </a:rPr>
                  <a:t>w</a:t>
                </a:r>
                <a:r>
                  <a:rPr lang="en-US" b="1" dirty="0">
                    <a:effectLst/>
                    <a:latin typeface="Arial" panose="020B0604020202020204" pitchFamily="34" charset="0"/>
                    <a:ea typeface="Aptos" panose="020B0004020202020204" pitchFamily="34" charset="0"/>
                    <a:cs typeface="Arial" panose="020B0604020202020204" pitchFamily="34" charset="0"/>
                  </a:rPr>
                  <a:t>rite a KCL equation for each non-reference node. </a:t>
                </a:r>
                <a:r>
                  <a:rPr lang="en-US" dirty="0">
                    <a:effectLst/>
                    <a:latin typeface="Arial" panose="020B0604020202020204" pitchFamily="34" charset="0"/>
                    <a:ea typeface="Aptos" panose="020B0004020202020204" pitchFamily="34" charset="0"/>
                    <a:cs typeface="Arial" panose="020B0604020202020204" pitchFamily="34" charset="0"/>
                  </a:rPr>
                  <a:t>Express every branch current as </a:t>
                </a:r>
                <a:endParaRPr lang="ru-RU" dirty="0">
                  <a:effectLst/>
                  <a:latin typeface="Arial" panose="020B0604020202020204" pitchFamily="34" charset="0"/>
                  <a:ea typeface="Aptos" panose="020B0004020202020204" pitchFamily="34" charset="0"/>
                  <a:cs typeface="Arial" panose="020B0604020202020204" pitchFamily="34" charset="0"/>
                </a:endParaRPr>
              </a:p>
              <a:p>
                <a:pPr marL="0" indent="0" algn="ctr">
                  <a:lnSpc>
                    <a:spcPct val="120000"/>
                  </a:lnSpc>
                  <a:buNone/>
                </a:pPr>
                <a14:m>
                  <m:oMathPara xmlns:m="http://schemas.openxmlformats.org/officeDocument/2006/math">
                    <m:oMathParaPr>
                      <m:jc m:val="centerGroup"/>
                    </m:oMathParaPr>
                    <m:oMath xmlns:m="http://schemas.openxmlformats.org/officeDocument/2006/math">
                      <m:f>
                        <m:fPr>
                          <m:ctrlPr>
                            <a:rPr lang="ru-RU" b="1" i="1">
                              <a:effectLst/>
                              <a:latin typeface="Cambria Math" panose="02040503050406030204" pitchFamily="18" charset="0"/>
                              <a:ea typeface="Aptos" panose="020B0004020202020204" pitchFamily="34" charset="0"/>
                            </a:rPr>
                          </m:ctrlPr>
                        </m:fPr>
                        <m:num>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𝒗</m:t>
                              </m:r>
                            </m:e>
                            <m:sub>
                              <m:r>
                                <a:rPr lang="en-US" b="1" i="1" smtClean="0">
                                  <a:effectLst/>
                                  <a:latin typeface="Cambria Math" panose="02040503050406030204" pitchFamily="18" charset="0"/>
                                  <a:ea typeface="Aptos" panose="020B0004020202020204" pitchFamily="34" charset="0"/>
                                </a:rPr>
                                <m:t>𝒏𝒐𝒅𝒆</m:t>
                              </m:r>
                            </m:sub>
                          </m:sSub>
                          <m:r>
                            <a:rPr lang="en-US" b="1" i="1" smtClean="0">
                              <a:effectLst/>
                              <a:latin typeface="Cambria Math" panose="02040503050406030204" pitchFamily="18" charset="0"/>
                              <a:ea typeface="Aptos" panose="020B0004020202020204" pitchFamily="34" charset="0"/>
                            </a:rPr>
                            <m:t>−</m:t>
                          </m:r>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𝒗</m:t>
                              </m:r>
                            </m:e>
                            <m:sub>
                              <m:r>
                                <a:rPr lang="en-US" b="1" i="1" smtClean="0">
                                  <a:effectLst/>
                                  <a:latin typeface="Cambria Math" panose="02040503050406030204" pitchFamily="18" charset="0"/>
                                  <a:ea typeface="Aptos" panose="020B0004020202020204" pitchFamily="34" charset="0"/>
                                </a:rPr>
                                <m:t>𝒏𝒆𝒊𝒈𝒉𝒃𝒐𝒓</m:t>
                              </m:r>
                            </m:sub>
                          </m:sSub>
                        </m:num>
                        <m:den>
                          <m:r>
                            <a:rPr lang="en-US" b="1" i="1" smtClean="0">
                              <a:effectLst/>
                              <a:latin typeface="Cambria Math" panose="02040503050406030204" pitchFamily="18" charset="0"/>
                              <a:ea typeface="Aptos" panose="020B0004020202020204" pitchFamily="34" charset="0"/>
                            </a:rPr>
                            <m:t>𝑹</m:t>
                          </m:r>
                        </m:den>
                      </m:f>
                      <m:r>
                        <a:rPr lang="en-US" b="1" i="1" smtClean="0">
                          <a:effectLst/>
                          <a:latin typeface="Cambria Math" panose="02040503050406030204" pitchFamily="18" charset="0"/>
                          <a:ea typeface="Aptos" panose="020B0004020202020204" pitchFamily="34" charset="0"/>
                        </a:rPr>
                        <m:t>,</m:t>
                      </m:r>
                    </m:oMath>
                  </m:oMathPara>
                </a14:m>
                <a:endParaRPr lang="ru-RU" b="1" dirty="0">
                  <a:effectLst/>
                  <a:latin typeface="Arial" panose="020B0604020202020204" pitchFamily="34" charset="0"/>
                  <a:ea typeface="Aptos" panose="020B00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C8BBEC64-3584-7BD6-92F7-622201203CF1}"/>
                  </a:ext>
                </a:extLst>
              </p:cNvPr>
              <p:cNvSpPr>
                <a:spLocks noGrp="1" noRot="1" noChangeAspect="1" noMove="1" noResize="1" noEditPoints="1" noAdjustHandles="1" noChangeArrowheads="1" noChangeShapeType="1" noTextEdit="1"/>
              </p:cNvSpPr>
              <p:nvPr>
                <p:ph idx="1"/>
              </p:nvPr>
            </p:nvSpPr>
            <p:spPr>
              <a:xfrm>
                <a:off x="838199" y="1825625"/>
                <a:ext cx="10840453" cy="4351338"/>
              </a:xfrm>
              <a:blipFill>
                <a:blip r:embed="rId2"/>
                <a:stretch>
                  <a:fillRect l="-956" t="-560" r="-1124"/>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91100AD2-CE8C-B782-7592-C833F79EBEF5}"/>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E684D3B3-9EEF-3CE0-A817-F7C95F4D9532}"/>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9B6E86F0-FE46-E842-4BBC-9D4A75938932}"/>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848250FA-F8C2-B1D0-0A04-0B613D07DD59}"/>
              </a:ext>
            </a:extLst>
          </p:cNvPr>
          <p:cNvSpPr>
            <a:spLocks noGrp="1"/>
          </p:cNvSpPr>
          <p:nvPr>
            <p:ph type="sldNum" sz="quarter" idx="12"/>
          </p:nvPr>
        </p:nvSpPr>
        <p:spPr/>
        <p:txBody>
          <a:bodyPr/>
          <a:lstStyle/>
          <a:p>
            <a:fld id="{D8214FA6-4742-421D-8B19-2C99196BD091}" type="slidenum">
              <a:rPr lang="ru-RU" smtClean="0"/>
              <a:t>39</a:t>
            </a:fld>
            <a:endParaRPr lang="ru-RU"/>
          </a:p>
        </p:txBody>
      </p:sp>
    </p:spTree>
    <p:extLst>
      <p:ext uri="{BB962C8B-B14F-4D97-AF65-F5344CB8AC3E}">
        <p14:creationId xmlns:p14="http://schemas.microsoft.com/office/powerpoint/2010/main" val="32832382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Autofit/>
              </a:bodyPr>
              <a:lstStyle/>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if a current leaves the node, treat it as positive. </a:t>
                </a:r>
                <a:endParaRPr lang="ru-RU" b="1" dirty="0">
                  <a:effectLst/>
                  <a:latin typeface="Arial" panose="020B0604020202020204" pitchFamily="34" charset="0"/>
                  <a:ea typeface="Aptos" panose="020B0004020202020204" pitchFamily="34" charset="0"/>
                  <a:cs typeface="Arial" panose="020B0604020202020204" pitchFamily="34" charset="0"/>
                </a:endParaRPr>
              </a:p>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If a current enters the node (from a source), treat it as negative;</a:t>
                </a:r>
                <a:endParaRPr lang="ru-RU" b="1" dirty="0">
                  <a:effectLst/>
                  <a:latin typeface="Arial" panose="020B0604020202020204" pitchFamily="34" charset="0"/>
                  <a:ea typeface="Aptos" panose="020B0004020202020204" pitchFamily="34" charset="0"/>
                  <a:cs typeface="Arial" panose="020B0604020202020204" pitchFamily="34" charset="0"/>
                </a:endParaRPr>
              </a:p>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solve the system of equations to find the node voltages.</a:t>
                </a:r>
                <a:endParaRPr lang="ru-RU" b="1" dirty="0">
                  <a:effectLst/>
                  <a:latin typeface="Arial" panose="020B0604020202020204" pitchFamily="34" charset="0"/>
                  <a:ea typeface="Aptos" panose="020B0004020202020204" pitchFamily="34" charset="0"/>
                  <a:cs typeface="Arial" panose="020B0604020202020204" pitchFamily="34" charset="0"/>
                </a:endParaRPr>
              </a:p>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Once the node voltages are known, the branch currents can be easily calculated using the equation </a:t>
                </a:r>
                <a14:m>
                  <m:oMath xmlns:m="http://schemas.openxmlformats.org/officeDocument/2006/math">
                    <m:r>
                      <a:rPr lang="en-US" b="1" i="1" smtClean="0">
                        <a:effectLst/>
                        <a:latin typeface="Cambria Math" panose="02040503050406030204" pitchFamily="18" charset="0"/>
                        <a:ea typeface="Aptos" panose="020B0004020202020204" pitchFamily="34" charset="0"/>
                      </a:rPr>
                      <m:t>𝒊</m:t>
                    </m:r>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𝜟</m:t>
                    </m:r>
                    <m:r>
                      <a:rPr lang="en-US" b="1" i="1" smtClean="0">
                        <a:effectLst/>
                        <a:latin typeface="Cambria Math" panose="02040503050406030204" pitchFamily="18" charset="0"/>
                        <a:ea typeface="Aptos" panose="020B0004020202020204" pitchFamily="34" charset="0"/>
                      </a:rPr>
                      <m:t>𝒗</m:t>
                    </m:r>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𝑹</m:t>
                    </m:r>
                  </m:oMath>
                </a14:m>
                <a:r>
                  <a:rPr lang="en-US" b="1" dirty="0">
                    <a:effectLst/>
                    <a:latin typeface="Arial" panose="020B0604020202020204" pitchFamily="34" charset="0"/>
                    <a:ea typeface="Aptos" panose="020B0004020202020204" pitchFamily="34" charset="0"/>
                    <a:cs typeface="Arial" panose="020B0604020202020204" pitchFamily="34" charset="0"/>
                  </a:rPr>
                  <a:t>.</a:t>
                </a:r>
                <a:endParaRPr lang="ru-RU" b="1" dirty="0">
                  <a:effectLst/>
                  <a:latin typeface="Arial" panose="020B0604020202020204" pitchFamily="34" charset="0"/>
                  <a:ea typeface="Aptos" panose="020B00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38B32713-8DC8-A19D-A317-628052EECCD1}"/>
                  </a:ext>
                </a:extLst>
              </p:cNvPr>
              <p:cNvSpPr>
                <a:spLocks noGrp="1" noRot="1" noChangeAspect="1" noMove="1" noResize="1" noEditPoints="1" noAdjustHandles="1" noChangeArrowheads="1" noChangeShapeType="1" noTextEdit="1"/>
              </p:cNvSpPr>
              <p:nvPr>
                <p:ph idx="1"/>
              </p:nvPr>
            </p:nvSpPr>
            <p:spPr>
              <a:blipFill>
                <a:blip r:embed="rId2"/>
                <a:stretch>
                  <a:fillRect l="-1043" t="-560"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B29410CE-ADCE-DEE9-606F-ADD5959B4EEE}"/>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2E924592-60AA-1DE2-8B7D-6BDA42820CA1}"/>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1F016492-B3D0-E445-A022-0E7D9517F467}"/>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D1ECBBC1-D2F6-761D-8982-F014851AB0DE}"/>
              </a:ext>
            </a:extLst>
          </p:cNvPr>
          <p:cNvSpPr>
            <a:spLocks noGrp="1"/>
          </p:cNvSpPr>
          <p:nvPr>
            <p:ph type="sldNum" sz="quarter" idx="12"/>
          </p:nvPr>
        </p:nvSpPr>
        <p:spPr/>
        <p:txBody>
          <a:bodyPr/>
          <a:lstStyle/>
          <a:p>
            <a:fld id="{D8214FA6-4742-421D-8B19-2C99196BD091}" type="slidenum">
              <a:rPr lang="ru-RU" smtClean="0"/>
              <a:t>40</a:t>
            </a:fld>
            <a:endParaRPr lang="ru-RU"/>
          </a:p>
        </p:txBody>
      </p:sp>
    </p:spTree>
    <p:extLst>
      <p:ext uri="{BB962C8B-B14F-4D97-AF65-F5344CB8AC3E}">
        <p14:creationId xmlns:p14="http://schemas.microsoft.com/office/powerpoint/2010/main" val="18472959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Autofit/>
          </a:bodyPr>
          <a:lstStyle/>
          <a:p>
            <a:pPr algn="just">
              <a:lnSpc>
                <a:spcPct val="120000"/>
              </a:lnSpc>
            </a:pPr>
            <a:r>
              <a:rPr lang="en-US" dirty="0">
                <a:latin typeface="Arial" panose="020B0604020202020204" pitchFamily="34" charset="0"/>
                <a:ea typeface="Aptos" panose="020B0004020202020204" pitchFamily="34" charset="0"/>
                <a:cs typeface="Arial" panose="020B0604020202020204" pitchFamily="34" charset="0"/>
              </a:rPr>
              <a:t>Let us look at a specific case involving current sources. </a:t>
            </a:r>
          </a:p>
          <a:p>
            <a:pPr algn="just">
              <a:lnSpc>
                <a:spcPct val="120000"/>
              </a:lnSpc>
            </a:pPr>
            <a:r>
              <a:rPr lang="en-US" dirty="0">
                <a:latin typeface="Arial" panose="020B0604020202020204" pitchFamily="34" charset="0"/>
                <a:ea typeface="Aptos" panose="020B0004020202020204" pitchFamily="34" charset="0"/>
                <a:cs typeface="Arial" panose="020B0604020202020204" pitchFamily="34" charset="0"/>
              </a:rPr>
              <a:t>Nodal analysis is extremely powerful when the circuit contains independent current sources. </a:t>
            </a:r>
          </a:p>
          <a:p>
            <a:pPr algn="just">
              <a:lnSpc>
                <a:spcPct val="120000"/>
              </a:lnSpc>
            </a:pPr>
            <a:r>
              <a:rPr lang="en-US" dirty="0">
                <a:latin typeface="Arial" panose="020B0604020202020204" pitchFamily="34" charset="0"/>
                <a:ea typeface="Aptos" panose="020B0004020202020204" pitchFamily="34" charset="0"/>
                <a:cs typeface="Arial" panose="020B0604020202020204" pitchFamily="34" charset="0"/>
              </a:rPr>
              <a:t>Because a current source forces a known value into the node, we do not need to use the v/R term for that branch; </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1EE33C53-471C-DCEA-B9BE-DE2B74A1A71F}"/>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5908981C-0BFD-2F9E-86EE-29DBDA1E2CDA}"/>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774D4248-49D5-D729-D7D6-5798511C9438}"/>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BEB6A42C-EF7F-724E-9F95-D24ED5DD2CFE}"/>
              </a:ext>
            </a:extLst>
          </p:cNvPr>
          <p:cNvSpPr>
            <a:spLocks noGrp="1"/>
          </p:cNvSpPr>
          <p:nvPr>
            <p:ph type="sldNum" sz="quarter" idx="12"/>
          </p:nvPr>
        </p:nvSpPr>
        <p:spPr/>
        <p:txBody>
          <a:bodyPr/>
          <a:lstStyle/>
          <a:p>
            <a:fld id="{D8214FA6-4742-421D-8B19-2C99196BD091}" type="slidenum">
              <a:rPr lang="ru-RU" smtClean="0"/>
              <a:t>41</a:t>
            </a:fld>
            <a:endParaRPr lang="ru-RU"/>
          </a:p>
        </p:txBody>
      </p:sp>
    </p:spTree>
    <p:extLst>
      <p:ext uri="{BB962C8B-B14F-4D97-AF65-F5344CB8AC3E}">
        <p14:creationId xmlns:p14="http://schemas.microsoft.com/office/powerpoint/2010/main" val="34867211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D0A5F-8FB2-BF08-0432-A63412F381E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C8FCD2-397A-9CF3-7886-DFA6C35445B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86615D72-F952-D37C-0312-1BC37ACAD21A}"/>
              </a:ext>
            </a:extLst>
          </p:cNvPr>
          <p:cNvSpPr>
            <a:spLocks noGrp="1"/>
          </p:cNvSpPr>
          <p:nvPr>
            <p:ph idx="1"/>
          </p:nvPr>
        </p:nvSpPr>
        <p:spPr/>
        <p:txBody>
          <a:bodyPr>
            <a:noAutofit/>
          </a:bodyPr>
          <a:lstStyle/>
          <a:p>
            <a:pPr algn="just">
              <a:lnSpc>
                <a:spcPct val="120000"/>
              </a:lnSpc>
            </a:pPr>
            <a:r>
              <a:rPr lang="en-US" b="1" dirty="0">
                <a:latin typeface="Arial" panose="020B0604020202020204" pitchFamily="34" charset="0"/>
                <a:ea typeface="Aptos" panose="020B0004020202020204" pitchFamily="34" charset="0"/>
                <a:cs typeface="Arial" panose="020B0604020202020204" pitchFamily="34" charset="0"/>
              </a:rPr>
              <a:t>W</a:t>
            </a:r>
            <a:r>
              <a:rPr lang="en-US" b="1" dirty="0">
                <a:effectLst/>
                <a:latin typeface="Arial" panose="020B0604020202020204" pitchFamily="34" charset="0"/>
                <a:ea typeface="Aptos" panose="020B0004020202020204" pitchFamily="34" charset="0"/>
                <a:cs typeface="Arial" panose="020B0604020202020204" pitchFamily="34" charset="0"/>
              </a:rPr>
              <a:t>e simply substitute the known source current value directly into the KCL equation.</a:t>
            </a:r>
            <a:r>
              <a:rPr lang="ru-RU" b="1" dirty="0">
                <a:effectLst/>
                <a:latin typeface="Arial" panose="020B0604020202020204" pitchFamily="34" charset="0"/>
                <a:ea typeface="Aptos" panose="020B0004020202020204" pitchFamily="34" charset="0"/>
                <a:cs typeface="Arial" panose="020B0604020202020204" pitchFamily="34" charset="0"/>
              </a:rPr>
              <a:t> </a:t>
            </a:r>
            <a:endParaRPr lang="en-US" b="1" dirty="0">
              <a:effectLst/>
              <a:latin typeface="Arial" panose="020B0604020202020204" pitchFamily="34" charset="0"/>
              <a:ea typeface="Aptos" panose="020B0004020202020204" pitchFamily="34" charset="0"/>
              <a:cs typeface="Arial" panose="020B0604020202020204" pitchFamily="34" charset="0"/>
            </a:endParaRP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For example, if a 5A source pumps current into Node 1, the KCL equation simply includes a «-5» term (negative because it enters).</a:t>
            </a:r>
          </a:p>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If the circuit contains only current sources and resistors, the Nodal equations can be written by inspection  </a:t>
            </a:r>
            <a:r>
              <a:rPr lang="en-US" dirty="0">
                <a:effectLst/>
                <a:latin typeface="Arial" panose="020B0604020202020204" pitchFamily="34" charset="0"/>
                <a:ea typeface="Aptos" panose="020B0004020202020204" pitchFamily="34" charset="0"/>
                <a:cs typeface="Arial" panose="020B0604020202020204" pitchFamily="34" charset="0"/>
              </a:rPr>
              <a:t>using the conductance matrix.</a:t>
            </a:r>
            <a:endParaRPr lang="ru-RU" b="1"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2B2E5D32-D82F-F1EB-74BD-F9C466264490}"/>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A55920CA-109A-687E-A8A6-2D6BA20CDFFC}"/>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D70DAD90-33B1-47D0-555F-1980C5BB73D0}"/>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95F4ACC9-2287-28E8-40C4-E460B0105A4F}"/>
              </a:ext>
            </a:extLst>
          </p:cNvPr>
          <p:cNvSpPr>
            <a:spLocks noGrp="1"/>
          </p:cNvSpPr>
          <p:nvPr>
            <p:ph type="sldNum" sz="quarter" idx="12"/>
          </p:nvPr>
        </p:nvSpPr>
        <p:spPr/>
        <p:txBody>
          <a:bodyPr/>
          <a:lstStyle/>
          <a:p>
            <a:fld id="{D8214FA6-4742-421D-8B19-2C99196BD091}" type="slidenum">
              <a:rPr lang="ru-RU" smtClean="0"/>
              <a:t>42</a:t>
            </a:fld>
            <a:endParaRPr lang="ru-RU"/>
          </a:p>
        </p:txBody>
      </p:sp>
    </p:spTree>
    <p:extLst>
      <p:ext uri="{BB962C8B-B14F-4D97-AF65-F5344CB8AC3E}">
        <p14:creationId xmlns:p14="http://schemas.microsoft.com/office/powerpoint/2010/main" val="3632091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Autofit/>
          </a:bodyPr>
          <a:lstStyle/>
          <a:p>
            <a:pPr algn="just">
              <a:lnSpc>
                <a:spcPct val="120000"/>
              </a:lnSpc>
            </a:pPr>
            <a:r>
              <a:rPr lang="en-US" dirty="0">
                <a:latin typeface="Arial" panose="020B0604020202020204" pitchFamily="34" charset="0"/>
                <a:ea typeface="Aptos" panose="020B0004020202020204" pitchFamily="34" charset="0"/>
                <a:cs typeface="Arial" panose="020B0604020202020204" pitchFamily="34" charset="0"/>
              </a:rPr>
              <a:t>What if we have voltage sources? </a:t>
            </a:r>
          </a:p>
          <a:p>
            <a:pPr algn="just">
              <a:lnSpc>
                <a:spcPct val="120000"/>
              </a:lnSpc>
            </a:pPr>
            <a:r>
              <a:rPr lang="en-US" b="1" dirty="0">
                <a:latin typeface="Arial" panose="020B0604020202020204" pitchFamily="34" charset="0"/>
                <a:ea typeface="Aptos" panose="020B0004020202020204" pitchFamily="34" charset="0"/>
                <a:cs typeface="Arial" panose="020B0604020202020204" pitchFamily="34" charset="0"/>
              </a:rPr>
              <a:t>If a voltage source is connected between the reference node and a non-reference node,</a:t>
            </a:r>
            <a:r>
              <a:rPr lang="en-US" dirty="0">
                <a:latin typeface="Arial" panose="020B0604020202020204" pitchFamily="34" charset="0"/>
                <a:ea typeface="Aptos" panose="020B0004020202020204" pitchFamily="34" charset="0"/>
                <a:cs typeface="Arial" panose="020B0604020202020204" pitchFamily="34" charset="0"/>
              </a:rPr>
              <a:t> the analysis is even easier. </a:t>
            </a:r>
          </a:p>
          <a:p>
            <a:pPr algn="just">
              <a:lnSpc>
                <a:spcPct val="120000"/>
              </a:lnSpc>
            </a:pPr>
            <a:r>
              <a:rPr lang="en-US" b="1" dirty="0">
                <a:latin typeface="Arial" panose="020B0604020202020204" pitchFamily="34" charset="0"/>
                <a:ea typeface="Aptos" panose="020B0004020202020204" pitchFamily="34" charset="0"/>
                <a:cs typeface="Arial" panose="020B0604020202020204" pitchFamily="34" charset="0"/>
              </a:rPr>
              <a:t>The voltage of that node is simply equal to the source voltage.</a:t>
            </a:r>
          </a:p>
          <a:p>
            <a:pPr algn="just">
              <a:lnSpc>
                <a:spcPct val="120000"/>
              </a:lnSpc>
            </a:pPr>
            <a:r>
              <a:rPr lang="en-US" dirty="0">
                <a:latin typeface="Arial" panose="020B0604020202020204" pitchFamily="34" charset="0"/>
                <a:ea typeface="Aptos" panose="020B0004020202020204" pitchFamily="34" charset="0"/>
                <a:cs typeface="Arial" panose="020B0604020202020204" pitchFamily="34" charset="0"/>
              </a:rPr>
              <a:t>We do not need to write an equation for it; the variable is already known.</a:t>
            </a:r>
          </a:p>
        </p:txBody>
      </p:sp>
      <p:grpSp>
        <p:nvGrpSpPr>
          <p:cNvPr id="4" name="Группа 3">
            <a:extLst>
              <a:ext uri="{FF2B5EF4-FFF2-40B4-BE49-F238E27FC236}">
                <a16:creationId xmlns:a16="http://schemas.microsoft.com/office/drawing/2014/main" id="{5141A9FE-04B9-0E08-BEAD-807697927B7A}"/>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62D9A2B9-65F2-B1F2-8D99-A0024982436B}"/>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340BEE37-F995-AFAF-68A8-A1AAA585BB9B}"/>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D2DF1F8F-A6D0-7486-8929-4F50BC86A6D7}"/>
              </a:ext>
            </a:extLst>
          </p:cNvPr>
          <p:cNvSpPr>
            <a:spLocks noGrp="1"/>
          </p:cNvSpPr>
          <p:nvPr>
            <p:ph type="sldNum" sz="quarter" idx="12"/>
          </p:nvPr>
        </p:nvSpPr>
        <p:spPr/>
        <p:txBody>
          <a:bodyPr/>
          <a:lstStyle/>
          <a:p>
            <a:fld id="{D8214FA6-4742-421D-8B19-2C99196BD091}" type="slidenum">
              <a:rPr lang="ru-RU" smtClean="0"/>
              <a:t>43</a:t>
            </a:fld>
            <a:endParaRPr lang="ru-RU"/>
          </a:p>
        </p:txBody>
      </p:sp>
    </p:spTree>
    <p:extLst>
      <p:ext uri="{BB962C8B-B14F-4D97-AF65-F5344CB8AC3E}">
        <p14:creationId xmlns:p14="http://schemas.microsoft.com/office/powerpoint/2010/main" val="23031275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501AE-75E7-FAFF-3E5A-D958411914D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02F660F-7F38-74B3-A735-16D33C30B805}"/>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1D888095-9583-6A07-FE53-8479718C2F32}"/>
              </a:ext>
            </a:extLst>
          </p:cNvPr>
          <p:cNvSpPr>
            <a:spLocks noGrp="1"/>
          </p:cNvSpPr>
          <p:nvPr>
            <p:ph idx="1"/>
          </p:nvPr>
        </p:nvSpPr>
        <p:spPr/>
        <p:txBody>
          <a:bodyPr>
            <a:noAutofit/>
          </a:bodyPr>
          <a:lstStyle/>
          <a:p>
            <a:pPr algn="just">
              <a:lnSpc>
                <a:spcPct val="120000"/>
              </a:lnSpc>
            </a:pPr>
            <a:r>
              <a:rPr lang="en-US" dirty="0">
                <a:latin typeface="Arial" panose="020B0604020202020204" pitchFamily="34" charset="0"/>
                <a:cs typeface="Arial" panose="020B0604020202020204" pitchFamily="34" charset="0"/>
              </a:rPr>
              <a:t>However, if an ideal voltage source is connected between two non-reference nodes, we use the concept of a </a:t>
            </a:r>
            <a:r>
              <a:rPr lang="en-US" dirty="0" err="1">
                <a:latin typeface="Arial" panose="020B0604020202020204" pitchFamily="34" charset="0"/>
                <a:cs typeface="Arial" panose="020B0604020202020204" pitchFamily="34" charset="0"/>
              </a:rPr>
              <a:t>Supernode</a:t>
            </a:r>
            <a:r>
              <a:rPr lang="en-US" dirty="0">
                <a:latin typeface="Arial" panose="020B0604020202020204" pitchFamily="34" charset="0"/>
                <a:cs typeface="Arial" panose="020B0604020202020204" pitchFamily="34" charset="0"/>
              </a:rPr>
              <a:t>. </a:t>
            </a:r>
          </a:p>
          <a:p>
            <a:pPr algn="just">
              <a:lnSpc>
                <a:spcPct val="120000"/>
              </a:lnSpc>
            </a:pPr>
            <a:r>
              <a:rPr lang="en-US" b="1" dirty="0">
                <a:latin typeface="Arial" panose="020B0604020202020204" pitchFamily="34" charset="0"/>
                <a:cs typeface="Arial" panose="020B0604020202020204" pitchFamily="34" charset="0"/>
              </a:rPr>
              <a:t>A </a:t>
            </a:r>
            <a:r>
              <a:rPr lang="en-US" b="1" dirty="0" err="1">
                <a:latin typeface="Arial" panose="020B0604020202020204" pitchFamily="34" charset="0"/>
                <a:cs typeface="Arial" panose="020B0604020202020204" pitchFamily="34" charset="0"/>
              </a:rPr>
              <a:t>Supernode</a:t>
            </a:r>
            <a:r>
              <a:rPr lang="en-US" b="1" dirty="0">
                <a:latin typeface="Arial" panose="020B0604020202020204" pitchFamily="34" charset="0"/>
                <a:cs typeface="Arial" panose="020B0604020202020204" pitchFamily="34" charset="0"/>
              </a:rPr>
              <a:t> is formed by enclosing the voltage source and its two connecting nodes inside a boundary.</a:t>
            </a:r>
          </a:p>
          <a:p>
            <a:pPr algn="just">
              <a:lnSpc>
                <a:spcPct val="120000"/>
              </a:lnSpc>
            </a:pPr>
            <a:r>
              <a:rPr lang="en-US" dirty="0">
                <a:latin typeface="Arial" panose="020B0604020202020204" pitchFamily="34" charset="0"/>
                <a:cs typeface="Arial" panose="020B0604020202020204" pitchFamily="34" charset="0"/>
              </a:rPr>
              <a:t>We treat this entire boundary as a single point and apply KCL to it. </a:t>
            </a:r>
          </a:p>
        </p:txBody>
      </p:sp>
      <p:grpSp>
        <p:nvGrpSpPr>
          <p:cNvPr id="4" name="Группа 3">
            <a:extLst>
              <a:ext uri="{FF2B5EF4-FFF2-40B4-BE49-F238E27FC236}">
                <a16:creationId xmlns:a16="http://schemas.microsoft.com/office/drawing/2014/main" id="{667C66F8-D456-9707-04CF-AB5718AF2C80}"/>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8ED87E6E-F8A2-1386-3015-6E97F90E299E}"/>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AEF7A188-856D-B7D2-635D-0529FF80F47E}"/>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435FF51B-25AB-6943-8930-4F97BA223093}"/>
              </a:ext>
            </a:extLst>
          </p:cNvPr>
          <p:cNvSpPr>
            <a:spLocks noGrp="1"/>
          </p:cNvSpPr>
          <p:nvPr>
            <p:ph type="sldNum" sz="quarter" idx="12"/>
          </p:nvPr>
        </p:nvSpPr>
        <p:spPr/>
        <p:txBody>
          <a:bodyPr/>
          <a:lstStyle/>
          <a:p>
            <a:fld id="{D8214FA6-4742-421D-8B19-2C99196BD091}" type="slidenum">
              <a:rPr lang="ru-RU" smtClean="0"/>
              <a:t>44</a:t>
            </a:fld>
            <a:endParaRPr lang="ru-RU"/>
          </a:p>
        </p:txBody>
      </p:sp>
    </p:spTree>
    <p:extLst>
      <p:ext uri="{BB962C8B-B14F-4D97-AF65-F5344CB8AC3E}">
        <p14:creationId xmlns:p14="http://schemas.microsoft.com/office/powerpoint/2010/main" val="31410954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7440E-F340-5DED-91B8-D2FA1B969F4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AD5D110-96D3-70FB-F427-F6A4F1E7EC8D}"/>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80107712-7388-1B83-D741-F04545F89291}"/>
                  </a:ext>
                </a:extLst>
              </p:cNvPr>
              <p:cNvSpPr>
                <a:spLocks noGrp="1"/>
              </p:cNvSpPr>
              <p:nvPr>
                <p:ph idx="1"/>
              </p:nvPr>
            </p:nvSpPr>
            <p:spPr/>
            <p:txBody>
              <a:bodyPr>
                <a:noAutofit/>
              </a:bodyPr>
              <a:lstStyle/>
              <a:p>
                <a:pPr algn="just">
                  <a:lnSpc>
                    <a:spcPct val="120000"/>
                  </a:lnSpc>
                </a:pPr>
                <a:r>
                  <a:rPr lang="en-US" b="1" dirty="0">
                    <a:latin typeface="Arial" panose="020B0604020202020204" pitchFamily="34" charset="0"/>
                    <a:cs typeface="Arial" panose="020B0604020202020204" pitchFamily="34" charset="0"/>
                  </a:rPr>
                  <a:t>We need one auxiliary equation: </a:t>
                </a:r>
                <a:r>
                  <a:rPr lang="en-US" dirty="0">
                    <a:effectLst/>
                    <a:latin typeface="Arial" panose="020B0604020202020204" pitchFamily="34" charset="0"/>
                    <a:ea typeface="Aptos" panose="020B0004020202020204" pitchFamily="34" charset="0"/>
                    <a:cs typeface="Arial" panose="020B0604020202020204" pitchFamily="34" charset="0"/>
                  </a:rPr>
                  <a:t>the difference between the two node voltages inside the </a:t>
                </a:r>
                <a:r>
                  <a:rPr lang="en-US" dirty="0" err="1">
                    <a:effectLst/>
                    <a:latin typeface="Arial" panose="020B0604020202020204" pitchFamily="34" charset="0"/>
                    <a:ea typeface="Aptos" panose="020B0004020202020204" pitchFamily="34" charset="0"/>
                    <a:cs typeface="Arial" panose="020B0604020202020204" pitchFamily="34" charset="0"/>
                  </a:rPr>
                  <a:t>supernode</a:t>
                </a:r>
                <a:r>
                  <a:rPr lang="en-US" dirty="0">
                    <a:effectLst/>
                    <a:latin typeface="Arial" panose="020B0604020202020204" pitchFamily="34" charset="0"/>
                    <a:ea typeface="Aptos" panose="020B0004020202020204" pitchFamily="34" charset="0"/>
                    <a:cs typeface="Arial" panose="020B0604020202020204" pitchFamily="34" charset="0"/>
                  </a:rPr>
                  <a:t> equals the source voltage (</a:t>
                </a:r>
                <a14:m>
                  <m:oMath xmlns:m="http://schemas.openxmlformats.org/officeDocument/2006/math">
                    <m:sSub>
                      <m:sSubPr>
                        <m:ctrlPr>
                          <a:rPr lang="ru-RU" i="1">
                            <a:effectLst/>
                            <a:latin typeface="Cambria Math" panose="02040503050406030204" pitchFamily="18" charset="0"/>
                            <a:ea typeface="Aptos" panose="020B0004020202020204" pitchFamily="34" charset="0"/>
                          </a:rPr>
                        </m:ctrlPr>
                      </m:sSubPr>
                      <m:e>
                        <m:r>
                          <a:rPr lang="en-US" i="1">
                            <a:effectLst/>
                            <a:latin typeface="Cambria Math" panose="02040503050406030204" pitchFamily="18" charset="0"/>
                            <a:ea typeface="Aptos" panose="020B0004020202020204" pitchFamily="34" charset="0"/>
                          </a:rPr>
                          <m:t>𝑣</m:t>
                        </m:r>
                      </m:e>
                      <m:sub>
                        <m:r>
                          <a:rPr lang="en-US" i="1">
                            <a:effectLst/>
                            <a:latin typeface="Cambria Math" panose="02040503050406030204" pitchFamily="18" charset="0"/>
                            <a:ea typeface="Aptos" panose="020B0004020202020204" pitchFamily="34" charset="0"/>
                          </a:rPr>
                          <m:t>𝑎</m:t>
                        </m:r>
                      </m:sub>
                    </m:sSub>
                    <m:r>
                      <a:rPr lang="en-US" i="1">
                        <a:effectLst/>
                        <a:latin typeface="Cambria Math" panose="02040503050406030204" pitchFamily="18" charset="0"/>
                        <a:ea typeface="Aptos" panose="020B0004020202020204" pitchFamily="34" charset="0"/>
                      </a:rPr>
                      <m:t>−</m:t>
                    </m:r>
                    <m:sSub>
                      <m:sSubPr>
                        <m:ctrlPr>
                          <a:rPr lang="ru-RU" i="1">
                            <a:effectLst/>
                            <a:latin typeface="Cambria Math" panose="02040503050406030204" pitchFamily="18" charset="0"/>
                            <a:ea typeface="Aptos" panose="020B0004020202020204" pitchFamily="34" charset="0"/>
                          </a:rPr>
                        </m:ctrlPr>
                      </m:sSubPr>
                      <m:e>
                        <m:r>
                          <a:rPr lang="en-US" i="1">
                            <a:effectLst/>
                            <a:latin typeface="Cambria Math" panose="02040503050406030204" pitchFamily="18" charset="0"/>
                            <a:ea typeface="Aptos" panose="020B0004020202020204" pitchFamily="34" charset="0"/>
                          </a:rPr>
                          <m:t>𝑣</m:t>
                        </m:r>
                      </m:e>
                      <m:sub>
                        <m:r>
                          <a:rPr lang="en-US" i="1">
                            <a:effectLst/>
                            <a:latin typeface="Cambria Math" panose="02040503050406030204" pitchFamily="18" charset="0"/>
                            <a:ea typeface="Aptos" panose="020B0004020202020204" pitchFamily="34" charset="0"/>
                          </a:rPr>
                          <m:t>𝑏</m:t>
                        </m:r>
                      </m:sub>
                    </m:sSub>
                    <m:r>
                      <a:rPr lang="en-US">
                        <a:effectLst/>
                        <a:latin typeface="Cambria Math" panose="02040503050406030204" pitchFamily="18" charset="0"/>
                        <a:ea typeface="Aptos" panose="020B0004020202020204" pitchFamily="34" charset="0"/>
                      </a:rPr>
                      <m:t>=</m:t>
                    </m:r>
                    <m:sSub>
                      <m:sSubPr>
                        <m:ctrlPr>
                          <a:rPr lang="ru-RU" i="1">
                            <a:effectLst/>
                            <a:latin typeface="Cambria Math" panose="02040503050406030204" pitchFamily="18" charset="0"/>
                            <a:ea typeface="Aptos" panose="020B0004020202020204" pitchFamily="34" charset="0"/>
                          </a:rPr>
                        </m:ctrlPr>
                      </m:sSubPr>
                      <m:e>
                        <m:r>
                          <a:rPr lang="en-US" i="1">
                            <a:effectLst/>
                            <a:latin typeface="Cambria Math" panose="02040503050406030204" pitchFamily="18" charset="0"/>
                            <a:ea typeface="Aptos" panose="020B0004020202020204" pitchFamily="34" charset="0"/>
                          </a:rPr>
                          <m:t>𝑣</m:t>
                        </m:r>
                      </m:e>
                      <m:sub>
                        <m:r>
                          <a:rPr lang="en-US" i="1">
                            <a:effectLst/>
                            <a:latin typeface="Cambria Math" panose="02040503050406030204" pitchFamily="18" charset="0"/>
                            <a:ea typeface="Aptos" panose="020B0004020202020204" pitchFamily="34" charset="0"/>
                          </a:rPr>
                          <m:t>𝑠𝑜𝑢𝑟𝑐𝑒</m:t>
                        </m:r>
                      </m:sub>
                    </m:sSub>
                  </m:oMath>
                </a14:m>
                <a:r>
                  <a:rPr lang="en-US" dirty="0">
                    <a:effectLst/>
                    <a:latin typeface="Arial" panose="020B0604020202020204" pitchFamily="34" charset="0"/>
                    <a:ea typeface="Aptos" panose="020B0004020202020204" pitchFamily="34" charset="0"/>
                    <a:cs typeface="Arial" panose="020B0604020202020204" pitchFamily="34" charset="0"/>
                  </a:rPr>
                  <a:t>).</a:t>
                </a:r>
                <a:endParaRPr lang="ru-RU" dirty="0">
                  <a:effectLst/>
                  <a:latin typeface="Arial" panose="020B0604020202020204" pitchFamily="34" charset="0"/>
                  <a:ea typeface="Aptos" panose="020B0004020202020204" pitchFamily="34" charset="0"/>
                  <a:cs typeface="Arial" panose="020B0604020202020204" pitchFamily="34" charset="0"/>
                </a:endParaRPr>
              </a:p>
              <a:p>
                <a:pPr algn="just">
                  <a:lnSpc>
                    <a:spcPct val="120000"/>
                  </a:lnSpc>
                </a:pPr>
                <a:endParaRPr lang="ru-RU" dirty="0">
                  <a:latin typeface="Arial" panose="020B06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80107712-7388-1B83-D741-F04545F89291}"/>
                  </a:ext>
                </a:extLst>
              </p:cNvPr>
              <p:cNvSpPr>
                <a:spLocks noGrp="1" noRot="1" noChangeAspect="1" noMove="1" noResize="1" noEditPoints="1" noAdjustHandles="1" noChangeArrowheads="1" noChangeShapeType="1" noTextEdit="1"/>
              </p:cNvSpPr>
              <p:nvPr>
                <p:ph idx="1"/>
              </p:nvPr>
            </p:nvSpPr>
            <p:spPr>
              <a:blipFill>
                <a:blip r:embed="rId2"/>
                <a:stretch>
                  <a:fillRect l="-1043" t="-560"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A44AA40B-8540-1315-3DE2-FC71EC2022FF}"/>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C8BAB6EE-21DA-2CE4-D949-A5A7C161EC4B}"/>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C5ED260B-EF24-DB56-8C4E-40F14F4A5C27}"/>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F203F50C-B86A-799F-AA61-3D0CB0BEBD36}"/>
              </a:ext>
            </a:extLst>
          </p:cNvPr>
          <p:cNvSpPr>
            <a:spLocks noGrp="1"/>
          </p:cNvSpPr>
          <p:nvPr>
            <p:ph type="sldNum" sz="quarter" idx="12"/>
          </p:nvPr>
        </p:nvSpPr>
        <p:spPr/>
        <p:txBody>
          <a:bodyPr/>
          <a:lstStyle/>
          <a:p>
            <a:fld id="{D8214FA6-4742-421D-8B19-2C99196BD091}" type="slidenum">
              <a:rPr lang="ru-RU" smtClean="0"/>
              <a:t>45</a:t>
            </a:fld>
            <a:endParaRPr lang="ru-RU"/>
          </a:p>
        </p:txBody>
      </p:sp>
    </p:spTree>
    <p:extLst>
      <p:ext uri="{BB962C8B-B14F-4D97-AF65-F5344CB8AC3E}">
        <p14:creationId xmlns:p14="http://schemas.microsoft.com/office/powerpoint/2010/main" val="29373945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Autofit/>
          </a:bodyPr>
          <a:lstStyle/>
          <a:p>
            <a:pPr algn="just">
              <a:lnSpc>
                <a:spcPct val="120000"/>
              </a:lnSpc>
            </a:pPr>
            <a:r>
              <a:rPr lang="en-US" dirty="0">
                <a:latin typeface="Arial" panose="020B0604020202020204" pitchFamily="34" charset="0"/>
                <a:ea typeface="Aptos" panose="020B0004020202020204" pitchFamily="34" charset="0"/>
                <a:cs typeface="Arial" panose="020B0604020202020204" pitchFamily="34" charset="0"/>
              </a:rPr>
              <a:t>Now we turn to the third method, which is the counterpart to Nodal Analysis – the </a:t>
            </a:r>
            <a:r>
              <a:rPr lang="en-US" b="1" dirty="0">
                <a:latin typeface="Arial" panose="020B0604020202020204" pitchFamily="34" charset="0"/>
                <a:ea typeface="Aptos" panose="020B0004020202020204" pitchFamily="34" charset="0"/>
                <a:cs typeface="Arial" panose="020B0604020202020204" pitchFamily="34" charset="0"/>
              </a:rPr>
              <a:t>Mesh Current Method (Mesh Analysis) </a:t>
            </a:r>
          </a:p>
          <a:p>
            <a:pPr algn="just">
              <a:lnSpc>
                <a:spcPct val="120000"/>
              </a:lnSpc>
            </a:pPr>
            <a:r>
              <a:rPr lang="en-US" dirty="0">
                <a:latin typeface="Arial" panose="020B0604020202020204" pitchFamily="34" charset="0"/>
                <a:ea typeface="Aptos" panose="020B0004020202020204" pitchFamily="34" charset="0"/>
                <a:cs typeface="Arial" panose="020B0604020202020204" pitchFamily="34" charset="0"/>
              </a:rPr>
              <a:t>While Nodal Analysis relies on KCL and node voltages, Mesh Analysis </a:t>
            </a:r>
            <a:r>
              <a:rPr lang="en-US" b="1" dirty="0">
                <a:latin typeface="Arial" panose="020B0604020202020204" pitchFamily="34" charset="0"/>
                <a:ea typeface="Aptos" panose="020B0004020202020204" pitchFamily="34" charset="0"/>
                <a:cs typeface="Arial" panose="020B0604020202020204" pitchFamily="34" charset="0"/>
              </a:rPr>
              <a:t>relies on Kirchhoff’s Voltage Law (KVL) and «Mesh Currents».</a:t>
            </a:r>
          </a:p>
          <a:p>
            <a:pPr algn="just">
              <a:lnSpc>
                <a:spcPct val="120000"/>
              </a:lnSpc>
            </a:pPr>
            <a:r>
              <a:rPr lang="en-US" dirty="0">
                <a:latin typeface="Arial" panose="020B0604020202020204" pitchFamily="34" charset="0"/>
                <a:cs typeface="Arial" panose="020B0604020202020204" pitchFamily="34" charset="0"/>
              </a:rPr>
              <a:t>This method is generally preferred when a circuit contains many voltage sources and series connections.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23364F44-3884-A799-EEB4-0D6046753CC2}"/>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E1156471-B28E-F0F4-2CEC-ECBC8FF1AE23}"/>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4255C396-212B-F6DB-0B2A-C1A71FF1D461}"/>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31BEC3DE-EB7A-7C8C-9FFF-670DE051A244}"/>
              </a:ext>
            </a:extLst>
          </p:cNvPr>
          <p:cNvSpPr>
            <a:spLocks noGrp="1"/>
          </p:cNvSpPr>
          <p:nvPr>
            <p:ph type="sldNum" sz="quarter" idx="12"/>
          </p:nvPr>
        </p:nvSpPr>
        <p:spPr/>
        <p:txBody>
          <a:bodyPr/>
          <a:lstStyle/>
          <a:p>
            <a:fld id="{D8214FA6-4742-421D-8B19-2C99196BD091}" type="slidenum">
              <a:rPr lang="ru-RU" smtClean="0"/>
              <a:t>46</a:t>
            </a:fld>
            <a:endParaRPr lang="ru-RU"/>
          </a:p>
        </p:txBody>
      </p:sp>
    </p:spTree>
    <p:extLst>
      <p:ext uri="{BB962C8B-B14F-4D97-AF65-F5344CB8AC3E}">
        <p14:creationId xmlns:p14="http://schemas.microsoft.com/office/powerpoint/2010/main" val="17602961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396B6-48CB-7505-CECC-3F65C4CEE68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28A4DD-BFB4-07BD-7F6C-7EA8694B1972}"/>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941F26C4-996D-B2AD-EE8B-2877785426F6}"/>
              </a:ext>
            </a:extLst>
          </p:cNvPr>
          <p:cNvSpPr>
            <a:spLocks noGrp="1"/>
          </p:cNvSpPr>
          <p:nvPr>
            <p:ph idx="1"/>
          </p:nvPr>
        </p:nvSpPr>
        <p:spPr>
          <a:xfrm>
            <a:off x="111252" y="1825625"/>
            <a:ext cx="11969496" cy="4351338"/>
          </a:xfrm>
        </p:spPr>
        <p:txBody>
          <a:bodyPr>
            <a:noAutofit/>
          </a:bodyPr>
          <a:lstStyle/>
          <a:p>
            <a:pPr algn="just">
              <a:lnSpc>
                <a:spcPct val="120000"/>
              </a:lnSpc>
            </a:pPr>
            <a:r>
              <a:rPr lang="en-US" spc="-100" dirty="0">
                <a:effectLst/>
                <a:latin typeface="Arial" panose="020B0604020202020204" pitchFamily="34" charset="0"/>
                <a:ea typeface="Aptos" panose="020B0004020202020204" pitchFamily="34" charset="0"/>
                <a:cs typeface="Arial" panose="020B0604020202020204" pitchFamily="34" charset="0"/>
              </a:rPr>
              <a:t>A mesh current is a hypothetical current that flows around a closed loop (mesh). </a:t>
            </a:r>
          </a:p>
          <a:p>
            <a:pPr algn="just">
              <a:lnSpc>
                <a:spcPct val="120000"/>
              </a:lnSpc>
            </a:pPr>
            <a:r>
              <a:rPr lang="en-US" spc="-100" dirty="0">
                <a:effectLst/>
                <a:latin typeface="Arial" panose="020B0604020202020204" pitchFamily="34" charset="0"/>
                <a:ea typeface="Aptos" panose="020B0004020202020204" pitchFamily="34" charset="0"/>
                <a:cs typeface="Arial" panose="020B0604020202020204" pitchFamily="34" charset="0"/>
              </a:rPr>
              <a:t>Unlike branch currents, which are physically measurable, mesh currents are a mathematical abstraction. </a:t>
            </a:r>
          </a:p>
          <a:p>
            <a:pPr algn="just">
              <a:lnSpc>
                <a:spcPct val="120000"/>
              </a:lnSpc>
            </a:pPr>
            <a:r>
              <a:rPr lang="en-US" spc="-100" dirty="0">
                <a:effectLst/>
                <a:latin typeface="Arial" panose="020B0604020202020204" pitchFamily="34" charset="0"/>
                <a:ea typeface="Aptos" panose="020B0004020202020204" pitchFamily="34" charset="0"/>
                <a:cs typeface="Arial" panose="020B0604020202020204" pitchFamily="34" charset="0"/>
              </a:rPr>
              <a:t>The physical current in a branch is the algebraic sum of the mesh currents flowing through it.</a:t>
            </a:r>
          </a:p>
          <a:p>
            <a:pPr algn="just">
              <a:lnSpc>
                <a:spcPct val="120000"/>
              </a:lnSpc>
            </a:pPr>
            <a:r>
              <a:rPr lang="en-US" spc="-100" dirty="0">
                <a:latin typeface="Arial" panose="020B0604020202020204" pitchFamily="34" charset="0"/>
                <a:cs typeface="Arial" panose="020B0604020202020204" pitchFamily="34" charset="0"/>
              </a:rPr>
              <a:t>Let us visualize the mesh current. Imagine each mesh is a separate gear rotating clockwise. In a branch that is shared by two meshes, two «gears» touch. </a:t>
            </a:r>
            <a:endParaRPr lang="ru-RU" spc="-100"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8AE3C7C4-1032-051E-D4FE-AABE0CEBD013}"/>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4E026781-9336-83FD-CE82-95C4EA66827F}"/>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1AFA41F1-3D79-5D5E-7B60-DB2B3DBE1857}"/>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2B074AEB-87B8-A073-0189-5FF2C191CCDD}"/>
              </a:ext>
            </a:extLst>
          </p:cNvPr>
          <p:cNvSpPr>
            <a:spLocks noGrp="1"/>
          </p:cNvSpPr>
          <p:nvPr>
            <p:ph type="sldNum" sz="quarter" idx="12"/>
          </p:nvPr>
        </p:nvSpPr>
        <p:spPr/>
        <p:txBody>
          <a:bodyPr/>
          <a:lstStyle/>
          <a:p>
            <a:fld id="{D8214FA6-4742-421D-8B19-2C99196BD091}" type="slidenum">
              <a:rPr lang="ru-RU" smtClean="0"/>
              <a:t>47</a:t>
            </a:fld>
            <a:endParaRPr lang="ru-RU"/>
          </a:p>
        </p:txBody>
      </p:sp>
    </p:spTree>
    <p:extLst>
      <p:ext uri="{BB962C8B-B14F-4D97-AF65-F5344CB8AC3E}">
        <p14:creationId xmlns:p14="http://schemas.microsoft.com/office/powerpoint/2010/main" val="23030690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ED8BE-9B03-4EFA-F896-85C28EF8A41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B4CCC01-0614-70C6-8B76-9EC56928E0C8}"/>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57E273DA-2930-D519-3712-8EB8ECFDB95B}"/>
                  </a:ext>
                </a:extLst>
              </p:cNvPr>
              <p:cNvSpPr>
                <a:spLocks noGrp="1"/>
              </p:cNvSpPr>
              <p:nvPr>
                <p:ph idx="1"/>
              </p:nvPr>
            </p:nvSpPr>
            <p:spPr/>
            <p:txBody>
              <a:bodyPr>
                <a:noAutofit/>
              </a:bodyPr>
              <a:lstStyle/>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If mesh current </a:t>
                </a:r>
                <a14:m>
                  <m:oMath xmlns:m="http://schemas.openxmlformats.org/officeDocument/2006/math">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𝒊</m:t>
                        </m:r>
                      </m:e>
                      <m:sub>
                        <m:r>
                          <a:rPr lang="en-US" b="1" i="1" smtClean="0">
                            <a:effectLst/>
                            <a:latin typeface="Cambria Math" panose="02040503050406030204" pitchFamily="18" charset="0"/>
                            <a:ea typeface="Aptos" panose="020B0004020202020204" pitchFamily="34" charset="0"/>
                          </a:rPr>
                          <m:t>𝟏</m:t>
                        </m:r>
                      </m:sub>
                    </m:sSub>
                  </m:oMath>
                </a14:m>
                <a:r>
                  <a:rPr lang="en-US" b="1" dirty="0">
                    <a:effectLst/>
                    <a:latin typeface="Arial" panose="020B0604020202020204" pitchFamily="34" charset="0"/>
                    <a:ea typeface="Aptos" panose="020B0004020202020204" pitchFamily="34" charset="0"/>
                    <a:cs typeface="Arial" panose="020B0604020202020204" pitchFamily="34" charset="0"/>
                  </a:rPr>
                  <a:t> goes down through a shared resistor and mesh current </a:t>
                </a:r>
                <a14:m>
                  <m:oMath xmlns:m="http://schemas.openxmlformats.org/officeDocument/2006/math">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𝒊</m:t>
                        </m:r>
                      </m:e>
                      <m:sub>
                        <m:r>
                          <a:rPr lang="en-US" b="1" i="1" smtClean="0">
                            <a:effectLst/>
                            <a:latin typeface="Cambria Math" panose="02040503050406030204" pitchFamily="18" charset="0"/>
                            <a:ea typeface="Aptos" panose="020B0004020202020204" pitchFamily="34" charset="0"/>
                          </a:rPr>
                          <m:t>𝟐</m:t>
                        </m:r>
                      </m:sub>
                    </m:sSub>
                  </m:oMath>
                </a14:m>
                <a:r>
                  <a:rPr lang="en-US" b="1" dirty="0">
                    <a:effectLst/>
                    <a:latin typeface="Arial" panose="020B0604020202020204" pitchFamily="34" charset="0"/>
                    <a:ea typeface="Aptos" panose="020B0004020202020204" pitchFamily="34" charset="0"/>
                    <a:cs typeface="Arial" panose="020B0604020202020204" pitchFamily="34" charset="0"/>
                  </a:rPr>
                  <a:t> goes up through the same resistor, the actual physical current is the difference: </a:t>
                </a:r>
                <a:endParaRPr lang="en-US" b="1" i="1" dirty="0">
                  <a:effectLst/>
                  <a:latin typeface="Arial" panose="020B0604020202020204" pitchFamily="34" charset="0"/>
                  <a:ea typeface="Aptos" panose="020B0004020202020204" pitchFamily="34" charset="0"/>
                  <a:cs typeface="Arial" panose="020B0604020202020204" pitchFamily="34" charset="0"/>
                </a:endParaRPr>
              </a:p>
              <a:p>
                <a:pPr marL="0" indent="0" algn="just">
                  <a:lnSpc>
                    <a:spcPct val="120000"/>
                  </a:lnSpc>
                  <a:buNone/>
                </a:pPr>
                <a14:m>
                  <m:oMathPara xmlns:m="http://schemas.openxmlformats.org/officeDocument/2006/math">
                    <m:oMathParaPr>
                      <m:jc m:val="centerGroup"/>
                    </m:oMathParaPr>
                    <m:oMath xmlns:m="http://schemas.openxmlformats.org/officeDocument/2006/math">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𝒊</m:t>
                          </m:r>
                        </m:e>
                        <m:sub>
                          <m:r>
                            <a:rPr lang="en-US" b="1" i="1" smtClean="0">
                              <a:effectLst/>
                              <a:latin typeface="Cambria Math" panose="02040503050406030204" pitchFamily="18" charset="0"/>
                              <a:ea typeface="Aptos" panose="020B0004020202020204" pitchFamily="34" charset="0"/>
                            </a:rPr>
                            <m:t>𝒂𝒄𝒕𝒖𝒂𝒍</m:t>
                          </m:r>
                        </m:sub>
                      </m:sSub>
                      <m:r>
                        <a:rPr lang="en-US" b="1" smtClean="0">
                          <a:effectLst/>
                          <a:latin typeface="Cambria Math" panose="02040503050406030204" pitchFamily="18" charset="0"/>
                          <a:ea typeface="Aptos" panose="020B0004020202020204" pitchFamily="34" charset="0"/>
                        </a:rPr>
                        <m:t>=</m:t>
                      </m:r>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𝒊</m:t>
                          </m:r>
                        </m:e>
                        <m:sub>
                          <m:r>
                            <a:rPr lang="en-US" b="1" i="1" smtClean="0">
                              <a:effectLst/>
                              <a:latin typeface="Cambria Math" panose="02040503050406030204" pitchFamily="18" charset="0"/>
                              <a:ea typeface="Aptos" panose="020B0004020202020204" pitchFamily="34" charset="0"/>
                            </a:rPr>
                            <m:t>𝟏</m:t>
                          </m:r>
                        </m:sub>
                      </m:sSub>
                      <m:r>
                        <a:rPr lang="en-US" b="1" i="1" smtClean="0">
                          <a:effectLst/>
                          <a:latin typeface="Cambria Math" panose="02040503050406030204" pitchFamily="18" charset="0"/>
                          <a:ea typeface="Aptos" panose="020B0004020202020204" pitchFamily="34" charset="0"/>
                        </a:rPr>
                        <m:t>−</m:t>
                      </m:r>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𝒊</m:t>
                          </m:r>
                        </m:e>
                        <m:sub>
                          <m:r>
                            <a:rPr lang="en-US" b="1" i="1" smtClean="0">
                              <a:effectLst/>
                              <a:latin typeface="Cambria Math" panose="02040503050406030204" pitchFamily="18" charset="0"/>
                              <a:ea typeface="Aptos" panose="020B0004020202020204" pitchFamily="34" charset="0"/>
                            </a:rPr>
                            <m:t>𝟐</m:t>
                          </m:r>
                        </m:sub>
                      </m:sSub>
                      <m:r>
                        <a:rPr lang="en-US" b="1" i="1" smtClean="0">
                          <a:effectLst/>
                          <a:latin typeface="Cambria Math" panose="02040503050406030204" pitchFamily="18" charset="0"/>
                          <a:ea typeface="Aptos" panose="020B0004020202020204" pitchFamily="34" charset="0"/>
                        </a:rPr>
                        <m:t>.</m:t>
                      </m:r>
                    </m:oMath>
                  </m:oMathPara>
                </a14:m>
                <a:endParaRPr lang="ru-RU" b="1" dirty="0">
                  <a:effectLst/>
                  <a:latin typeface="Arial" panose="020B0604020202020204" pitchFamily="34" charset="0"/>
                  <a:ea typeface="Aptos" panose="020B0004020202020204" pitchFamily="34" charset="0"/>
                  <a:cs typeface="Arial" panose="020B0604020202020204" pitchFamily="34" charset="0"/>
                </a:endParaRPr>
              </a:p>
              <a:p>
                <a:pPr algn="just">
                  <a:lnSpc>
                    <a:spcPct val="120000"/>
                  </a:lnSpc>
                </a:pPr>
                <a:endParaRPr lang="ru-RU" b="1" dirty="0">
                  <a:latin typeface="Arial" panose="020B06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57E273DA-2930-D519-3712-8EB8ECFDB95B}"/>
                  </a:ext>
                </a:extLst>
              </p:cNvPr>
              <p:cNvSpPr>
                <a:spLocks noGrp="1" noRot="1" noChangeAspect="1" noMove="1" noResize="1" noEditPoints="1" noAdjustHandles="1" noChangeArrowheads="1" noChangeShapeType="1" noTextEdit="1"/>
              </p:cNvSpPr>
              <p:nvPr>
                <p:ph idx="1"/>
              </p:nvPr>
            </p:nvSpPr>
            <p:spPr>
              <a:blipFill>
                <a:blip r:embed="rId2"/>
                <a:stretch>
                  <a:fillRect l="-1043" t="-560"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ACD96EBD-7B12-5D26-06F2-D805EB3BA76B}"/>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8E0620E7-9274-F9DC-4E0A-05A175BE38D3}"/>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6C782E20-51C4-5BCF-07E0-509D897EC3DA}"/>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AF255376-9F84-565B-2245-06445FC42328}"/>
              </a:ext>
            </a:extLst>
          </p:cNvPr>
          <p:cNvSpPr>
            <a:spLocks noGrp="1"/>
          </p:cNvSpPr>
          <p:nvPr>
            <p:ph type="sldNum" sz="quarter" idx="12"/>
          </p:nvPr>
        </p:nvSpPr>
        <p:spPr/>
        <p:txBody>
          <a:bodyPr/>
          <a:lstStyle/>
          <a:p>
            <a:fld id="{D8214FA6-4742-421D-8B19-2C99196BD091}" type="slidenum">
              <a:rPr lang="ru-RU" smtClean="0"/>
              <a:t>48</a:t>
            </a:fld>
            <a:endParaRPr lang="ru-RU"/>
          </a:p>
        </p:txBody>
      </p:sp>
    </p:spTree>
    <p:extLst>
      <p:ext uri="{BB962C8B-B14F-4D97-AF65-F5344CB8AC3E}">
        <p14:creationId xmlns:p14="http://schemas.microsoft.com/office/powerpoint/2010/main" val="12285311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Autofit/>
              </a:bodyPr>
              <a:lstStyle/>
              <a:p>
                <a:pPr algn="just">
                  <a:lnSpc>
                    <a:spcPct val="120000"/>
                  </a:lnSpc>
                </a:pPr>
                <a:r>
                  <a:rPr lang="en-US" b="1" dirty="0">
                    <a:latin typeface="Arial" panose="020B0604020202020204" pitchFamily="34" charset="0"/>
                    <a:ea typeface="Aptos" panose="020B0004020202020204" pitchFamily="34" charset="0"/>
                    <a:cs typeface="Arial" panose="020B0604020202020204" pitchFamily="34" charset="0"/>
                  </a:rPr>
                  <a:t>The Mesh Current Method algorithm is as follows:</a:t>
                </a:r>
              </a:p>
              <a:p>
                <a:pPr algn="just">
                  <a:lnSpc>
                    <a:spcPct val="120000"/>
                  </a:lnSpc>
                </a:pPr>
                <a:r>
                  <a:rPr lang="en-US" b="1" dirty="0">
                    <a:latin typeface="Arial" panose="020B0604020202020204" pitchFamily="34" charset="0"/>
                    <a:ea typeface="Aptos" panose="020B0004020202020204" pitchFamily="34" charset="0"/>
                    <a:cs typeface="Arial" panose="020B0604020202020204" pitchFamily="34" charset="0"/>
                  </a:rPr>
                  <a:t>identify all elementary meshes (loops without inner loops);</a:t>
                </a:r>
              </a:p>
              <a:p>
                <a:pPr algn="just">
                  <a:lnSpc>
                    <a:spcPct val="120000"/>
                  </a:lnSpc>
                </a:pPr>
                <a:r>
                  <a:rPr lang="en-US" b="1" dirty="0">
                    <a:latin typeface="Arial" panose="020B0604020202020204" pitchFamily="34" charset="0"/>
                    <a:ea typeface="Aptos" panose="020B0004020202020204" pitchFamily="34" charset="0"/>
                    <a:cs typeface="Arial" panose="020B0604020202020204" pitchFamily="34" charset="0"/>
                  </a:rPr>
                  <a:t>assign a mesh current variable (</a:t>
                </a:r>
                <a14:m>
                  <m:oMath xmlns:m="http://schemas.openxmlformats.org/officeDocument/2006/math">
                    <m:sSub>
                      <m:sSubPr>
                        <m:ctrlPr>
                          <a:rPr lang="en-US" b="1" i="1" dirty="0" smtClean="0">
                            <a:latin typeface="Cambria Math" panose="02040503050406030204" pitchFamily="18" charset="0"/>
                            <a:ea typeface="Aptos" panose="020B0004020202020204" pitchFamily="34" charset="0"/>
                            <a:cs typeface="Arial" panose="020B0604020202020204" pitchFamily="34" charset="0"/>
                          </a:rPr>
                        </m:ctrlPr>
                      </m:sSubPr>
                      <m:e>
                        <m:r>
                          <a:rPr lang="en-US" b="1" i="1" dirty="0" smtClean="0">
                            <a:latin typeface="Cambria Math" panose="02040503050406030204" pitchFamily="18" charset="0"/>
                            <a:ea typeface="Aptos" panose="020B0004020202020204" pitchFamily="34" charset="0"/>
                            <a:cs typeface="Arial" panose="020B0604020202020204" pitchFamily="34" charset="0"/>
                          </a:rPr>
                          <m:t>𝒊</m:t>
                        </m:r>
                      </m:e>
                      <m:sub>
                        <m:r>
                          <a:rPr lang="en-US" b="1" i="1" dirty="0" smtClean="0">
                            <a:latin typeface="Cambria Math" panose="02040503050406030204" pitchFamily="18" charset="0"/>
                            <a:ea typeface="Aptos" panose="020B0004020202020204" pitchFamily="34" charset="0"/>
                            <a:cs typeface="Arial" panose="020B0604020202020204" pitchFamily="34" charset="0"/>
                          </a:rPr>
                          <m:t>𝟏</m:t>
                        </m:r>
                      </m:sub>
                    </m:sSub>
                    <m:r>
                      <a:rPr lang="en-US" b="1" i="1" dirty="0" smtClean="0">
                        <a:latin typeface="Cambria Math" panose="02040503050406030204" pitchFamily="18" charset="0"/>
                        <a:ea typeface="Aptos" panose="020B0004020202020204" pitchFamily="34" charset="0"/>
                        <a:cs typeface="Arial" panose="020B0604020202020204" pitchFamily="34" charset="0"/>
                      </a:rPr>
                      <m:t>,</m:t>
                    </m:r>
                    <m:sSub>
                      <m:sSubPr>
                        <m:ctrlPr>
                          <a:rPr lang="en-US" b="1" i="1" dirty="0" smtClean="0">
                            <a:latin typeface="Cambria Math" panose="02040503050406030204" pitchFamily="18" charset="0"/>
                            <a:ea typeface="Aptos" panose="020B0004020202020204" pitchFamily="34" charset="0"/>
                            <a:cs typeface="Arial" panose="020B0604020202020204" pitchFamily="34" charset="0"/>
                          </a:rPr>
                        </m:ctrlPr>
                      </m:sSubPr>
                      <m:e>
                        <m:r>
                          <a:rPr lang="en-US" b="1" i="1" dirty="0" smtClean="0">
                            <a:latin typeface="Cambria Math" panose="02040503050406030204" pitchFamily="18" charset="0"/>
                            <a:ea typeface="Aptos" panose="020B0004020202020204" pitchFamily="34" charset="0"/>
                            <a:cs typeface="Arial" panose="020B0604020202020204" pitchFamily="34" charset="0"/>
                          </a:rPr>
                          <m:t>𝒊</m:t>
                        </m:r>
                      </m:e>
                      <m:sub>
                        <m:r>
                          <a:rPr lang="en-US" b="1" i="1" dirty="0" smtClean="0">
                            <a:latin typeface="Cambria Math" panose="02040503050406030204" pitchFamily="18" charset="0"/>
                            <a:ea typeface="Aptos" panose="020B0004020202020204" pitchFamily="34" charset="0"/>
                            <a:cs typeface="Arial" panose="020B0604020202020204" pitchFamily="34" charset="0"/>
                          </a:rPr>
                          <m:t>𝟐</m:t>
                        </m:r>
                      </m:sub>
                    </m:sSub>
                    <m:r>
                      <a:rPr lang="en-US" b="1" i="1" dirty="0" smtClean="0">
                        <a:latin typeface="Cambria Math" panose="02040503050406030204" pitchFamily="18" charset="0"/>
                        <a:ea typeface="Aptos" panose="020B0004020202020204" pitchFamily="34" charset="0"/>
                        <a:cs typeface="Arial" panose="020B0604020202020204" pitchFamily="34" charset="0"/>
                      </a:rPr>
                      <m:t>,…</m:t>
                    </m:r>
                  </m:oMath>
                </a14:m>
                <a:r>
                  <a:rPr lang="en-US" b="1" dirty="0">
                    <a:latin typeface="Arial" panose="020B0604020202020204" pitchFamily="34" charset="0"/>
                    <a:ea typeface="Aptos" panose="020B0004020202020204" pitchFamily="34" charset="0"/>
                    <a:cs typeface="Arial" panose="020B0604020202020204" pitchFamily="34" charset="0"/>
                  </a:rPr>
                  <a:t>) to each mesh. </a:t>
                </a:r>
                <a:r>
                  <a:rPr lang="en-US" dirty="0">
                    <a:latin typeface="Arial" panose="020B0604020202020204" pitchFamily="34" charset="0"/>
                    <a:ea typeface="Aptos" panose="020B0004020202020204" pitchFamily="34" charset="0"/>
                    <a:cs typeface="Arial" panose="020B0604020202020204" pitchFamily="34" charset="0"/>
                  </a:rPr>
                  <a:t>By convention,</a:t>
                </a:r>
                <a:r>
                  <a:rPr lang="en-US" b="1" dirty="0">
                    <a:latin typeface="Arial" panose="020B0604020202020204" pitchFamily="34" charset="0"/>
                    <a:ea typeface="Aptos" panose="020B0004020202020204" pitchFamily="34" charset="0"/>
                    <a:cs typeface="Arial" panose="020B0604020202020204" pitchFamily="34" charset="0"/>
                  </a:rPr>
                  <a:t> we usually define all mesh currents to flow clockwise. </a:t>
                </a:r>
                <a:r>
                  <a:rPr lang="en-US" dirty="0">
                    <a:latin typeface="Arial" panose="020B0604020202020204" pitchFamily="34" charset="0"/>
                    <a:ea typeface="Aptos" panose="020B0004020202020204" pitchFamily="34" charset="0"/>
                    <a:cs typeface="Arial" panose="020B0604020202020204" pitchFamily="34" charset="0"/>
                  </a:rPr>
                  <a:t>This standardizes our equations</a:t>
                </a:r>
                <a:r>
                  <a:rPr lang="en-US" b="1" dirty="0">
                    <a:latin typeface="Arial" panose="020B0604020202020204" pitchFamily="34" charset="0"/>
                    <a:ea typeface="Aptos" panose="020B0004020202020204" pitchFamily="34" charset="0"/>
                    <a:cs typeface="Arial" panose="020B0604020202020204" pitchFamily="34" charset="0"/>
                  </a:rPr>
                  <a:t>;</a:t>
                </a:r>
              </a:p>
              <a:p>
                <a:pPr algn="just">
                  <a:lnSpc>
                    <a:spcPct val="120000"/>
                  </a:lnSpc>
                </a:pPr>
                <a:r>
                  <a:rPr lang="en-US" b="1" dirty="0">
                    <a:latin typeface="Arial" panose="020B0604020202020204" pitchFamily="34" charset="0"/>
                    <a:ea typeface="Aptos" panose="020B0004020202020204" pitchFamily="34" charset="0"/>
                    <a:cs typeface="Arial" panose="020B0604020202020204" pitchFamily="34" charset="0"/>
                  </a:rPr>
                  <a:t>write a KVL equation for each mesh. </a:t>
                </a:r>
                <a:r>
                  <a:rPr lang="en-US" dirty="0">
                    <a:latin typeface="Arial" panose="020B0604020202020204" pitchFamily="34" charset="0"/>
                    <a:ea typeface="Aptos" panose="020B0004020202020204" pitchFamily="34" charset="0"/>
                    <a:cs typeface="Arial" panose="020B0604020202020204" pitchFamily="34" charset="0"/>
                  </a:rPr>
                  <a:t>Sum the voltage drops around the loop to zero;</a:t>
                </a:r>
              </a:p>
              <a:p>
                <a:pPr algn="just">
                  <a:lnSpc>
                    <a:spcPct val="120000"/>
                  </a:lnSpc>
                </a:pPr>
                <a:r>
                  <a:rPr lang="en-US" b="1" dirty="0">
                    <a:latin typeface="Arial" panose="020B0604020202020204" pitchFamily="34" charset="0"/>
                    <a:ea typeface="Aptos" panose="020B0004020202020204" pitchFamily="34" charset="0"/>
                    <a:cs typeface="Arial" panose="020B0604020202020204" pitchFamily="34" charset="0"/>
                  </a:rPr>
                  <a:t>solve the linear equations to find the mesh currents.</a:t>
                </a:r>
              </a:p>
            </p:txBody>
          </p:sp>
        </mc:Choice>
        <mc:Fallback xmlns="">
          <p:sp>
            <p:nvSpPr>
              <p:cNvPr id="3" name="Объект 2">
                <a:extLst>
                  <a:ext uri="{FF2B5EF4-FFF2-40B4-BE49-F238E27FC236}">
                    <a16:creationId xmlns:a16="http://schemas.microsoft.com/office/drawing/2014/main" id="{38B32713-8DC8-A19D-A317-628052EECCD1}"/>
                  </a:ext>
                </a:extLst>
              </p:cNvPr>
              <p:cNvSpPr>
                <a:spLocks noGrp="1" noRot="1" noChangeAspect="1" noMove="1" noResize="1" noEditPoints="1" noAdjustHandles="1" noChangeArrowheads="1" noChangeShapeType="1" noTextEdit="1"/>
              </p:cNvSpPr>
              <p:nvPr>
                <p:ph idx="1"/>
              </p:nvPr>
            </p:nvSpPr>
            <p:spPr>
              <a:blipFill>
                <a:blip r:embed="rId2"/>
                <a:stretch>
                  <a:fillRect l="-1043" t="-560" r="-1159" b="-10644"/>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613F4D7F-2860-D3DD-C9A8-5720D5CA7479}"/>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496339E8-2A53-003E-9CFD-D3E0DCDC7FE7}"/>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0BC55C5E-FDF6-FDAE-1919-D5AE2207A9D4}"/>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2CC4D84C-28D3-902E-361D-B17F3B16625C}"/>
              </a:ext>
            </a:extLst>
          </p:cNvPr>
          <p:cNvSpPr>
            <a:spLocks noGrp="1"/>
          </p:cNvSpPr>
          <p:nvPr>
            <p:ph type="sldNum" sz="quarter" idx="12"/>
          </p:nvPr>
        </p:nvSpPr>
        <p:spPr/>
        <p:txBody>
          <a:bodyPr/>
          <a:lstStyle/>
          <a:p>
            <a:fld id="{D8214FA6-4742-421D-8B19-2C99196BD091}" type="slidenum">
              <a:rPr lang="ru-RU" smtClean="0"/>
              <a:t>49</a:t>
            </a:fld>
            <a:endParaRPr lang="ru-RU"/>
          </a:p>
        </p:txBody>
      </p:sp>
    </p:spTree>
    <p:extLst>
      <p:ext uri="{BB962C8B-B14F-4D97-AF65-F5344CB8AC3E}">
        <p14:creationId xmlns:p14="http://schemas.microsoft.com/office/powerpoint/2010/main" val="14996836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Autofit/>
              </a:bodyPr>
              <a:lstStyle/>
              <a:p>
                <a:pPr algn="just">
                  <a:lnSpc>
                    <a:spcPct val="120000"/>
                  </a:lnSpc>
                </a:pPr>
                <a:r>
                  <a:rPr lang="en-US" dirty="0">
                    <a:latin typeface="Arial" panose="020B0604020202020204" pitchFamily="34" charset="0"/>
                    <a:ea typeface="Aptos" panose="020B0004020202020204" pitchFamily="34" charset="0"/>
                    <a:cs typeface="Arial" panose="020B0604020202020204" pitchFamily="34" charset="0"/>
                  </a:rPr>
                  <a:t>When writing the KVL equation for a specific mesh (let's call it Mesh 1), we encounter </a:t>
                </a:r>
                <a:r>
                  <a:rPr lang="en-US" b="1" dirty="0">
                    <a:latin typeface="Arial" panose="020B0604020202020204" pitchFamily="34" charset="0"/>
                    <a:ea typeface="Aptos" panose="020B0004020202020204" pitchFamily="34" charset="0"/>
                    <a:cs typeface="Arial" panose="020B0604020202020204" pitchFamily="34" charset="0"/>
                  </a:rPr>
                  <a:t>two types of voltage drops across resistors:</a:t>
                </a:r>
              </a:p>
              <a:p>
                <a:pPr algn="just">
                  <a:lnSpc>
                    <a:spcPct val="120000"/>
                  </a:lnSpc>
                </a:pPr>
                <a:r>
                  <a:rPr lang="en-US" b="1" dirty="0">
                    <a:latin typeface="Arial" panose="020B0604020202020204" pitchFamily="34" charset="0"/>
                    <a:ea typeface="Aptos" panose="020B0004020202020204" pitchFamily="34" charset="0"/>
                    <a:cs typeface="Arial" panose="020B0604020202020204" pitchFamily="34" charset="0"/>
                  </a:rPr>
                  <a:t>unshared Resistors </a:t>
                </a:r>
                <a:r>
                  <a:rPr lang="en-US" dirty="0">
                    <a:effectLst/>
                    <a:latin typeface="Arial" panose="020B0604020202020204" pitchFamily="34" charset="0"/>
                    <a:ea typeface="Aptos" panose="020B0004020202020204" pitchFamily="34" charset="0"/>
                    <a:cs typeface="Arial" panose="020B0604020202020204" pitchFamily="34" charset="0"/>
                  </a:rPr>
                  <a:t>– the voltage drop is simply the resistor value times the mesh current (</a:t>
                </a:r>
                <a14:m>
                  <m:oMath xmlns:m="http://schemas.openxmlformats.org/officeDocument/2006/math">
                    <m:r>
                      <a:rPr lang="en-US" i="1">
                        <a:effectLst/>
                        <a:latin typeface="Cambria Math" panose="02040503050406030204" pitchFamily="18" charset="0"/>
                        <a:ea typeface="Aptos" panose="020B0004020202020204" pitchFamily="34" charset="0"/>
                      </a:rPr>
                      <m:t>𝑅</m:t>
                    </m:r>
                    <m:r>
                      <a:rPr lang="en-US">
                        <a:effectLst/>
                        <a:latin typeface="Cambria Math" panose="02040503050406030204" pitchFamily="18" charset="0"/>
                        <a:ea typeface="Aptos" panose="020B0004020202020204" pitchFamily="34" charset="0"/>
                      </a:rPr>
                      <m:t>×</m:t>
                    </m:r>
                    <m:sSub>
                      <m:sSubPr>
                        <m:ctrlPr>
                          <a:rPr lang="ru-RU" i="1">
                            <a:effectLst/>
                            <a:latin typeface="Cambria Math" panose="02040503050406030204" pitchFamily="18" charset="0"/>
                            <a:ea typeface="Aptos" panose="020B0004020202020204" pitchFamily="34" charset="0"/>
                          </a:rPr>
                        </m:ctrlPr>
                      </m:sSubPr>
                      <m:e>
                        <m:r>
                          <a:rPr lang="en-US" i="1">
                            <a:effectLst/>
                            <a:latin typeface="Cambria Math" panose="02040503050406030204" pitchFamily="18" charset="0"/>
                            <a:ea typeface="Aptos" panose="020B0004020202020204" pitchFamily="34" charset="0"/>
                          </a:rPr>
                          <m:t>𝑖</m:t>
                        </m:r>
                      </m:e>
                      <m:sub>
                        <m:r>
                          <a:rPr lang="en-US" i="1">
                            <a:effectLst/>
                            <a:latin typeface="Cambria Math" panose="02040503050406030204" pitchFamily="18" charset="0"/>
                            <a:ea typeface="Aptos" panose="020B0004020202020204" pitchFamily="34" charset="0"/>
                          </a:rPr>
                          <m:t>1</m:t>
                        </m:r>
                      </m:sub>
                    </m:sSub>
                  </m:oMath>
                </a14:m>
                <a:r>
                  <a:rPr lang="en-US" dirty="0">
                    <a:effectLst/>
                    <a:latin typeface="Arial" panose="020B0604020202020204" pitchFamily="34" charset="0"/>
                    <a:ea typeface="Aptos" panose="020B0004020202020204" pitchFamily="34" charset="0"/>
                    <a:cs typeface="Arial" panose="020B0604020202020204" pitchFamily="34" charset="0"/>
                  </a:rPr>
                  <a:t>)</a:t>
                </a:r>
                <a:r>
                  <a:rPr lang="en-US" b="1" dirty="0">
                    <a:latin typeface="Arial" panose="020B0604020202020204" pitchFamily="34" charset="0"/>
                    <a:ea typeface="Aptos" panose="020B0004020202020204" pitchFamily="34" charset="0"/>
                    <a:cs typeface="Arial" panose="020B0604020202020204" pitchFamily="34" charset="0"/>
                  </a:rPr>
                  <a:t>;</a:t>
                </a:r>
              </a:p>
            </p:txBody>
          </p:sp>
        </mc:Choice>
        <mc:Fallback xmlns="">
          <p:sp>
            <p:nvSpPr>
              <p:cNvPr id="3" name="Объект 2">
                <a:extLst>
                  <a:ext uri="{FF2B5EF4-FFF2-40B4-BE49-F238E27FC236}">
                    <a16:creationId xmlns:a16="http://schemas.microsoft.com/office/drawing/2014/main" id="{38B32713-8DC8-A19D-A317-628052EECCD1}"/>
                  </a:ext>
                </a:extLst>
              </p:cNvPr>
              <p:cNvSpPr>
                <a:spLocks noGrp="1" noRot="1" noChangeAspect="1" noMove="1" noResize="1" noEditPoints="1" noAdjustHandles="1" noChangeArrowheads="1" noChangeShapeType="1" noTextEdit="1"/>
              </p:cNvSpPr>
              <p:nvPr>
                <p:ph idx="1"/>
              </p:nvPr>
            </p:nvSpPr>
            <p:spPr>
              <a:blipFill>
                <a:blip r:embed="rId2"/>
                <a:stretch>
                  <a:fillRect l="-1043" t="-560"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F535D3F3-030A-439C-B7F9-49FA21B5F72F}"/>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28F8909E-0477-B36C-BC9A-1B1994C4D7BC}"/>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BD8D2E12-FAD8-BDD5-F29B-E12A78DDB34B}"/>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8E434401-8704-0D7D-794C-D88037866B58}"/>
              </a:ext>
            </a:extLst>
          </p:cNvPr>
          <p:cNvSpPr>
            <a:spLocks noGrp="1"/>
          </p:cNvSpPr>
          <p:nvPr>
            <p:ph type="sldNum" sz="quarter" idx="12"/>
          </p:nvPr>
        </p:nvSpPr>
        <p:spPr/>
        <p:txBody>
          <a:bodyPr/>
          <a:lstStyle/>
          <a:p>
            <a:fld id="{D8214FA6-4742-421D-8B19-2C99196BD091}" type="slidenum">
              <a:rPr lang="ru-RU" smtClean="0"/>
              <a:t>50</a:t>
            </a:fld>
            <a:endParaRPr lang="ru-RU"/>
          </a:p>
        </p:txBody>
      </p:sp>
    </p:spTree>
    <p:extLst>
      <p:ext uri="{BB962C8B-B14F-4D97-AF65-F5344CB8AC3E}">
        <p14:creationId xmlns:p14="http://schemas.microsoft.com/office/powerpoint/2010/main" val="11266648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63A49-A6A5-28AD-4144-510783670F8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7B4D05-65A1-6795-A6B6-3C7DB935BCA6}"/>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2E8E438D-F057-13DB-1F2D-349FF7A36D7B}"/>
                  </a:ext>
                </a:extLst>
              </p:cNvPr>
              <p:cNvSpPr>
                <a:spLocks noGrp="1"/>
              </p:cNvSpPr>
              <p:nvPr>
                <p:ph idx="1"/>
              </p:nvPr>
            </p:nvSpPr>
            <p:spPr/>
            <p:txBody>
              <a:bodyPr>
                <a:noAutofit/>
              </a:bodyPr>
              <a:lstStyle/>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shared Resistors – for a resistor </a:t>
                </a:r>
                <a14:m>
                  <m:oMath xmlns:m="http://schemas.openxmlformats.org/officeDocument/2006/math">
                    <m:r>
                      <a:rPr lang="en-US" b="1" i="1" smtClean="0">
                        <a:effectLst/>
                        <a:latin typeface="Cambria Math" panose="02040503050406030204" pitchFamily="18" charset="0"/>
                        <a:ea typeface="Aptos" panose="020B0004020202020204" pitchFamily="34" charset="0"/>
                      </a:rPr>
                      <m:t>𝑹</m:t>
                    </m:r>
                  </m:oMath>
                </a14:m>
                <a:r>
                  <a:rPr lang="en-US" b="1" dirty="0">
                    <a:effectLst/>
                    <a:latin typeface="Arial" panose="020B0604020202020204" pitchFamily="34" charset="0"/>
                    <a:ea typeface="Aptos" panose="020B0004020202020204" pitchFamily="34" charset="0"/>
                    <a:cs typeface="Arial" panose="020B0604020202020204" pitchFamily="34" charset="0"/>
                  </a:rPr>
                  <a:t> shared between Mesh 1 and Mesh 2, the current flowing through it is </a:t>
                </a:r>
                <a14:m>
                  <m:oMath xmlns:m="http://schemas.openxmlformats.org/officeDocument/2006/math">
                    <m:r>
                      <a:rPr lang="en-US" b="1" smtClean="0">
                        <a:effectLst/>
                        <a:latin typeface="Cambria Math" panose="02040503050406030204" pitchFamily="18" charset="0"/>
                        <a:ea typeface="Aptos" panose="020B0004020202020204" pitchFamily="34" charset="0"/>
                      </a:rPr>
                      <m:t>(</m:t>
                    </m:r>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𝒊</m:t>
                        </m:r>
                      </m:e>
                      <m:sub>
                        <m:r>
                          <a:rPr lang="en-US" b="1" i="1" smtClean="0">
                            <a:effectLst/>
                            <a:latin typeface="Cambria Math" panose="02040503050406030204" pitchFamily="18" charset="0"/>
                            <a:ea typeface="Aptos" panose="020B0004020202020204" pitchFamily="34" charset="0"/>
                          </a:rPr>
                          <m:t>𝟏</m:t>
                        </m:r>
                      </m:sub>
                    </m:sSub>
                    <m:r>
                      <a:rPr lang="en-US" b="1" i="1" smtClean="0">
                        <a:effectLst/>
                        <a:latin typeface="Cambria Math" panose="02040503050406030204" pitchFamily="18" charset="0"/>
                        <a:ea typeface="Aptos" panose="020B0004020202020204" pitchFamily="34" charset="0"/>
                      </a:rPr>
                      <m:t>−</m:t>
                    </m:r>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𝒊</m:t>
                        </m:r>
                      </m:e>
                      <m:sub>
                        <m:r>
                          <a:rPr lang="en-US" b="1" i="1" smtClean="0">
                            <a:effectLst/>
                            <a:latin typeface="Cambria Math" panose="02040503050406030204" pitchFamily="18" charset="0"/>
                            <a:ea typeface="Aptos" panose="020B0004020202020204" pitchFamily="34" charset="0"/>
                          </a:rPr>
                          <m:t>𝟐</m:t>
                        </m:r>
                      </m:sub>
                    </m:sSub>
                    <m:r>
                      <a:rPr lang="en-US" b="1" smtClean="0">
                        <a:effectLst/>
                        <a:latin typeface="Cambria Math" panose="02040503050406030204" pitchFamily="18" charset="0"/>
                        <a:ea typeface="Aptos" panose="020B0004020202020204" pitchFamily="34" charset="0"/>
                      </a:rPr>
                      <m:t>)</m:t>
                    </m:r>
                  </m:oMath>
                </a14:m>
                <a:r>
                  <a:rPr lang="en-US" b="1" dirty="0">
                    <a:effectLst/>
                    <a:latin typeface="Arial" panose="020B0604020202020204" pitchFamily="34" charset="0"/>
                    <a:ea typeface="Aptos" panose="020B0004020202020204" pitchFamily="34" charset="0"/>
                    <a:cs typeface="Arial" panose="020B0604020202020204" pitchFamily="34" charset="0"/>
                  </a:rPr>
                  <a:t> (assuming clockwise direction), therefore, the voltage drop is </a:t>
                </a:r>
                <a14:m>
                  <m:oMath xmlns:m="http://schemas.openxmlformats.org/officeDocument/2006/math">
                    <m:r>
                      <a:rPr lang="en-US" b="1" i="1" smtClean="0">
                        <a:effectLst/>
                        <a:latin typeface="Cambria Math" panose="02040503050406030204" pitchFamily="18" charset="0"/>
                        <a:ea typeface="Aptos" panose="020B0004020202020204" pitchFamily="34" charset="0"/>
                      </a:rPr>
                      <m:t>𝑹</m:t>
                    </m:r>
                    <m:r>
                      <a:rPr lang="en-US" b="1" smtClean="0">
                        <a:effectLst/>
                        <a:latin typeface="Cambria Math" panose="02040503050406030204" pitchFamily="18" charset="0"/>
                        <a:ea typeface="Aptos" panose="020B0004020202020204" pitchFamily="34" charset="0"/>
                      </a:rPr>
                      <m:t>×(</m:t>
                    </m:r>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𝒊</m:t>
                        </m:r>
                      </m:e>
                      <m:sub>
                        <m:r>
                          <a:rPr lang="en-US" b="1" i="1" smtClean="0">
                            <a:effectLst/>
                            <a:latin typeface="Cambria Math" panose="02040503050406030204" pitchFamily="18" charset="0"/>
                            <a:ea typeface="Aptos" panose="020B0004020202020204" pitchFamily="34" charset="0"/>
                          </a:rPr>
                          <m:t>𝟏</m:t>
                        </m:r>
                      </m:sub>
                    </m:sSub>
                    <m:r>
                      <a:rPr lang="en-US" b="1" i="1" smtClean="0">
                        <a:effectLst/>
                        <a:latin typeface="Cambria Math" panose="02040503050406030204" pitchFamily="18" charset="0"/>
                        <a:ea typeface="Aptos" panose="020B0004020202020204" pitchFamily="34" charset="0"/>
                      </a:rPr>
                      <m:t>−</m:t>
                    </m:r>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𝒊</m:t>
                        </m:r>
                      </m:e>
                      <m:sub>
                        <m:r>
                          <a:rPr lang="en-US" b="1" i="1" smtClean="0">
                            <a:effectLst/>
                            <a:latin typeface="Cambria Math" panose="02040503050406030204" pitchFamily="18" charset="0"/>
                            <a:ea typeface="Aptos" panose="020B0004020202020204" pitchFamily="34" charset="0"/>
                          </a:rPr>
                          <m:t>𝟐</m:t>
                        </m:r>
                      </m:sub>
                    </m:sSub>
                    <m:r>
                      <a:rPr lang="en-US" b="1" smtClean="0">
                        <a:effectLst/>
                        <a:latin typeface="Cambria Math" panose="02040503050406030204" pitchFamily="18" charset="0"/>
                        <a:ea typeface="Aptos" panose="020B0004020202020204" pitchFamily="34" charset="0"/>
                      </a:rPr>
                      <m:t>)</m:t>
                    </m:r>
                  </m:oMath>
                </a14:m>
                <a:r>
                  <a:rPr lang="en-US" b="1" dirty="0">
                    <a:effectLst/>
                    <a:latin typeface="Arial" panose="020B0604020202020204" pitchFamily="34" charset="0"/>
                    <a:ea typeface="Aptos" panose="020B0004020202020204" pitchFamily="34" charset="0"/>
                    <a:cs typeface="Arial" panose="020B0604020202020204" pitchFamily="34" charset="0"/>
                  </a:rPr>
                  <a:t>.</a:t>
                </a:r>
                <a:endParaRPr lang="ru-RU" b="1" dirty="0">
                  <a:effectLst/>
                  <a:latin typeface="Arial" panose="020B0604020202020204" pitchFamily="34" charset="0"/>
                  <a:ea typeface="Aptos" panose="020B00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2E8E438D-F057-13DB-1F2D-349FF7A36D7B}"/>
                  </a:ext>
                </a:extLst>
              </p:cNvPr>
              <p:cNvSpPr>
                <a:spLocks noGrp="1" noRot="1" noChangeAspect="1" noMove="1" noResize="1" noEditPoints="1" noAdjustHandles="1" noChangeArrowheads="1" noChangeShapeType="1" noTextEdit="1"/>
              </p:cNvSpPr>
              <p:nvPr>
                <p:ph idx="1"/>
              </p:nvPr>
            </p:nvSpPr>
            <p:spPr>
              <a:blipFill>
                <a:blip r:embed="rId2"/>
                <a:stretch>
                  <a:fillRect l="-1043" t="-560"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3F07E567-A986-3181-6ACC-85AD9F8B32C5}"/>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0C346E86-7A1B-8446-2033-EF3D9684FD11}"/>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6791FC0B-6EEC-2FBC-AAA6-AF164C5F8B6A}"/>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315EC796-AFB4-BA60-EF51-5FB822915201}"/>
              </a:ext>
            </a:extLst>
          </p:cNvPr>
          <p:cNvSpPr>
            <a:spLocks noGrp="1"/>
          </p:cNvSpPr>
          <p:nvPr>
            <p:ph type="sldNum" sz="quarter" idx="12"/>
          </p:nvPr>
        </p:nvSpPr>
        <p:spPr/>
        <p:txBody>
          <a:bodyPr/>
          <a:lstStyle/>
          <a:p>
            <a:fld id="{D8214FA6-4742-421D-8B19-2C99196BD091}" type="slidenum">
              <a:rPr lang="ru-RU" smtClean="0"/>
              <a:t>51</a:t>
            </a:fld>
            <a:endParaRPr lang="ru-RU"/>
          </a:p>
        </p:txBody>
      </p:sp>
    </p:spTree>
    <p:extLst>
      <p:ext uri="{BB962C8B-B14F-4D97-AF65-F5344CB8AC3E}">
        <p14:creationId xmlns:p14="http://schemas.microsoft.com/office/powerpoint/2010/main" val="40038416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Autofit/>
          </a:bodyPr>
          <a:lstStyle/>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The general pattern for the KVL equation of Mesh 1 is:</a:t>
            </a:r>
            <a:endParaRPr lang="ru-RU" b="1" dirty="0">
              <a:effectLst/>
              <a:latin typeface="Arial" panose="020B0604020202020204" pitchFamily="34" charset="0"/>
              <a:ea typeface="Aptos" panose="020B0004020202020204" pitchFamily="34" charset="0"/>
              <a:cs typeface="Arial" panose="020B0604020202020204" pitchFamily="34" charset="0"/>
            </a:endParaRPr>
          </a:p>
          <a:p>
            <a:pPr marL="0" indent="0" algn="ctr">
              <a:lnSpc>
                <a:spcPct val="120000"/>
              </a:lnSpc>
              <a:buNone/>
            </a:pPr>
            <a:endParaRPr lang="en-US" b="1" dirty="0">
              <a:effectLst/>
              <a:latin typeface="Cambria Math" panose="02040503050406030204" pitchFamily="18" charset="0"/>
              <a:ea typeface="Aptos" panose="020B0004020202020204" pitchFamily="34" charset="0"/>
            </a:endParaRPr>
          </a:p>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This «Self-Resistance minus Mutual-Resistance» pattern makes it very easy to check your work for errors.</a:t>
            </a:r>
            <a:endParaRPr lang="ru-RU" b="1" dirty="0">
              <a:effectLst/>
              <a:latin typeface="Arial" panose="020B0604020202020204" pitchFamily="34" charset="0"/>
              <a:ea typeface="Aptos" panose="020B00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EE69228-2895-4245-18E1-C0AD05F90A6C}"/>
                  </a:ext>
                </a:extLst>
              </p:cNvPr>
              <p:cNvSpPr txBox="1"/>
              <p:nvPr/>
            </p:nvSpPr>
            <p:spPr>
              <a:xfrm>
                <a:off x="-91440" y="2388870"/>
                <a:ext cx="12283440" cy="577402"/>
              </a:xfrm>
              <a:prstGeom prst="rect">
                <a:avLst/>
              </a:prstGeom>
              <a:noFill/>
            </p:spPr>
            <p:txBody>
              <a:bodyPr wrap="square" rtlCol="0">
                <a:spAutoFit/>
              </a:bodyPr>
              <a:lstStyle/>
              <a:p>
                <a:pPr marL="0" indent="0" algn="ctr">
                  <a:lnSpc>
                    <a:spcPct val="120000"/>
                  </a:lnSpc>
                  <a:buNone/>
                </a:pPr>
                <a14:m>
                  <m:oMath xmlns:m="http://schemas.openxmlformats.org/officeDocument/2006/math">
                    <m:r>
                      <a:rPr lang="en-US" sz="2800" b="1" i="1" smtClean="0">
                        <a:latin typeface="Cambria Math" panose="02040503050406030204" pitchFamily="18" charset="0"/>
                        <a:ea typeface="Aptos" panose="020B0004020202020204" pitchFamily="34" charset="0"/>
                      </a:rPr>
                      <m:t>𝑺𝒖𝒎</m:t>
                    </m:r>
                    <m:r>
                      <a:rPr lang="en-US" sz="2800" b="1">
                        <a:latin typeface="Cambria Math" panose="02040503050406030204" pitchFamily="18" charset="0"/>
                        <a:ea typeface="Aptos" panose="020B0004020202020204" pitchFamily="34" charset="0"/>
                      </a:rPr>
                      <m:t> </m:t>
                    </m:r>
                    <m:r>
                      <a:rPr lang="en-US" sz="2800" b="1" i="1">
                        <a:latin typeface="Cambria Math" panose="02040503050406030204" pitchFamily="18" charset="0"/>
                        <a:ea typeface="Aptos" panose="020B0004020202020204" pitchFamily="34" charset="0"/>
                      </a:rPr>
                      <m:t>𝒐𝒇</m:t>
                    </m:r>
                    <m:r>
                      <a:rPr lang="en-US" sz="2800" b="1">
                        <a:latin typeface="Cambria Math" panose="02040503050406030204" pitchFamily="18" charset="0"/>
                        <a:ea typeface="Aptos" panose="020B0004020202020204" pitchFamily="34" charset="0"/>
                      </a:rPr>
                      <m:t> </m:t>
                    </m:r>
                    <m:r>
                      <a:rPr lang="en-US" sz="2800" b="1" i="1">
                        <a:latin typeface="Cambria Math" panose="02040503050406030204" pitchFamily="18" charset="0"/>
                        <a:ea typeface="Aptos" panose="020B0004020202020204" pitchFamily="34" charset="0"/>
                      </a:rPr>
                      <m:t>𝑽𝒐𝒍𝒕𝒂𝒈𝒆</m:t>
                    </m:r>
                    <m:r>
                      <a:rPr lang="en-US" sz="2800" b="1">
                        <a:latin typeface="Cambria Math" panose="02040503050406030204" pitchFamily="18" charset="0"/>
                        <a:ea typeface="Aptos" panose="020B0004020202020204" pitchFamily="34" charset="0"/>
                      </a:rPr>
                      <m:t> </m:t>
                    </m:r>
                    <m:r>
                      <a:rPr lang="en-US" sz="2800" b="1" i="1">
                        <a:latin typeface="Cambria Math" panose="02040503050406030204" pitchFamily="18" charset="0"/>
                        <a:ea typeface="Aptos" panose="020B0004020202020204" pitchFamily="34" charset="0"/>
                      </a:rPr>
                      <m:t>𝑹𝒊𝒔𝒆𝒔</m:t>
                    </m:r>
                    <m:r>
                      <a:rPr lang="en-US" sz="2800" b="1" i="0" smtClean="0">
                        <a:effectLst/>
                        <a:latin typeface="Cambria Math" panose="02040503050406030204" pitchFamily="18" charset="0"/>
                        <a:ea typeface="Aptos" panose="020B0004020202020204" pitchFamily="34" charset="0"/>
                      </a:rPr>
                      <m:t>=</m:t>
                    </m:r>
                    <m:d>
                      <m:dPr>
                        <m:ctrlPr>
                          <a:rPr lang="en-US" sz="2800" b="1" i="1" smtClean="0">
                            <a:effectLst/>
                            <a:latin typeface="Cambria Math" panose="02040503050406030204" pitchFamily="18" charset="0"/>
                            <a:ea typeface="Aptos" panose="020B0004020202020204" pitchFamily="34" charset="0"/>
                          </a:rPr>
                        </m:ctrlPr>
                      </m:dPr>
                      <m:e>
                        <m:r>
                          <a:rPr lang="en-US" sz="2800" b="1" i="1" smtClean="0">
                            <a:effectLst/>
                            <a:latin typeface="Cambria Math" panose="02040503050406030204" pitchFamily="18" charset="0"/>
                            <a:ea typeface="Aptos" panose="020B0004020202020204" pitchFamily="34" charset="0"/>
                          </a:rPr>
                          <m:t>𝑺𝒖𝒎</m:t>
                        </m:r>
                        <m:r>
                          <a:rPr lang="en-US" sz="2800" b="1" smtClean="0">
                            <a:effectLst/>
                            <a:latin typeface="Cambria Math" panose="02040503050406030204" pitchFamily="18" charset="0"/>
                            <a:ea typeface="Aptos" panose="020B0004020202020204" pitchFamily="34" charset="0"/>
                          </a:rPr>
                          <m:t> </m:t>
                        </m:r>
                        <m:r>
                          <a:rPr lang="en-US" sz="2800" b="1" i="1" smtClean="0">
                            <a:effectLst/>
                            <a:latin typeface="Cambria Math" panose="02040503050406030204" pitchFamily="18" charset="0"/>
                            <a:ea typeface="Aptos" panose="020B0004020202020204" pitchFamily="34" charset="0"/>
                          </a:rPr>
                          <m:t>𝒐𝒇</m:t>
                        </m:r>
                        <m:r>
                          <a:rPr lang="en-US" sz="2800" b="1" smtClean="0">
                            <a:effectLst/>
                            <a:latin typeface="Cambria Math" panose="02040503050406030204" pitchFamily="18" charset="0"/>
                            <a:ea typeface="Aptos" panose="020B0004020202020204" pitchFamily="34" charset="0"/>
                          </a:rPr>
                          <m:t> </m:t>
                        </m:r>
                        <m:r>
                          <a:rPr lang="en-US" sz="2800" b="1" i="1" smtClean="0">
                            <a:effectLst/>
                            <a:latin typeface="Cambria Math" panose="02040503050406030204" pitchFamily="18" charset="0"/>
                            <a:ea typeface="Aptos" panose="020B0004020202020204" pitchFamily="34" charset="0"/>
                          </a:rPr>
                          <m:t>𝑹</m:t>
                        </m:r>
                        <m:r>
                          <a:rPr lang="en-US" sz="2800" b="1" smtClean="0">
                            <a:effectLst/>
                            <a:latin typeface="Cambria Math" panose="02040503050406030204" pitchFamily="18" charset="0"/>
                            <a:ea typeface="Aptos" panose="020B0004020202020204" pitchFamily="34" charset="0"/>
                          </a:rPr>
                          <m:t> </m:t>
                        </m:r>
                        <m:r>
                          <a:rPr lang="en-US" sz="2800" b="1" i="1" smtClean="0">
                            <a:effectLst/>
                            <a:latin typeface="Cambria Math" panose="02040503050406030204" pitchFamily="18" charset="0"/>
                            <a:ea typeface="Aptos" panose="020B0004020202020204" pitchFamily="34" charset="0"/>
                          </a:rPr>
                          <m:t>𝒊𝒏</m:t>
                        </m:r>
                        <m:r>
                          <a:rPr lang="en-US" sz="2800" b="1" smtClean="0">
                            <a:effectLst/>
                            <a:latin typeface="Cambria Math" panose="02040503050406030204" pitchFamily="18" charset="0"/>
                            <a:ea typeface="Aptos" panose="020B0004020202020204" pitchFamily="34" charset="0"/>
                          </a:rPr>
                          <m:t> </m:t>
                        </m:r>
                        <m:r>
                          <a:rPr lang="en-US" sz="2800" b="1" i="1" smtClean="0">
                            <a:effectLst/>
                            <a:latin typeface="Cambria Math" panose="02040503050406030204" pitchFamily="18" charset="0"/>
                            <a:ea typeface="Aptos" panose="020B0004020202020204" pitchFamily="34" charset="0"/>
                          </a:rPr>
                          <m:t>𝑴𝒆𝒔𝒉</m:t>
                        </m:r>
                        <m:r>
                          <a:rPr lang="en-US" sz="2800" b="1" smtClean="0">
                            <a:effectLst/>
                            <a:latin typeface="Cambria Math" panose="02040503050406030204" pitchFamily="18" charset="0"/>
                            <a:ea typeface="Aptos" panose="020B0004020202020204" pitchFamily="34" charset="0"/>
                          </a:rPr>
                          <m:t> </m:t>
                        </m:r>
                        <m:r>
                          <a:rPr lang="en-US" sz="2800" b="1" i="1" smtClean="0">
                            <a:effectLst/>
                            <a:latin typeface="Cambria Math" panose="02040503050406030204" pitchFamily="18" charset="0"/>
                            <a:ea typeface="Aptos" panose="020B0004020202020204" pitchFamily="34" charset="0"/>
                          </a:rPr>
                          <m:t>𝟏</m:t>
                        </m:r>
                      </m:e>
                    </m:d>
                    <m:r>
                      <a:rPr lang="en-US" sz="2800" b="1" smtClean="0">
                        <a:effectLst/>
                        <a:latin typeface="Cambria Math" panose="02040503050406030204" pitchFamily="18" charset="0"/>
                        <a:ea typeface="Aptos" panose="020B0004020202020204" pitchFamily="34" charset="0"/>
                      </a:rPr>
                      <m:t>×</m:t>
                    </m:r>
                    <m:sSub>
                      <m:sSubPr>
                        <m:ctrlPr>
                          <a:rPr lang="ru-RU" sz="2800" b="1" i="1">
                            <a:effectLst/>
                            <a:latin typeface="Cambria Math" panose="02040503050406030204" pitchFamily="18" charset="0"/>
                            <a:ea typeface="Aptos" panose="020B0004020202020204" pitchFamily="34" charset="0"/>
                          </a:rPr>
                        </m:ctrlPr>
                      </m:sSubPr>
                      <m:e>
                        <m:r>
                          <a:rPr lang="en-US" sz="2800" b="1" i="1" smtClean="0">
                            <a:effectLst/>
                            <a:latin typeface="Cambria Math" panose="02040503050406030204" pitchFamily="18" charset="0"/>
                            <a:ea typeface="Aptos" panose="020B0004020202020204" pitchFamily="34" charset="0"/>
                          </a:rPr>
                          <m:t>𝒊</m:t>
                        </m:r>
                      </m:e>
                      <m:sub>
                        <m:r>
                          <a:rPr lang="en-US" sz="2800" b="1" i="1" smtClean="0">
                            <a:effectLst/>
                            <a:latin typeface="Cambria Math" panose="02040503050406030204" pitchFamily="18" charset="0"/>
                            <a:ea typeface="Aptos" panose="020B0004020202020204" pitchFamily="34" charset="0"/>
                          </a:rPr>
                          <m:t>𝟏</m:t>
                        </m:r>
                      </m:sub>
                    </m:sSub>
                    <m:r>
                      <a:rPr lang="en-US" sz="2800" b="1" i="1" smtClean="0">
                        <a:effectLst/>
                        <a:latin typeface="Cambria Math" panose="02040503050406030204" pitchFamily="18" charset="0"/>
                        <a:ea typeface="Aptos" panose="020B0004020202020204" pitchFamily="34" charset="0"/>
                      </a:rPr>
                      <m:t>−</m:t>
                    </m:r>
                    <m:d>
                      <m:dPr>
                        <m:ctrlPr>
                          <a:rPr lang="en-US" sz="2800" b="1" i="1" smtClean="0">
                            <a:effectLst/>
                            <a:latin typeface="Cambria Math" panose="02040503050406030204" pitchFamily="18" charset="0"/>
                            <a:ea typeface="Aptos" panose="020B0004020202020204" pitchFamily="34" charset="0"/>
                          </a:rPr>
                        </m:ctrlPr>
                      </m:dPr>
                      <m:e>
                        <m:r>
                          <a:rPr lang="en-US" sz="2800" b="1" i="1" smtClean="0">
                            <a:effectLst/>
                            <a:latin typeface="Cambria Math" panose="02040503050406030204" pitchFamily="18" charset="0"/>
                            <a:ea typeface="Aptos" panose="020B0004020202020204" pitchFamily="34" charset="0"/>
                          </a:rPr>
                          <m:t>𝑺𝒉𝒂𝒓𝒆𝒅</m:t>
                        </m:r>
                        <m:r>
                          <a:rPr lang="en-US" sz="2800" b="1" smtClean="0">
                            <a:effectLst/>
                            <a:latin typeface="Cambria Math" panose="02040503050406030204" pitchFamily="18" charset="0"/>
                            <a:ea typeface="Aptos" panose="020B0004020202020204" pitchFamily="34" charset="0"/>
                          </a:rPr>
                          <m:t> </m:t>
                        </m:r>
                        <m:r>
                          <a:rPr lang="en-US" sz="2800" b="1" i="1" smtClean="0">
                            <a:effectLst/>
                            <a:latin typeface="Cambria Math" panose="02040503050406030204" pitchFamily="18" charset="0"/>
                            <a:ea typeface="Aptos" panose="020B0004020202020204" pitchFamily="34" charset="0"/>
                          </a:rPr>
                          <m:t>𝑹</m:t>
                        </m:r>
                      </m:e>
                    </m:d>
                    <m:r>
                      <a:rPr lang="en-US" sz="2800" b="1" smtClean="0">
                        <a:effectLst/>
                        <a:latin typeface="Cambria Math" panose="02040503050406030204" pitchFamily="18" charset="0"/>
                        <a:ea typeface="Aptos" panose="020B0004020202020204" pitchFamily="34" charset="0"/>
                      </a:rPr>
                      <m:t>×</m:t>
                    </m:r>
                    <m:sSub>
                      <m:sSubPr>
                        <m:ctrlPr>
                          <a:rPr lang="ru-RU" sz="2800" b="1" i="1">
                            <a:effectLst/>
                            <a:latin typeface="Cambria Math" panose="02040503050406030204" pitchFamily="18" charset="0"/>
                            <a:ea typeface="Aptos" panose="020B0004020202020204" pitchFamily="34" charset="0"/>
                          </a:rPr>
                        </m:ctrlPr>
                      </m:sSubPr>
                      <m:e>
                        <m:r>
                          <a:rPr lang="en-US" sz="2800" b="1" i="1" smtClean="0">
                            <a:effectLst/>
                            <a:latin typeface="Cambria Math" panose="02040503050406030204" pitchFamily="18" charset="0"/>
                            <a:ea typeface="Aptos" panose="020B0004020202020204" pitchFamily="34" charset="0"/>
                          </a:rPr>
                          <m:t>𝒊</m:t>
                        </m:r>
                      </m:e>
                      <m:sub>
                        <m:r>
                          <a:rPr lang="en-US" sz="2800" b="1" i="1" smtClean="0">
                            <a:effectLst/>
                            <a:latin typeface="Cambria Math" panose="02040503050406030204" pitchFamily="18" charset="0"/>
                            <a:ea typeface="Aptos" panose="020B0004020202020204" pitchFamily="34" charset="0"/>
                          </a:rPr>
                          <m:t>𝟐</m:t>
                        </m:r>
                      </m:sub>
                    </m:sSub>
                  </m:oMath>
                </a14:m>
                <a:r>
                  <a:rPr lang="en-US" sz="2800" b="1" dirty="0">
                    <a:latin typeface="Arial" panose="020B0604020202020204" pitchFamily="34" charset="0"/>
                  </a:rPr>
                  <a:t>.</a:t>
                </a:r>
                <a:endParaRPr lang="ru-RU" sz="2800" b="1" dirty="0">
                  <a:latin typeface="Arial" panose="020B0604020202020204" pitchFamily="34" charset="0"/>
                </a:endParaRPr>
              </a:p>
            </p:txBody>
          </p:sp>
        </mc:Choice>
        <mc:Fallback xmlns="">
          <p:sp>
            <p:nvSpPr>
              <p:cNvPr id="4" name="TextBox 3">
                <a:extLst>
                  <a:ext uri="{FF2B5EF4-FFF2-40B4-BE49-F238E27FC236}">
                    <a16:creationId xmlns:a16="http://schemas.microsoft.com/office/drawing/2014/main" id="{FEE69228-2895-4245-18E1-C0AD05F90A6C}"/>
                  </a:ext>
                </a:extLst>
              </p:cNvPr>
              <p:cNvSpPr txBox="1">
                <a:spLocks noRot="1" noChangeAspect="1" noMove="1" noResize="1" noEditPoints="1" noAdjustHandles="1" noChangeArrowheads="1" noChangeShapeType="1" noTextEdit="1"/>
              </p:cNvSpPr>
              <p:nvPr/>
            </p:nvSpPr>
            <p:spPr>
              <a:xfrm>
                <a:off x="-91440" y="2388870"/>
                <a:ext cx="12283440" cy="577402"/>
              </a:xfrm>
              <a:prstGeom prst="rect">
                <a:avLst/>
              </a:prstGeom>
              <a:blipFill>
                <a:blip r:embed="rId2"/>
                <a:stretch>
                  <a:fillRect t="-5263" b="-25263"/>
                </a:stretch>
              </a:blipFill>
            </p:spPr>
            <p:txBody>
              <a:bodyPr/>
              <a:lstStyle/>
              <a:p>
                <a:r>
                  <a:rPr lang="ru-RU">
                    <a:noFill/>
                  </a:rPr>
                  <a:t> </a:t>
                </a:r>
              </a:p>
            </p:txBody>
          </p:sp>
        </mc:Fallback>
      </mc:AlternateContent>
      <p:grpSp>
        <p:nvGrpSpPr>
          <p:cNvPr id="5" name="Группа 4">
            <a:extLst>
              <a:ext uri="{FF2B5EF4-FFF2-40B4-BE49-F238E27FC236}">
                <a16:creationId xmlns:a16="http://schemas.microsoft.com/office/drawing/2014/main" id="{B41A3A28-81A3-E92B-04D5-8819CED13C26}"/>
              </a:ext>
            </a:extLst>
          </p:cNvPr>
          <p:cNvGrpSpPr/>
          <p:nvPr/>
        </p:nvGrpSpPr>
        <p:grpSpPr>
          <a:xfrm>
            <a:off x="0" y="0"/>
            <a:ext cx="12192000" cy="1690688"/>
            <a:chOff x="0" y="0"/>
            <a:chExt cx="12192000" cy="1690688"/>
          </a:xfrm>
        </p:grpSpPr>
        <p:sp>
          <p:nvSpPr>
            <p:cNvPr id="6" name="Прямоугольник 5">
              <a:extLst>
                <a:ext uri="{FF2B5EF4-FFF2-40B4-BE49-F238E27FC236}">
                  <a16:creationId xmlns:a16="http://schemas.microsoft.com/office/drawing/2014/main" id="{B40DDD9F-A2EA-8F2B-144D-B3D8D7C29CD1}"/>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7" name="Прямоугольник: скругленные углы 6">
              <a:extLst>
                <a:ext uri="{FF2B5EF4-FFF2-40B4-BE49-F238E27FC236}">
                  <a16:creationId xmlns:a16="http://schemas.microsoft.com/office/drawing/2014/main" id="{4160B54C-0081-5002-284E-E5946F355507}"/>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Номер слайда 7">
            <a:extLst>
              <a:ext uri="{FF2B5EF4-FFF2-40B4-BE49-F238E27FC236}">
                <a16:creationId xmlns:a16="http://schemas.microsoft.com/office/drawing/2014/main" id="{ADC30C26-4C41-21E9-E763-1CAA1359DB70}"/>
              </a:ext>
            </a:extLst>
          </p:cNvPr>
          <p:cNvSpPr>
            <a:spLocks noGrp="1"/>
          </p:cNvSpPr>
          <p:nvPr>
            <p:ph type="sldNum" sz="quarter" idx="12"/>
          </p:nvPr>
        </p:nvSpPr>
        <p:spPr/>
        <p:txBody>
          <a:bodyPr/>
          <a:lstStyle/>
          <a:p>
            <a:fld id="{D8214FA6-4742-421D-8B19-2C99196BD091}" type="slidenum">
              <a:rPr lang="ru-RU" smtClean="0"/>
              <a:t>52</a:t>
            </a:fld>
            <a:endParaRPr lang="ru-RU"/>
          </a:p>
        </p:txBody>
      </p:sp>
    </p:spTree>
    <p:extLst>
      <p:ext uri="{BB962C8B-B14F-4D97-AF65-F5344CB8AC3E}">
        <p14:creationId xmlns:p14="http://schemas.microsoft.com/office/powerpoint/2010/main" val="24900455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EA3DB-4E1B-2BD5-ABCB-D9D51AD5EEA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57E31B8-DC78-159B-B665-7E264517E92E}"/>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804063A3-DC80-532F-02C3-4C5A826BEB5A}"/>
              </a:ext>
            </a:extLst>
          </p:cNvPr>
          <p:cNvSpPr>
            <a:spLocks noGrp="1"/>
          </p:cNvSpPr>
          <p:nvPr>
            <p:ph idx="1"/>
          </p:nvPr>
        </p:nvSpPr>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Let's illustrate the concept of shared resistance and mesh currents. </a:t>
            </a: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Imagine two loops of water pipes sharing a common wall. </a:t>
            </a: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The water in the left loop circulates clockwise. </a:t>
            </a: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The water in the right loop also circulates clockwise.</a:t>
            </a:r>
          </a:p>
        </p:txBody>
      </p:sp>
      <p:grpSp>
        <p:nvGrpSpPr>
          <p:cNvPr id="5" name="Группа 4">
            <a:extLst>
              <a:ext uri="{FF2B5EF4-FFF2-40B4-BE49-F238E27FC236}">
                <a16:creationId xmlns:a16="http://schemas.microsoft.com/office/drawing/2014/main" id="{8CE82FAF-405D-91C0-EBE7-D1C29D49B27A}"/>
              </a:ext>
            </a:extLst>
          </p:cNvPr>
          <p:cNvGrpSpPr/>
          <p:nvPr/>
        </p:nvGrpSpPr>
        <p:grpSpPr>
          <a:xfrm>
            <a:off x="0" y="0"/>
            <a:ext cx="12192000" cy="1690688"/>
            <a:chOff x="0" y="0"/>
            <a:chExt cx="12192000" cy="1690688"/>
          </a:xfrm>
        </p:grpSpPr>
        <p:sp>
          <p:nvSpPr>
            <p:cNvPr id="6" name="Прямоугольник 5">
              <a:extLst>
                <a:ext uri="{FF2B5EF4-FFF2-40B4-BE49-F238E27FC236}">
                  <a16:creationId xmlns:a16="http://schemas.microsoft.com/office/drawing/2014/main" id="{C50CC807-5B8F-2B94-50F2-FB091ABE3BFA}"/>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7" name="Прямоугольник: скругленные углы 6">
              <a:extLst>
                <a:ext uri="{FF2B5EF4-FFF2-40B4-BE49-F238E27FC236}">
                  <a16:creationId xmlns:a16="http://schemas.microsoft.com/office/drawing/2014/main" id="{CE360908-C0FD-02B8-6471-82FE784B7F6E}"/>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4" name="Номер слайда 3">
            <a:extLst>
              <a:ext uri="{FF2B5EF4-FFF2-40B4-BE49-F238E27FC236}">
                <a16:creationId xmlns:a16="http://schemas.microsoft.com/office/drawing/2014/main" id="{175BA4C5-7C4B-34CF-2E15-C76761E47CFE}"/>
              </a:ext>
            </a:extLst>
          </p:cNvPr>
          <p:cNvSpPr>
            <a:spLocks noGrp="1"/>
          </p:cNvSpPr>
          <p:nvPr>
            <p:ph type="sldNum" sz="quarter" idx="12"/>
          </p:nvPr>
        </p:nvSpPr>
        <p:spPr/>
        <p:txBody>
          <a:bodyPr/>
          <a:lstStyle/>
          <a:p>
            <a:fld id="{D8214FA6-4742-421D-8B19-2C99196BD091}" type="slidenum">
              <a:rPr lang="ru-RU" smtClean="0"/>
              <a:t>53</a:t>
            </a:fld>
            <a:endParaRPr lang="ru-RU"/>
          </a:p>
        </p:txBody>
      </p:sp>
    </p:spTree>
    <p:extLst>
      <p:ext uri="{BB962C8B-B14F-4D97-AF65-F5344CB8AC3E}">
        <p14:creationId xmlns:p14="http://schemas.microsoft.com/office/powerpoint/2010/main" val="8531504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Autofit/>
          </a:bodyPr>
          <a:lstStyle/>
          <a:p>
            <a:pPr algn="just">
              <a:lnSpc>
                <a:spcPct val="120000"/>
              </a:lnSpc>
            </a:pPr>
            <a:endParaRPr lang="ru-RU" dirty="0">
              <a:effectLst/>
              <a:latin typeface="Arial" panose="020B0604020202020204" pitchFamily="34" charset="0"/>
              <a:ea typeface="Aptos" panose="020B0004020202020204" pitchFamily="34" charset="0"/>
              <a:cs typeface="Arial" panose="020B0604020202020204" pitchFamily="34" charset="0"/>
            </a:endParaRPr>
          </a:p>
        </p:txBody>
      </p:sp>
      <p:pic>
        <p:nvPicPr>
          <p:cNvPr id="5" name="Рисунок 4">
            <a:extLst>
              <a:ext uri="{FF2B5EF4-FFF2-40B4-BE49-F238E27FC236}">
                <a16:creationId xmlns:a16="http://schemas.microsoft.com/office/drawing/2014/main" id="{F990B85E-E3F1-8CE7-1062-5BA3A5A7C0D2}"/>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0" y="-1"/>
            <a:ext cx="12192000" cy="6810375"/>
          </a:xfrm>
          <a:prstGeom prst="rect">
            <a:avLst/>
          </a:prstGeom>
          <a:noFill/>
          <a:ln>
            <a:noFill/>
          </a:ln>
        </p:spPr>
      </p:pic>
      <p:sp>
        <p:nvSpPr>
          <p:cNvPr id="4" name="Номер слайда 3">
            <a:extLst>
              <a:ext uri="{FF2B5EF4-FFF2-40B4-BE49-F238E27FC236}">
                <a16:creationId xmlns:a16="http://schemas.microsoft.com/office/drawing/2014/main" id="{F1CF10FF-FB81-8B25-61DB-56967787B136}"/>
              </a:ext>
            </a:extLst>
          </p:cNvPr>
          <p:cNvSpPr>
            <a:spLocks noGrp="1"/>
          </p:cNvSpPr>
          <p:nvPr>
            <p:ph type="sldNum" sz="quarter" idx="12"/>
          </p:nvPr>
        </p:nvSpPr>
        <p:spPr/>
        <p:txBody>
          <a:bodyPr/>
          <a:lstStyle/>
          <a:p>
            <a:fld id="{D8214FA6-4742-421D-8B19-2C99196BD091}" type="slidenum">
              <a:rPr lang="ru-RU" smtClean="0"/>
              <a:t>54</a:t>
            </a:fld>
            <a:endParaRPr lang="ru-RU"/>
          </a:p>
        </p:txBody>
      </p:sp>
    </p:spTree>
    <p:extLst>
      <p:ext uri="{BB962C8B-B14F-4D97-AF65-F5344CB8AC3E}">
        <p14:creationId xmlns:p14="http://schemas.microsoft.com/office/powerpoint/2010/main" val="35098191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9A4F5-F4D6-B443-D314-279AD4BF0CB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5BCE215-349E-1D64-AFFE-97AB34DEBC06}"/>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2D85B663-58CF-A3F9-4F8E-98EC4F314385}"/>
                  </a:ext>
                </a:extLst>
              </p:cNvPr>
              <p:cNvSpPr>
                <a:spLocks noGrp="1"/>
              </p:cNvSpPr>
              <p:nvPr>
                <p:ph idx="1"/>
              </p:nvPr>
            </p:nvSpPr>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At the common wall (the shared branch), the left water pushes down, and the right water pushes up. </a:t>
                </a: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The net flow of water in the central pipe is the subtraction of the two flows. </a:t>
                </a: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If the left flow is stronger, the water goes down. </a:t>
                </a: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If the right flow is stronger, it goes up. </a:t>
                </a: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In our equations, we account for this by writing the voltage drop as </a:t>
                </a:r>
                <a14:m>
                  <m:oMath xmlns:m="http://schemas.openxmlformats.org/officeDocument/2006/math">
                    <m:r>
                      <a:rPr lang="en-US" i="1" smtClean="0">
                        <a:effectLst/>
                        <a:latin typeface="Cambria Math" panose="02040503050406030204" pitchFamily="18" charset="0"/>
                        <a:ea typeface="Aptos" panose="020B0004020202020204" pitchFamily="34" charset="0"/>
                        <a:cs typeface="Times New Roman" panose="02020603050405020304" pitchFamily="18" charset="0"/>
                      </a:rPr>
                      <m:t>𝑅</m:t>
                    </m:r>
                    <m:r>
                      <a:rPr lang="en-US">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i="1">
                            <a:effectLst/>
                            <a:latin typeface="Cambria Math" panose="02040503050406030204" pitchFamily="18" charset="0"/>
                          </a:rPr>
                        </m:ctrlPr>
                      </m:sSubPr>
                      <m:e>
                        <m:r>
                          <a:rPr lang="en-US" i="1">
                            <a:effectLst/>
                            <a:latin typeface="Cambria Math" panose="02040503050406030204" pitchFamily="18" charset="0"/>
                            <a:ea typeface="Aptos" panose="020B0004020202020204" pitchFamily="34" charset="0"/>
                            <a:cs typeface="Times New Roman" panose="02020603050405020304" pitchFamily="18" charset="0"/>
                          </a:rPr>
                          <m:t>𝑖</m:t>
                        </m:r>
                      </m:e>
                      <m:sub>
                        <m:r>
                          <a:rPr lang="en-US" i="1">
                            <a:effectLst/>
                            <a:latin typeface="Cambria Math" panose="02040503050406030204" pitchFamily="18" charset="0"/>
                            <a:ea typeface="Aptos" panose="020B0004020202020204" pitchFamily="34" charset="0"/>
                            <a:cs typeface="Times New Roman" panose="02020603050405020304" pitchFamily="18" charset="0"/>
                          </a:rPr>
                          <m:t>𝑚𝑒𝑠h</m:t>
                        </m:r>
                      </m:sub>
                    </m:sSub>
                    <m:r>
                      <a:rPr lang="en-US" i="1">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i="1">
                            <a:effectLst/>
                            <a:latin typeface="Cambria Math" panose="02040503050406030204" pitchFamily="18" charset="0"/>
                          </a:rPr>
                        </m:ctrlPr>
                      </m:sSubPr>
                      <m:e>
                        <m:r>
                          <a:rPr lang="en-US" i="1">
                            <a:effectLst/>
                            <a:latin typeface="Cambria Math" panose="02040503050406030204" pitchFamily="18" charset="0"/>
                            <a:ea typeface="Aptos" panose="020B0004020202020204" pitchFamily="34" charset="0"/>
                            <a:cs typeface="Times New Roman" panose="02020603050405020304" pitchFamily="18" charset="0"/>
                          </a:rPr>
                          <m:t>𝑖</m:t>
                        </m:r>
                      </m:e>
                      <m:sub>
                        <m:r>
                          <a:rPr lang="en-US" i="1">
                            <a:effectLst/>
                            <a:latin typeface="Cambria Math" panose="02040503050406030204" pitchFamily="18" charset="0"/>
                            <a:ea typeface="Aptos" panose="020B0004020202020204" pitchFamily="34" charset="0"/>
                            <a:cs typeface="Times New Roman" panose="02020603050405020304" pitchFamily="18" charset="0"/>
                          </a:rPr>
                          <m:t>𝑛𝑒𝑖𝑔h𝑏𝑜𝑟</m:t>
                        </m:r>
                      </m:sub>
                    </m:sSub>
                    <m:r>
                      <a:rPr lang="en-US">
                        <a:effectLst/>
                        <a:latin typeface="Cambria Math" panose="02040503050406030204" pitchFamily="18" charset="0"/>
                        <a:ea typeface="Aptos" panose="020B0004020202020204" pitchFamily="34" charset="0"/>
                        <a:cs typeface="Times New Roman" panose="02020603050405020304" pitchFamily="18" charset="0"/>
                      </a:rPr>
                      <m:t>)</m:t>
                    </m:r>
                  </m:oMath>
                </a14:m>
                <a:r>
                  <a:rPr lang="en-US" dirty="0">
                    <a:effectLst/>
                    <a:ea typeface="Aptos" panose="020B0004020202020204" pitchFamily="34" charset="0"/>
                    <a:cs typeface="Times New Roman" panose="02020603050405020304" pitchFamily="18" charset="0"/>
                  </a:rPr>
                  <a:t>.</a:t>
                </a:r>
                <a:endParaRPr lang="ru-RU" dirty="0">
                  <a:effectLst/>
                  <a:latin typeface="Arial" panose="020B0604020202020204" pitchFamily="34" charset="0"/>
                  <a:ea typeface="Aptos" panose="020B00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2D85B663-58CF-A3F9-4F8E-98EC4F314385}"/>
                  </a:ext>
                </a:extLst>
              </p:cNvPr>
              <p:cNvSpPr>
                <a:spLocks noGrp="1" noRot="1" noChangeAspect="1" noMove="1" noResize="1" noEditPoints="1" noAdjustHandles="1" noChangeArrowheads="1" noChangeShapeType="1" noTextEdit="1"/>
              </p:cNvSpPr>
              <p:nvPr>
                <p:ph idx="1"/>
              </p:nvPr>
            </p:nvSpPr>
            <p:spPr>
              <a:blipFill>
                <a:blip r:embed="rId2"/>
                <a:stretch>
                  <a:fillRect l="-1043" t="-560" r="-1159" b="-11204"/>
                </a:stretch>
              </a:blipFill>
            </p:spPr>
            <p:txBody>
              <a:bodyPr/>
              <a:lstStyle/>
              <a:p>
                <a:r>
                  <a:rPr lang="ru-RU">
                    <a:noFill/>
                  </a:rPr>
                  <a:t> </a:t>
                </a:r>
              </a:p>
            </p:txBody>
          </p:sp>
        </mc:Fallback>
      </mc:AlternateContent>
      <p:grpSp>
        <p:nvGrpSpPr>
          <p:cNvPr id="5" name="Группа 4">
            <a:extLst>
              <a:ext uri="{FF2B5EF4-FFF2-40B4-BE49-F238E27FC236}">
                <a16:creationId xmlns:a16="http://schemas.microsoft.com/office/drawing/2014/main" id="{659A8A2E-62C9-6DB0-1772-3F63CF3FC332}"/>
              </a:ext>
            </a:extLst>
          </p:cNvPr>
          <p:cNvGrpSpPr/>
          <p:nvPr/>
        </p:nvGrpSpPr>
        <p:grpSpPr>
          <a:xfrm>
            <a:off x="0" y="0"/>
            <a:ext cx="12192000" cy="1690688"/>
            <a:chOff x="0" y="0"/>
            <a:chExt cx="12192000" cy="1690688"/>
          </a:xfrm>
        </p:grpSpPr>
        <p:sp>
          <p:nvSpPr>
            <p:cNvPr id="6" name="Прямоугольник 5">
              <a:extLst>
                <a:ext uri="{FF2B5EF4-FFF2-40B4-BE49-F238E27FC236}">
                  <a16:creationId xmlns:a16="http://schemas.microsoft.com/office/drawing/2014/main" id="{C77AEEAE-624A-DCF9-C8EF-BF3E46C5A4FB}"/>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7" name="Прямоугольник: скругленные углы 6">
              <a:extLst>
                <a:ext uri="{FF2B5EF4-FFF2-40B4-BE49-F238E27FC236}">
                  <a16:creationId xmlns:a16="http://schemas.microsoft.com/office/drawing/2014/main" id="{F99B4425-E46C-4835-FE4A-4F8BE28BB013}"/>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4" name="Номер слайда 3">
            <a:extLst>
              <a:ext uri="{FF2B5EF4-FFF2-40B4-BE49-F238E27FC236}">
                <a16:creationId xmlns:a16="http://schemas.microsoft.com/office/drawing/2014/main" id="{A98A58BA-045D-6B87-4A58-85D899849834}"/>
              </a:ext>
            </a:extLst>
          </p:cNvPr>
          <p:cNvSpPr>
            <a:spLocks noGrp="1"/>
          </p:cNvSpPr>
          <p:nvPr>
            <p:ph type="sldNum" sz="quarter" idx="12"/>
          </p:nvPr>
        </p:nvSpPr>
        <p:spPr/>
        <p:txBody>
          <a:bodyPr/>
          <a:lstStyle/>
          <a:p>
            <a:fld id="{D8214FA6-4742-421D-8B19-2C99196BD091}" type="slidenum">
              <a:rPr lang="ru-RU" smtClean="0"/>
              <a:t>55</a:t>
            </a:fld>
            <a:endParaRPr lang="ru-RU"/>
          </a:p>
        </p:txBody>
      </p:sp>
    </p:spTree>
    <p:extLst>
      <p:ext uri="{BB962C8B-B14F-4D97-AF65-F5344CB8AC3E}">
        <p14:creationId xmlns:p14="http://schemas.microsoft.com/office/powerpoint/2010/main" val="20212748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Just as current sources simplified Nodal Analysis, </a:t>
            </a:r>
            <a:r>
              <a:rPr lang="en-US" b="1" dirty="0">
                <a:effectLst/>
                <a:latin typeface="Arial" panose="020B0604020202020204" pitchFamily="34" charset="0"/>
                <a:ea typeface="Aptos" panose="020B0004020202020204" pitchFamily="34" charset="0"/>
                <a:cs typeface="Arial" panose="020B0604020202020204" pitchFamily="34" charset="0"/>
              </a:rPr>
              <a:t>Voltage Sources simplify Mesh Analysis. </a:t>
            </a:r>
            <a:r>
              <a:rPr lang="en-US" dirty="0">
                <a:effectLst/>
                <a:latin typeface="Arial" panose="020B0604020202020204" pitchFamily="34" charset="0"/>
                <a:ea typeface="Aptos" panose="020B0004020202020204" pitchFamily="34" charset="0"/>
                <a:cs typeface="Arial" panose="020B0604020202020204" pitchFamily="34" charset="0"/>
              </a:rPr>
              <a:t>If a branch contains a voltage source, it simply adds a constant term to the KVL equation.</a:t>
            </a:r>
          </a:p>
          <a:p>
            <a:pPr algn="just">
              <a:lnSpc>
                <a:spcPct val="120000"/>
              </a:lnSpc>
            </a:pPr>
            <a:r>
              <a:rPr lang="en-US" dirty="0">
                <a:latin typeface="Arial" panose="020B0604020202020204" pitchFamily="34" charset="0"/>
                <a:ea typeface="Aptos" panose="020B0004020202020204" pitchFamily="34" charset="0"/>
                <a:cs typeface="Arial" panose="020B0604020202020204" pitchFamily="34" charset="0"/>
              </a:rPr>
              <a:t>However, </a:t>
            </a:r>
            <a:r>
              <a:rPr lang="en-US" b="1" dirty="0">
                <a:latin typeface="Arial" panose="020B0604020202020204" pitchFamily="34" charset="0"/>
                <a:ea typeface="Aptos" panose="020B0004020202020204" pitchFamily="34" charset="0"/>
                <a:cs typeface="Arial" panose="020B0604020202020204" pitchFamily="34" charset="0"/>
              </a:rPr>
              <a:t>i</a:t>
            </a:r>
            <a:r>
              <a:rPr lang="en-US" b="1" dirty="0">
                <a:effectLst/>
                <a:latin typeface="Arial" panose="020B0604020202020204" pitchFamily="34" charset="0"/>
                <a:ea typeface="Aptos" panose="020B0004020202020204" pitchFamily="34" charset="0"/>
                <a:cs typeface="Arial" panose="020B0604020202020204" pitchFamily="34" charset="0"/>
              </a:rPr>
              <a:t>f a Current Source exists in a branch shared by two meshes, </a:t>
            </a:r>
            <a:r>
              <a:rPr lang="en-US" dirty="0">
                <a:effectLst/>
                <a:latin typeface="Arial" panose="020B0604020202020204" pitchFamily="34" charset="0"/>
                <a:ea typeface="Aptos" panose="020B0004020202020204" pitchFamily="34" charset="0"/>
                <a:cs typeface="Arial" panose="020B0604020202020204" pitchFamily="34" charset="0"/>
              </a:rPr>
              <a:t>we have a problem: </a:t>
            </a:r>
            <a:r>
              <a:rPr lang="en-US" b="1" dirty="0">
                <a:effectLst/>
                <a:latin typeface="Arial" panose="020B0604020202020204" pitchFamily="34" charset="0"/>
                <a:ea typeface="Aptos" panose="020B0004020202020204" pitchFamily="34" charset="0"/>
                <a:cs typeface="Arial" panose="020B0604020202020204" pitchFamily="34" charset="0"/>
              </a:rPr>
              <a:t>we cannot define the voltage drop across an ideal current source directly.</a:t>
            </a: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In this case, we use the concept of a </a:t>
            </a:r>
            <a:r>
              <a:rPr lang="en-US" dirty="0" err="1">
                <a:effectLst/>
                <a:latin typeface="Arial" panose="020B0604020202020204" pitchFamily="34" charset="0"/>
                <a:ea typeface="Aptos" panose="020B0004020202020204" pitchFamily="34" charset="0"/>
                <a:cs typeface="Arial" panose="020B0604020202020204" pitchFamily="34" charset="0"/>
              </a:rPr>
              <a:t>Supermesh</a:t>
            </a:r>
            <a:r>
              <a:rPr lang="en-US" dirty="0">
                <a:effectLst/>
                <a:latin typeface="Arial" panose="020B0604020202020204" pitchFamily="34" charset="0"/>
                <a:ea typeface="Aptos" panose="020B0004020202020204" pitchFamily="34" charset="0"/>
                <a:cs typeface="Arial" panose="020B0604020202020204" pitchFamily="34" charset="0"/>
              </a:rPr>
              <a:t>.</a:t>
            </a:r>
          </a:p>
          <a:p>
            <a:pPr algn="just">
              <a:lnSpc>
                <a:spcPct val="120000"/>
              </a:lnSpc>
            </a:pPr>
            <a:endParaRPr lang="ru-RU" b="1" dirty="0">
              <a:effectLst/>
              <a:latin typeface="Arial" panose="020B0604020202020204" pitchFamily="34" charset="0"/>
              <a:ea typeface="Aptos" panose="020B00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ADF75645-872F-53AB-D67D-7B7F383A3CC6}"/>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B13F1CA1-A950-8C0B-6091-6096B4A0B666}"/>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46925A56-8931-E9DE-427C-CEE9455EB9CA}"/>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43F0B868-AC0D-E981-102F-8004AD6E1781}"/>
              </a:ext>
            </a:extLst>
          </p:cNvPr>
          <p:cNvSpPr>
            <a:spLocks noGrp="1"/>
          </p:cNvSpPr>
          <p:nvPr>
            <p:ph type="sldNum" sz="quarter" idx="12"/>
          </p:nvPr>
        </p:nvSpPr>
        <p:spPr/>
        <p:txBody>
          <a:bodyPr/>
          <a:lstStyle/>
          <a:p>
            <a:fld id="{D8214FA6-4742-421D-8B19-2C99196BD091}" type="slidenum">
              <a:rPr lang="ru-RU" smtClean="0"/>
              <a:t>56</a:t>
            </a:fld>
            <a:endParaRPr lang="ru-RU"/>
          </a:p>
        </p:txBody>
      </p:sp>
    </p:spTree>
    <p:extLst>
      <p:ext uri="{BB962C8B-B14F-4D97-AF65-F5344CB8AC3E}">
        <p14:creationId xmlns:p14="http://schemas.microsoft.com/office/powerpoint/2010/main" val="39686619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Autofit/>
              </a:bodyPr>
              <a:lstStyle/>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A </a:t>
                </a:r>
                <a:r>
                  <a:rPr lang="en-US" b="1" dirty="0" err="1">
                    <a:effectLst/>
                    <a:latin typeface="Arial" panose="020B0604020202020204" pitchFamily="34" charset="0"/>
                    <a:ea typeface="Aptos" panose="020B0004020202020204" pitchFamily="34" charset="0"/>
                    <a:cs typeface="Arial" panose="020B0604020202020204" pitchFamily="34" charset="0"/>
                  </a:rPr>
                  <a:t>Supermesh</a:t>
                </a:r>
                <a:r>
                  <a:rPr lang="en-US" b="1" dirty="0">
                    <a:effectLst/>
                    <a:latin typeface="Arial" panose="020B0604020202020204" pitchFamily="34" charset="0"/>
                    <a:ea typeface="Aptos" panose="020B0004020202020204" pitchFamily="34" charset="0"/>
                    <a:cs typeface="Arial" panose="020B0604020202020204" pitchFamily="34" charset="0"/>
                  </a:rPr>
                  <a:t> is created by conceptually removing the current source branch and writing a KVL equation around the larger combined loop. </a:t>
                </a:r>
              </a:p>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We also write a constraint equation: the difference between the two mesh currents must equal the value of the current source (</a:t>
                </a:r>
                <a14:m>
                  <m:oMath xmlns:m="http://schemas.openxmlformats.org/officeDocument/2006/math">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𝒊</m:t>
                        </m:r>
                      </m:e>
                      <m:sub>
                        <m:r>
                          <a:rPr lang="en-US" b="1" i="1" smtClean="0">
                            <a:effectLst/>
                            <a:latin typeface="Cambria Math" panose="02040503050406030204" pitchFamily="18" charset="0"/>
                            <a:ea typeface="Aptos" panose="020B0004020202020204" pitchFamily="34" charset="0"/>
                          </a:rPr>
                          <m:t>𝟐</m:t>
                        </m:r>
                      </m:sub>
                    </m:sSub>
                    <m:r>
                      <a:rPr lang="en-US" b="1" i="1" smtClean="0">
                        <a:effectLst/>
                        <a:latin typeface="Cambria Math" panose="02040503050406030204" pitchFamily="18" charset="0"/>
                        <a:ea typeface="Aptos" panose="020B0004020202020204" pitchFamily="34" charset="0"/>
                      </a:rPr>
                      <m:t>−</m:t>
                    </m:r>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𝒊</m:t>
                        </m:r>
                      </m:e>
                      <m:sub>
                        <m:r>
                          <a:rPr lang="en-US" b="1" i="1" smtClean="0">
                            <a:effectLst/>
                            <a:latin typeface="Cambria Math" panose="02040503050406030204" pitchFamily="18" charset="0"/>
                            <a:ea typeface="Aptos" panose="020B0004020202020204" pitchFamily="34" charset="0"/>
                          </a:rPr>
                          <m:t>𝟏</m:t>
                        </m:r>
                      </m:sub>
                    </m:sSub>
                    <m:r>
                      <a:rPr lang="en-US" b="1" smtClean="0">
                        <a:effectLst/>
                        <a:latin typeface="Cambria Math" panose="02040503050406030204" pitchFamily="18" charset="0"/>
                        <a:ea typeface="Aptos" panose="020B0004020202020204" pitchFamily="34" charset="0"/>
                      </a:rPr>
                      <m:t>=</m:t>
                    </m:r>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𝒊</m:t>
                        </m:r>
                      </m:e>
                      <m:sub>
                        <m:r>
                          <a:rPr lang="en-US" b="1" i="1" smtClean="0">
                            <a:effectLst/>
                            <a:latin typeface="Cambria Math" panose="02040503050406030204" pitchFamily="18" charset="0"/>
                            <a:ea typeface="Aptos" panose="020B0004020202020204" pitchFamily="34" charset="0"/>
                          </a:rPr>
                          <m:t>𝒔𝒐𝒖𝒓𝒄𝒆</m:t>
                        </m:r>
                      </m:sub>
                    </m:sSub>
                  </m:oMath>
                </a14:m>
                <a:r>
                  <a:rPr lang="en-US" b="1" dirty="0">
                    <a:effectLst/>
                    <a:latin typeface="Arial" panose="020B0604020202020204" pitchFamily="34" charset="0"/>
                    <a:ea typeface="Aptos" panose="020B0004020202020204" pitchFamily="34" charset="0"/>
                    <a:cs typeface="Arial" panose="020B0604020202020204" pitchFamily="34" charset="0"/>
                  </a:rPr>
                  <a:t>).</a:t>
                </a:r>
                <a:endParaRPr lang="ru-RU" b="1" dirty="0">
                  <a:effectLst/>
                  <a:latin typeface="Arial" panose="020B0604020202020204" pitchFamily="34" charset="0"/>
                  <a:ea typeface="Aptos" panose="020B0004020202020204" pitchFamily="34" charset="0"/>
                  <a:cs typeface="Arial" panose="020B0604020202020204" pitchFamily="34" charset="0"/>
                </a:endParaRPr>
              </a:p>
              <a:p>
                <a:pPr algn="just">
                  <a:lnSpc>
                    <a:spcPct val="120000"/>
                  </a:lnSpc>
                </a:pPr>
                <a:endParaRPr lang="ru-RU" b="1" dirty="0">
                  <a:effectLst/>
                  <a:latin typeface="Arial" panose="020B0604020202020204" pitchFamily="34" charset="0"/>
                  <a:ea typeface="Aptos" panose="020B00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38B32713-8DC8-A19D-A317-628052EECCD1}"/>
                  </a:ext>
                </a:extLst>
              </p:cNvPr>
              <p:cNvSpPr>
                <a:spLocks noGrp="1" noRot="1" noChangeAspect="1" noMove="1" noResize="1" noEditPoints="1" noAdjustHandles="1" noChangeArrowheads="1" noChangeShapeType="1" noTextEdit="1"/>
              </p:cNvSpPr>
              <p:nvPr>
                <p:ph idx="1"/>
              </p:nvPr>
            </p:nvSpPr>
            <p:spPr>
              <a:blipFill>
                <a:blip r:embed="rId2"/>
                <a:stretch>
                  <a:fillRect l="-1043" t="-560"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801E11C1-FCBE-A171-37FC-86C1C38368DE}"/>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6959E241-A7EA-FC6E-E805-8986A44B7B71}"/>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3FCCF2F2-5E2B-9971-A862-480F952742F8}"/>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849E2B39-75D9-E853-3C3C-9175184DEEA6}"/>
              </a:ext>
            </a:extLst>
          </p:cNvPr>
          <p:cNvSpPr>
            <a:spLocks noGrp="1"/>
          </p:cNvSpPr>
          <p:nvPr>
            <p:ph type="sldNum" sz="quarter" idx="12"/>
          </p:nvPr>
        </p:nvSpPr>
        <p:spPr/>
        <p:txBody>
          <a:bodyPr/>
          <a:lstStyle/>
          <a:p>
            <a:fld id="{D8214FA6-4742-421D-8B19-2C99196BD091}" type="slidenum">
              <a:rPr lang="ru-RU" smtClean="0"/>
              <a:t>57</a:t>
            </a:fld>
            <a:endParaRPr lang="ru-RU"/>
          </a:p>
        </p:txBody>
      </p:sp>
    </p:spTree>
    <p:extLst>
      <p:ext uri="{BB962C8B-B14F-4D97-AF65-F5344CB8AC3E}">
        <p14:creationId xmlns:p14="http://schemas.microsoft.com/office/powerpoint/2010/main" val="18231266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But</a:t>
                </a:r>
                <a:r>
                  <a:rPr lang="en-US" b="1" dirty="0">
                    <a:effectLst/>
                    <a:latin typeface="Arial" panose="020B0604020202020204" pitchFamily="34" charset="0"/>
                    <a:ea typeface="Aptos" panose="020B0004020202020204" pitchFamily="34" charset="0"/>
                    <a:cs typeface="Arial" panose="020B0604020202020204" pitchFamily="34" charset="0"/>
                  </a:rPr>
                  <a:t> which of these methods should you choose? </a:t>
                </a:r>
                <a:r>
                  <a:rPr lang="en-US" dirty="0">
                    <a:effectLst/>
                    <a:latin typeface="Arial" panose="020B0604020202020204" pitchFamily="34" charset="0"/>
                    <a:ea typeface="Aptos" panose="020B0004020202020204" pitchFamily="34" charset="0"/>
                    <a:cs typeface="Arial" panose="020B0604020202020204" pitchFamily="34" charset="0"/>
                  </a:rPr>
                  <a:t>Professional engineers choose the method that results in the fewest equations.</a:t>
                </a:r>
              </a:p>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Count the Nodes (n) and Meshes (m):</a:t>
                </a:r>
              </a:p>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if </a:t>
                </a:r>
                <a14:m>
                  <m:oMath xmlns:m="http://schemas.openxmlformats.org/officeDocument/2006/math">
                    <m:r>
                      <a:rPr lang="en-US" b="1" i="1" dirty="0" smtClean="0">
                        <a:effectLst/>
                        <a:latin typeface="Cambria Math" panose="02040503050406030204" pitchFamily="18" charset="0"/>
                        <a:ea typeface="Aptos" panose="020B0004020202020204" pitchFamily="34" charset="0"/>
                        <a:cs typeface="Arial" panose="020B0604020202020204" pitchFamily="34" charset="0"/>
                      </a:rPr>
                      <m:t>(</m:t>
                    </m:r>
                    <m:r>
                      <a:rPr lang="en-US" b="1" i="1" dirty="0" smtClean="0">
                        <a:effectLst/>
                        <a:latin typeface="Cambria Math" panose="02040503050406030204" pitchFamily="18" charset="0"/>
                        <a:ea typeface="Aptos" panose="020B0004020202020204" pitchFamily="34" charset="0"/>
                        <a:cs typeface="Arial" panose="020B0604020202020204" pitchFamily="34" charset="0"/>
                      </a:rPr>
                      <m:t>𝒏</m:t>
                    </m:r>
                    <m:r>
                      <a:rPr lang="en-US" b="1" i="1" dirty="0" smtClean="0">
                        <a:effectLst/>
                        <a:latin typeface="Cambria Math" panose="02040503050406030204" pitchFamily="18" charset="0"/>
                        <a:ea typeface="Aptos" panose="020B0004020202020204" pitchFamily="34" charset="0"/>
                        <a:cs typeface="Arial" panose="020B0604020202020204" pitchFamily="34" charset="0"/>
                      </a:rPr>
                      <m:t>−</m:t>
                    </m:r>
                    <m:r>
                      <a:rPr lang="en-US" b="1" i="1" dirty="0" smtClean="0">
                        <a:effectLst/>
                        <a:latin typeface="Cambria Math" panose="02040503050406030204" pitchFamily="18" charset="0"/>
                        <a:ea typeface="Aptos" panose="020B0004020202020204" pitchFamily="34" charset="0"/>
                        <a:cs typeface="Arial" panose="020B0604020202020204" pitchFamily="34" charset="0"/>
                      </a:rPr>
                      <m:t>𝟏</m:t>
                    </m:r>
                    <m:r>
                      <a:rPr lang="en-US" b="1" i="1" dirty="0" smtClean="0">
                        <a:effectLst/>
                        <a:latin typeface="Cambria Math" panose="02040503050406030204" pitchFamily="18" charset="0"/>
                        <a:ea typeface="Aptos" panose="020B0004020202020204" pitchFamily="34" charset="0"/>
                        <a:cs typeface="Arial" panose="020B0604020202020204" pitchFamily="34" charset="0"/>
                      </a:rPr>
                      <m:t>)&lt;</m:t>
                    </m:r>
                    <m:r>
                      <a:rPr lang="en-US" b="1" i="1" dirty="0" smtClean="0">
                        <a:effectLst/>
                        <a:latin typeface="Cambria Math" panose="02040503050406030204" pitchFamily="18" charset="0"/>
                        <a:ea typeface="Aptos" panose="020B0004020202020204" pitchFamily="34" charset="0"/>
                        <a:cs typeface="Arial" panose="020B0604020202020204" pitchFamily="34" charset="0"/>
                      </a:rPr>
                      <m:t>𝒎</m:t>
                    </m:r>
                    <m:r>
                      <a:rPr lang="en-US" b="1" i="1" dirty="0" smtClean="0">
                        <a:effectLst/>
                        <a:latin typeface="Cambria Math" panose="02040503050406030204" pitchFamily="18" charset="0"/>
                        <a:ea typeface="Aptos" panose="020B0004020202020204" pitchFamily="34" charset="0"/>
                        <a:cs typeface="Arial" panose="020B0604020202020204" pitchFamily="34" charset="0"/>
                      </a:rPr>
                      <m:t> </m:t>
                    </m:r>
                  </m:oMath>
                </a14:m>
                <a:r>
                  <a:rPr lang="en-US" b="1" dirty="0">
                    <a:effectLst/>
                    <a:latin typeface="Arial" panose="020B0604020202020204" pitchFamily="34" charset="0"/>
                    <a:ea typeface="Aptos" panose="020B0004020202020204" pitchFamily="34" charset="0"/>
                    <a:cs typeface="Arial" panose="020B0604020202020204" pitchFamily="34" charset="0"/>
                  </a:rPr>
                  <a:t>use Nodal Analysis </a:t>
                </a:r>
                <a:r>
                  <a:rPr lang="en-US" dirty="0">
                    <a:effectLst/>
                    <a:latin typeface="Arial" panose="020B0604020202020204" pitchFamily="34" charset="0"/>
                    <a:ea typeface="Aptos" panose="020B0004020202020204" pitchFamily="34" charset="0"/>
                    <a:cs typeface="Arial" panose="020B0604020202020204" pitchFamily="34" charset="0"/>
                  </a:rPr>
                  <a:t>(this is usually true for parallel circuits or circuits with many current sources)</a:t>
                </a:r>
                <a:r>
                  <a:rPr lang="en-US" b="1" dirty="0">
                    <a:effectLst/>
                    <a:latin typeface="Arial" panose="020B0604020202020204" pitchFamily="34" charset="0"/>
                    <a:ea typeface="Aptos" panose="020B0004020202020204" pitchFamily="34" charset="0"/>
                    <a:cs typeface="Arial" panose="020B0604020202020204" pitchFamily="34" charset="0"/>
                  </a:rPr>
                  <a:t>;</a:t>
                </a:r>
              </a:p>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if</a:t>
                </a:r>
                <a14:m>
                  <m:oMath xmlns:m="http://schemas.openxmlformats.org/officeDocument/2006/math">
                    <m:r>
                      <a:rPr lang="en-US" b="1" i="1" dirty="0" smtClean="0">
                        <a:effectLst/>
                        <a:latin typeface="Cambria Math" panose="02040503050406030204" pitchFamily="18" charset="0"/>
                        <a:ea typeface="Aptos" panose="020B0004020202020204" pitchFamily="34" charset="0"/>
                        <a:cs typeface="Arial" panose="020B0604020202020204" pitchFamily="34" charset="0"/>
                      </a:rPr>
                      <m:t> </m:t>
                    </m:r>
                    <m:r>
                      <a:rPr lang="en-US" b="1" i="1" dirty="0" smtClean="0">
                        <a:effectLst/>
                        <a:latin typeface="Cambria Math" panose="02040503050406030204" pitchFamily="18" charset="0"/>
                        <a:ea typeface="Aptos" panose="020B0004020202020204" pitchFamily="34" charset="0"/>
                        <a:cs typeface="Arial" panose="020B0604020202020204" pitchFamily="34" charset="0"/>
                      </a:rPr>
                      <m:t>𝒎</m:t>
                    </m:r>
                    <m:r>
                      <a:rPr lang="en-US" b="1" i="1" dirty="0" smtClean="0">
                        <a:effectLst/>
                        <a:latin typeface="Cambria Math" panose="02040503050406030204" pitchFamily="18" charset="0"/>
                        <a:ea typeface="Aptos" panose="020B0004020202020204" pitchFamily="34" charset="0"/>
                        <a:cs typeface="Arial" panose="020B0604020202020204" pitchFamily="34" charset="0"/>
                      </a:rPr>
                      <m:t>&lt;(</m:t>
                    </m:r>
                    <m:r>
                      <a:rPr lang="en-US" b="1" i="1" dirty="0" smtClean="0">
                        <a:effectLst/>
                        <a:latin typeface="Cambria Math" panose="02040503050406030204" pitchFamily="18" charset="0"/>
                        <a:ea typeface="Aptos" panose="020B0004020202020204" pitchFamily="34" charset="0"/>
                        <a:cs typeface="Arial" panose="020B0604020202020204" pitchFamily="34" charset="0"/>
                      </a:rPr>
                      <m:t>𝒏</m:t>
                    </m:r>
                    <m:r>
                      <a:rPr lang="en-US" b="1" i="1" dirty="0" smtClean="0">
                        <a:effectLst/>
                        <a:latin typeface="Cambria Math" panose="02040503050406030204" pitchFamily="18" charset="0"/>
                        <a:ea typeface="Aptos" panose="020B0004020202020204" pitchFamily="34" charset="0"/>
                        <a:cs typeface="Arial" panose="020B0604020202020204" pitchFamily="34" charset="0"/>
                      </a:rPr>
                      <m:t>−</m:t>
                    </m:r>
                    <m:r>
                      <a:rPr lang="en-US" b="1" i="1" dirty="0" smtClean="0">
                        <a:effectLst/>
                        <a:latin typeface="Cambria Math" panose="02040503050406030204" pitchFamily="18" charset="0"/>
                        <a:ea typeface="Aptos" panose="020B0004020202020204" pitchFamily="34" charset="0"/>
                        <a:cs typeface="Arial" panose="020B0604020202020204" pitchFamily="34" charset="0"/>
                      </a:rPr>
                      <m:t>𝟏</m:t>
                    </m:r>
                    <m:r>
                      <a:rPr lang="en-US" b="1" i="1" dirty="0" smtClean="0">
                        <a:effectLst/>
                        <a:latin typeface="Cambria Math" panose="02040503050406030204" pitchFamily="18" charset="0"/>
                        <a:ea typeface="Aptos" panose="020B0004020202020204" pitchFamily="34" charset="0"/>
                        <a:cs typeface="Arial" panose="020B0604020202020204" pitchFamily="34" charset="0"/>
                      </a:rPr>
                      <m:t>) </m:t>
                    </m:r>
                  </m:oMath>
                </a14:m>
                <a:r>
                  <a:rPr lang="en-US" b="1" dirty="0">
                    <a:effectLst/>
                    <a:latin typeface="Arial" panose="020B0604020202020204" pitchFamily="34" charset="0"/>
                    <a:ea typeface="Aptos" panose="020B0004020202020204" pitchFamily="34" charset="0"/>
                    <a:cs typeface="Arial" panose="020B0604020202020204" pitchFamily="34" charset="0"/>
                  </a:rPr>
                  <a:t>– use Mesh Analysis </a:t>
                </a:r>
                <a:r>
                  <a:rPr lang="en-US" dirty="0">
                    <a:effectLst/>
                    <a:latin typeface="Arial" panose="020B0604020202020204" pitchFamily="34" charset="0"/>
                    <a:ea typeface="Aptos" panose="020B0004020202020204" pitchFamily="34" charset="0"/>
                    <a:cs typeface="Arial" panose="020B0604020202020204" pitchFamily="34" charset="0"/>
                  </a:rPr>
                  <a:t>(this is usually true for series-heavy circuits or circuits with many voltage sources).</a:t>
                </a:r>
                <a:endParaRPr lang="ru-RU" dirty="0">
                  <a:effectLst/>
                  <a:latin typeface="Arial" panose="020B0604020202020204" pitchFamily="34" charset="0"/>
                  <a:ea typeface="Aptos" panose="020B00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38B32713-8DC8-A19D-A317-628052EECCD1}"/>
                  </a:ext>
                </a:extLst>
              </p:cNvPr>
              <p:cNvSpPr>
                <a:spLocks noGrp="1" noRot="1" noChangeAspect="1" noMove="1" noResize="1" noEditPoints="1" noAdjustHandles="1" noChangeArrowheads="1" noChangeShapeType="1" noTextEdit="1"/>
              </p:cNvSpPr>
              <p:nvPr>
                <p:ph idx="1"/>
              </p:nvPr>
            </p:nvSpPr>
            <p:spPr>
              <a:blipFill>
                <a:blip r:embed="rId2"/>
                <a:stretch>
                  <a:fillRect l="-1043" t="-560" r="-1159" b="-7843"/>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1AFDAAF7-652E-2137-F14B-DCB0798AE7C6}"/>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FBF6AA5A-E8C1-2308-E981-E6C183327EF7}"/>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647FAC91-A852-31C1-D268-390C6BF27F9A}"/>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7" name="Номер слайда 6">
            <a:extLst>
              <a:ext uri="{FF2B5EF4-FFF2-40B4-BE49-F238E27FC236}">
                <a16:creationId xmlns:a16="http://schemas.microsoft.com/office/drawing/2014/main" id="{068026B6-0E19-B23D-889B-59FD594143A7}"/>
              </a:ext>
            </a:extLst>
          </p:cNvPr>
          <p:cNvSpPr>
            <a:spLocks noGrp="1"/>
          </p:cNvSpPr>
          <p:nvPr>
            <p:ph type="sldNum" sz="quarter" idx="12"/>
          </p:nvPr>
        </p:nvSpPr>
        <p:spPr/>
        <p:txBody>
          <a:bodyPr/>
          <a:lstStyle/>
          <a:p>
            <a:fld id="{D8214FA6-4742-421D-8B19-2C99196BD091}" type="slidenum">
              <a:rPr lang="ru-RU" smtClean="0"/>
              <a:t>58</a:t>
            </a:fld>
            <a:endParaRPr lang="ru-RU"/>
          </a:p>
        </p:txBody>
      </p:sp>
    </p:spTree>
    <p:extLst>
      <p:ext uri="{BB962C8B-B14F-4D97-AF65-F5344CB8AC3E}">
        <p14:creationId xmlns:p14="http://schemas.microsoft.com/office/powerpoint/2010/main" val="29605219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969B0-218D-1A08-A5AF-37E32DE825F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072E83F-C056-6CDA-7A96-A5BC144708BF}"/>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84EEB95B-8A1B-F0FB-1DED-A2C2701A9434}"/>
              </a:ext>
            </a:extLst>
          </p:cNvPr>
          <p:cNvSpPr>
            <a:spLocks noGrp="1"/>
          </p:cNvSpPr>
          <p:nvPr>
            <p:ph idx="1"/>
          </p:nvPr>
        </p:nvSpPr>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Example: a bridge circuit has 4 nodes and 3 meshes. </a:t>
            </a: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Nodal Analysis requires 4-1=3 equations. </a:t>
            </a: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Mesh Analysis requires 3 equations. </a:t>
            </a: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They are equal in difficulty. </a:t>
            </a: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However, if we ground the bottom node, </a:t>
            </a:r>
          </a:p>
          <a:p>
            <a:pPr marL="0" indent="0" algn="just">
              <a:lnSpc>
                <a:spcPct val="120000"/>
              </a:lnSpc>
              <a:buNone/>
            </a:pPr>
            <a:r>
              <a:rPr lang="en-US" dirty="0">
                <a:effectLst/>
                <a:latin typeface="Arial" panose="020B0604020202020204" pitchFamily="34" charset="0"/>
                <a:ea typeface="Aptos" panose="020B0004020202020204" pitchFamily="34" charset="0"/>
                <a:cs typeface="Arial" panose="020B0604020202020204" pitchFamily="34" charset="0"/>
              </a:rPr>
              <a:t>Nodal might feel more intuitive for finding voltages.</a:t>
            </a:r>
            <a:endParaRPr lang="ru-RU" dirty="0">
              <a:effectLst/>
              <a:latin typeface="Arial" panose="020B0604020202020204" pitchFamily="34" charset="0"/>
              <a:ea typeface="Aptos" panose="020B00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930408FD-3E66-13AE-AF0F-BA3B49C59E6F}"/>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5596B727-0901-65ED-6733-D577D974D86F}"/>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D72191B0-E1CC-97C8-EF33-E7FA29C8F080}"/>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pic>
        <p:nvPicPr>
          <p:cNvPr id="7" name="Рисунок 6">
            <a:extLst>
              <a:ext uri="{FF2B5EF4-FFF2-40B4-BE49-F238E27FC236}">
                <a16:creationId xmlns:a16="http://schemas.microsoft.com/office/drawing/2014/main" id="{D5FD4C44-EC68-BC43-EDD6-44DD42DDA6E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536984" y="2423604"/>
            <a:ext cx="3441222" cy="2732485"/>
          </a:xfrm>
          <a:prstGeom prst="rect">
            <a:avLst/>
          </a:prstGeom>
        </p:spPr>
      </p:pic>
      <p:sp>
        <p:nvSpPr>
          <p:cNvPr id="8" name="Номер слайда 7">
            <a:extLst>
              <a:ext uri="{FF2B5EF4-FFF2-40B4-BE49-F238E27FC236}">
                <a16:creationId xmlns:a16="http://schemas.microsoft.com/office/drawing/2014/main" id="{3029650F-DE33-F7F0-78C4-650664157BB8}"/>
              </a:ext>
            </a:extLst>
          </p:cNvPr>
          <p:cNvSpPr>
            <a:spLocks noGrp="1"/>
          </p:cNvSpPr>
          <p:nvPr>
            <p:ph type="sldNum" sz="quarter" idx="12"/>
          </p:nvPr>
        </p:nvSpPr>
        <p:spPr/>
        <p:txBody>
          <a:bodyPr/>
          <a:lstStyle/>
          <a:p>
            <a:fld id="{D8214FA6-4742-421D-8B19-2C99196BD091}" type="slidenum">
              <a:rPr lang="ru-RU" smtClean="0"/>
              <a:t>59</a:t>
            </a:fld>
            <a:endParaRPr lang="ru-RU"/>
          </a:p>
        </p:txBody>
      </p:sp>
    </p:spTree>
    <p:extLst>
      <p:ext uri="{BB962C8B-B14F-4D97-AF65-F5344CB8AC3E}">
        <p14:creationId xmlns:p14="http://schemas.microsoft.com/office/powerpoint/2010/main" val="40106948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Let us practice with a quick thought experiment. Imagine a circuit with 10 parallel resistors and one voltage source. </a:t>
            </a:r>
          </a:p>
        </p:txBody>
      </p:sp>
      <p:pic>
        <p:nvPicPr>
          <p:cNvPr id="4" name="Рисунок 3">
            <a:extLst>
              <a:ext uri="{FF2B5EF4-FFF2-40B4-BE49-F238E27FC236}">
                <a16:creationId xmlns:a16="http://schemas.microsoft.com/office/drawing/2014/main" id="{7E40E49F-F738-8A4D-7CE5-DEA2AE03589F}"/>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r="255"/>
          <a:stretch/>
        </p:blipFill>
        <p:spPr bwMode="auto">
          <a:xfrm>
            <a:off x="299177" y="4241028"/>
            <a:ext cx="11593646" cy="2474871"/>
          </a:xfrm>
          <a:prstGeom prst="rect">
            <a:avLst/>
          </a:prstGeom>
          <a:noFill/>
          <a:ln>
            <a:noFill/>
          </a:ln>
          <a:extLst>
            <a:ext uri="{53640926-AAD7-44D8-BBD7-CCE9431645EC}">
              <a14:shadowObscured xmlns:a14="http://schemas.microsoft.com/office/drawing/2010/main"/>
            </a:ext>
          </a:extLst>
        </p:spPr>
      </p:pic>
      <p:grpSp>
        <p:nvGrpSpPr>
          <p:cNvPr id="5" name="Группа 4">
            <a:extLst>
              <a:ext uri="{FF2B5EF4-FFF2-40B4-BE49-F238E27FC236}">
                <a16:creationId xmlns:a16="http://schemas.microsoft.com/office/drawing/2014/main" id="{7372D39B-479A-851C-2073-2B3C75F5729E}"/>
              </a:ext>
            </a:extLst>
          </p:cNvPr>
          <p:cNvGrpSpPr/>
          <p:nvPr/>
        </p:nvGrpSpPr>
        <p:grpSpPr>
          <a:xfrm>
            <a:off x="0" y="0"/>
            <a:ext cx="12192000" cy="1690688"/>
            <a:chOff x="0" y="0"/>
            <a:chExt cx="12192000" cy="1690688"/>
          </a:xfrm>
        </p:grpSpPr>
        <p:sp>
          <p:nvSpPr>
            <p:cNvPr id="6" name="Прямоугольник 5">
              <a:extLst>
                <a:ext uri="{FF2B5EF4-FFF2-40B4-BE49-F238E27FC236}">
                  <a16:creationId xmlns:a16="http://schemas.microsoft.com/office/drawing/2014/main" id="{143E5F2D-6815-DBBC-A33B-65E5EE978ED6}"/>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7" name="Прямоугольник: скругленные углы 6">
              <a:extLst>
                <a:ext uri="{FF2B5EF4-FFF2-40B4-BE49-F238E27FC236}">
                  <a16:creationId xmlns:a16="http://schemas.microsoft.com/office/drawing/2014/main" id="{AFE00E0D-B0CF-11E3-F3A7-B05D15AA6B19}"/>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Номер слайда 7">
            <a:extLst>
              <a:ext uri="{FF2B5EF4-FFF2-40B4-BE49-F238E27FC236}">
                <a16:creationId xmlns:a16="http://schemas.microsoft.com/office/drawing/2014/main" id="{1B371D27-2B24-3ACC-D8DE-7CCB61A9BBC7}"/>
              </a:ext>
            </a:extLst>
          </p:cNvPr>
          <p:cNvSpPr>
            <a:spLocks noGrp="1"/>
          </p:cNvSpPr>
          <p:nvPr>
            <p:ph type="sldNum" sz="quarter" idx="12"/>
          </p:nvPr>
        </p:nvSpPr>
        <p:spPr/>
        <p:txBody>
          <a:bodyPr/>
          <a:lstStyle/>
          <a:p>
            <a:fld id="{D8214FA6-4742-421D-8B19-2C99196BD091}" type="slidenum">
              <a:rPr lang="ru-RU" smtClean="0"/>
              <a:t>60</a:t>
            </a:fld>
            <a:endParaRPr lang="ru-RU"/>
          </a:p>
        </p:txBody>
      </p:sp>
    </p:spTree>
    <p:extLst>
      <p:ext uri="{BB962C8B-B14F-4D97-AF65-F5344CB8AC3E}">
        <p14:creationId xmlns:p14="http://schemas.microsoft.com/office/powerpoint/2010/main" val="23196475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5EE5E-927E-A4C2-E5D9-0AEFB4D6A75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585C45A-4358-5A4C-7DED-8551AD9B6555}"/>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797E152-1F77-2C26-AF65-BBE58E3BA93F}"/>
              </a:ext>
            </a:extLst>
          </p:cNvPr>
          <p:cNvSpPr>
            <a:spLocks noGrp="1"/>
          </p:cNvSpPr>
          <p:nvPr>
            <p:ph idx="1"/>
          </p:nvPr>
        </p:nvSpPr>
        <p:spPr/>
        <p:txBody>
          <a:bodyPr>
            <a:noAutofit/>
          </a:bodyPr>
          <a:lstStyle/>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Number of Meshes – 10</a:t>
            </a:r>
            <a:r>
              <a:rPr lang="en-US" b="1" dirty="0">
                <a:latin typeface="Arial" panose="020B0604020202020204" pitchFamily="34" charset="0"/>
                <a:ea typeface="Aptos" panose="020B0004020202020204" pitchFamily="34" charset="0"/>
                <a:cs typeface="Arial" panose="020B0604020202020204" pitchFamily="34" charset="0"/>
              </a:rPr>
              <a:t> </a:t>
            </a:r>
            <a:r>
              <a:rPr lang="en-US" dirty="0">
                <a:latin typeface="Arial" panose="020B0604020202020204" pitchFamily="34" charset="0"/>
                <a:ea typeface="Aptos" panose="020B0004020202020204" pitchFamily="34" charset="0"/>
                <a:cs typeface="Arial" panose="020B0604020202020204" pitchFamily="34" charset="0"/>
              </a:rPr>
              <a:t>(you would need to solve a 10×10 matrix). </a:t>
            </a:r>
            <a:r>
              <a:rPr lang="en-US" b="1" dirty="0">
                <a:latin typeface="Arial" panose="020B0604020202020204" pitchFamily="34" charset="0"/>
                <a:ea typeface="Aptos" panose="020B0004020202020204" pitchFamily="34" charset="0"/>
                <a:cs typeface="Arial" panose="020B0604020202020204" pitchFamily="34" charset="0"/>
              </a:rPr>
              <a:t>Number of Essential Nodes – 2 </a:t>
            </a:r>
            <a:r>
              <a:rPr lang="en-US" dirty="0">
                <a:latin typeface="Arial" panose="020B0604020202020204" pitchFamily="34" charset="0"/>
                <a:ea typeface="Aptos" panose="020B0004020202020204" pitchFamily="34" charset="0"/>
                <a:cs typeface="Arial" panose="020B0604020202020204" pitchFamily="34" charset="0"/>
              </a:rPr>
              <a:t>(top wire and bottom wire). </a:t>
            </a:r>
            <a:endParaRPr lang="en-US" dirty="0">
              <a:effectLst/>
              <a:latin typeface="Arial" panose="020B0604020202020204" pitchFamily="34" charset="0"/>
              <a:ea typeface="Aptos" panose="020B0004020202020204" pitchFamily="34" charset="0"/>
              <a:cs typeface="Arial" panose="020B0604020202020204" pitchFamily="34" charset="0"/>
            </a:endParaRPr>
          </a:p>
        </p:txBody>
      </p:sp>
      <p:pic>
        <p:nvPicPr>
          <p:cNvPr id="4" name="Рисунок 3">
            <a:extLst>
              <a:ext uri="{FF2B5EF4-FFF2-40B4-BE49-F238E27FC236}">
                <a16:creationId xmlns:a16="http://schemas.microsoft.com/office/drawing/2014/main" id="{5F613060-B210-25D1-DCE5-B0D2CC529DF7}"/>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r="255"/>
          <a:stretch/>
        </p:blipFill>
        <p:spPr bwMode="auto">
          <a:xfrm>
            <a:off x="299177" y="4241028"/>
            <a:ext cx="11593646" cy="2474871"/>
          </a:xfrm>
          <a:prstGeom prst="rect">
            <a:avLst/>
          </a:prstGeom>
          <a:noFill/>
          <a:ln>
            <a:noFill/>
          </a:ln>
          <a:extLst>
            <a:ext uri="{53640926-AAD7-44D8-BBD7-CCE9431645EC}">
              <a14:shadowObscured xmlns:a14="http://schemas.microsoft.com/office/drawing/2010/main"/>
            </a:ext>
          </a:extLst>
        </p:spPr>
      </p:pic>
      <p:grpSp>
        <p:nvGrpSpPr>
          <p:cNvPr id="5" name="Группа 4">
            <a:extLst>
              <a:ext uri="{FF2B5EF4-FFF2-40B4-BE49-F238E27FC236}">
                <a16:creationId xmlns:a16="http://schemas.microsoft.com/office/drawing/2014/main" id="{06D48B83-4753-75E0-438D-5BE7E628093B}"/>
              </a:ext>
            </a:extLst>
          </p:cNvPr>
          <p:cNvGrpSpPr/>
          <p:nvPr/>
        </p:nvGrpSpPr>
        <p:grpSpPr>
          <a:xfrm>
            <a:off x="0" y="0"/>
            <a:ext cx="12192000" cy="1690688"/>
            <a:chOff x="0" y="0"/>
            <a:chExt cx="12192000" cy="1690688"/>
          </a:xfrm>
        </p:grpSpPr>
        <p:sp>
          <p:nvSpPr>
            <p:cNvPr id="6" name="Прямоугольник 5">
              <a:extLst>
                <a:ext uri="{FF2B5EF4-FFF2-40B4-BE49-F238E27FC236}">
                  <a16:creationId xmlns:a16="http://schemas.microsoft.com/office/drawing/2014/main" id="{518E561B-3123-1608-1925-94FBA8E056EE}"/>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7" name="Прямоугольник: скругленные углы 6">
              <a:extLst>
                <a:ext uri="{FF2B5EF4-FFF2-40B4-BE49-F238E27FC236}">
                  <a16:creationId xmlns:a16="http://schemas.microsoft.com/office/drawing/2014/main" id="{0A66EC01-DA40-E317-5AFB-2C1E30401BEF}"/>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Номер слайда 7">
            <a:extLst>
              <a:ext uri="{FF2B5EF4-FFF2-40B4-BE49-F238E27FC236}">
                <a16:creationId xmlns:a16="http://schemas.microsoft.com/office/drawing/2014/main" id="{7B1B21EC-F35D-19DA-448D-3DA8E72539CE}"/>
              </a:ext>
            </a:extLst>
          </p:cNvPr>
          <p:cNvSpPr>
            <a:spLocks noGrp="1"/>
          </p:cNvSpPr>
          <p:nvPr>
            <p:ph type="sldNum" sz="quarter" idx="12"/>
          </p:nvPr>
        </p:nvSpPr>
        <p:spPr/>
        <p:txBody>
          <a:bodyPr/>
          <a:lstStyle/>
          <a:p>
            <a:fld id="{D8214FA6-4742-421D-8B19-2C99196BD091}" type="slidenum">
              <a:rPr lang="ru-RU" smtClean="0"/>
              <a:t>61</a:t>
            </a:fld>
            <a:endParaRPr lang="ru-RU"/>
          </a:p>
        </p:txBody>
      </p:sp>
    </p:spTree>
    <p:extLst>
      <p:ext uri="{BB962C8B-B14F-4D97-AF65-F5344CB8AC3E}">
        <p14:creationId xmlns:p14="http://schemas.microsoft.com/office/powerpoint/2010/main" val="6779593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F7314-9FE7-D88A-1CAA-89016700C25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712258C-745F-5D18-0E62-DA3365E360CE}"/>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D2EF162A-3447-CB08-7319-B411C33BA5CE}"/>
              </a:ext>
            </a:extLst>
          </p:cNvPr>
          <p:cNvSpPr>
            <a:spLocks noGrp="1"/>
          </p:cNvSpPr>
          <p:nvPr>
            <p:ph idx="1"/>
          </p:nvPr>
        </p:nvSpPr>
        <p:spPr/>
        <p:txBody>
          <a:bodyPr>
            <a:noAutofit/>
          </a:bodyPr>
          <a:lstStyle/>
          <a:p>
            <a:pPr algn="just">
              <a:lnSpc>
                <a:spcPct val="120000"/>
              </a:lnSpc>
            </a:pPr>
            <a:r>
              <a:rPr lang="en-US" b="1" dirty="0">
                <a:effectLst/>
                <a:latin typeface="Arial" panose="020B0604020202020204" pitchFamily="34" charset="0"/>
                <a:ea typeface="Aptos" panose="020B0004020202020204" pitchFamily="34" charset="0"/>
                <a:cs typeface="Arial" panose="020B0604020202020204" pitchFamily="34" charset="0"/>
              </a:rPr>
              <a:t>Using Nodal Analysis, you solve one equation. Using Mesh Analysis, you solve ten.</a:t>
            </a: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Choosing the correct systematic method saves you hours of work.</a:t>
            </a:r>
          </a:p>
        </p:txBody>
      </p:sp>
      <p:pic>
        <p:nvPicPr>
          <p:cNvPr id="4" name="Рисунок 3">
            <a:extLst>
              <a:ext uri="{FF2B5EF4-FFF2-40B4-BE49-F238E27FC236}">
                <a16:creationId xmlns:a16="http://schemas.microsoft.com/office/drawing/2014/main" id="{19008F8D-4438-CDD3-F698-C8C66ADA36C0}"/>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r="255"/>
          <a:stretch/>
        </p:blipFill>
        <p:spPr bwMode="auto">
          <a:xfrm>
            <a:off x="299177" y="4241028"/>
            <a:ext cx="11593646" cy="2474871"/>
          </a:xfrm>
          <a:prstGeom prst="rect">
            <a:avLst/>
          </a:prstGeom>
          <a:noFill/>
          <a:ln>
            <a:noFill/>
          </a:ln>
          <a:extLst>
            <a:ext uri="{53640926-AAD7-44D8-BBD7-CCE9431645EC}">
              <a14:shadowObscured xmlns:a14="http://schemas.microsoft.com/office/drawing/2010/main"/>
            </a:ext>
          </a:extLst>
        </p:spPr>
      </p:pic>
      <p:grpSp>
        <p:nvGrpSpPr>
          <p:cNvPr id="5" name="Группа 4">
            <a:extLst>
              <a:ext uri="{FF2B5EF4-FFF2-40B4-BE49-F238E27FC236}">
                <a16:creationId xmlns:a16="http://schemas.microsoft.com/office/drawing/2014/main" id="{2910D055-DA17-FC74-D37C-60B788C74BC2}"/>
              </a:ext>
            </a:extLst>
          </p:cNvPr>
          <p:cNvGrpSpPr/>
          <p:nvPr/>
        </p:nvGrpSpPr>
        <p:grpSpPr>
          <a:xfrm>
            <a:off x="0" y="0"/>
            <a:ext cx="12192000" cy="1690688"/>
            <a:chOff x="0" y="0"/>
            <a:chExt cx="12192000" cy="1690688"/>
          </a:xfrm>
        </p:grpSpPr>
        <p:sp>
          <p:nvSpPr>
            <p:cNvPr id="6" name="Прямоугольник 5">
              <a:extLst>
                <a:ext uri="{FF2B5EF4-FFF2-40B4-BE49-F238E27FC236}">
                  <a16:creationId xmlns:a16="http://schemas.microsoft.com/office/drawing/2014/main" id="{079B0F20-F2D0-10BD-59BE-40F3A8B768EE}"/>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7" name="Прямоугольник: скругленные углы 6">
              <a:extLst>
                <a:ext uri="{FF2B5EF4-FFF2-40B4-BE49-F238E27FC236}">
                  <a16:creationId xmlns:a16="http://schemas.microsoft.com/office/drawing/2014/main" id="{27665D7B-5F38-173B-CF11-E22B878FD6AB}"/>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Номер слайда 7">
            <a:extLst>
              <a:ext uri="{FF2B5EF4-FFF2-40B4-BE49-F238E27FC236}">
                <a16:creationId xmlns:a16="http://schemas.microsoft.com/office/drawing/2014/main" id="{64580007-6FC0-B0E0-0403-C6895CA95EC1}"/>
              </a:ext>
            </a:extLst>
          </p:cNvPr>
          <p:cNvSpPr>
            <a:spLocks noGrp="1"/>
          </p:cNvSpPr>
          <p:nvPr>
            <p:ph type="sldNum" sz="quarter" idx="12"/>
          </p:nvPr>
        </p:nvSpPr>
        <p:spPr/>
        <p:txBody>
          <a:bodyPr/>
          <a:lstStyle/>
          <a:p>
            <a:fld id="{D8214FA6-4742-421D-8B19-2C99196BD091}" type="slidenum">
              <a:rPr lang="ru-RU" smtClean="0"/>
              <a:t>62</a:t>
            </a:fld>
            <a:endParaRPr lang="ru-RU"/>
          </a:p>
        </p:txBody>
      </p:sp>
    </p:spTree>
    <p:extLst>
      <p:ext uri="{BB962C8B-B14F-4D97-AF65-F5344CB8AC3E}">
        <p14:creationId xmlns:p14="http://schemas.microsoft.com/office/powerpoint/2010/main" val="41113129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D9A99-E90A-E9E9-3BA6-02A3D6E9EC4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44E7AC-19F1-42AB-537A-2F5F205B9590}"/>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FC454DEF-8F92-616E-F7C7-9930059BE57F}"/>
              </a:ext>
            </a:extLst>
          </p:cNvPr>
          <p:cNvSpPr>
            <a:spLocks noGrp="1"/>
          </p:cNvSpPr>
          <p:nvPr>
            <p:ph idx="1"/>
          </p:nvPr>
        </p:nvSpPr>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In summary of this lecture, we have moved from ad-hoc analysis to rigorous algorithms:</a:t>
            </a: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the Branch Current Method uses fundamental KCL/KVL but generates many variables;</a:t>
            </a: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the Nodal Voltage Method is best for finding voltages and works well with current sources. It is based on KCL;</a:t>
            </a: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the Mesh Current Method is best for finding loop currents and works well with voltage sources. It is based on KVL.</a:t>
            </a:r>
          </a:p>
        </p:txBody>
      </p:sp>
      <p:grpSp>
        <p:nvGrpSpPr>
          <p:cNvPr id="5" name="Группа 4">
            <a:extLst>
              <a:ext uri="{FF2B5EF4-FFF2-40B4-BE49-F238E27FC236}">
                <a16:creationId xmlns:a16="http://schemas.microsoft.com/office/drawing/2014/main" id="{31844F0B-481D-AF8B-200E-C2ED3CC99043}"/>
              </a:ext>
            </a:extLst>
          </p:cNvPr>
          <p:cNvGrpSpPr/>
          <p:nvPr/>
        </p:nvGrpSpPr>
        <p:grpSpPr>
          <a:xfrm>
            <a:off x="0" y="0"/>
            <a:ext cx="12192000" cy="1690688"/>
            <a:chOff x="0" y="0"/>
            <a:chExt cx="12192000" cy="1690688"/>
          </a:xfrm>
        </p:grpSpPr>
        <p:sp>
          <p:nvSpPr>
            <p:cNvPr id="6" name="Прямоугольник 5">
              <a:extLst>
                <a:ext uri="{FF2B5EF4-FFF2-40B4-BE49-F238E27FC236}">
                  <a16:creationId xmlns:a16="http://schemas.microsoft.com/office/drawing/2014/main" id="{33A47226-B24E-FAA0-16E8-CD9342CB0156}"/>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7" name="Прямоугольник: скругленные углы 6">
              <a:extLst>
                <a:ext uri="{FF2B5EF4-FFF2-40B4-BE49-F238E27FC236}">
                  <a16:creationId xmlns:a16="http://schemas.microsoft.com/office/drawing/2014/main" id="{589D91AF-69F5-BB6B-0FD2-7ED5AFC38326}"/>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4" name="Номер слайда 3">
            <a:extLst>
              <a:ext uri="{FF2B5EF4-FFF2-40B4-BE49-F238E27FC236}">
                <a16:creationId xmlns:a16="http://schemas.microsoft.com/office/drawing/2014/main" id="{91F13F95-2ACA-4098-3BE9-A7F8FA6FF022}"/>
              </a:ext>
            </a:extLst>
          </p:cNvPr>
          <p:cNvSpPr>
            <a:spLocks noGrp="1"/>
          </p:cNvSpPr>
          <p:nvPr>
            <p:ph type="sldNum" sz="quarter" idx="12"/>
          </p:nvPr>
        </p:nvSpPr>
        <p:spPr/>
        <p:txBody>
          <a:bodyPr/>
          <a:lstStyle/>
          <a:p>
            <a:fld id="{D8214FA6-4742-421D-8B19-2C99196BD091}" type="slidenum">
              <a:rPr lang="ru-RU" smtClean="0"/>
              <a:t>63</a:t>
            </a:fld>
            <a:endParaRPr lang="ru-RU"/>
          </a:p>
        </p:txBody>
      </p:sp>
    </p:spTree>
    <p:extLst>
      <p:ext uri="{BB962C8B-B14F-4D97-AF65-F5344CB8AC3E}">
        <p14:creationId xmlns:p14="http://schemas.microsoft.com/office/powerpoint/2010/main" val="383444602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BCA56-9BE8-0B7D-80D9-2DA40BBE986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A417DE-38AA-D607-3B15-D147D9F791E1}"/>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53198069-D485-607D-302C-E92BCA188AB3}"/>
              </a:ext>
            </a:extLst>
          </p:cNvPr>
          <p:cNvSpPr>
            <a:spLocks noGrp="1"/>
          </p:cNvSpPr>
          <p:nvPr>
            <p:ph idx="1"/>
          </p:nvPr>
        </p:nvSpPr>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Mastery of these three methods is the «literacy» of circuit theory. </a:t>
            </a:r>
          </a:p>
          <a:p>
            <a:pPr algn="just">
              <a:lnSpc>
                <a:spcPct val="120000"/>
              </a:lnSpc>
            </a:pPr>
            <a:r>
              <a:rPr lang="en-US" dirty="0">
                <a:effectLst/>
                <a:latin typeface="Arial" panose="020B0604020202020204" pitchFamily="34" charset="0"/>
                <a:ea typeface="Aptos" panose="020B0004020202020204" pitchFamily="34" charset="0"/>
                <a:cs typeface="Arial" panose="020B0604020202020204" pitchFamily="34" charset="0"/>
              </a:rPr>
              <a:t>You cannot proceed to complex electronics, AC analysis, or power systems without them. In the next lecture, we will explore Fundamental Circuit Theorems like Superposition and Thevenin’s Theorem, which allow us to break complex circuits into simpler pieces.</a:t>
            </a:r>
          </a:p>
        </p:txBody>
      </p:sp>
      <p:grpSp>
        <p:nvGrpSpPr>
          <p:cNvPr id="5" name="Группа 4">
            <a:extLst>
              <a:ext uri="{FF2B5EF4-FFF2-40B4-BE49-F238E27FC236}">
                <a16:creationId xmlns:a16="http://schemas.microsoft.com/office/drawing/2014/main" id="{629583FB-1331-2377-64A0-9A0241F551BA}"/>
              </a:ext>
            </a:extLst>
          </p:cNvPr>
          <p:cNvGrpSpPr/>
          <p:nvPr/>
        </p:nvGrpSpPr>
        <p:grpSpPr>
          <a:xfrm>
            <a:off x="0" y="0"/>
            <a:ext cx="12192000" cy="1690688"/>
            <a:chOff x="0" y="0"/>
            <a:chExt cx="12192000" cy="1690688"/>
          </a:xfrm>
        </p:grpSpPr>
        <p:sp>
          <p:nvSpPr>
            <p:cNvPr id="6" name="Прямоугольник 5">
              <a:extLst>
                <a:ext uri="{FF2B5EF4-FFF2-40B4-BE49-F238E27FC236}">
                  <a16:creationId xmlns:a16="http://schemas.microsoft.com/office/drawing/2014/main" id="{5D3E6618-523C-4DB5-B945-5BAA6021F159}"/>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7" name="Прямоугольник: скругленные углы 6">
              <a:extLst>
                <a:ext uri="{FF2B5EF4-FFF2-40B4-BE49-F238E27FC236}">
                  <a16:creationId xmlns:a16="http://schemas.microsoft.com/office/drawing/2014/main" id="{E13CBFB6-3DAF-2626-0E19-8974D3137373}"/>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4" name="Номер слайда 3">
            <a:extLst>
              <a:ext uri="{FF2B5EF4-FFF2-40B4-BE49-F238E27FC236}">
                <a16:creationId xmlns:a16="http://schemas.microsoft.com/office/drawing/2014/main" id="{0355ACDA-0FF5-C9DE-35D3-6C2D10735BCE}"/>
              </a:ext>
            </a:extLst>
          </p:cNvPr>
          <p:cNvSpPr>
            <a:spLocks noGrp="1"/>
          </p:cNvSpPr>
          <p:nvPr>
            <p:ph type="sldNum" sz="quarter" idx="12"/>
          </p:nvPr>
        </p:nvSpPr>
        <p:spPr/>
        <p:txBody>
          <a:bodyPr/>
          <a:lstStyle/>
          <a:p>
            <a:fld id="{D8214FA6-4742-421D-8B19-2C99196BD091}" type="slidenum">
              <a:rPr lang="ru-RU" smtClean="0"/>
              <a:t>64</a:t>
            </a:fld>
            <a:endParaRPr lang="ru-RU"/>
          </a:p>
        </p:txBody>
      </p:sp>
    </p:spTree>
    <p:extLst>
      <p:ext uri="{BB962C8B-B14F-4D97-AF65-F5344CB8AC3E}">
        <p14:creationId xmlns:p14="http://schemas.microsoft.com/office/powerpoint/2010/main" val="37461960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27A92820-99AC-2507-6C85-5B8B0B356BB1}"/>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AE5CDBA3-061B-202C-E2E4-267380094CF5}"/>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Прямоугольник: скругленные углы 5">
              <a:extLst>
                <a:ext uri="{FF2B5EF4-FFF2-40B4-BE49-F238E27FC236}">
                  <a16:creationId xmlns:a16="http://schemas.microsoft.com/office/drawing/2014/main" id="{A204227F-FBEC-C19A-2D1E-23E91AD5A96D}"/>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Systematic Analysis Methods</a:t>
              </a:r>
              <a:endParaRPr lang="ru-RU" sz="4000" dirty="0">
                <a:latin typeface="Arial" panose="020B0604020202020204" pitchFamily="34" charset="0"/>
              </a:endParaRPr>
            </a:p>
          </p:txBody>
        </p:sp>
      </p:grpSp>
      <p:sp>
        <p:nvSpPr>
          <p:cNvPr id="8" name="Объект 7">
            <a:extLst>
              <a:ext uri="{FF2B5EF4-FFF2-40B4-BE49-F238E27FC236}">
                <a16:creationId xmlns:a16="http://schemas.microsoft.com/office/drawing/2014/main" id="{15CCEB1F-6A44-A98C-A867-969C50CE7F7D}"/>
              </a:ext>
            </a:extLst>
          </p:cNvPr>
          <p:cNvSpPr>
            <a:spLocks noGrp="1"/>
          </p:cNvSpPr>
          <p:nvPr>
            <p:ph idx="1"/>
          </p:nvPr>
        </p:nvSpPr>
        <p:spPr/>
        <p:txBody>
          <a:bodyPr/>
          <a:lstStyle/>
          <a:p>
            <a:endParaRPr lang="ru-RU"/>
          </a:p>
        </p:txBody>
      </p:sp>
      <p:sp>
        <p:nvSpPr>
          <p:cNvPr id="9" name="Объект 2">
            <a:extLst>
              <a:ext uri="{FF2B5EF4-FFF2-40B4-BE49-F238E27FC236}">
                <a16:creationId xmlns:a16="http://schemas.microsoft.com/office/drawing/2014/main" id="{7BC4C125-E2C2-C3A1-050E-A13A94F6F493}"/>
              </a:ext>
            </a:extLst>
          </p:cNvPr>
          <p:cNvSpPr txBox="1">
            <a:spLocks/>
          </p:cNvSpPr>
          <p:nvPr/>
        </p:nvSpPr>
        <p:spPr>
          <a:xfrm>
            <a:off x="838200" y="1825625"/>
            <a:ext cx="5835316"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endParaRPr lang="en-US" dirty="0">
              <a:ea typeface="Aptos" panose="020B0004020202020204" pitchFamily="34" charset="0"/>
              <a:cs typeface="Arial" panose="020B0604020202020204" pitchFamily="34" charset="0"/>
            </a:endParaRPr>
          </a:p>
          <a:p>
            <a:pPr algn="just">
              <a:lnSpc>
                <a:spcPct val="120000"/>
              </a:lnSpc>
            </a:pPr>
            <a:endParaRPr lang="en-US" dirty="0">
              <a:ea typeface="Aptos" panose="020B0004020202020204" pitchFamily="34" charset="0"/>
              <a:cs typeface="Arial" panose="020B0604020202020204" pitchFamily="34" charset="0"/>
            </a:endParaRPr>
          </a:p>
          <a:p>
            <a:pPr algn="just">
              <a:lnSpc>
                <a:spcPct val="120000"/>
              </a:lnSpc>
            </a:pPr>
            <a:r>
              <a:rPr lang="en-US" dirty="0">
                <a:ea typeface="Aptos" panose="020B0004020202020204" pitchFamily="34" charset="0"/>
                <a:cs typeface="Arial" panose="020B0604020202020204" pitchFamily="34" charset="0"/>
              </a:rPr>
              <a:t>Thank you for your attention!</a:t>
            </a:r>
          </a:p>
          <a:p>
            <a:pPr algn="just">
              <a:lnSpc>
                <a:spcPct val="120000"/>
              </a:lnSpc>
            </a:pPr>
            <a:r>
              <a:rPr lang="en-US" dirty="0">
                <a:ea typeface="Aptos" panose="020B0004020202020204" pitchFamily="34" charset="0"/>
                <a:cs typeface="Arial" panose="020B0604020202020204" pitchFamily="34" charset="0"/>
              </a:rPr>
              <a:t>Do you have you any questions?</a:t>
            </a:r>
            <a:endParaRPr lang="ru-RU" dirty="0">
              <a:ea typeface="Aptos" panose="020B0004020202020204" pitchFamily="34" charset="0"/>
              <a:cs typeface="Arial" panose="020B0604020202020204" pitchFamily="34" charset="0"/>
            </a:endParaRPr>
          </a:p>
        </p:txBody>
      </p:sp>
      <p:pic>
        <p:nvPicPr>
          <p:cNvPr id="10" name="Picture 2">
            <a:extLst>
              <a:ext uri="{FF2B5EF4-FFF2-40B4-BE49-F238E27FC236}">
                <a16:creationId xmlns:a16="http://schemas.microsoft.com/office/drawing/2014/main" id="{7F34F610-6034-D569-D9E5-F639A7195045}"/>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974323" y="2070119"/>
            <a:ext cx="4220156" cy="4220156"/>
          </a:xfrm>
          <a:prstGeom prst="rect">
            <a:avLst/>
          </a:prstGeom>
          <a:noFill/>
          <a:extLst>
            <a:ext uri="{909E8E84-426E-40DD-AFC4-6F175D3DCCD1}">
              <a14:hiddenFill xmlns:a14="http://schemas.microsoft.com/office/drawing/2010/main">
                <a:solidFill>
                  <a:srgbClr val="FFFFFF"/>
                </a:solidFill>
              </a14:hiddenFill>
            </a:ext>
          </a:extLst>
        </p:spPr>
      </p:pic>
      <p:sp>
        <p:nvSpPr>
          <p:cNvPr id="3" name="Номер слайда 2">
            <a:extLst>
              <a:ext uri="{FF2B5EF4-FFF2-40B4-BE49-F238E27FC236}">
                <a16:creationId xmlns:a16="http://schemas.microsoft.com/office/drawing/2014/main" id="{3AF5941A-3550-E4BB-C042-354A065F4229}"/>
              </a:ext>
            </a:extLst>
          </p:cNvPr>
          <p:cNvSpPr>
            <a:spLocks noGrp="1"/>
          </p:cNvSpPr>
          <p:nvPr>
            <p:ph type="sldNum" sz="quarter" idx="12"/>
          </p:nvPr>
        </p:nvSpPr>
        <p:spPr/>
        <p:txBody>
          <a:bodyPr/>
          <a:lstStyle/>
          <a:p>
            <a:fld id="{D8214FA6-4742-421D-8B19-2C99196BD091}" type="slidenum">
              <a:rPr lang="ru-RU" smtClean="0"/>
              <a:t>65</a:t>
            </a:fld>
            <a:endParaRPr lang="ru-RU"/>
          </a:p>
        </p:txBody>
      </p:sp>
    </p:spTree>
    <p:extLst>
      <p:ext uri="{BB962C8B-B14F-4D97-AF65-F5344CB8AC3E}">
        <p14:creationId xmlns:p14="http://schemas.microsoft.com/office/powerpoint/2010/main" val="3407136661"/>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TotalTime>
  <Words>3583</Words>
  <Application>Microsoft Office PowerPoint</Application>
  <PresentationFormat>Широкоэкранный</PresentationFormat>
  <Paragraphs>391</Paragraphs>
  <Slides>65</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65</vt:i4>
      </vt:variant>
    </vt:vector>
  </HeadingPairs>
  <TitlesOfParts>
    <vt:vector size="69" baseType="lpstr">
      <vt:lpstr>Aptos</vt:lpstr>
      <vt:lpstr>Arial</vt:lpstr>
      <vt:lpstr>Cambria Math</vt:lpstr>
      <vt:lpstr>Тема Office</vt:lpstr>
      <vt:lpstr>Lecture 4. 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9</cp:revision>
  <dcterms:created xsi:type="dcterms:W3CDTF">2026-04-02T09:22:04Z</dcterms:created>
  <dcterms:modified xsi:type="dcterms:W3CDTF">2026-04-09T04:44:54Z</dcterms:modified>
</cp:coreProperties>
</file>