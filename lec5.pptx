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413" r:id="rId2"/>
    <p:sldId id="414" r:id="rId3"/>
    <p:sldId id="466" r:id="rId4"/>
    <p:sldId id="467" r:id="rId5"/>
    <p:sldId id="468" r:id="rId6"/>
    <p:sldId id="465" r:id="rId7"/>
    <p:sldId id="469" r:id="rId8"/>
    <p:sldId id="415" r:id="rId9"/>
    <p:sldId id="416" r:id="rId10"/>
    <p:sldId id="470" r:id="rId11"/>
    <p:sldId id="417" r:id="rId12"/>
    <p:sldId id="471" r:id="rId13"/>
    <p:sldId id="472" r:id="rId14"/>
    <p:sldId id="418" r:id="rId15"/>
    <p:sldId id="473" r:id="rId16"/>
    <p:sldId id="419" r:id="rId17"/>
    <p:sldId id="420" r:id="rId18"/>
    <p:sldId id="421" r:id="rId19"/>
    <p:sldId id="474" r:id="rId20"/>
    <p:sldId id="475" r:id="rId21"/>
    <p:sldId id="422" r:id="rId22"/>
    <p:sldId id="423" r:id="rId23"/>
    <p:sldId id="476" r:id="rId24"/>
    <p:sldId id="486" r:id="rId25"/>
    <p:sldId id="424" r:id="rId26"/>
    <p:sldId id="425" r:id="rId27"/>
    <p:sldId id="477" r:id="rId28"/>
    <p:sldId id="426" r:id="rId29"/>
    <p:sldId id="478" r:id="rId30"/>
    <p:sldId id="427" r:id="rId31"/>
    <p:sldId id="479" r:id="rId32"/>
    <p:sldId id="428" r:id="rId33"/>
    <p:sldId id="430" r:id="rId34"/>
    <p:sldId id="429" r:id="rId35"/>
    <p:sldId id="431" r:id="rId36"/>
    <p:sldId id="480" r:id="rId37"/>
    <p:sldId id="432" r:id="rId38"/>
    <p:sldId id="481" r:id="rId39"/>
    <p:sldId id="433" r:id="rId40"/>
    <p:sldId id="434" r:id="rId41"/>
    <p:sldId id="435" r:id="rId42"/>
    <p:sldId id="487" r:id="rId43"/>
    <p:sldId id="436" r:id="rId44"/>
    <p:sldId id="437" r:id="rId45"/>
    <p:sldId id="482" r:id="rId46"/>
    <p:sldId id="464" r:id="rId47"/>
    <p:sldId id="483" r:id="rId48"/>
    <p:sldId id="485" r:id="rId49"/>
    <p:sldId id="463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5" id="{56BBB318-9C6F-4169-81E5-08BA0BCCD35C}">
          <p14:sldIdLst>
            <p14:sldId id="413"/>
            <p14:sldId id="414"/>
            <p14:sldId id="466"/>
            <p14:sldId id="467"/>
            <p14:sldId id="468"/>
            <p14:sldId id="465"/>
            <p14:sldId id="469"/>
            <p14:sldId id="415"/>
            <p14:sldId id="416"/>
            <p14:sldId id="470"/>
            <p14:sldId id="417"/>
            <p14:sldId id="471"/>
            <p14:sldId id="472"/>
            <p14:sldId id="418"/>
            <p14:sldId id="473"/>
            <p14:sldId id="419"/>
            <p14:sldId id="420"/>
            <p14:sldId id="421"/>
            <p14:sldId id="474"/>
            <p14:sldId id="475"/>
            <p14:sldId id="422"/>
            <p14:sldId id="423"/>
            <p14:sldId id="476"/>
            <p14:sldId id="486"/>
            <p14:sldId id="424"/>
            <p14:sldId id="425"/>
            <p14:sldId id="477"/>
            <p14:sldId id="426"/>
            <p14:sldId id="478"/>
            <p14:sldId id="427"/>
            <p14:sldId id="479"/>
            <p14:sldId id="428"/>
            <p14:sldId id="430"/>
            <p14:sldId id="429"/>
            <p14:sldId id="431"/>
            <p14:sldId id="480"/>
            <p14:sldId id="432"/>
            <p14:sldId id="481"/>
            <p14:sldId id="433"/>
            <p14:sldId id="434"/>
            <p14:sldId id="435"/>
            <p14:sldId id="487"/>
            <p14:sldId id="436"/>
            <p14:sldId id="437"/>
            <p14:sldId id="482"/>
            <p14:sldId id="464"/>
            <p14:sldId id="483"/>
            <p14:sldId id="485"/>
            <p14:sldId id="4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2C621-73C8-4856-98A5-AEFE7031234F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BD6D7-8656-428B-8740-6498A05B55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9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A0C18-BF96-6524-A078-F687CA6DC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109A85-978D-8304-12BB-7527CB2AC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0CE409-1F9A-C5F1-FED8-546E6881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2AE1-EB7B-4A84-8DD6-1CF5E42CD072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857841-4363-52CB-8C81-F48A9390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0116C-FAD2-E746-E05B-892F4BB9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23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D746D-58DB-D31B-9319-5C69219C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AE70AE-3F66-898C-9380-CEF340EA0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445698-8E72-6212-C939-460C388B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9238-7137-4691-A396-A0C7D9DD2AC8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8EA7DB-AF59-B91E-3001-5D23B8C0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16DABE-F34F-7144-94C3-8A6EDC6F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7169B-ECDF-094F-3DEE-FE5FF3E7F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F85A6C-1EBF-BA57-6992-BC2E8ED68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C314EE-13A0-FC44-7E01-FEBFF405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E0EBB-4C45-4BF5-BB81-25CB24A2F885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6DDBFC-1637-44C1-E8E6-9D420B7B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3DE29E-1AA1-4A74-447C-FFE9F7D7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33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651F4-BB5A-E17B-19AC-DFAC3BDC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4176D9-1F69-F545-8A24-AA5144A93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48EB2D-8852-E9BC-FC03-BD2A4FDD8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2DE052-8A0F-093C-6E55-5D384228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5783-B7E1-4C7F-924C-F12DAC394EA5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816E1B-58A2-8AF7-B474-D8E6DD95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EC9BEF-30B1-7C6D-1405-E1E1612A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79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CF283-D112-6DCB-F5F4-610FC678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0FFB63-C178-6E7B-1FAA-B0EBF426B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EB90ED-FA77-899B-EE94-F1FE0A706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BD6176-84FB-A5F1-599C-96933C0BF4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31E447-955E-8C93-8E54-FE03F5E49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ACF1D3-0297-2D83-2B82-AFB1028D4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353CD-D99D-47B8-8D82-8BEC031771B6}" type="datetime1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618745-F1C0-90C4-FA4B-3C0C57CD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4B4698-DD52-22E6-C960-E6966BCB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01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BC7B8B-A862-DE01-809A-61CA3628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A11FC8-069D-C4C4-0708-D6BFF045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E0DD-7605-4DBF-B468-3E59311B94D7}" type="datetime1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345CA3-CCDC-E3F2-10AD-344CDD18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29443D-6244-99A4-F335-1D2A50CA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43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A3F5E8-3BD7-0C57-3118-1F805A0F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2B969-F5C2-4240-8AE6-7793204204D4}" type="datetime1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9750CF-2F81-6D44-7B88-2474F547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28EB7D-A103-6D02-B411-87D3CFA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12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C1AA1-9A79-2A4E-0522-588D9922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4799D6-7F9C-338C-E249-EBA3BD0D1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A823DB-40B7-1CF6-CFE1-BA76688F8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BDB9EA-E340-EAF7-249E-C42C10AB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B16E-D169-4419-84DE-D3F066695EFC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D9837A-DDD0-36A4-3755-692E8163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0322E1-FC00-0C13-65E8-6CA9770C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29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07ADC-5E0E-DA12-35B7-4036538B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16F988-13E1-6AE6-4060-49CFEBC11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DA1A42-C8EC-AC72-0F3F-71ACDC30A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A1BED4-6722-987A-1EA3-C6A4C03C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4DC47-7BD4-4ACD-AFA4-B7429533CF61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FB2E3F-A197-3790-B497-F0CCF08A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67FB85-E9C9-143B-E90E-702110C5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546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17D12-801B-271C-48C5-CE2A03A7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C51B0F-B8A9-BF1C-1BE6-FECFD534E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335259-08E6-24D5-5C14-6EBA785F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28CD-CA44-49FE-B231-DAD1AC14AF65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25D45A-9615-ECA5-D173-01114544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32387B-484D-3C8A-B878-02454676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4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A0B514-D2CF-F5B6-E402-0E75C09DD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C2B972-BB41-1111-5370-A9B48AC82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397B14-C54A-1FE6-B996-F5704ACB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7719F-B567-4C06-BC1D-8296B9342A78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92AAF2-AC48-1420-3C31-200BC308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310649-F6F2-6104-2341-2A0AD571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72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A7765-EF0B-4C9D-62B6-4CB5EB4C1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0796D-01A1-F513-B68C-ED51B9AC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E510F2-9805-B228-5374-1F9A5FA0A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98697-0995-4CD3-AD8D-4E54DD5A2D8F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054370-2C39-77BE-0790-000C54555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50A8D3-3D68-F713-76D3-B6B8F256E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36868-B2A5-4126-AFF9-E21216DE09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1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2B95F-8F92-4BDA-C0D6-BDFAEE429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5. Fundamental Circuit Theorems (I)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C7CEDD-F2C9-E4A3-2059-EA99B38A1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(2). Analysis of Resistive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6E538963-4C30-8D82-14F0-73AA4581858D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01E01F63-0C15-1F02-C2C4-B721664139FD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4B631F-F5B0-0560-372D-D7652B6D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005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Welcome to the fifth lecture of our course on The Principle of Circuit.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our previous session, we mastered the systematic methods of analysis: Branch Current, Nodal Voltage, and Mesh Current Analysis.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These methods are powerful because they are universal; they can solve any circuit, no matter how complex.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F4600AF-A586-2A24-B3D5-6A2CC9915C5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BC46424-F3FC-71F8-2855-E22E7B896B2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E8756CC-9D64-895E-F20A-3310D0B8D65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A42A46-A079-1376-359C-2210255F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44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F442-85C4-60C0-0182-4130049E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DA60B-8506-732C-1EFA-E3FD7B5A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027E6-327C-9224-7146-D35E3DCE1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However, they can be mathematically heavy.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 you have a circuit with ten sources and twenty resistors, Nodal Analysis will give you the answer, but it might take you a long time to calculate it.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Today, we shift our focus from «brute force» calculation to elegant simplification.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will study Circuit Theorems.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5562E4D-DF93-9280-C61A-9B1F6BD3D84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55EA17E-A130-757B-C276-E5158BA1AA6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0A7C2BF-825B-111E-6B03-218B25238D3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59D1DE-FB12-8463-ADE8-B4DE6C75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76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98C9-8FCE-D134-D4BD-DD1001ED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8BDD9-1D76-2D47-867F-C58FE2D6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733801-C7B0-92FA-CF2A-A6DEBA818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Unlike the systematic methods which solve the entire circuit at once, circuit theorems allow us to focus on specific parts of a circuit or to break a complex problem into several smaller, easier problems.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FC93DFD-5EF2-FFDA-82CA-CEE0367153A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33566C6-DC3F-88EE-2BF6-2BFAE65DEC3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E6D64E5-AC76-3B57-FEFE-E9F99AE4459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29002C-DA08-AE02-211E-89DC013D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68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BE67-8BFE-92D3-AFC2-B7AFACCA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125D7-8562-E666-4250-DF658FD7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2B80A-F77F-432F-202A-CF43582A1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theme of this lecture is Linearity and Simplification. We will cover two of the most important concepts in electrical engineering: The Superposition Theorem and Thevenin’s Theorem.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These tools will allow you to look at a complicated schematic and see the simple structure hidden underneath.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7760C0-97F7-F759-1255-4B1391372F7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5499C15-C95D-E413-C834-99BB21EA04C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30BB679-5171-3354-1221-57E45FA169E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F52E8-622C-40CB-7646-CFC77F45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94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EC9D-64DE-5E28-2BB2-CF2DD33A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E2D31-BC0A-9E91-26A4-FD668C38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E8F7A5-33C8-1E2E-C535-9C824593A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Before we can use these theorems, we must define a critical property of the circuits we study.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Linearity – a linear circuit is one whose output is linearly related to its input.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means the circuit consists only of linear elements (resistors, capacitors, inductors) and linear sources.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A6ABC47-24FD-B27F-CCAF-C7DCDA411BE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D662E7E-B937-09DB-06DF-91EA15FAD97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FCBBEF0-89D1-66A7-32B7-735E8AED2CF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0A9A1E-BF59-6E1F-3F9B-2E1BD65F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97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DB7E-53EB-D9BC-C289-8A6A2279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DBE90-65DF-67B0-6F8A-7B4EB53B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D21624-380C-3282-8AC8-43E27CD2F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Linearity is defined by two mathematical properties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that you must understand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1) homogeneity (scaling) – if the input is multiplied by a constant k, the output is multiplied by the same constant k;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example, if solving a circuit with a 10V source gives you 2A of current, then replacing it with a 20V source (doubling the input) will give you 4A (doubling the output);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4455E54-CD53-DDC3-71CE-6BE9A94AFE6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87683CB-820E-207B-B35E-ED2281BAF89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8797F4C-AF34-2FB2-C9D5-4B43C505586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F85746-8071-5F5D-F674-33E2ED2D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26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31013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2) additivity – the response to a sum of inputs is the sum of the responses to each input applied separately.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input A produces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and input B produces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then applying inputs A and B together produces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𝒂</m:t>
                        </m:r>
                      </m:sub>
                    </m:sSub>
                    <m:r>
                      <a:rPr lang="en-US" b="1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assume all circuits in this course are linear unless stated otherwise.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assumption is the foundation for the Superposition Theorem.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31013" cy="4351338"/>
              </a:xfrm>
              <a:blipFill>
                <a:blip r:embed="rId2"/>
                <a:stretch>
                  <a:fillRect l="-948" t="-560" r="-1115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DC92193-8927-8AEC-EA59-0DD39E64B30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6687B0-5EA8-BFED-8FCC-6EA79B98FD1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53DA3F5-0946-3FE3-02AE-6787D0AF0E6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D6741F-EB00-D863-8740-5B1BB40F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2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Superposition Theorem is the direct application of the Additivity property: in any linear circuit containing multiple independent sources, the current or voltage at any point is the algebraic sum of the currents or voltages produced by each source acting alone.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Think about what this means. It means 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do not have to solve the circuit with all N sources active at the same time.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B439A5A-A128-0044-01AC-80AEA2FBD6B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FB831A6-AF26-00C6-7FE9-4BD61FD1DE5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25DE226-84E1-1D62-429D-2840A3EAF06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B475D3-27F6-E5FE-FBD3-3F71BF5F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84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45D60-CD46-933F-5020-8B2E1FDB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60507-5B0F-1D3A-BA01-D6AA2327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4A826-6B4A-EBEC-A787-974A1D0F0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can solve the circuit N times, each time with only one source active.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turns one difficult problem into N very easy problems.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Usually, when only one source is active, the circuit can be solved using simple series-parallel reduction, without needing Nodal or Mesh analysis.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9DE0033-2A06-3096-9B05-AD7A2CAB668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DDFDA0E-9EA7-264E-5AAA-D295D0859F7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6E759DD-E2A1-8C0A-291A-556F132181A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F782DD-3802-F4F4-CA8F-8658D240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17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2858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use Superposition, we must understand how to «turn off» the sources we are not using. 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cannot just remove them from the drawing; we must replace them with their internal resistance: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turn off an ideal Voltage Source (V=0), replace it with a Short Circuit; 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Recall from Lecture 2 that a short circuit connects two points with a wire of zero resistance. This forces the voltage difference to be zero, effectively «killing» the voltage source;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BD5C2A1-D445-321E-0EC0-1353E0641CE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707A24A-7E05-C39B-DE31-A2864BE8BFC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DEE7DAF-A952-0F25-C668-3BCCA7A050A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904A13-526B-C2DD-9728-8791689A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424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9F39-5E5C-6017-6FCE-EF7980AF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72B32-F83A-620D-5776-9882260B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A7282-F930-2B7E-51F2-E01E857D9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turn off an ideal Current Source (I=0), replace it with an Open Circuit.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Recall that an open circuit is a break in the wire. No current can flow through a break, effectively «killing» the current source.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CCDC259-A698-3E72-BD35-79581CDEF36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1849B34-57DC-132D-EB96-4AA3708DDE5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39F47DB-E3C6-1332-0935-AE299DAF1A1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8C6FA2-66F4-8011-1AF8-CB079519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964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55B9-A069-5A83-78EA-BC1BF973A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528BE-E9A5-0AC0-9880-EDB4C35A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13AE3-11C4-358F-F78E-9F5F79AB2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Dependent sources (controlled sources) are different. Never turn off a dependent source.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Dependent sources are not inputs; they are part of the circuit's structure, like a resistor. If you turn off the main source controlling them, they will naturally go to zero, but you must leave them in the diagram.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4423A23-740E-B4E6-47F4-92910C8EF32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04219B2-1CF4-9615-CF3D-2BF31D047D3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9A5E5B4-75DB-3213-879C-437CF20ED6F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DDF075-178C-39FF-6956-0C651B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80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Here is the systematic 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Algorithm for the Superposition Theorem: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identify all independent sources 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the circuit. Let's say there are N sources;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turn off all sources except the first one;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Replace voltage sources with short circuits and current sources with open circuits;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A1A6899-9DF7-6281-E96D-0FAE3DD279E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635A1D2-738A-704C-CFD1-BFB68BCC85E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B65BDC3-4712-8A4F-73EE-E1BBA29A2AC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385AE1-5873-A8A4-CC20-D718FB2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38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2272-52EC-8976-2114-3C0EAB43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347FD-13CF-C0B1-0D31-1A39ACAD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99F1440-12A3-598E-EDD2-C6C0C5CCF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calculate the desired voltage or current 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due to this single active source</a:t>
                </a: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l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et us call this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repeat this step for each of the other sources, 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turning them on one at a time while keeping all others off.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ou will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,...,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99F1440-12A3-598E-EDD2-C6C0C5CCF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43B8BA7-522B-B6FE-9820-D6C8F4560FA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27F4CE2-82B3-BD88-AD24-401B4C70651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74CA454-122C-6A6F-C048-73BA2A46569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C321B6-B363-3538-36F5-CB8433BD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05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Find the total value by algebraically summing the individual contributions: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180"/>
                  </a:spcBef>
                  <a:spcAft>
                    <a:spcPts val="18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Pay close attention to the signs.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Source 1 pushes current to the right (positive), and Source 2 pushes current to the left (negative), you must subtract them.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2BD146C-2916-74EB-7844-DA66BDA3504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7C2F117-AAAD-C006-5AD4-24DD23BA8D2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EF87163-CB08-8595-8A35-631765B1F37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70A96D-991D-C639-D511-DDDCF49F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669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visualize an example. Imagine a circuit with a Voltage Source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on the left and a Current Source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on the right, with a resistor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in Voltage Source loop and a resistor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in the middle. We want to find the current in the middle resistor.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BF4D6C-F70A-E5CC-5ADF-2FD7F5B150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68670" y="4009397"/>
            <a:ext cx="4441265" cy="25742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560D26B-42AD-FF15-556E-7D075DFD2D2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CF40746-885B-81C4-94F8-627515F93A2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8095F2F8-DB80-1FD6-DAAE-C26B8EE1B38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16F2A8-E685-9935-AEE7-CF54D884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09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180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Step 1. We replace the Current Source on the right with an open circuit (a cut wire).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Now the circuit is just a simple series loop.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74228F-971E-C4D8-2C9E-337C88AB4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8551" y="2043803"/>
            <a:ext cx="6754296" cy="39149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D9C4A77-9F8C-EE52-FB4F-D5C34F29A4D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AE2272A-FE3A-D44A-7DBC-386F6638195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19F2E8AA-5E77-341B-D85D-048DB569A07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D6F85F4-DBCE-27BD-6509-3D931A57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413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2A2-0095-BEC1-5559-F3FA736B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2CA53-F0FA-AB79-769A-110F3D134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C696696-8070-E609-4E9C-54B3339858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180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calculate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using Ohm's law: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C696696-8070-E609-4E9C-54B3339858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18000" cy="4351338"/>
              </a:xfrm>
              <a:blipFill>
                <a:blip r:embed="rId2"/>
                <a:stretch>
                  <a:fillRect l="-2542" t="-560" r="-28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787B5C-6089-439F-B676-894D3AFCF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8551" y="2043803"/>
            <a:ext cx="6754296" cy="39149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E716731-E290-A44F-A10D-06D747E7600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2526529-9A0B-D811-9BD0-3E400F6D687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4F6C9549-61AB-4FA9-050E-FD7D6B89B5C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4F2387A-A6F9-B3B5-5F3D-EC86C199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380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732D-ABA8-11D2-891E-1D864ECD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E29F3-4EBB-5A50-F2F0-DB5D1A2F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83F88-0D7D-81FF-C2D5-E4F5D834C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18000" cy="4351338"/>
          </a:xfrm>
        </p:spPr>
        <p:txBody>
          <a:bodyPr>
            <a:noAutofit/>
          </a:bodyPr>
          <a:lstStyle/>
          <a:p>
            <a:r>
              <a:rPr lang="en-US" dirty="0"/>
              <a:t>Step 2. We replace the Voltage Source on the left with a short circuit (a wire). </a:t>
            </a:r>
          </a:p>
          <a:p>
            <a:r>
              <a:rPr lang="en-US" dirty="0"/>
              <a:t>Now the resistor is in parallel with the current source.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2BDBC0-021C-C8BF-CEF3-4FACD3230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4499" y="2180342"/>
            <a:ext cx="6924601" cy="36419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3C89412-95A8-4ECF-E846-C757BD682AF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EAE57EB-C406-97DA-50F8-8B3BEB5CDFB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A242FF29-D869-5D65-A753-E09BF8F0B9E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E997CF7-11A0-F0E4-47D4-2ED53668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107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180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We calculate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using the Current Divider rule: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Remember that real Current Sources have internal resistance which we ignore here because we consider that sources are ideal.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18000" cy="4351338"/>
              </a:xfrm>
              <a:blipFill>
                <a:blip r:embed="rId2"/>
                <a:stretch>
                  <a:fillRect l="-2542" t="-2381" r="-3107" b="-6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EDB8B5-EAEB-0E58-28CB-480A5EB66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4499" y="2180342"/>
            <a:ext cx="6924601" cy="36419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2D12B67-5123-E857-8A94-2F30421639B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52DE98B-C2A6-6749-B75F-CA836C302DC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39241CE2-87C9-D0D3-F286-E7C61940C15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D9A1BC2-E64E-3C4A-F566-6E0CD46C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872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Step 3. The total current trough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𝑅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𝑅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or, if we simplify this formula: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𝑅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By breaking the problem down, we avoided writing simultaneous equations entirely.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60" r="-290" b="-175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9E10FB9-C056-BD10-D0E7-76FCEB5C388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DF93AB8-580C-451B-3BEC-EB2C9DEE331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794C7C3-1924-842A-8B74-2B9AD8DA61D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38476B-8462-E393-1057-3C59525D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127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2C2C-BCFF-0197-E603-43830DD9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B368C-6BF7-7FB0-FF9C-982E3D1B5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74D98-FE4C-932F-8959-853B5BDB4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BCEBF6B-777D-684B-C725-2C53E283722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8F56F6A-DF8F-0657-07B4-CE3160A93B9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B3979A9-3430-2E1C-B0D7-A2CCB000AE6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Объект 2">
            <a:extLst>
              <a:ext uri="{FF2B5EF4-FFF2-40B4-BE49-F238E27FC236}">
                <a16:creationId xmlns:a16="http://schemas.microsoft.com/office/drawing/2014/main" id="{42C339F5-1994-AAF0-ED33-2ACB46A2C92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0357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Do you have you any questions at the moment?</a:t>
            </a:r>
            <a:endParaRPr lang="ru-RU" dirty="0"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478A775-758F-EA8C-7E96-8876D582F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2DE3161-BC6B-5CB9-2E25-549B5664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160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198F-D467-9F81-0E85-03969479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E82A4-3817-DA92-7907-8BE4C240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BD803F-F399-885C-C4AC-B7F3E74C2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Note that superposition applies only to linear quantities (Voltage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𝒗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and Current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𝒊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Superposition does not apply to Power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𝒑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Why? Because 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power is a quadratic function, not a linear one 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NOT equal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BD803F-F399-885C-C4AC-B7F3E74C2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A30295E-AA30-5AF8-175D-507E10EBEC5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D49A177-DD71-9A03-C45A-F6F084837DA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390A9E1-E55B-BCA1-AB8F-ECA981C5251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DFB667-B77D-4E1F-C7FA-AD8006FF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912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 cannot calculate the power from Source 1, then the power from Source 2, and add them.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find power using superposition, you must first find the total voltage or total current using superposition, and then calculate the power using the total value.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Power is non-linear and cannot be superposed.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FE04607-720C-2031-C022-B15A2F03031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AB942F3-6968-DDF4-C28A-DA02DC9BEE5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4423CD8-5C75-C38F-094B-64219087927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33B49F-34B0-DDEA-8E54-7BBFE0E5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600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68665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now transition to the second major topic – Thevenin’s Theorem.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engineering, we often care about only one specific part of a circuit, which we call the «Load».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could be a speaker connected to an amplifier, or a light bulb connected to a battery.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rest of the circuit might be incredibly complex, containing hundreds of resistors and sources.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Does the Load care about that complexity? No.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FCFAA32-E013-99E0-40DB-A034919CA2E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D0DB68E-7871-7971-681E-2576822A891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FE02D64-EAE9-006D-6092-A1EDF71B273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530E65-F615-B057-07E4-45B9A7D8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882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DD8E3-5E97-CDA0-7F27-5296447E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79F79-0640-1366-17D5-7F1D1923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D88AE8-53F3-4346-780C-C7A6AEB1C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From the perspective of the load, the entire complex circuit behaves like a simple «Black Box» that provides a specific voltage and has a specific internal resistance.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Thevenin’s Theorem allows us to replace any complex linear one-port network with a simple equivalent circuit.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75739C2-1363-028D-9F29-6E6507CD54E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7487F1C-1D55-B19B-2518-F77302D0597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53C8168-337E-AF80-5FCB-E7A4273214E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6E29C3-780A-6612-ABE3-E38B0831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846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Thevenin’s Theorem states: any linear two-terminal circuit can be replaced by an equivalent circuit consisting of a single voltage source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in series with a single resistor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called the Thevenin Voltage;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called the Thevenin Resistance.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56726D9-0F6A-566E-3AC0-E25A20890EA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235DB52-BA22-60AD-D0A8-9F8AB048271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4A2B171-EA6F-3E1A-DFC4-D833D90D8B3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6B4B17-6B47-CDF9-0240-D4858D3E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14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BE99-C075-5350-8192-74502AF2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B5B8F-F243-9E69-2A21-021123B0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4959625-32D9-D32F-FEAA-814129CE7E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implies that no matter how complicated the original network is, at the two output terminals, it acts exactly like a simple real battery.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we can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we can throw away the complex schematic and use the simple one.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4959625-32D9-D32F-FEAA-814129CE7E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42B7068-C1ED-8C56-03F8-DFBF25AFBA9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5A585C1-1820-6137-325F-F27C81F2530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3385571-8396-5459-9B28-4CB23913259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8EEE5C-3856-71E1-7EA3-5C77290A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162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How do we calculate these values? Let's start with Thevenin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defined as the Open Circuit Voltage at the terminals: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To find it: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remove the Load resistor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from the circuit terminals (let's call them a and b). This leaves an «open circuit»;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5A6FA62-A225-ECDF-E60B-0E8F76824FA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7F14115-8F94-E5D3-B92D-5493D081766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5F1FAE9-AB3D-A6D9-DED1-FBFB2CDC335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D1773C-CEC2-3D75-C59E-6CDA2644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363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610E-7447-BEC3-F2ED-0D3955F2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C2B8E-7366-0D2A-41AB-762CB2FE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16C5A9-BB13-49E2-C487-DD0AE17F95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the voltage across these open terminals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𝒂𝒃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).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Since the terminals are open, no current flows out of the circuit.</a:t>
                </a:r>
              </a:p>
              <a:p>
                <a:pPr lvl="0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You can use Nodal Analysis, Mesh Analysis, or any other method to find the potential difference between a and b;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this open circuit voltage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𝒕𝒉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𝒐𝒄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lvl="0"/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Next, we calculate Thevenin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16C5A9-BB13-49E2-C487-DD0AE17F95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307AF32-6DEB-9EEB-E754-F922CE9466A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03851EF-9207-D676-0033-18C3039F6E8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C79FBA-BB1C-9469-79EC-18E4B584D85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037459-44D5-7A09-0CFE-25736FAC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663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equivalent resistance of the circuit looking into the terminals when all independent sources are turned off.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Case 1: The circuit contains no dependent sources.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is the simple case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turn off all independent sources (Voltage sources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Short, Current sources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Open);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look into the terminals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and calculate the equivalent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using series and parallel reduction techniques;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this resistance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17" b="-67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FA20ED6-3F6A-73D1-E8DF-FF8DC6BFA17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92423D8-E55C-52EF-BD19-329BB47F6EE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EAF9034-D338-D7B4-00CD-CEABEF4420E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9CBB16-6F3B-E3BC-E5C9-C12ECEE8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698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Case 2: The circuit contains dependent sources. 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dependent sources are present, we cannot simply use series-parallel reduction because we cannot turn dependent sources off. In this case, we must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 the Test Source Method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we briefly touched upon in Lecture 3: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turn off all independent sources. Leave dependent sources alone;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apply an external test voltage source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𝒕𝒆𝒔𝒕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or test current source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𝒕𝒆𝒔𝒕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to the terminals;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30FCCF6-16A1-2282-E9BF-0143C52DC0B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BE4EDCA-E54B-AAAD-316B-217074C0B27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4A7A0E1-B2F6-50DD-5002-22AC039F63C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F36B8-0A42-7991-29EA-276D5B3E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02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the resulting response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If you applied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calculate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flowing into the circuit;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the resistance using Ohm’s Law: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𝒕𝒉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𝒕𝒆𝒔𝒕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𝒕𝒆𝒔𝒕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Usually, we choose a simple value for the test source, 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𝒕𝒆𝒔𝒕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𝒕𝒆𝒔𝒕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to make the math easier.</a:t>
                </a:r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28B1D89-1D32-EBAA-916E-87899B74BF0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50CF999-2603-85ED-8EE2-D0079E88491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DB0907B-2B0E-4CA4-A07C-4EC472307D2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7EA1EA0-3B5B-DC40-1913-343B6569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807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Let us summarize the Algorithm for Thevenin’s Theorem: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identify the Load resistor and remove it from the circuit. Label the two empty terminals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calculate the Open Circuit Voltage across terminals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/>
                  <a:t>If no dependent sources, turn off independent sources and find equivalent resistance. If dependent sources, turn off independent sources, apply a test source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and calculate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E77B03F-6339-1E68-5025-C59B50D9DAA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2E44037-A849-845A-C276-59A52907303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4BA590D-E3E5-6D2D-580E-48513BA2FFB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3E7FA87-4E58-383C-7600-36F91860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944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66CD-3425-48E7-F7F6-76EA8746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C2432-68FE-F261-CAA3-1101D57E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7061A7B-C66A-1628-B53E-A5005E969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draw the Equivalent Circuit – a voltage source of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in series with a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reconnect the Load – place the Load resistor back in series with your new simple circuit;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analyze the Load – calculate the current or voltage for the Load using the simple series circuit.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7061A7B-C66A-1628-B53E-A5005E969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33ECB93-8B9B-7ED4-8942-C6E00FC66AF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CADA222-DEA0-9069-9769-A350AD1A2A7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213DEE7-DCBE-F2E6-131A-5301768EC30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BB5244-0004-4022-E378-820EC0EE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7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is 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Thevenin’s Theorem 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 important? It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separates the Source circuit from the Load circuit.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Imagine you are designing a power supply for a computer. The load (the computer) changes constantly – sometimes it sleeps (high resistance), sometimes it runs a game (low resistance).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 you solved the full circuit using Nodal Analysis, you would have to redo the entire calculation every time the load resistance changed.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06C423E-F4CA-2A53-9563-1F58D7CF79C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84C0ECC-0B02-1AA9-B143-FF1B4733B97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5D9E919-7866-3168-D184-22FFD399106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CCAC88-C80F-A722-0A31-54A7CDAC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699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7D3C-EB8D-510F-EDE5-76B192A1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5E979-C21F-160A-FF30-BC4C8ED6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A4748C9-4255-6DAA-7C4A-4370A9560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With Thevenin’s Theorem, you simplify the power supply once. You get a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Now, as the 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changes 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calculating the current is a trivial one-line formula:</a:t>
                </a:r>
              </a:p>
              <a:p>
                <a:pPr algn="just"/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𝒕𝒉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𝒕𝒉</m:t>
                              </m:r>
                            </m:sub>
                          </m:sSub>
                          <m:r>
                            <a:rPr lang="en-US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efficiency is essential for design and analysis of variable loads.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A4748C9-4255-6DAA-7C4A-4370A9560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0432CC6-5BB0-C7DB-F52A-E63D51C3E49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17FCBB3-2098-5876-FEF1-7ED2576947A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E8F750B-5056-EE14-7D9F-6B34283C0EC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79B4E7-6BA7-BE84-5835-AFCF7A67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728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Let's visualize the transformation process. Original Circuit – a messy web of loops and nodes.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BB9AEA8-B3AD-40D2-6CD7-CFC8467834A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4DA6914-A184-8BDA-5832-5E6AFF6B6B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0AB8EB47-0F48-CB66-29A0-28C45AFCA65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7B46C96-7A0A-BBCA-ECE7-698D365A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39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4C0CF2-4CF1-1F09-44FF-602C54F2119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0354" y="2874523"/>
            <a:ext cx="9551291" cy="39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73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 (Remove Load) – we have two hanging wires. We measure the voltage between them. 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That is our «pressure»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=4,14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7D9C4F5-4BBC-EC28-ADDE-51503A9A8DE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048F66-D8F1-B4D6-AA3C-92E04964919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E40A09A3-D81E-EBF8-BC3D-2D43F33F516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C0BAD9C-2819-BB84-2979-1F2622FA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40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808F0A-257F-8F7B-E0D3-244D5A8FF1E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2361" y="3173361"/>
            <a:ext cx="9507277" cy="360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11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 (Turn off Sources) – we look back into the wires. We see how much resistance opposes current entering the circuit. 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That is our «friction»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 In this example to find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measure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then use the Ohm’s Law.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2F184A7-B6F9-4701-A614-EC1E88327B9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F9D224B-6095-5827-DA78-C0EC2503FA8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8417C5E2-122D-4F1E-247E-A2847636254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FEC014B9-9881-DD42-7492-28032CD586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631560"/>
                <a:ext cx="3825581" cy="27247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By calculations we have 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=55,897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FEC014B9-9881-DD42-7492-28032CD58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31560"/>
                <a:ext cx="3825581" cy="2724790"/>
              </a:xfrm>
              <a:prstGeom prst="rect">
                <a:avLst/>
              </a:prstGeom>
              <a:blipFill>
                <a:blip r:embed="rId3"/>
                <a:stretch>
                  <a:fillRect l="-2871" t="-4027" r="-3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E76413-915B-3145-4663-30F9E230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41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EA5A21-6468-D34B-A3B8-4A901E7D659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3781" y="3816043"/>
            <a:ext cx="7155971" cy="290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31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A25FC-8F88-5258-D3E3-FA0D2954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D8D64-8D80-C306-6072-DA76E642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F74B0DA-D9BD-339D-84C7-8117C7CFF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As you can see current is the same in the equivalent circuit where all mess was replaced by calculated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F74B0DA-D9BD-339D-84C7-8117C7CFF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F846CBF-A7D2-26E2-DD36-81AFA6C1A9E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E779D31-230F-E8F6-599D-F0AA1C98920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0C635F6B-7EB3-C872-70C1-225980B20F8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2480DA-51B8-017A-D4AD-16131DE1A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90F698-000D-DC33-70F7-E53107DE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6" y="2964977"/>
            <a:ext cx="10707594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2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 (Rebuild) – we replace the mess with one battery and one resistor.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behavior at the terminals is mathematically identical.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D6440A5-327A-3038-9627-91F610166A0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9ABC205-133E-C257-6B26-D97D01E6A68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4B16FE9C-D417-5D43-D334-CBA87AA5805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94D0526-D6B5-1377-9D20-9A82979F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C57E5-5191-D75E-4337-E4D0CD50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2" y="3406312"/>
            <a:ext cx="1087906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91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is a special case for Thevenin’s Theorem that requires extra attention: The Dead Network. </a:t>
                </a:r>
              </a:p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 «Dead Network» is a circuit that contains only dependent sources and resistors, with no independent voltage or current sources. </a:t>
                </a:r>
              </a:p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case, the Open Circuit Voltage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b="1" i="1" dirty="0" err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𝒕𝒉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is obviously zero. If there is no independent energy source to start the circuit, all voltages are zero.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75409C0-2500-8DDF-201F-33C87656CC4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FC58E0B-13BF-9910-F752-04DAFCC389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F980061-B019-C154-8107-FF74B024154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A804FA1-4AAB-EE63-FB24-2833B9F6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7744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E7B6-55EC-62AD-D2F8-0529450A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A5A1F-325B-0EE6-0789-BEDB536D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1B690CA-F518-2BE8-554B-ACA847B70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However, the circuit still has a Thevenin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𝒕𝒉</m:t>
                        </m:r>
                      </m:sub>
                    </m:sSub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 find it, you must use the Test Source Method.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You apply a test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(usually 1 V) to the terminals.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test source «wakes up» the dependent sources.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dependent sources will then generate current based on the circuit's gain parameters.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You calculate the resulting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The resistance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𝑡h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𝑡𝑒𝑠𝑡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𝑡𝑒𝑠𝑡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Sometimes, this resistance can be negative.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1B690CA-F518-2BE8-554B-ACA847B70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 b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9424B96-27B3-1A5E-D1EA-296BED021CB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901151B-6F0A-8941-C256-948B0196777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659ACD9-D504-B061-B52D-576A2BD5BDD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A5EDF6F-CCF0-8CA5-7D13-F3E406E3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6696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negative resistance implies the circuit is active and acts like a generator, supplying power to the test source.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must also clarify how Superposition handles dependent sources.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common mistake is trying to «turn off» a dependent source when using Superposition.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Rule: You must never turn off a dependent source during Superposition analysis.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When you analyze the contribution of Independent Source, the dependent sources remain active.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75409C0-2500-8DDF-201F-33C87656CC4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FC58E0B-13BF-9910-F752-04DAFCC389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F980061-B019-C154-8107-FF74B024154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7E781F-9E72-BE31-3700-60FE1AE2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697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E076-9AD7-58E4-BFE3-1A16634D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57C5E-1745-1EF0-2468-FCF72BFD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3EA91EB-616B-2185-5213-358C4A37EC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Their value will change in each sub-problem because the controlling variable (like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changes in each sub-problem.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For example, if you have a source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2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In sub-circuit 1, calculate the local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so the source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2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In sub-circuit 2, calculate the local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″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so the source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2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″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total effect is the sum of the results, but the dependent source was functionally part of the circuit structure the entire time.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3EA91EB-616B-2185-5213-358C4A37E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5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03ECE5A-E915-DCF8-D324-803345ADB20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3157D21-4D96-A152-CC74-02BE05B884E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2BB5905-AC3D-80E8-473F-CA41BB50077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F81C130-BF00-4F26-9A96-30FDFA1F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450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2E99-D2CE-AE47-5F3C-15F42541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50602-9712-B7C8-9AC4-4DF5FB92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06C2D-7F52-CC43-E2B5-63B7EF95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summary of this lecture, we have introduced the concept of Equivalence.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learned that: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Superposition Theorem allows us to solve complex circuits by analyzing one source at a time.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 relies on the property of Linearity;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Thevenin’s Theorem allows us to simplify any complex linear network into a single voltage source and a single series resistor.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581D808-58D7-9B0C-6D8F-CB2F07DC678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B643675-2F2D-AD08-C759-0E65B4E62FD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DAC247E-13E9-5FB3-30E2-CB5408DBAF3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CD816B-B08D-0DC9-CB56-71FE4141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421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4548" cy="435133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theorems are not just calculation tricks; they are conceptual tools. They help us understand how a circuit behaves – how it drives a load and how different sources interact.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75409C0-2500-8DDF-201F-33C87656CC4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FC58E0B-13BF-9910-F752-04DAFCC389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F980061-B019-C154-8107-FF74B024154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 Circuit Theorems (I)</a:t>
              </a:r>
              <a:endParaRPr lang="ru-RU" sz="4000" dirty="0"/>
            </a:p>
          </p:txBody>
        </p: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F5017FE7-10E3-0ADF-499A-79BBB65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9769005-7E74-93CB-92CD-C67AD7B0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6868-B2A5-4126-AFF9-E21216DE09D3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9947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3157</Words>
  <Application>Microsoft Office PowerPoint</Application>
  <PresentationFormat>Широкоэкранный</PresentationFormat>
  <Paragraphs>297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Тема Office</vt:lpstr>
      <vt:lpstr>Lecture 5. Fundamental Circuit Theorems (I)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13</cp:revision>
  <dcterms:created xsi:type="dcterms:W3CDTF">2026-04-02T12:34:57Z</dcterms:created>
  <dcterms:modified xsi:type="dcterms:W3CDTF">2026-04-09T04:45:17Z</dcterms:modified>
</cp:coreProperties>
</file>